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consolidation. The middle column is the one that matters with this audience: the traditional answer to a Tableau problem is another BI tool, which changes the vendor but keeps the licence line and the specialist dependency. Only the third column removes the layer. Close on the bottom bar: the reason this has not already happened is purely rebuild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is doing the work — three of the five. Present human-in-the-loop as an enterprise control, not a caveat: the AI proposes, it is proven against real data, a person signs it off, and the decision is audited. Slow down on the worked example — it makes Cortex's contribution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Fidelity and calculation coverage are reported separately on purpose — never blended into one flattering headline. The corpus deliberately includes workbooks never seen during development, so these measure generalisation rather than tuning. The bottom bar converts the technical result into the commercial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from the Snowsight-hosted app so every stage is physically executing on Snowflake compute — nothing local but the browser tab. If anyone questions whether it is real, open Query History alongside and show the Cortex calls and CREATE SEMANTIC VIEW landing live with timestamps.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All We Want Is Our Dashboards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From a separate BI tool to Snowflake-native intelligence</a:t>
            </a:r>
            <a:endParaRPr lang="en-US" sz="1400" dirty="0"/>
          </a:p>
        </p:txBody>
      </p:sp>
      <p:sp>
        <p:nvSpPr>
          <p:cNvPr id="4" name="Text 2"/>
          <p:cNvSpPr/>
          <p:nvPr/>
        </p:nvSpPr>
        <p:spPr>
          <a:xfrm>
            <a:off x="548640" y="1243584"/>
            <a:ext cx="3575304" cy="256032"/>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THE CHALLENGE</a:t>
            </a:r>
            <a:endParaRPr lang="en-US" sz="1100" dirty="0"/>
          </a:p>
        </p:txBody>
      </p:sp>
      <p:sp>
        <p:nvSpPr>
          <p:cNvPr id="5" name="Text 3"/>
          <p:cNvSpPr/>
          <p:nvPr/>
        </p:nvSpPr>
        <p:spPr>
          <a:xfrm>
            <a:off x="4306824" y="1243584"/>
            <a:ext cx="3575304" cy="256032"/>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TRADITIONAL SOLUTION</a:t>
            </a:r>
            <a:endParaRPr lang="en-US" sz="1100" dirty="0"/>
          </a:p>
        </p:txBody>
      </p:sp>
      <p:sp>
        <p:nvSpPr>
          <p:cNvPr id="6" name="Text 4"/>
          <p:cNvSpPr/>
          <p:nvPr/>
        </p:nvSpPr>
        <p:spPr>
          <a:xfrm>
            <a:off x="8065008" y="1243584"/>
            <a:ext cx="3575304" cy="256032"/>
          </a:xfrm>
          <a:prstGeom prst="rect">
            <a:avLst/>
          </a:prstGeom>
          <a:noFill/>
          <a:ln/>
        </p:spPr>
        <p:txBody>
          <a:bodyPr wrap="square" lIns="0" tIns="0" rIns="0" bIns="0" rtlCol="0" anchor="ctr"/>
          <a:lstStyle/>
          <a:p>
            <a:pPr indent="0" marL="0">
              <a:buNone/>
            </a:pPr>
            <a:r>
              <a:rPr lang="en-US" sz="1100" b="1" spc="160" kern="0" dirty="0">
                <a:solidFill>
                  <a:srgbClr val="053057"/>
                </a:solidFill>
                <a:latin typeface="Montserrat" pitchFamily="34" charset="0"/>
                <a:ea typeface="Montserrat" pitchFamily="34" charset="-122"/>
                <a:cs typeface="Montserrat" pitchFamily="34" charset="-120"/>
              </a:rPr>
              <a:t>THE ACCELERATOR</a:t>
            </a:r>
            <a:endParaRPr lang="en-US" sz="1100" dirty="0"/>
          </a:p>
        </p:txBody>
      </p:sp>
      <p:sp>
        <p:nvSpPr>
          <p:cNvPr id="7" name="Shape 5"/>
          <p:cNvSpPr/>
          <p:nvPr/>
        </p:nvSpPr>
        <p:spPr>
          <a:xfrm>
            <a:off x="548640" y="1554480"/>
            <a:ext cx="3575304" cy="1316736"/>
          </a:xfrm>
          <a:prstGeom prst="roundRect">
            <a:avLst>
              <a:gd name="adj" fmla="val 5556"/>
            </a:avLst>
          </a:prstGeom>
          <a:solidFill>
            <a:srgbClr val="FFFFFF"/>
          </a:solidFill>
          <a:ln w="12700">
            <a:solidFill>
              <a:srgbClr val="DFE3E6"/>
            </a:solidFill>
            <a:prstDash val="solid"/>
          </a:ln>
        </p:spPr>
      </p:sp>
      <p:sp>
        <p:nvSpPr>
          <p:cNvPr id="8" name="Text 6"/>
          <p:cNvSpPr/>
          <p:nvPr/>
        </p:nvSpPr>
        <p:spPr>
          <a:xfrm>
            <a:off x="786384" y="1719072"/>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Hundreds of dashboards</a:t>
            </a:r>
            <a:endParaRPr lang="en-US" sz="1250" dirty="0"/>
          </a:p>
        </p:txBody>
      </p:sp>
      <p:sp>
        <p:nvSpPr>
          <p:cNvPr id="9" name="Text 7"/>
          <p:cNvSpPr/>
          <p:nvPr/>
        </p:nvSpPr>
        <p:spPr>
          <a:xfrm>
            <a:off x="786384" y="2121408"/>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Years of agreed business logic — every calculation, filter and layout — locked inside Tableau workbooks.</a:t>
            </a:r>
            <a:endParaRPr lang="en-US" sz="950" dirty="0"/>
          </a:p>
        </p:txBody>
      </p:sp>
      <p:sp>
        <p:nvSpPr>
          <p:cNvPr id="10" name="Shape 8"/>
          <p:cNvSpPr/>
          <p:nvPr/>
        </p:nvSpPr>
        <p:spPr>
          <a:xfrm>
            <a:off x="4306824" y="1554480"/>
            <a:ext cx="3575304" cy="1316736"/>
          </a:xfrm>
          <a:prstGeom prst="roundRect">
            <a:avLst>
              <a:gd name="adj" fmla="val 5556"/>
            </a:avLst>
          </a:prstGeom>
          <a:solidFill>
            <a:srgbClr val="FFFFFF"/>
          </a:solidFill>
          <a:ln w="12700">
            <a:solidFill>
              <a:srgbClr val="DFE3E6"/>
            </a:solidFill>
            <a:prstDash val="solid"/>
          </a:ln>
        </p:spPr>
      </p:sp>
      <p:sp>
        <p:nvSpPr>
          <p:cNvPr id="11" name="Text 9"/>
          <p:cNvSpPr/>
          <p:nvPr/>
        </p:nvSpPr>
        <p:spPr>
          <a:xfrm>
            <a:off x="4544568" y="1719072"/>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Rebuild by hand, one at a time</a:t>
            </a:r>
            <a:endParaRPr lang="en-US" sz="1250" dirty="0"/>
          </a:p>
        </p:txBody>
      </p:sp>
      <p:sp>
        <p:nvSpPr>
          <p:cNvPr id="12" name="Text 10"/>
          <p:cNvSpPr/>
          <p:nvPr/>
        </p:nvSpPr>
        <p:spPr>
          <a:xfrm>
            <a:off x="4544568" y="2121408"/>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BI specialists re-create each dashboard manually. Months of effort, and it starts over at the next estate.</a:t>
            </a:r>
            <a:endParaRPr lang="en-US" sz="950" dirty="0"/>
          </a:p>
        </p:txBody>
      </p:sp>
      <p:sp>
        <p:nvSpPr>
          <p:cNvPr id="13" name="Shape 11"/>
          <p:cNvSpPr/>
          <p:nvPr/>
        </p:nvSpPr>
        <p:spPr>
          <a:xfrm>
            <a:off x="8065008" y="1554480"/>
            <a:ext cx="3575304" cy="1316736"/>
          </a:xfrm>
          <a:prstGeom prst="roundRect">
            <a:avLst>
              <a:gd name="adj" fmla="val 5556"/>
            </a:avLst>
          </a:prstGeom>
          <a:solidFill>
            <a:srgbClr val="053057"/>
          </a:solidFill>
          <a:ln w="12700">
            <a:solidFill>
              <a:srgbClr val="053057"/>
            </a:solidFill>
            <a:prstDash val="solid"/>
          </a:ln>
        </p:spPr>
      </p:sp>
      <p:sp>
        <p:nvSpPr>
          <p:cNvPr id="14" name="Shape 12"/>
          <p:cNvSpPr/>
          <p:nvPr/>
        </p:nvSpPr>
        <p:spPr>
          <a:xfrm>
            <a:off x="8302752" y="1773936"/>
            <a:ext cx="237744" cy="237744"/>
          </a:xfrm>
          <a:prstGeom prst="ellipse">
            <a:avLst/>
          </a:prstGeom>
          <a:solidFill>
            <a:srgbClr val="00EDED"/>
          </a:solidFill>
          <a:ln/>
        </p:spPr>
      </p:sp>
      <p:sp>
        <p:nvSpPr>
          <p:cNvPr id="15" name="Text 13"/>
          <p:cNvSpPr/>
          <p:nvPr/>
        </p:nvSpPr>
        <p:spPr>
          <a:xfrm>
            <a:off x="8631936" y="1719072"/>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Cortex reads the workbook</a:t>
            </a:r>
            <a:endParaRPr lang="en-US" sz="1250" dirty="0"/>
          </a:p>
        </p:txBody>
      </p:sp>
      <p:sp>
        <p:nvSpPr>
          <p:cNvPr id="16" name="Text 14"/>
          <p:cNvSpPr/>
          <p:nvPr/>
        </p:nvSpPr>
        <p:spPr>
          <a:xfrm>
            <a:off x="8302752" y="2121408"/>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The workbook's own semantic intent is extracted and converted automatically, not retyped by a developer.</a:t>
            </a:r>
            <a:endParaRPr lang="en-US" sz="950" dirty="0"/>
          </a:p>
        </p:txBody>
      </p:sp>
      <p:sp>
        <p:nvSpPr>
          <p:cNvPr id="17" name="Shape 15"/>
          <p:cNvSpPr/>
          <p:nvPr/>
        </p:nvSpPr>
        <p:spPr>
          <a:xfrm>
            <a:off x="548640" y="2990088"/>
            <a:ext cx="3575304" cy="1316736"/>
          </a:xfrm>
          <a:prstGeom prst="roundRect">
            <a:avLst>
              <a:gd name="adj" fmla="val 5556"/>
            </a:avLst>
          </a:prstGeom>
          <a:solidFill>
            <a:srgbClr val="FFFFFF"/>
          </a:solidFill>
          <a:ln w="12700">
            <a:solidFill>
              <a:srgbClr val="DFE3E6"/>
            </a:solidFill>
            <a:prstDash val="solid"/>
          </a:ln>
        </p:spPr>
      </p:sp>
      <p:sp>
        <p:nvSpPr>
          <p:cNvPr id="18" name="Text 16"/>
          <p:cNvSpPr/>
          <p:nvPr/>
        </p:nvSpPr>
        <p:spPr>
          <a:xfrm>
            <a:off x="786384" y="3154680"/>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separate licence and skill set</a:t>
            </a:r>
            <a:endParaRPr lang="en-US" sz="1250" dirty="0"/>
          </a:p>
        </p:txBody>
      </p:sp>
      <p:sp>
        <p:nvSpPr>
          <p:cNvPr id="19" name="Text 17"/>
          <p:cNvSpPr/>
          <p:nvPr/>
        </p:nvSpPr>
        <p:spPr>
          <a:xfrm>
            <a:off x="786384" y="3557016"/>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Per-creator and per-viewer licences on top of Snowflake, plus a scarce Tableau specialism and a handoff on every model change.</a:t>
            </a:r>
            <a:endParaRPr lang="en-US" sz="950" dirty="0"/>
          </a:p>
        </p:txBody>
      </p:sp>
      <p:sp>
        <p:nvSpPr>
          <p:cNvPr id="20" name="Shape 18"/>
          <p:cNvSpPr/>
          <p:nvPr/>
        </p:nvSpPr>
        <p:spPr>
          <a:xfrm>
            <a:off x="4306824" y="2990088"/>
            <a:ext cx="3575304" cy="1316736"/>
          </a:xfrm>
          <a:prstGeom prst="roundRect">
            <a:avLst>
              <a:gd name="adj" fmla="val 5556"/>
            </a:avLst>
          </a:prstGeom>
          <a:solidFill>
            <a:srgbClr val="FFFFFF"/>
          </a:solidFill>
          <a:ln w="12700">
            <a:solidFill>
              <a:srgbClr val="DFE3E6"/>
            </a:solidFill>
            <a:prstDash val="solid"/>
          </a:ln>
        </p:spPr>
      </p:sp>
      <p:sp>
        <p:nvSpPr>
          <p:cNvPr id="21" name="Text 19"/>
          <p:cNvSpPr/>
          <p:nvPr/>
        </p:nvSpPr>
        <p:spPr>
          <a:xfrm>
            <a:off x="4544568" y="3154680"/>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Swap one BI tool for another</a:t>
            </a:r>
            <a:endParaRPr lang="en-US" sz="1250" dirty="0"/>
          </a:p>
        </p:txBody>
      </p:sp>
      <p:sp>
        <p:nvSpPr>
          <p:cNvPr id="22" name="Text 20"/>
          <p:cNvSpPr/>
          <p:nvPr/>
        </p:nvSpPr>
        <p:spPr>
          <a:xfrm>
            <a:off x="4544568" y="3557016"/>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 different vendor, the same licence line, the same specialist dependency. The layer moves; it never goes away.</a:t>
            </a:r>
            <a:endParaRPr lang="en-US" sz="950" dirty="0"/>
          </a:p>
        </p:txBody>
      </p:sp>
      <p:sp>
        <p:nvSpPr>
          <p:cNvPr id="23" name="Shape 21"/>
          <p:cNvSpPr/>
          <p:nvPr/>
        </p:nvSpPr>
        <p:spPr>
          <a:xfrm>
            <a:off x="8065008" y="2990088"/>
            <a:ext cx="3575304" cy="1316736"/>
          </a:xfrm>
          <a:prstGeom prst="roundRect">
            <a:avLst>
              <a:gd name="adj" fmla="val 5556"/>
            </a:avLst>
          </a:prstGeom>
          <a:solidFill>
            <a:srgbClr val="053057"/>
          </a:solidFill>
          <a:ln w="12700">
            <a:solidFill>
              <a:srgbClr val="053057"/>
            </a:solidFill>
            <a:prstDash val="solid"/>
          </a:ln>
        </p:spPr>
      </p:sp>
      <p:sp>
        <p:nvSpPr>
          <p:cNvPr id="24" name="Shape 22"/>
          <p:cNvSpPr/>
          <p:nvPr/>
        </p:nvSpPr>
        <p:spPr>
          <a:xfrm>
            <a:off x="8302752" y="3209544"/>
            <a:ext cx="237744" cy="237744"/>
          </a:xfrm>
          <a:prstGeom prst="ellipse">
            <a:avLst/>
          </a:prstGeom>
          <a:solidFill>
            <a:srgbClr val="00EDED"/>
          </a:solidFill>
          <a:ln/>
        </p:spPr>
      </p:sp>
      <p:sp>
        <p:nvSpPr>
          <p:cNvPr id="25" name="Text 23"/>
          <p:cNvSpPr/>
          <p:nvPr/>
        </p:nvSpPr>
        <p:spPr>
          <a:xfrm>
            <a:off x="8631936" y="3154680"/>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Native on the platform you own</a:t>
            </a:r>
            <a:endParaRPr lang="en-US" sz="1250" dirty="0"/>
          </a:p>
        </p:txBody>
      </p:sp>
      <p:sp>
        <p:nvSpPr>
          <p:cNvPr id="26" name="Text 24"/>
          <p:cNvSpPr/>
          <p:nvPr/>
        </p:nvSpPr>
        <p:spPr>
          <a:xfrm>
            <a:off x="8302752" y="3557016"/>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and Cortex are already in Snowflake. The data team owns the whole path, table to dashboard.</a:t>
            </a:r>
            <a:endParaRPr lang="en-US" sz="950" dirty="0"/>
          </a:p>
        </p:txBody>
      </p:sp>
      <p:sp>
        <p:nvSpPr>
          <p:cNvPr id="27" name="Shape 25"/>
          <p:cNvSpPr/>
          <p:nvPr/>
        </p:nvSpPr>
        <p:spPr>
          <a:xfrm>
            <a:off x="548640" y="4425696"/>
            <a:ext cx="3575304" cy="1316736"/>
          </a:xfrm>
          <a:prstGeom prst="roundRect">
            <a:avLst>
              <a:gd name="adj" fmla="val 5556"/>
            </a:avLst>
          </a:prstGeom>
          <a:solidFill>
            <a:srgbClr val="FFFFFF"/>
          </a:solidFill>
          <a:ln w="12700">
            <a:solidFill>
              <a:srgbClr val="DFE3E6"/>
            </a:solidFill>
            <a:prstDash val="solid"/>
          </a:ln>
        </p:spPr>
      </p:sp>
      <p:sp>
        <p:nvSpPr>
          <p:cNvPr id="28" name="Text 26"/>
          <p:cNvSpPr/>
          <p:nvPr/>
        </p:nvSpPr>
        <p:spPr>
          <a:xfrm>
            <a:off x="786384" y="4590288"/>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Validation is slow and manual</a:t>
            </a:r>
            <a:endParaRPr lang="en-US" sz="1250" dirty="0"/>
          </a:p>
        </p:txBody>
      </p:sp>
      <p:sp>
        <p:nvSpPr>
          <p:cNvPr id="29" name="Text 27"/>
          <p:cNvSpPr/>
          <p:nvPr/>
        </p:nvSpPr>
        <p:spPr>
          <a:xfrm>
            <a:off x="786384" y="4992624"/>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Numbers get checked by eye, late, with no repeatable evidence that the migration is faithful to the original.</a:t>
            </a:r>
            <a:endParaRPr lang="en-US" sz="950" dirty="0"/>
          </a:p>
        </p:txBody>
      </p:sp>
      <p:sp>
        <p:nvSpPr>
          <p:cNvPr id="30" name="Shape 28"/>
          <p:cNvSpPr/>
          <p:nvPr/>
        </p:nvSpPr>
        <p:spPr>
          <a:xfrm>
            <a:off x="4306824" y="4425696"/>
            <a:ext cx="3575304" cy="1316736"/>
          </a:xfrm>
          <a:prstGeom prst="roundRect">
            <a:avLst>
              <a:gd name="adj" fmla="val 5556"/>
            </a:avLst>
          </a:prstGeom>
          <a:solidFill>
            <a:srgbClr val="FFFFFF"/>
          </a:solidFill>
          <a:ln w="12700">
            <a:solidFill>
              <a:srgbClr val="DFE3E6"/>
            </a:solidFill>
            <a:prstDash val="solid"/>
          </a:ln>
        </p:spPr>
      </p:sp>
      <p:sp>
        <p:nvSpPr>
          <p:cNvPr id="31" name="Text 29"/>
          <p:cNvSpPr/>
          <p:nvPr/>
        </p:nvSpPr>
        <p:spPr>
          <a:xfrm>
            <a:off x="4544568" y="4590288"/>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Eyeball every dashboard</a:t>
            </a:r>
            <a:endParaRPr lang="en-US" sz="1250" dirty="0"/>
          </a:p>
        </p:txBody>
      </p:sp>
      <p:sp>
        <p:nvSpPr>
          <p:cNvPr id="32" name="Text 30"/>
          <p:cNvSpPr/>
          <p:nvPr/>
        </p:nvSpPr>
        <p:spPr>
          <a:xfrm>
            <a:off x="4544568" y="4992624"/>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Manual QA sheet by sheet. Errors surface after go-live, and trust is argued rather than demonstrated.</a:t>
            </a:r>
            <a:endParaRPr lang="en-US" sz="950" dirty="0"/>
          </a:p>
        </p:txBody>
      </p:sp>
      <p:sp>
        <p:nvSpPr>
          <p:cNvPr id="33" name="Shape 31"/>
          <p:cNvSpPr/>
          <p:nvPr/>
        </p:nvSpPr>
        <p:spPr>
          <a:xfrm>
            <a:off x="8065008" y="4425696"/>
            <a:ext cx="3575304" cy="1316736"/>
          </a:xfrm>
          <a:prstGeom prst="roundRect">
            <a:avLst>
              <a:gd name="adj" fmla="val 5556"/>
            </a:avLst>
          </a:prstGeom>
          <a:solidFill>
            <a:srgbClr val="053057"/>
          </a:solidFill>
          <a:ln w="12700">
            <a:solidFill>
              <a:srgbClr val="053057"/>
            </a:solidFill>
            <a:prstDash val="solid"/>
          </a:ln>
        </p:spPr>
      </p:sp>
      <p:sp>
        <p:nvSpPr>
          <p:cNvPr id="34" name="Shape 32"/>
          <p:cNvSpPr/>
          <p:nvPr/>
        </p:nvSpPr>
        <p:spPr>
          <a:xfrm>
            <a:off x="8302752" y="4645152"/>
            <a:ext cx="237744" cy="237744"/>
          </a:xfrm>
          <a:prstGeom prst="ellipse">
            <a:avLst/>
          </a:prstGeom>
          <a:solidFill>
            <a:srgbClr val="00EDED"/>
          </a:solidFill>
          <a:ln/>
        </p:spPr>
      </p:sp>
      <p:sp>
        <p:nvSpPr>
          <p:cNvPr id="35" name="Text 33"/>
          <p:cNvSpPr/>
          <p:nvPr/>
        </p:nvSpPr>
        <p:spPr>
          <a:xfrm>
            <a:off x="8631936" y="4590288"/>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Cortex validates, and a model falls out</a:t>
            </a:r>
            <a:endParaRPr lang="en-US" sz="1250" dirty="0"/>
          </a:p>
        </p:txBody>
      </p:sp>
      <p:sp>
        <p:nvSpPr>
          <p:cNvPr id="36" name="Text 34"/>
          <p:cNvSpPr/>
          <p:nvPr/>
        </p:nvSpPr>
        <p:spPr>
          <a:xfrm>
            <a:off x="8302752" y="4992624"/>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A governed semantic view is produced, and the numbers are checked measure by measure as evidence.</a:t>
            </a:r>
            <a:endParaRPr lang="en-US" sz="950" dirty="0"/>
          </a:p>
        </p:txBody>
      </p:sp>
      <p:sp>
        <p:nvSpPr>
          <p:cNvPr id="37" name="Shape 35"/>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38" name="Text 36"/>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blocker was never willingness — it was rebuild cost.  </a:t>
            </a:r>
            <a:pPr indent="0" marL="0">
              <a:buNone/>
            </a:pPr>
            <a:r>
              <a:rPr lang="en-US" sz="1050" dirty="0">
                <a:solidFill>
                  <a:srgbClr val="D6E6F0"/>
                </a:solidFill>
                <a:latin typeface="Montserrat" pitchFamily="34" charset="0"/>
                <a:ea typeface="Montserrat" pitchFamily="34" charset="-122"/>
                <a:cs typeface="Montserrat" pitchFamily="34" charset="-120"/>
              </a:rPr>
              <a:t>Hundreds of dashboards encode years of business logic, so the separate BI tool stays in place by default rather than by decision. Remove that cost and the presentation layer, its governance and its AI surface all move onto Snowflake.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11680"/>
          </a:xfrm>
          <a:prstGeom prst="roundRect">
            <a:avLst>
              <a:gd name="adj" fmla="val 3636"/>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05840"/>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11680"/>
          </a:xfrm>
          <a:prstGeom prst="roundRect">
            <a:avLst>
              <a:gd name="adj" fmla="val 3636"/>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05840"/>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11680"/>
          </a:xfrm>
          <a:prstGeom prst="roundRect">
            <a:avLst>
              <a:gd name="adj" fmla="val 3636"/>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05840"/>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11680"/>
          </a:xfrm>
          <a:prstGeom prst="roundRect">
            <a:avLst>
              <a:gd name="adj" fmla="val 3636"/>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05840"/>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11680"/>
          </a:xfrm>
          <a:prstGeom prst="roundRect">
            <a:avLst>
              <a:gd name="adj" fmla="val 3636"/>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05840"/>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364992"/>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364992"/>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3968496"/>
            <a:ext cx="5431536" cy="1298448"/>
          </a:xfrm>
          <a:prstGeom prst="roundRect">
            <a:avLst>
              <a:gd name="adj" fmla="val 5634"/>
            </a:avLst>
          </a:prstGeom>
          <a:solidFill>
            <a:srgbClr val="0A3E6B"/>
          </a:solidFill>
          <a:ln w="15875">
            <a:solidFill>
              <a:srgbClr val="00EDED"/>
            </a:solidFill>
            <a:prstDash val="solid"/>
          </a:ln>
        </p:spPr>
      </p:sp>
      <p:sp>
        <p:nvSpPr>
          <p:cNvPr id="27" name="Text 25"/>
          <p:cNvSpPr/>
          <p:nvPr/>
        </p:nvSpPr>
        <p:spPr>
          <a:xfrm>
            <a:off x="841248" y="4114800"/>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07408"/>
            <a:ext cx="4846320" cy="768096"/>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 and everything runs on Snowflake compute under the customer's own roles.</a:t>
            </a:r>
            <a:endParaRPr lang="en-US" sz="950" dirty="0"/>
          </a:p>
        </p:txBody>
      </p:sp>
      <p:sp>
        <p:nvSpPr>
          <p:cNvPr id="29" name="Shape 27"/>
          <p:cNvSpPr/>
          <p:nvPr/>
        </p:nvSpPr>
        <p:spPr>
          <a:xfrm>
            <a:off x="6208776" y="3968496"/>
            <a:ext cx="5431536" cy="1298448"/>
          </a:xfrm>
          <a:prstGeom prst="roundRect">
            <a:avLst>
              <a:gd name="adj" fmla="val 5634"/>
            </a:avLst>
          </a:prstGeom>
          <a:solidFill>
            <a:srgbClr val="0A3E6B"/>
          </a:solidFill>
          <a:ln w="15875">
            <a:solidFill>
              <a:srgbClr val="00EDED"/>
            </a:solidFill>
            <a:prstDash val="solid"/>
          </a:ln>
        </p:spPr>
      </p:sp>
      <p:sp>
        <p:nvSpPr>
          <p:cNvPr id="30" name="Text 28"/>
          <p:cNvSpPr/>
          <p:nvPr/>
        </p:nvSpPr>
        <p:spPr>
          <a:xfrm>
            <a:off x="6501384" y="4114800"/>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Worked example — Cortex in action</a:t>
            </a:r>
            <a:endParaRPr lang="en-US" sz="1250" dirty="0"/>
          </a:p>
        </p:txBody>
      </p:sp>
      <p:sp>
        <p:nvSpPr>
          <p:cNvPr id="31" name="Text 29"/>
          <p:cNvSpPr/>
          <p:nvPr/>
        </p:nvSpPr>
        <p:spPr>
          <a:xfrm>
            <a:off x="6501384" y="4407408"/>
            <a:ext cx="4846320" cy="768096"/>
          </a:xfrm>
          <a:prstGeom prst="rect">
            <a:avLst/>
          </a:prstGeom>
          <a:noFill/>
          <a:ln/>
        </p:spPr>
        <p:txBody>
          <a:bodyPr wrap="square" lIns="0" tIns="0" rIns="0" bIns="0" rtlCol="0" anchor="ctr"/>
          <a:lstStyle/>
          <a:p>
            <a:pPr indent="0" marL="0">
              <a:lnSpc>
                <a:spcPct val="106000"/>
              </a:lnSpc>
              <a:buNone/>
            </a:pPr>
            <a:r>
              <a:rPr lang="en-US" sz="850" b="1" dirty="0">
                <a:solidFill>
                  <a:srgbClr val="00EDED"/>
                </a:solidFill>
                <a:latin typeface="Montserrat" pitchFamily="34" charset="0"/>
                <a:ea typeface="Montserrat" pitchFamily="34" charset="-122"/>
                <a:cs typeface="Montserrat" pitchFamily="34" charset="-120"/>
              </a:rPr>
              <a:t>Tableau:  </a:t>
            </a:r>
            <a:pPr indent="0" marL="0">
              <a:lnSpc>
                <a:spcPct val="106000"/>
              </a:lnSpc>
              <a:buNone/>
            </a:pPr>
            <a:r>
              <a:rPr lang="en-US" sz="850" dirty="0">
                <a:solidFill>
                  <a:srgbClr val="FFFFFF"/>
                </a:solidFill>
                <a:latin typeface="Montserrat" pitchFamily="34" charset="0"/>
                <a:ea typeface="Montserrat" pitchFamily="34" charset="-122"/>
                <a:cs typeface="Montserrat" pitchFamily="34" charset="-120"/>
              </a:rPr>
              <a:t>{FIXED [Region]: AVG({FIXED [Region],[Sub-Category]: SUM([Sales])})}
</a:t>
            </a:r>
            <a:pPr indent="0" marL="0">
              <a:lnSpc>
                <a:spcPct val="106000"/>
              </a:lnSpc>
              <a:buNone/>
            </a:pPr>
            <a:r>
              <a:rPr lang="en-US" sz="850" b="1" dirty="0">
                <a:solidFill>
                  <a:srgbClr val="00EDED"/>
                </a:solidFill>
                <a:latin typeface="Montserrat" pitchFamily="34" charset="0"/>
                <a:ea typeface="Montserrat" pitchFamily="34" charset="-122"/>
                <a:cs typeface="Montserrat" pitchFamily="34" charset="-120"/>
              </a:rPr>
              <a:t>Cortex:  </a:t>
            </a:r>
            <a:pPr indent="0" marL="0">
              <a:lnSpc>
                <a:spcPct val="106000"/>
              </a:lnSpc>
              <a:buNone/>
            </a:pPr>
            <a:r>
              <a:rPr lang="en-US" sz="850" dirty="0">
                <a:solidFill>
                  <a:srgbClr val="D6E6F0"/>
                </a:solidFill>
                <a:latin typeface="Montserrat" pitchFamily="34" charset="0"/>
                <a:ea typeface="Montserrat" pitchFamily="34" charset="-122"/>
                <a:cs typeface="Montserrat" pitchFamily="34" charset="-120"/>
              </a:rPr>
              <a:t>rewritten as layered CTEs Snowflake executes directly
</a:t>
            </a:r>
            <a:pPr indent="0" marL="0">
              <a:lnSpc>
                <a:spcPct val="106000"/>
              </a:lnSpc>
              <a:buNone/>
            </a:pPr>
            <a:r>
              <a:rPr lang="en-US" sz="850" b="1" dirty="0">
                <a:solidFill>
                  <a:srgbClr val="00EDED"/>
                </a:solidFill>
                <a:latin typeface="Montserrat" pitchFamily="34" charset="0"/>
                <a:ea typeface="Montserrat" pitchFamily="34" charset="-122"/>
                <a:cs typeface="Montserrat" pitchFamily="34" charset="-120"/>
              </a:rPr>
              <a:t>Verified:  </a:t>
            </a:r>
            <a:pPr indent="0" marL="0">
              <a:lnSpc>
                <a:spcPct val="106000"/>
              </a:lnSpc>
              <a:buNone/>
            </a:pPr>
            <a:r>
              <a:rPr lang="en-US" sz="850" dirty="0">
                <a:solidFill>
                  <a:srgbClr val="D6E6F0"/>
                </a:solidFill>
                <a:latin typeface="Montserrat" pitchFamily="34" charset="0"/>
                <a:ea typeface="Montserrat" pitchFamily="34" charset="-122"/>
                <a:cs typeface="Montserrat" pitchFamily="34" charset="-120"/>
              </a:rPr>
              <a:t>4 of 4 region values exact against an independent ground truth</a:t>
            </a:r>
            <a:endParaRPr lang="en-US" sz="850" dirty="0"/>
          </a:p>
        </p:txBody>
      </p:sp>
      <p:sp>
        <p:nvSpPr>
          <p:cNvPr id="32" name="Text 30"/>
          <p:cNvSpPr/>
          <p:nvPr/>
        </p:nvSpPr>
        <p:spPr>
          <a:xfrm>
            <a:off x="548640" y="5431536"/>
            <a:ext cx="11091672" cy="45720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Cortex also builds the governed semantic model — Tableau measures become Snowflake metrics and business captions become synonyms — so Cortex Analyst can answer natural-language questions over the very same definitions the migrated dashboards use.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Measured across a ten-workbook corpus, including workbooks the accelerator had never seen</a:t>
            </a:r>
            <a:endParaRPr lang="en-US" sz="1400" dirty="0"/>
          </a:p>
        </p:txBody>
      </p:sp>
      <p:sp>
        <p:nvSpPr>
          <p:cNvPr id="4" name="Shape 2"/>
          <p:cNvSpPr/>
          <p:nvPr/>
        </p:nvSpPr>
        <p:spPr>
          <a:xfrm>
            <a:off x="548640" y="1243584"/>
            <a:ext cx="2724912" cy="1572768"/>
          </a:xfrm>
          <a:prstGeom prst="roundRect">
            <a:avLst>
              <a:gd name="adj" fmla="val 4651"/>
            </a:avLst>
          </a:prstGeom>
          <a:solidFill>
            <a:srgbClr val="053057"/>
          </a:solidFill>
          <a:ln w="12700">
            <a:solidFill>
              <a:srgbClr val="053057"/>
            </a:solidFill>
            <a:prstDash val="solid"/>
          </a:ln>
        </p:spPr>
      </p:sp>
      <p:sp>
        <p:nvSpPr>
          <p:cNvPr id="5" name="Text 3"/>
          <p:cNvSpPr/>
          <p:nvPr/>
        </p:nvSpPr>
        <p:spPr>
          <a:xfrm>
            <a:off x="786384" y="1371600"/>
            <a:ext cx="2249424" cy="676656"/>
          </a:xfrm>
          <a:prstGeom prst="rect">
            <a:avLst/>
          </a:prstGeom>
          <a:noFill/>
          <a:ln/>
        </p:spPr>
        <p:txBody>
          <a:bodyPr wrap="square" lIns="0" tIns="0" rIns="0" bIns="0" rtlCol="0" anchor="ctr"/>
          <a:lstStyle/>
          <a:p>
            <a:pPr indent="0" marL="0">
              <a:buNone/>
            </a:pPr>
            <a:r>
              <a:rPr lang="en-US" sz="4000" b="1" dirty="0">
                <a:solidFill>
                  <a:srgbClr val="00EDED"/>
                </a:solidFill>
                <a:latin typeface="Montserrat" pitchFamily="34" charset="0"/>
                <a:ea typeface="Montserrat" pitchFamily="34" charset="-122"/>
                <a:cs typeface="Montserrat" pitchFamily="34" charset="-120"/>
              </a:rPr>
              <a:t>98%</a:t>
            </a:r>
            <a:endParaRPr lang="en-US" sz="4000" dirty="0"/>
          </a:p>
        </p:txBody>
      </p:sp>
      <p:sp>
        <p:nvSpPr>
          <p:cNvPr id="6" name="Text 4"/>
          <p:cNvSpPr/>
          <p:nvPr/>
        </p:nvSpPr>
        <p:spPr>
          <a:xfrm>
            <a:off x="786384" y="2066544"/>
            <a:ext cx="2249424" cy="27432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average fidelity</a:t>
            </a:r>
            <a:endParaRPr lang="en-US" sz="1150" dirty="0"/>
          </a:p>
        </p:txBody>
      </p:sp>
      <p:sp>
        <p:nvSpPr>
          <p:cNvPr id="7" name="Text 5"/>
          <p:cNvSpPr/>
          <p:nvPr/>
        </p:nvSpPr>
        <p:spPr>
          <a:xfrm>
            <a:off x="786384" y="2359152"/>
            <a:ext cx="2249424" cy="384048"/>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across the migrated corpus</a:t>
            </a:r>
            <a:endParaRPr lang="en-US" sz="900" dirty="0"/>
          </a:p>
        </p:txBody>
      </p:sp>
      <p:sp>
        <p:nvSpPr>
          <p:cNvPr id="8" name="Shape 6"/>
          <p:cNvSpPr/>
          <p:nvPr/>
        </p:nvSpPr>
        <p:spPr>
          <a:xfrm>
            <a:off x="3502152" y="1243584"/>
            <a:ext cx="2724912" cy="1572768"/>
          </a:xfrm>
          <a:prstGeom prst="roundRect">
            <a:avLst>
              <a:gd name="adj" fmla="val 4651"/>
            </a:avLst>
          </a:prstGeom>
          <a:solidFill>
            <a:srgbClr val="053057"/>
          </a:solidFill>
          <a:ln w="12700">
            <a:solidFill>
              <a:srgbClr val="053057"/>
            </a:solidFill>
            <a:prstDash val="solid"/>
          </a:ln>
        </p:spPr>
      </p:sp>
      <p:sp>
        <p:nvSpPr>
          <p:cNvPr id="9" name="Text 7"/>
          <p:cNvSpPr/>
          <p:nvPr/>
        </p:nvSpPr>
        <p:spPr>
          <a:xfrm>
            <a:off x="3739896" y="1371600"/>
            <a:ext cx="2249424" cy="676656"/>
          </a:xfrm>
          <a:prstGeom prst="rect">
            <a:avLst/>
          </a:prstGeom>
          <a:noFill/>
          <a:ln/>
        </p:spPr>
        <p:txBody>
          <a:bodyPr wrap="square" lIns="0" tIns="0" rIns="0" bIns="0" rtlCol="0" anchor="ctr"/>
          <a:lstStyle/>
          <a:p>
            <a:pPr indent="0" marL="0">
              <a:buNone/>
            </a:pPr>
            <a:r>
              <a:rPr lang="en-US" sz="4000" b="1" dirty="0">
                <a:solidFill>
                  <a:srgbClr val="00EDED"/>
                </a:solidFill>
                <a:latin typeface="Montserrat" pitchFamily="34" charset="0"/>
                <a:ea typeface="Montserrat" pitchFamily="34" charset="-122"/>
                <a:cs typeface="Montserrat" pitchFamily="34" charset="-120"/>
              </a:rPr>
              <a:t>97%</a:t>
            </a:r>
            <a:endParaRPr lang="en-US" sz="4000" dirty="0"/>
          </a:p>
        </p:txBody>
      </p:sp>
      <p:sp>
        <p:nvSpPr>
          <p:cNvPr id="10" name="Text 8"/>
          <p:cNvSpPr/>
          <p:nvPr/>
        </p:nvSpPr>
        <p:spPr>
          <a:xfrm>
            <a:off x="3739896" y="2066544"/>
            <a:ext cx="2249424" cy="27432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of calculations translated</a:t>
            </a:r>
            <a:endParaRPr lang="en-US" sz="1150" dirty="0"/>
          </a:p>
        </p:txBody>
      </p:sp>
      <p:sp>
        <p:nvSpPr>
          <p:cNvPr id="11" name="Text 9"/>
          <p:cNvSpPr/>
          <p:nvPr/>
        </p:nvSpPr>
        <p:spPr>
          <a:xfrm>
            <a:off x="3739896" y="2359152"/>
            <a:ext cx="2249424" cy="384048"/>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automatically, without a developer</a:t>
            </a:r>
            <a:endParaRPr lang="en-US" sz="900" dirty="0"/>
          </a:p>
        </p:txBody>
      </p:sp>
      <p:sp>
        <p:nvSpPr>
          <p:cNvPr id="12" name="Shape 10"/>
          <p:cNvSpPr/>
          <p:nvPr/>
        </p:nvSpPr>
        <p:spPr>
          <a:xfrm>
            <a:off x="6455664" y="1243584"/>
            <a:ext cx="2724912" cy="1572768"/>
          </a:xfrm>
          <a:prstGeom prst="roundRect">
            <a:avLst>
              <a:gd name="adj" fmla="val 4651"/>
            </a:avLst>
          </a:prstGeom>
          <a:solidFill>
            <a:srgbClr val="053057"/>
          </a:solidFill>
          <a:ln w="12700">
            <a:solidFill>
              <a:srgbClr val="053057"/>
            </a:solidFill>
            <a:prstDash val="solid"/>
          </a:ln>
        </p:spPr>
      </p:sp>
      <p:sp>
        <p:nvSpPr>
          <p:cNvPr id="13" name="Text 11"/>
          <p:cNvSpPr/>
          <p:nvPr/>
        </p:nvSpPr>
        <p:spPr>
          <a:xfrm>
            <a:off x="6693408" y="1371600"/>
            <a:ext cx="2249424" cy="676656"/>
          </a:xfrm>
          <a:prstGeom prst="rect">
            <a:avLst/>
          </a:prstGeom>
          <a:noFill/>
          <a:ln/>
        </p:spPr>
        <p:txBody>
          <a:bodyPr wrap="square" lIns="0" tIns="0" rIns="0" bIns="0" rtlCol="0" anchor="ctr"/>
          <a:lstStyle/>
          <a:p>
            <a:pPr indent="0" marL="0">
              <a:buNone/>
            </a:pPr>
            <a:r>
              <a:rPr lang="en-US" sz="4000" b="1" dirty="0">
                <a:solidFill>
                  <a:srgbClr val="00EDED"/>
                </a:solidFill>
                <a:latin typeface="Montserrat" pitchFamily="34" charset="0"/>
                <a:ea typeface="Montserrat" pitchFamily="34" charset="-122"/>
                <a:cs typeface="Montserrat" pitchFamily="34" charset="-120"/>
              </a:rPr>
              <a:t>50</a:t>
            </a:r>
            <a:endParaRPr lang="en-US" sz="4000" dirty="0"/>
          </a:p>
        </p:txBody>
      </p:sp>
      <p:sp>
        <p:nvSpPr>
          <p:cNvPr id="14" name="Text 12"/>
          <p:cNvSpPr/>
          <p:nvPr/>
        </p:nvSpPr>
        <p:spPr>
          <a:xfrm>
            <a:off x="6693408" y="2066544"/>
            <a:ext cx="2249424" cy="27432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sheets in one run</a:t>
            </a:r>
            <a:endParaRPr lang="en-US" sz="1150" dirty="0"/>
          </a:p>
        </p:txBody>
      </p:sp>
      <p:sp>
        <p:nvSpPr>
          <p:cNvPr id="15" name="Text 13"/>
          <p:cNvSpPr/>
          <p:nvPr/>
        </p:nvSpPr>
        <p:spPr>
          <a:xfrm>
            <a:off x="6693408" y="2359152"/>
            <a:ext cx="2249424" cy="384048"/>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the largest workbook, three dashboards, end to end</a:t>
            </a:r>
            <a:endParaRPr lang="en-US" sz="900" dirty="0"/>
          </a:p>
        </p:txBody>
      </p:sp>
      <p:sp>
        <p:nvSpPr>
          <p:cNvPr id="16" name="Shape 14"/>
          <p:cNvSpPr/>
          <p:nvPr/>
        </p:nvSpPr>
        <p:spPr>
          <a:xfrm>
            <a:off x="9409176" y="1243584"/>
            <a:ext cx="2724912" cy="1572768"/>
          </a:xfrm>
          <a:prstGeom prst="roundRect">
            <a:avLst>
              <a:gd name="adj" fmla="val 4651"/>
            </a:avLst>
          </a:prstGeom>
          <a:solidFill>
            <a:srgbClr val="053057"/>
          </a:solidFill>
          <a:ln w="12700">
            <a:solidFill>
              <a:srgbClr val="053057"/>
            </a:solidFill>
            <a:prstDash val="solid"/>
          </a:ln>
        </p:spPr>
      </p:sp>
      <p:sp>
        <p:nvSpPr>
          <p:cNvPr id="17" name="Text 15"/>
          <p:cNvSpPr/>
          <p:nvPr/>
        </p:nvSpPr>
        <p:spPr>
          <a:xfrm>
            <a:off x="9646920" y="1371600"/>
            <a:ext cx="2249424" cy="676656"/>
          </a:xfrm>
          <a:prstGeom prst="rect">
            <a:avLst/>
          </a:prstGeom>
          <a:noFill/>
          <a:ln/>
        </p:spPr>
        <p:txBody>
          <a:bodyPr wrap="square" lIns="0" tIns="0" rIns="0" bIns="0" rtlCol="0" anchor="ctr"/>
          <a:lstStyle/>
          <a:p>
            <a:pPr indent="0" marL="0">
              <a:buNone/>
            </a:pPr>
            <a:r>
              <a:rPr lang="en-US" sz="4000" b="1" dirty="0">
                <a:solidFill>
                  <a:srgbClr val="00EDED"/>
                </a:solidFill>
                <a:latin typeface="Montserrat" pitchFamily="34" charset="0"/>
                <a:ea typeface="Montserrat" pitchFamily="34" charset="-122"/>
                <a:cs typeface="Montserrat" pitchFamily="34" charset="-120"/>
              </a:rPr>
              <a:t>0</a:t>
            </a:r>
            <a:endParaRPr lang="en-US" sz="4000" dirty="0"/>
          </a:p>
        </p:txBody>
      </p:sp>
      <p:sp>
        <p:nvSpPr>
          <p:cNvPr id="18" name="Text 16"/>
          <p:cNvSpPr/>
          <p:nvPr/>
        </p:nvSpPr>
        <p:spPr>
          <a:xfrm>
            <a:off x="9646920" y="2066544"/>
            <a:ext cx="2249424" cy="27432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silent failures</a:t>
            </a:r>
            <a:endParaRPr lang="en-US" sz="1150" dirty="0"/>
          </a:p>
        </p:txBody>
      </p:sp>
      <p:sp>
        <p:nvSpPr>
          <p:cNvPr id="19" name="Text 17"/>
          <p:cNvSpPr/>
          <p:nvPr/>
        </p:nvSpPr>
        <p:spPr>
          <a:xfrm>
            <a:off x="9646920" y="2359152"/>
            <a:ext cx="2249424" cy="384048"/>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anything unconvertible is reported, never dropped quietly</a:t>
            </a:r>
            <a:endParaRPr lang="en-US" sz="900" dirty="0"/>
          </a:p>
        </p:txBody>
      </p:sp>
      <p:sp>
        <p:nvSpPr>
          <p:cNvPr id="20" name="Text 18"/>
          <p:cNvSpPr/>
          <p:nvPr/>
        </p:nvSpPr>
        <p:spPr>
          <a:xfrm>
            <a:off x="548640" y="2999232"/>
            <a:ext cx="7315200" cy="310896"/>
          </a:xfrm>
          <a:prstGeom prst="rect">
            <a:avLst/>
          </a:prstGeom>
          <a:noFill/>
          <a:ln/>
        </p:spPr>
        <p:txBody>
          <a:bodyPr wrap="square" lIns="0" tIns="0" rIns="0" bIns="0" rtlCol="0" anchor="ctr"/>
          <a:lstStyle/>
          <a:p>
            <a:pPr indent="0" marL="0">
              <a:buNone/>
            </a:pPr>
            <a:r>
              <a:rPr lang="en-US" sz="1700" b="1" dirty="0">
                <a:solidFill>
                  <a:srgbClr val="053057"/>
                </a:solidFill>
                <a:latin typeface="Montserrat" pitchFamily="34" charset="0"/>
                <a:ea typeface="Montserrat" pitchFamily="34" charset="-122"/>
                <a:cs typeface="Montserrat" pitchFamily="34" charset="-120"/>
              </a:rPr>
              <a:t>What lands in Snowflake</a:t>
            </a:r>
            <a:endParaRPr lang="en-US" sz="1700" dirty="0"/>
          </a:p>
        </p:txBody>
      </p:sp>
      <p:sp>
        <p:nvSpPr>
          <p:cNvPr id="21" name="Shape 19"/>
          <p:cNvSpPr/>
          <p:nvPr/>
        </p:nvSpPr>
        <p:spPr>
          <a:xfrm>
            <a:off x="548640" y="3383280"/>
            <a:ext cx="2724912" cy="1627632"/>
          </a:xfrm>
          <a:prstGeom prst="roundRect">
            <a:avLst>
              <a:gd name="adj" fmla="val 4494"/>
            </a:avLst>
          </a:prstGeom>
          <a:solidFill>
            <a:srgbClr val="FFFFFF"/>
          </a:solidFill>
          <a:ln w="12700">
            <a:solidFill>
              <a:srgbClr val="DFE3E6"/>
            </a:solidFill>
            <a:prstDash val="solid"/>
          </a:ln>
        </p:spPr>
      </p:sp>
      <p:sp>
        <p:nvSpPr>
          <p:cNvPr id="22" name="Shape 20"/>
          <p:cNvSpPr/>
          <p:nvPr/>
        </p:nvSpPr>
        <p:spPr>
          <a:xfrm>
            <a:off x="786384" y="3566160"/>
            <a:ext cx="365760" cy="365760"/>
          </a:xfrm>
          <a:prstGeom prst="ellipse">
            <a:avLst/>
          </a:prstGeom>
          <a:solidFill>
            <a:srgbClr val="00EDED"/>
          </a:solidFill>
          <a:ln/>
        </p:spPr>
      </p:sp>
      <p:sp>
        <p:nvSpPr>
          <p:cNvPr id="23" name="Text 21"/>
          <p:cNvSpPr/>
          <p:nvPr/>
        </p:nvSpPr>
        <p:spPr>
          <a:xfrm>
            <a:off x="786384" y="362102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1</a:t>
            </a:r>
            <a:endParaRPr lang="en-US" sz="1200" dirty="0"/>
          </a:p>
        </p:txBody>
      </p:sp>
      <p:sp>
        <p:nvSpPr>
          <p:cNvPr id="24" name="Text 22"/>
          <p:cNvSpPr/>
          <p:nvPr/>
        </p:nvSpPr>
        <p:spPr>
          <a:xfrm>
            <a:off x="786384" y="4023360"/>
            <a:ext cx="2249424" cy="292608"/>
          </a:xfrm>
          <a:prstGeom prst="rect">
            <a:avLst/>
          </a:prstGeom>
          <a:noFill/>
          <a:ln/>
        </p:spPr>
        <p:txBody>
          <a:bodyPr wrap="square" lIns="0" tIns="0" rIns="0" bIns="0" rtlCol="0" anchor="ctr"/>
          <a:lstStyle/>
          <a:p>
            <a:pPr indent="0" marL="0">
              <a:buNone/>
            </a:pPr>
            <a:r>
              <a:rPr lang="en-US" sz="1200" b="1" dirty="0">
                <a:solidFill>
                  <a:srgbClr val="053057"/>
                </a:solidFill>
                <a:latin typeface="Montserrat" pitchFamily="34" charset="0"/>
                <a:ea typeface="Montserrat" pitchFamily="34" charset="-122"/>
                <a:cs typeface="Montserrat" pitchFamily="34" charset="-120"/>
              </a:rPr>
              <a:t>Streamlit in Snowflake</a:t>
            </a:r>
            <a:endParaRPr lang="en-US" sz="1200" dirty="0"/>
          </a:p>
        </p:txBody>
      </p:sp>
      <p:sp>
        <p:nvSpPr>
          <p:cNvPr id="25" name="Text 23"/>
          <p:cNvSpPr/>
          <p:nvPr/>
        </p:nvSpPr>
        <p:spPr>
          <a:xfrm>
            <a:off x="786384" y="4352544"/>
            <a:ext cx="2249424" cy="603504"/>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Each dashboard becomes a native SiS app — serverless, on Snowflake compute, inside the account.</a:t>
            </a:r>
            <a:endParaRPr lang="en-US" sz="900" dirty="0"/>
          </a:p>
        </p:txBody>
      </p:sp>
      <p:sp>
        <p:nvSpPr>
          <p:cNvPr id="26" name="Shape 24"/>
          <p:cNvSpPr/>
          <p:nvPr/>
        </p:nvSpPr>
        <p:spPr>
          <a:xfrm>
            <a:off x="3502152" y="3383280"/>
            <a:ext cx="2724912" cy="1627632"/>
          </a:xfrm>
          <a:prstGeom prst="roundRect">
            <a:avLst>
              <a:gd name="adj" fmla="val 4494"/>
            </a:avLst>
          </a:prstGeom>
          <a:solidFill>
            <a:srgbClr val="FFFFFF"/>
          </a:solidFill>
          <a:ln w="12700">
            <a:solidFill>
              <a:srgbClr val="DFE3E6"/>
            </a:solidFill>
            <a:prstDash val="solid"/>
          </a:ln>
        </p:spPr>
      </p:sp>
      <p:sp>
        <p:nvSpPr>
          <p:cNvPr id="27" name="Shape 25"/>
          <p:cNvSpPr/>
          <p:nvPr/>
        </p:nvSpPr>
        <p:spPr>
          <a:xfrm>
            <a:off x="3739896" y="3566160"/>
            <a:ext cx="365760" cy="365760"/>
          </a:xfrm>
          <a:prstGeom prst="ellipse">
            <a:avLst/>
          </a:prstGeom>
          <a:solidFill>
            <a:srgbClr val="00EDED"/>
          </a:solidFill>
          <a:ln/>
        </p:spPr>
      </p:sp>
      <p:sp>
        <p:nvSpPr>
          <p:cNvPr id="28" name="Text 26"/>
          <p:cNvSpPr/>
          <p:nvPr/>
        </p:nvSpPr>
        <p:spPr>
          <a:xfrm>
            <a:off x="3739896" y="362102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2</a:t>
            </a:r>
            <a:endParaRPr lang="en-US" sz="1200" dirty="0"/>
          </a:p>
        </p:txBody>
      </p:sp>
      <p:sp>
        <p:nvSpPr>
          <p:cNvPr id="29" name="Text 27"/>
          <p:cNvSpPr/>
          <p:nvPr/>
        </p:nvSpPr>
        <p:spPr>
          <a:xfrm>
            <a:off x="3739896" y="4023360"/>
            <a:ext cx="2249424" cy="292608"/>
          </a:xfrm>
          <a:prstGeom prst="rect">
            <a:avLst/>
          </a:prstGeom>
          <a:noFill/>
          <a:ln/>
        </p:spPr>
        <p:txBody>
          <a:bodyPr wrap="square" lIns="0" tIns="0" rIns="0" bIns="0" rtlCol="0" anchor="ctr"/>
          <a:lstStyle/>
          <a:p>
            <a:pPr indent="0" marL="0">
              <a:buNone/>
            </a:pPr>
            <a:r>
              <a:rPr lang="en-US" sz="1200" b="1" dirty="0">
                <a:solidFill>
                  <a:srgbClr val="053057"/>
                </a:solidFill>
                <a:latin typeface="Montserrat" pitchFamily="34" charset="0"/>
                <a:ea typeface="Montserrat" pitchFamily="34" charset="-122"/>
                <a:cs typeface="Montserrat" pitchFamily="34" charset="-120"/>
              </a:rPr>
              <a:t>Native semantic views</a:t>
            </a:r>
            <a:endParaRPr lang="en-US" sz="1200" dirty="0"/>
          </a:p>
        </p:txBody>
      </p:sp>
      <p:sp>
        <p:nvSpPr>
          <p:cNvPr id="30" name="Text 28"/>
          <p:cNvSpPr/>
          <p:nvPr/>
        </p:nvSpPr>
        <p:spPr>
          <a:xfrm>
            <a:off x="3739896" y="4352544"/>
            <a:ext cx="2249424" cy="603504"/>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A governed model per workbook, with metrics and synonyms, ready for Cortex Analyst.</a:t>
            </a:r>
            <a:endParaRPr lang="en-US" sz="900" dirty="0"/>
          </a:p>
        </p:txBody>
      </p:sp>
      <p:sp>
        <p:nvSpPr>
          <p:cNvPr id="31" name="Shape 29"/>
          <p:cNvSpPr/>
          <p:nvPr/>
        </p:nvSpPr>
        <p:spPr>
          <a:xfrm>
            <a:off x="6455664" y="3383280"/>
            <a:ext cx="2724912" cy="1627632"/>
          </a:xfrm>
          <a:prstGeom prst="roundRect">
            <a:avLst>
              <a:gd name="adj" fmla="val 4494"/>
            </a:avLst>
          </a:prstGeom>
          <a:solidFill>
            <a:srgbClr val="FFFFFF"/>
          </a:solidFill>
          <a:ln w="12700">
            <a:solidFill>
              <a:srgbClr val="DFE3E6"/>
            </a:solidFill>
            <a:prstDash val="solid"/>
          </a:ln>
        </p:spPr>
      </p:sp>
      <p:sp>
        <p:nvSpPr>
          <p:cNvPr id="32" name="Shape 30"/>
          <p:cNvSpPr/>
          <p:nvPr/>
        </p:nvSpPr>
        <p:spPr>
          <a:xfrm>
            <a:off x="6693408" y="3566160"/>
            <a:ext cx="365760" cy="365760"/>
          </a:xfrm>
          <a:prstGeom prst="ellipse">
            <a:avLst/>
          </a:prstGeom>
          <a:solidFill>
            <a:srgbClr val="00EDED"/>
          </a:solidFill>
          <a:ln/>
        </p:spPr>
      </p:sp>
      <p:sp>
        <p:nvSpPr>
          <p:cNvPr id="33" name="Text 31"/>
          <p:cNvSpPr/>
          <p:nvPr/>
        </p:nvSpPr>
        <p:spPr>
          <a:xfrm>
            <a:off x="6693408" y="362102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3</a:t>
            </a:r>
            <a:endParaRPr lang="en-US" sz="1200" dirty="0"/>
          </a:p>
        </p:txBody>
      </p:sp>
      <p:sp>
        <p:nvSpPr>
          <p:cNvPr id="34" name="Text 32"/>
          <p:cNvSpPr/>
          <p:nvPr/>
        </p:nvSpPr>
        <p:spPr>
          <a:xfrm>
            <a:off x="6693408" y="4023360"/>
            <a:ext cx="2249424" cy="292608"/>
          </a:xfrm>
          <a:prstGeom prst="rect">
            <a:avLst/>
          </a:prstGeom>
          <a:noFill/>
          <a:ln/>
        </p:spPr>
        <p:txBody>
          <a:bodyPr wrap="square" lIns="0" tIns="0" rIns="0" bIns="0" rtlCol="0" anchor="ctr"/>
          <a:lstStyle/>
          <a:p>
            <a:pPr indent="0" marL="0">
              <a:buNone/>
            </a:pPr>
            <a:r>
              <a:rPr lang="en-US" sz="1200" b="1" dirty="0">
                <a:solidFill>
                  <a:srgbClr val="053057"/>
                </a:solidFill>
                <a:latin typeface="Montserrat" pitchFamily="34" charset="0"/>
                <a:ea typeface="Montserrat" pitchFamily="34" charset="-122"/>
                <a:cs typeface="Montserrat" pitchFamily="34" charset="-120"/>
              </a:rPr>
              <a:t>Cortex AI consumption</a:t>
            </a:r>
            <a:endParaRPr lang="en-US" sz="1200" dirty="0"/>
          </a:p>
        </p:txBody>
      </p:sp>
      <p:sp>
        <p:nvSpPr>
          <p:cNvPr id="35" name="Text 33"/>
          <p:cNvSpPr/>
          <p:nvPr/>
        </p:nvSpPr>
        <p:spPr>
          <a:xfrm>
            <a:off x="6693408" y="4352544"/>
            <a:ext cx="2249424" cy="603504"/>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In-account Claude models translating and validating on every migration run.</a:t>
            </a:r>
            <a:endParaRPr lang="en-US" sz="900" dirty="0"/>
          </a:p>
        </p:txBody>
      </p:sp>
      <p:sp>
        <p:nvSpPr>
          <p:cNvPr id="36" name="Shape 34"/>
          <p:cNvSpPr/>
          <p:nvPr/>
        </p:nvSpPr>
        <p:spPr>
          <a:xfrm>
            <a:off x="9409176" y="3383280"/>
            <a:ext cx="2724912" cy="1627632"/>
          </a:xfrm>
          <a:prstGeom prst="roundRect">
            <a:avLst>
              <a:gd name="adj" fmla="val 4494"/>
            </a:avLst>
          </a:prstGeom>
          <a:solidFill>
            <a:srgbClr val="FFFFFF"/>
          </a:solidFill>
          <a:ln w="12700">
            <a:solidFill>
              <a:srgbClr val="DFE3E6"/>
            </a:solidFill>
            <a:prstDash val="solid"/>
          </a:ln>
        </p:spPr>
      </p:sp>
      <p:sp>
        <p:nvSpPr>
          <p:cNvPr id="37" name="Shape 35"/>
          <p:cNvSpPr/>
          <p:nvPr/>
        </p:nvSpPr>
        <p:spPr>
          <a:xfrm>
            <a:off x="9646920" y="3566160"/>
            <a:ext cx="365760" cy="365760"/>
          </a:xfrm>
          <a:prstGeom prst="ellipse">
            <a:avLst/>
          </a:prstGeom>
          <a:solidFill>
            <a:srgbClr val="00EDED"/>
          </a:solidFill>
          <a:ln/>
        </p:spPr>
      </p:sp>
      <p:sp>
        <p:nvSpPr>
          <p:cNvPr id="38" name="Text 36"/>
          <p:cNvSpPr/>
          <p:nvPr/>
        </p:nvSpPr>
        <p:spPr>
          <a:xfrm>
            <a:off x="9646920" y="362102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4</a:t>
            </a:r>
            <a:endParaRPr lang="en-US" sz="1200" dirty="0"/>
          </a:p>
        </p:txBody>
      </p:sp>
      <p:sp>
        <p:nvSpPr>
          <p:cNvPr id="39" name="Text 37"/>
          <p:cNvSpPr/>
          <p:nvPr/>
        </p:nvSpPr>
        <p:spPr>
          <a:xfrm>
            <a:off x="9646920" y="4023360"/>
            <a:ext cx="2249424" cy="292608"/>
          </a:xfrm>
          <a:prstGeom prst="rect">
            <a:avLst/>
          </a:prstGeom>
          <a:noFill/>
          <a:ln/>
        </p:spPr>
        <p:txBody>
          <a:bodyPr wrap="square" lIns="0" tIns="0" rIns="0" bIns="0" rtlCol="0" anchor="ctr"/>
          <a:lstStyle/>
          <a:p>
            <a:pPr indent="0" marL="0">
              <a:buNone/>
            </a:pPr>
            <a:r>
              <a:rPr lang="en-US" sz="1200" b="1" dirty="0">
                <a:solidFill>
                  <a:srgbClr val="053057"/>
                </a:solidFill>
                <a:latin typeface="Montserrat" pitchFamily="34" charset="0"/>
                <a:ea typeface="Montserrat" pitchFamily="34" charset="-122"/>
                <a:cs typeface="Montserrat" pitchFamily="34" charset="-120"/>
              </a:rPr>
              <a:t>Snowpark</a:t>
            </a:r>
            <a:endParaRPr lang="en-US" sz="1200" dirty="0"/>
          </a:p>
        </p:txBody>
      </p:sp>
      <p:sp>
        <p:nvSpPr>
          <p:cNvPr id="40" name="Text 38"/>
          <p:cNvSpPr/>
          <p:nvPr/>
        </p:nvSpPr>
        <p:spPr>
          <a:xfrm>
            <a:off x="9646920" y="4352544"/>
            <a:ext cx="2249424" cy="603504"/>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Every dashboard query executes through the app's own Snowpark session.</a:t>
            </a:r>
            <a:endParaRPr lang="en-US" sz="900" dirty="0"/>
          </a:p>
        </p:txBody>
      </p:sp>
      <p:sp>
        <p:nvSpPr>
          <p:cNvPr id="41" name="Shape 39"/>
          <p:cNvSpPr/>
          <p:nvPr/>
        </p:nvSpPr>
        <p:spPr>
          <a:xfrm>
            <a:off x="548640" y="5175504"/>
            <a:ext cx="11091672" cy="786384"/>
          </a:xfrm>
          <a:prstGeom prst="roundRect">
            <a:avLst>
              <a:gd name="adj" fmla="val 9302"/>
            </a:avLst>
          </a:prstGeom>
          <a:solidFill>
            <a:srgbClr val="053057"/>
          </a:solidFill>
          <a:ln w="15875">
            <a:solidFill>
              <a:srgbClr val="00EDED"/>
            </a:solidFill>
            <a:prstDash val="solid"/>
          </a:ln>
        </p:spPr>
      </p:sp>
      <p:sp>
        <p:nvSpPr>
          <p:cNvPr id="42" name="Text 40"/>
          <p:cNvSpPr/>
          <p:nvPr/>
        </p:nvSpPr>
        <p:spPr>
          <a:xfrm>
            <a:off x="841248" y="5303520"/>
            <a:ext cx="10515600" cy="548640"/>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What it replaces:  </a:t>
            </a:r>
            <a:pPr indent="0" marL="0">
              <a:buNone/>
            </a:pPr>
            <a:r>
              <a:rPr lang="en-US" sz="1050" dirty="0">
                <a:solidFill>
                  <a:srgbClr val="D6E6F0"/>
                </a:solidFill>
                <a:latin typeface="Montserrat" pitchFamily="34" charset="0"/>
                <a:ea typeface="Montserrat" pitchFamily="34" charset="-122"/>
                <a:cs typeface="Montserrat" pitchFamily="34" charset="-120"/>
              </a:rPr>
              <a:t>the per-dashboard manual rebuild, the separate BI licence, and the specialist skill line — while the analytics estate consolidates onto one governed platform and the workload becomes Snowflake consumption.</a:t>
            </a:r>
            <a:endParaRPr lang="en-US" sz="1050" dirty="0"/>
          </a:p>
        </p:txBody>
      </p:sp>
      <p:sp>
        <p:nvSpPr>
          <p:cNvPr id="43" name="Shape 41"/>
          <p:cNvSpPr/>
          <p:nvPr/>
        </p:nvSpPr>
        <p:spPr>
          <a:xfrm>
            <a:off x="548640" y="6071616"/>
            <a:ext cx="11091672" cy="420624"/>
          </a:xfrm>
          <a:prstGeom prst="roundRect">
            <a:avLst>
              <a:gd name="adj" fmla="val 13043"/>
            </a:avLst>
          </a:prstGeom>
          <a:solidFill>
            <a:srgbClr val="053057"/>
          </a:solidFill>
          <a:ln w="12700">
            <a:solidFill>
              <a:srgbClr val="053057"/>
            </a:solidFill>
            <a:prstDash val="solid"/>
          </a:ln>
        </p:spPr>
      </p:sp>
      <p:sp>
        <p:nvSpPr>
          <p:cNvPr id="44" name="Text 42"/>
          <p:cNvSpPr/>
          <p:nvPr/>
        </p:nvSpPr>
        <p:spPr>
          <a:xfrm>
            <a:off x="548640" y="6071616"/>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601200" y="3566160"/>
            <a:ext cx="4023360" cy="4023360"/>
          </a:xfrm>
          <a:prstGeom prst="ellipse">
            <a:avLst/>
          </a:prstGeom>
          <a:solidFill>
            <a:srgbClr val="053057"/>
          </a:solidFill>
          <a:ln w="15875">
            <a:solidFill>
              <a:srgbClr val="17517F"/>
            </a:solidFill>
            <a:prstDash val="solid"/>
          </a:ln>
        </p:spPr>
      </p:sp>
      <p:sp>
        <p:nvSpPr>
          <p:cNvPr id="3" name="Text 1"/>
          <p:cNvSpPr/>
          <p:nvPr/>
        </p:nvSpPr>
        <p:spPr>
          <a:xfrm>
            <a:off x="777240" y="1188720"/>
            <a:ext cx="5486400" cy="292608"/>
          </a:xfrm>
          <a:prstGeom prst="rect">
            <a:avLst/>
          </a:prstGeom>
          <a:noFill/>
          <a:ln/>
        </p:spPr>
        <p:txBody>
          <a:bodyPr wrap="square" lIns="0" tIns="0" rIns="0" bIns="0" rtlCol="0" anchor="ctr"/>
          <a:lstStyle/>
          <a:p>
            <a:pPr indent="0" marL="0">
              <a:buNone/>
            </a:pPr>
            <a:r>
              <a:rPr lang="en-US" sz="1300" b="1" spc="300" kern="0" dirty="0">
                <a:solidFill>
                  <a:srgbClr val="00EDED"/>
                </a:solidFill>
                <a:latin typeface="Montserrat" pitchFamily="34" charset="0"/>
                <a:ea typeface="Montserrat" pitchFamily="34" charset="-122"/>
                <a:cs typeface="Montserrat" pitchFamily="34" charset="-120"/>
              </a:rPr>
              <a:t>DEMO</a:t>
            </a:r>
            <a:endParaRPr lang="en-US" sz="1300" dirty="0"/>
          </a:p>
        </p:txBody>
      </p:sp>
      <p:sp>
        <p:nvSpPr>
          <p:cNvPr id="4" name="Text 2"/>
          <p:cNvSpPr/>
          <p:nvPr/>
        </p:nvSpPr>
        <p:spPr>
          <a:xfrm>
            <a:off x="777240" y="1591056"/>
            <a:ext cx="8595360" cy="713232"/>
          </a:xfrm>
          <a:prstGeom prst="rect">
            <a:avLst/>
          </a:prstGeom>
          <a:noFill/>
          <a:ln/>
        </p:spPr>
        <p:txBody>
          <a:bodyPr wrap="square" lIns="0" tIns="0" rIns="0" bIns="0"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See it run inside Snowflake</a:t>
            </a:r>
            <a:endParaRPr lang="en-US" sz="3600" dirty="0"/>
          </a:p>
        </p:txBody>
      </p:sp>
      <p:sp>
        <p:nvSpPr>
          <p:cNvPr id="5" name="Text 3"/>
          <p:cNvSpPr/>
          <p:nvPr/>
        </p:nvSpPr>
        <p:spPr>
          <a:xfrm>
            <a:off x="777240" y="2414016"/>
            <a:ext cx="8321040" cy="914400"/>
          </a:xfrm>
          <a:prstGeom prst="rect">
            <a:avLst/>
          </a:prstGeom>
          <a:noFill/>
          <a:ln/>
        </p:spPr>
        <p:txBody>
          <a:bodyPr wrap="square" lIns="0" tIns="0" rIns="0" bIns="0" rtlCol="0" anchor="ctr"/>
          <a:lstStyle/>
          <a:p>
            <a:pPr indent="0" marL="0">
              <a:buNone/>
            </a:pPr>
            <a:r>
              <a:rPr lang="en-US" sz="1350" dirty="0">
                <a:solidFill>
                  <a:srgbClr val="A2F3F3"/>
                </a:solidFill>
                <a:latin typeface="Montserrat" pitchFamily="34" charset="0"/>
                <a:ea typeface="Montserrat" pitchFamily="34" charset="-122"/>
                <a:cs typeface="Montserrat" pitchFamily="34" charset="-120"/>
              </a:rPr>
              <a:t>Upload a Tableau workbook and watch every stage execute in the account — tables created and loaded, Cortex translating the hard calculations, the semantic view deployed, the dashboard rendered, and the numbers checked measure by measure.</a:t>
            </a:r>
            <a:endParaRPr lang="en-US" sz="1350" dirty="0"/>
          </a:p>
        </p:txBody>
      </p:sp>
      <p:sp>
        <p:nvSpPr>
          <p:cNvPr id="6" name="Shape 4"/>
          <p:cNvSpPr/>
          <p:nvPr/>
        </p:nvSpPr>
        <p:spPr>
          <a:xfrm>
            <a:off x="777240" y="3493008"/>
            <a:ext cx="1847088" cy="603504"/>
          </a:xfrm>
          <a:prstGeom prst="roundRect">
            <a:avLst>
              <a:gd name="adj" fmla="val 12121"/>
            </a:avLst>
          </a:prstGeom>
          <a:solidFill>
            <a:srgbClr val="0A3E6B"/>
          </a:solidFill>
          <a:ln w="12700">
            <a:solidFill>
              <a:srgbClr val="17517F"/>
            </a:solidFill>
            <a:prstDash val="solid"/>
          </a:ln>
        </p:spPr>
      </p:sp>
      <p:sp>
        <p:nvSpPr>
          <p:cNvPr id="7" name="Text 5"/>
          <p:cNvSpPr/>
          <p:nvPr/>
        </p:nvSpPr>
        <p:spPr>
          <a:xfrm>
            <a:off x="777240" y="3493008"/>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Discovery</a:t>
            </a:r>
            <a:endParaRPr lang="en-US" sz="950" dirty="0"/>
          </a:p>
        </p:txBody>
      </p:sp>
      <p:sp>
        <p:nvSpPr>
          <p:cNvPr id="8" name="Text 6"/>
          <p:cNvSpPr/>
          <p:nvPr/>
        </p:nvSpPr>
        <p:spPr>
          <a:xfrm>
            <a:off x="2624328" y="3493008"/>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9" name="Shape 7"/>
          <p:cNvSpPr/>
          <p:nvPr/>
        </p:nvSpPr>
        <p:spPr>
          <a:xfrm>
            <a:off x="2916936" y="3493008"/>
            <a:ext cx="1847088" cy="603504"/>
          </a:xfrm>
          <a:prstGeom prst="roundRect">
            <a:avLst>
              <a:gd name="adj" fmla="val 12121"/>
            </a:avLst>
          </a:prstGeom>
          <a:solidFill>
            <a:srgbClr val="0A3E6B"/>
          </a:solidFill>
          <a:ln w="12700">
            <a:solidFill>
              <a:srgbClr val="17517F"/>
            </a:solidFill>
            <a:prstDash val="solid"/>
          </a:ln>
        </p:spPr>
      </p:sp>
      <p:sp>
        <p:nvSpPr>
          <p:cNvPr id="10" name="Text 8"/>
          <p:cNvSpPr/>
          <p:nvPr/>
        </p:nvSpPr>
        <p:spPr>
          <a:xfrm>
            <a:off x="2916936" y="3493008"/>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Model Extraction</a:t>
            </a:r>
            <a:endParaRPr lang="en-US" sz="950" dirty="0"/>
          </a:p>
        </p:txBody>
      </p:sp>
      <p:sp>
        <p:nvSpPr>
          <p:cNvPr id="11" name="Text 9"/>
          <p:cNvSpPr/>
          <p:nvPr/>
        </p:nvSpPr>
        <p:spPr>
          <a:xfrm>
            <a:off x="4764024" y="3493008"/>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2" name="Shape 10"/>
          <p:cNvSpPr/>
          <p:nvPr/>
        </p:nvSpPr>
        <p:spPr>
          <a:xfrm>
            <a:off x="5056632" y="3493008"/>
            <a:ext cx="1847088" cy="603504"/>
          </a:xfrm>
          <a:prstGeom prst="roundRect">
            <a:avLst>
              <a:gd name="adj" fmla="val 12121"/>
            </a:avLst>
          </a:prstGeom>
          <a:solidFill>
            <a:srgbClr val="0A3E6B"/>
          </a:solidFill>
          <a:ln w="19050">
            <a:solidFill>
              <a:srgbClr val="00EDED"/>
            </a:solidFill>
            <a:prstDash val="solid"/>
          </a:ln>
        </p:spPr>
      </p:sp>
      <p:sp>
        <p:nvSpPr>
          <p:cNvPr id="13" name="Text 11"/>
          <p:cNvSpPr/>
          <p:nvPr/>
        </p:nvSpPr>
        <p:spPr>
          <a:xfrm>
            <a:off x="5056632" y="3493008"/>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Translation</a:t>
            </a:r>
            <a:endParaRPr lang="en-US" sz="950" dirty="0"/>
          </a:p>
        </p:txBody>
      </p:sp>
      <p:sp>
        <p:nvSpPr>
          <p:cNvPr id="14" name="Text 12"/>
          <p:cNvSpPr/>
          <p:nvPr/>
        </p:nvSpPr>
        <p:spPr>
          <a:xfrm>
            <a:off x="6903720" y="3493008"/>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5" name="Shape 13"/>
          <p:cNvSpPr/>
          <p:nvPr/>
        </p:nvSpPr>
        <p:spPr>
          <a:xfrm>
            <a:off x="7196328" y="3493008"/>
            <a:ext cx="1847088" cy="603504"/>
          </a:xfrm>
          <a:prstGeom prst="roundRect">
            <a:avLst>
              <a:gd name="adj" fmla="val 12121"/>
            </a:avLst>
          </a:prstGeom>
          <a:solidFill>
            <a:srgbClr val="0A3E6B"/>
          </a:solidFill>
          <a:ln w="19050">
            <a:solidFill>
              <a:srgbClr val="00EDED"/>
            </a:solidFill>
            <a:prstDash val="solid"/>
          </a:ln>
        </p:spPr>
      </p:sp>
      <p:sp>
        <p:nvSpPr>
          <p:cNvPr id="16" name="Text 14"/>
          <p:cNvSpPr/>
          <p:nvPr/>
        </p:nvSpPr>
        <p:spPr>
          <a:xfrm>
            <a:off x="7196328" y="3493008"/>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Semantic + App</a:t>
            </a:r>
            <a:endParaRPr lang="en-US" sz="950" dirty="0"/>
          </a:p>
        </p:txBody>
      </p:sp>
      <p:sp>
        <p:nvSpPr>
          <p:cNvPr id="17" name="Text 15"/>
          <p:cNvSpPr/>
          <p:nvPr/>
        </p:nvSpPr>
        <p:spPr>
          <a:xfrm>
            <a:off x="9043416" y="3493008"/>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8" name="Shape 16"/>
          <p:cNvSpPr/>
          <p:nvPr/>
        </p:nvSpPr>
        <p:spPr>
          <a:xfrm>
            <a:off x="9336024" y="3493008"/>
            <a:ext cx="1847088" cy="603504"/>
          </a:xfrm>
          <a:prstGeom prst="roundRect">
            <a:avLst>
              <a:gd name="adj" fmla="val 12121"/>
            </a:avLst>
          </a:prstGeom>
          <a:solidFill>
            <a:srgbClr val="0A3E6B"/>
          </a:solidFill>
          <a:ln w="19050">
            <a:solidFill>
              <a:srgbClr val="00EDED"/>
            </a:solidFill>
            <a:prstDash val="solid"/>
          </a:ln>
        </p:spPr>
      </p:sp>
      <p:sp>
        <p:nvSpPr>
          <p:cNvPr id="19" name="Text 17"/>
          <p:cNvSpPr/>
          <p:nvPr/>
        </p:nvSpPr>
        <p:spPr>
          <a:xfrm>
            <a:off x="9336024" y="3493008"/>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Validation</a:t>
            </a:r>
            <a:endParaRPr lang="en-US" sz="950" dirty="0"/>
          </a:p>
        </p:txBody>
      </p:sp>
      <p:sp>
        <p:nvSpPr>
          <p:cNvPr id="20" name="Text 18"/>
          <p:cNvSpPr/>
          <p:nvPr/>
        </p:nvSpPr>
        <p:spPr>
          <a:xfrm>
            <a:off x="777240" y="4315968"/>
            <a:ext cx="9692640" cy="512064"/>
          </a:xfrm>
          <a:prstGeom prst="rect">
            <a:avLst/>
          </a:prstGeom>
          <a:noFill/>
          <a:ln/>
        </p:spPr>
        <p:txBody>
          <a:bodyPr wrap="square" lIns="0" tIns="0" rIns="0" bIns="0" rtlCol="0" anchor="ctr"/>
          <a:lstStyle/>
          <a:p>
            <a:pPr indent="0" marL="0">
              <a:buNone/>
            </a:pPr>
            <a:r>
              <a:rPr lang="en-US" sz="1150" dirty="0">
                <a:solidFill>
                  <a:srgbClr val="6B7C88"/>
                </a:solidFill>
                <a:latin typeface="Montserrat" pitchFamily="34" charset="0"/>
                <a:ea typeface="Montserrat" pitchFamily="34" charset="-122"/>
                <a:cs typeface="Montserrat" pitchFamily="34" charset="-120"/>
              </a:rPr>
              <a:t>Every statement is visible in Snowsight Query History — the Cortex calls, the semantic view creation and the dashboard queries, with live timestamps.</a:t>
            </a:r>
            <a:endParaRPr lang="en-US" sz="1150" dirty="0"/>
          </a:p>
        </p:txBody>
      </p:sp>
      <p:sp>
        <p:nvSpPr>
          <p:cNvPr id="21" name="Text 19"/>
          <p:cNvSpPr/>
          <p:nvPr/>
        </p:nvSpPr>
        <p:spPr>
          <a:xfrm>
            <a:off x="777240" y="4937760"/>
            <a:ext cx="9692640" cy="566928"/>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To get started: a Snowflake account with Streamlit and Cortex enabled, a warehouse and schema to land tables, a role that can create Streamlit apps and semantic views — and the Tableau workbooks.</a:t>
            </a:r>
            <a:endParaRPr lang="en-US" sz="1100" dirty="0"/>
          </a:p>
        </p:txBody>
      </p:sp>
      <p:sp>
        <p:nvSpPr>
          <p:cNvPr id="22" name="Shape 20"/>
          <p:cNvSpPr/>
          <p:nvPr/>
        </p:nvSpPr>
        <p:spPr>
          <a:xfrm>
            <a:off x="548640" y="5760720"/>
            <a:ext cx="11091672" cy="420624"/>
          </a:xfrm>
          <a:prstGeom prst="roundRect">
            <a:avLst>
              <a:gd name="adj" fmla="val 13043"/>
            </a:avLst>
          </a:prstGeom>
          <a:solidFill>
            <a:srgbClr val="0A3E6B"/>
          </a:solidFill>
          <a:ln w="12700">
            <a:solidFill>
              <a:srgbClr val="17517F"/>
            </a:solidFill>
            <a:prstDash val="solid"/>
          </a:ln>
        </p:spPr>
      </p:sp>
      <p:sp>
        <p:nvSpPr>
          <p:cNvPr id="23" name="Text 21"/>
          <p:cNvSpPr/>
          <p:nvPr/>
        </p:nvSpPr>
        <p:spPr>
          <a:xfrm>
            <a:off x="548640" y="5760720"/>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2026-07-22T15:05:12Z</dcterms:created>
  <dcterms:modified xsi:type="dcterms:W3CDTF">2026-07-22T15:05:12Z</dcterms:modified>
</cp:coreProperties>
</file>