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0f6440267ec421b" /><Relationship Type="http://schemas.openxmlformats.org/officeDocument/2006/relationships/extended-properties" Target="/docProps/app.xml" Id="R061dbe81b5fe4b74" /><Relationship Type="http://schemas.openxmlformats.org/officeDocument/2006/relationships/officeDocument" Target="/ppt/presentation.xml" Id="R1f95ca2bf88e45f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030b2820b234080"/>
  </p:sldMasterIdLst>
  <p:notesMasterIdLst>
    <p:notesMasterId xmlns:r="http://schemas.openxmlformats.org/officeDocument/2006/relationships" r:id="Rc28d8c893f5c4246"/>
  </p:notesMasterIdLst>
  <p:sldIdLst>
    <p:sldId xmlns:r="http://schemas.openxmlformats.org/officeDocument/2006/relationships" id="256" r:id="Rc72c3d99a67d4392"/>
    <p:sldId xmlns:r="http://schemas.openxmlformats.org/officeDocument/2006/relationships" id="257" r:id="Raff48c1dd93a4f5e"/>
    <p:sldId xmlns:r="http://schemas.openxmlformats.org/officeDocument/2006/relationships" id="258" r:id="R28c5d98f9ef84312"/>
    <p:sldId xmlns:r="http://schemas.openxmlformats.org/officeDocument/2006/relationships" id="259" r:id="R3fcbac5dc93d48bd"/>
    <p:sldId xmlns:r="http://schemas.openxmlformats.org/officeDocument/2006/relationships" id="260" r:id="Rafc8567cd35248a5"/>
    <p:sldId xmlns:r="http://schemas.openxmlformats.org/officeDocument/2006/relationships" id="261" r:id="R32ec29a8d75b42cd"/>
    <p:sldId xmlns:r="http://schemas.openxmlformats.org/officeDocument/2006/relationships" id="262" r:id="Rf6b481fb9fa54b5c"/>
    <p:sldId xmlns:r="http://schemas.openxmlformats.org/officeDocument/2006/relationships" id="263" r:id="R579bc14dc6d346c6"/>
    <p:sldId xmlns:r="http://schemas.openxmlformats.org/officeDocument/2006/relationships" id="264" r:id="Rb52063d95fc5462d"/>
    <p:sldId xmlns:r="http://schemas.openxmlformats.org/officeDocument/2006/relationships" id="265" r:id="R25251b7631a1466e"/>
    <p:sldId xmlns:r="http://schemas.openxmlformats.org/officeDocument/2006/relationships" id="266" r:id="R2c1cc2ebfcaf4b3a"/>
    <p:sldId xmlns:r="http://schemas.openxmlformats.org/officeDocument/2006/relationships" id="267" r:id="R241dc8977ea8424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ad3f0193a034a94" /><Relationship Type="http://schemas.openxmlformats.org/officeDocument/2006/relationships/slideMaster" Target="/ppt/slideMasters/slideMaster1.xml" Id="R5030b2820b234080" /><Relationship Type="http://schemas.openxmlformats.org/officeDocument/2006/relationships/notesMaster" Target="/ppt/notesMasters/notesMaster1.xml" Id="Rc28d8c893f5c4246" /><Relationship Type="http://schemas.openxmlformats.org/officeDocument/2006/relationships/presProps" Target="/ppt/presProps.xml" Id="R6b424ce3979f4261" /><Relationship Type="http://schemas.openxmlformats.org/officeDocument/2006/relationships/tableStyles" Target="/ppt/tableStyles.xml" Id="R4b7af3f658dd45a7" /><Relationship Type="http://schemas.openxmlformats.org/officeDocument/2006/relationships/slide" Target="/ppt/slides/slide1.xml" Id="Rc72c3d99a67d4392" /><Relationship Type="http://schemas.openxmlformats.org/officeDocument/2006/relationships/slide" Target="/ppt/slides/slide2.xml" Id="Raff48c1dd93a4f5e" /><Relationship Type="http://schemas.openxmlformats.org/officeDocument/2006/relationships/slide" Target="/ppt/slides/slide3.xml" Id="R28c5d98f9ef84312" /><Relationship Type="http://schemas.openxmlformats.org/officeDocument/2006/relationships/slide" Target="/ppt/slides/slide4.xml" Id="R3fcbac5dc93d48bd" /><Relationship Type="http://schemas.openxmlformats.org/officeDocument/2006/relationships/slide" Target="/ppt/slides/slide5.xml" Id="Rafc8567cd35248a5" /><Relationship Type="http://schemas.openxmlformats.org/officeDocument/2006/relationships/slide" Target="/ppt/slides/slide6.xml" Id="R32ec29a8d75b42cd" /><Relationship Type="http://schemas.openxmlformats.org/officeDocument/2006/relationships/slide" Target="/ppt/slides/slide7.xml" Id="Rf6b481fb9fa54b5c" /><Relationship Type="http://schemas.openxmlformats.org/officeDocument/2006/relationships/slide" Target="/ppt/slides/slide8.xml" Id="R579bc14dc6d346c6" /><Relationship Type="http://schemas.openxmlformats.org/officeDocument/2006/relationships/slide" Target="/ppt/slides/slide9.xml" Id="Rb52063d95fc5462d" /><Relationship Type="http://schemas.openxmlformats.org/officeDocument/2006/relationships/slide" Target="/ppt/slides/slide10.xml" Id="R25251b7631a1466e" /><Relationship Type="http://schemas.openxmlformats.org/officeDocument/2006/relationships/slide" Target="/ppt/slides/slide11.xml" Id="R2c1cc2ebfcaf4b3a" /><Relationship Type="http://schemas.openxmlformats.org/officeDocument/2006/relationships/slide" Target="/ppt/slides/slide12.xml" Id="R241dc8977ea8424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8831bdd873c4d6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60fa2201e7f42d6" /><Relationship Type="http://schemas.openxmlformats.org/officeDocument/2006/relationships/notesMaster" Target="/ppt/notesMasters/notesMaster1.xml" Id="Ra23a3277b16a458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4234f22f65b4320" /><Relationship Type="http://schemas.openxmlformats.org/officeDocument/2006/relationships/notesMaster" Target="/ppt/notesMasters/notesMaster1.xml" Id="R57b4ff622c464c5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e397711ee31413d" /><Relationship Type="http://schemas.openxmlformats.org/officeDocument/2006/relationships/notesMaster" Target="/ppt/notesMasters/notesMaster1.xml" Id="Ra9cfe78076f74e8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c423e1cd3c047bb" /><Relationship Type="http://schemas.openxmlformats.org/officeDocument/2006/relationships/notesMaster" Target="/ppt/notesMasters/notesMaster1.xml" Id="R2b1a27acd2eb431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84a41172d464a42" /><Relationship Type="http://schemas.openxmlformats.org/officeDocument/2006/relationships/notesMaster" Target="/ppt/notesMasters/notesMaster1.xml" Id="R392290b4698e4f7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3962f76688044d2" /><Relationship Type="http://schemas.openxmlformats.org/officeDocument/2006/relationships/notesMaster" Target="/ppt/notesMasters/notesMaster1.xml" Id="R17b22ffa8b10432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fa58956767b47fc" /><Relationship Type="http://schemas.openxmlformats.org/officeDocument/2006/relationships/notesMaster" Target="/ppt/notesMasters/notesMaster1.xml" Id="Ra5365bd83ead4c0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d099d67096e4c4a" /><Relationship Type="http://schemas.openxmlformats.org/officeDocument/2006/relationships/notesMaster" Target="/ppt/notesMasters/notesMaster1.xml" Id="Rd5f5ac9399d34d9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89d726b1f0e4266" /><Relationship Type="http://schemas.openxmlformats.org/officeDocument/2006/relationships/notesMaster" Target="/ppt/notesMasters/notesMaster1.xml" Id="Ra1f56e9be8b2447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a2bccbe59664da4" /><Relationship Type="http://schemas.openxmlformats.org/officeDocument/2006/relationships/notesMaster" Target="/ppt/notesMasters/notesMaster1.xml" Id="R599c8fffb809412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c31ca1a56ce4d57" /><Relationship Type="http://schemas.openxmlformats.org/officeDocument/2006/relationships/notesMaster" Target="/ppt/notesMasters/notesMaster1.xml" Id="R5e11b12385b54a6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1d9dc8fa60144dc" /><Relationship Type="http://schemas.openxmlformats.org/officeDocument/2006/relationships/notesMaster" Target="/ppt/notesMasters/notesMaster1.xml" Id="Ra6b2c3033dd54b4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 minute. Open with modernization, not tool replacement. The goal is to move suitable BI workloads onto a governed, extensible Snowflake application foundation.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status_config.json</a:t>
            </a:r>
          </a:p>
          <a:p xmlns:a="http://schemas.openxmlformats.org/drawingml/2006/main">
            <a:r>
              <a:t>- Project ARCHITECTURE.md</a:t>
            </a:r>
          </a:p>
          <a:p xmlns:a="http://schemas.openxmlformats.org/drawingml/2006/main">
            <a:r>
              <a:t>- Project PROCESS.md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3 minutes. Explain the situation before mentioning the accelerator. Do not attack Tableau; describe the operational duplication created when the data platform and BI platform evolve separately. Replace generic cost language with client figures when available.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ARCHITECTURE.md</a:t>
            </a:r>
          </a:p>
          <a:p xmlns:a="http://schemas.openxmlformats.org/drawingml/2006/main">
            <a:r>
              <a:t>- Project DEMO.md</a:t>
            </a:r>
          </a:p>
          <a:p xmlns:a="http://schemas.openxmlformats.org/drawingml/2006/main">
            <a:r>
              <a:t>- Client-specific Tableau license and operating-cost inputs to be added when available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3 minutes. Leadership should hear business outcomes; Snowflake should hear platform consolidation; BI developers should hear faster iteration and extensibility. License savings are potential until client-specific TCO is calculated.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Snowflake Streamlit documentation: https://docs.snowflake.com/en/developer-guide/streamlit/getting-started/overview</a:t>
            </a:r>
          </a:p>
          <a:p xmlns:a="http://schemas.openxmlformats.org/drawingml/2006/main">
            <a:r>
              <a:t>- Snowflake CoCo documentation: https://docs.snowflake.com/en/en/user-guide/cortex-code/cortex-code</a:t>
            </a:r>
          </a:p>
          <a:p xmlns:a="http://schemas.openxmlformats.org/drawingml/2006/main">
            <a:r>
              <a:t>- Snowflake Cortex Analyst documentation: https://docs.snowflake.com/en/user-guide/snowflake-cortex/cortex-analyst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3 minutes. This is a primary modernization advantage. Say that CoCo lowers dependence on specialized coding skills; do not promise that production applications can be changed without engineering review. Every AI-assisted change returns through regression and validation.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Snowflake CoCo documentation: https://docs.snowflake.com/en/en/user-guide/cortex-code/cortex-code</a:t>
            </a:r>
          </a:p>
          <a:p xmlns:a="http://schemas.openxmlformats.org/drawingml/2006/main">
            <a:r>
              <a:t>- Snowflake Cortex Code app-building documentation: https://docs.snowflake.com/en/user-guide/cortex-code/cortex-code-desktop/building-apps</a:t>
            </a:r>
          </a:p>
          <a:p xmlns:a="http://schemas.openxmlformats.org/drawingml/2006/main">
            <a:r>
              <a:t>- Snowflake Cortex Analyst documentation: https://docs.snowflake.com/en/user-guide/snowflake-cortex/cortex-analyst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3 minutes. This slide replaces the conflicting three-stage and seven-stage descriptions in earlier material. During the live demo, narrate the same five labels shown here.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DEMO.md</a:t>
            </a:r>
          </a:p>
          <a:p xmlns:a="http://schemas.openxmlformats.org/drawingml/2006/main">
            <a:r>
              <a:t>- Project pipeline_app.py</a:t>
            </a:r>
          </a:p>
          <a:p xmlns:a="http://schemas.openxmlformats.org/drawingml/2006/main">
            <a:r>
              <a:t>- Project PROCESS.md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 Visual similarity alone is not a pass. It is the first evidence layer. Point out that the chart colors can differ while data, hierarchy and interaction behavior still require independent checks.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Tableau versus Streamlit comparison screenshot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4 minutes. The three displayed rows are representative slide evidence; the downloadable report retains the complete result set and every mismatch. Explain absolute and relative tolerance in the report and that currency tolerance must be expressed in currency, not points.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Top Products validation screenshot</a:t>
            </a:r>
          </a:p>
          <a:p xmlns:a="http://schemas.openxmlformats.org/drawingml/2006/main">
            <a:r>
              <a:t>- User-provided formula comparison screenshot</a:t>
            </a:r>
          </a:p>
          <a:p xmlns:a="http://schemas.openxmlformats.org/drawingml/2006/main">
            <a:r>
              <a:t>- Project Superstore_migration_validation_report.html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 This is the only main-deck boundary slide. Position the program as selective modernization, not a universal Tableau replacement. Unsupported constructs are surfaced before deployment.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ARCHITECTURE.md - known limitations</a:t>
            </a:r>
          </a:p>
          <a:p xmlns:a="http://schemas.openxmlformats.org/drawingml/2006/main">
            <a:r>
              <a:t>- Project MVP_ACCELERATOR_SCOPE.md</a:t>
            </a:r>
          </a:p>
          <a:p xmlns:a="http://schemas.openxmlformats.org/drawingml/2006/main">
            <a:r>
              <a:t>- Project status_config.json - out of scope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3 minutes. Close on a decision, not a generic next-step list. Ask Snowflake to help select the environment and verify the native deployment pattern; ask BI owners to approve semantic and visual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Pilot structure proposed from the project's current MVP definition and validation workflow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only when asked about breadth. Explain that corpus fidelity is a directional product metric and must not replace workbook-level acceptance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status_config.json - corpus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when Snowflake asks where Cortex adds value. The concise answer: Cortex enriches the governed semantic experience and can propose translations for unsupported calculations, but deterministic checks retain authority.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cortex_semantic.py</a:t>
            </a:r>
          </a:p>
          <a:p xmlns:a="http://schemas.openxmlformats.org/drawingml/2006/main">
            <a:r>
              <a:t>- Project cortex_calc_fallback.py</a:t>
            </a:r>
          </a:p>
          <a:p xmlns:a="http://schemas.openxmlformats.org/drawingml/2006/main">
            <a:r>
              <a:t>- Project NEW_CHAT.md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when the audience asks what is inside the generated report. Stress that the HTML is the readable entry point while the notebook and row-level artifacts provide the complete proof set.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Superstore_migration_validation_report.html</a:t>
            </a:r>
          </a:p>
          <a:p xmlns:a="http://schemas.openxmlformats.org/drawingml/2006/main">
            <a:r>
              <a:t>- Project Superstore_dashboard_validation_LIVE.html</a:t>
            </a:r>
          </a:p>
          <a:p xmlns:a="http://schemas.openxmlformats.org/drawingml/2006/main">
            <a:r>
              <a:t>- Project parity.py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b19ed9f23243b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186306923b743fb" /><Relationship Type="http://schemas.openxmlformats.org/officeDocument/2006/relationships/slideLayout" Target="/ppt/slideLayouts/slideLayout1.xml" Id="Re53dd2eb8c5a4a6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53dd2eb8c5a4a6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e08e2dfce241d2" /><Relationship Type="http://schemas.openxmlformats.org/officeDocument/2006/relationships/notesSlide" Target="/ppt/notesSlides/notesSlide1.xml" Id="R729e2d393cb7485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37ae59412a43d2" /><Relationship Type="http://schemas.openxmlformats.org/officeDocument/2006/relationships/notesSlide" Target="/ppt/notesSlides/notesSlide2.xml" Id="Raa0042ea02eb44f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2a2d7d09604ca1" /><Relationship Type="http://schemas.openxmlformats.org/officeDocument/2006/relationships/notesSlide" Target="/ppt/notesSlides/notesSlide3.xml" Id="Rc07f98882e5e468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5c9c4ae5604843" /><Relationship Type="http://schemas.openxmlformats.org/officeDocument/2006/relationships/notesSlide" Target="/ppt/notesSlides/notesSlide4.xml" Id="R24078ea9fb21473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98db73770a4ddb" /><Relationship Type="http://schemas.openxmlformats.org/officeDocument/2006/relationships/notesSlide" Target="/ppt/notesSlides/notesSlide5.xml" Id="R0be1a872a2a6498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a77331ab5f4066" /><Relationship Type="http://schemas.openxmlformats.org/officeDocument/2006/relationships/image" Target="/ppt/media/image.png" Id="R3c014980155f4010" /><Relationship Type="http://schemas.openxmlformats.org/officeDocument/2006/relationships/notesSlide" Target="/ppt/notesSlides/notesSlide6.xml" Id="R943b0b5e5f1a4ba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ef603056df4942" /><Relationship Type="http://schemas.openxmlformats.org/officeDocument/2006/relationships/notesSlide" Target="/ppt/notesSlides/notesSlide7.xml" Id="R2aa8c54c045745c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33f8d52e76449c" /><Relationship Type="http://schemas.openxmlformats.org/officeDocument/2006/relationships/notesSlide" Target="/ppt/notesSlides/notesSlide8.xml" Id="R36ee26d338d44e5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9126aa263041e3" /><Relationship Type="http://schemas.openxmlformats.org/officeDocument/2006/relationships/notesSlide" Target="/ppt/notesSlides/notesSlide9.xml" Id="Re373b435c73b4f2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8ac7928de14d3e" /><Relationship Type="http://schemas.openxmlformats.org/officeDocument/2006/relationships/notesSlide" Target="/ppt/notesSlides/notesSlide10.xml" Id="Rb1ccf485fbf542f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6938fe64964b8b" /><Relationship Type="http://schemas.openxmlformats.org/officeDocument/2006/relationships/notesSlide" Target="/ppt/notesSlides/notesSlide11.xml" Id="R705e44b6cceb49f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139d9af7b547be" /><Relationship Type="http://schemas.openxmlformats.org/officeDocument/2006/relationships/notesSlide" Target="/ppt/notesSlides/notesSlide12.xml" Id="R7dcd1fbb6a3f424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31221F-3839-41F7-824C-9A0501DA6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7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2EC10E-550E-48CA-8423-DD5323253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D73EA"/>
                </a:solidFill>
              </a:defRPr>
            </a:pPr>
            <a:r>
              <a:rPr sz="1050" b="1">
                <a:solidFill>
                  <a:srgbClr val="1D73EA"/>
                </a:solidFill>
              </a:rPr>
              <a:t>TABLEAU TO STREAMLIT-IN-SNOWFLAKE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052AED-FA56-47F0-9AC6-A9C042BED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7239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0B1220"/>
                </a:solidFill>
              </a:defRPr>
            </a:pPr>
            <a:r>
              <a:rPr sz="4200" b="1">
                <a:solidFill>
                  <a:srgbClr val="0B1220"/>
                </a:solidFill>
              </a:rPr>
              <a:t>Modernizing BI</a:t>
            </a:r>
          </a:p>
          <a:p xmlns:a="http://schemas.openxmlformats.org/drawingml/2006/main">
            <a:pPr algn="l">
              <a:defRPr sz="4200" b="1">
                <a:solidFill>
                  <a:srgbClr val="0B1220"/>
                </a:solidFill>
              </a:defRPr>
            </a:pPr>
            <a:r>
              <a:rPr sz="4200" b="1">
                <a:solidFill>
                  <a:srgbClr val="0B1220"/>
                </a:solidFill>
              </a:rPr>
              <a:t>on Snowflake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AB3A80-424C-4FB6-BA46-22F72A1D4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147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73EA"/>
                </a:solidFill>
              </a:defRPr>
            </a:pPr>
            <a:r>
              <a:rPr sz="975" b="1">
                <a:solidFill>
                  <a:srgbClr val="1D73EA"/>
                </a:solidFill>
              </a:rPr>
              <a:t>OBJECTIVE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408F27-0CB4-4FED-8CA6-08BB22E60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38550"/>
            <a:ext cx="68580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36174"/>
                </a:solidFill>
              </a:defRPr>
            </a:pPr>
            <a:r>
              <a:rPr sz="1650" b="0">
                <a:solidFill>
                  <a:srgbClr val="536174"/>
                </a:solidFill>
              </a:rPr>
              <a:t>Modernize suitable Tableau workloads into governed, AI-ready Streamlit applications in Snowflake while reducing platform duplication and preserving trusted business outcomes.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3C9F12-8D40-42E0-ACF8-E7FD93BE8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028700"/>
            <a:ext cx="29527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D"/>
          </a:solidFill>
          <a:ln xmlns:a="http://schemas.openxmlformats.org/drawingml/2006/main" w="9525">
            <a:solidFill>
              <a:srgbClr val="101B2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9A9132-219D-48A9-B421-D3C0CA4A1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3525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5C6F2"/>
                </a:solidFill>
              </a:defRPr>
            </a:pPr>
            <a:r>
              <a:rPr sz="900" b="1">
                <a:solidFill>
                  <a:srgbClr val="55C6F2"/>
                </a:solidFill>
              </a:rPr>
              <a:t>SIMPLIFY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6A6596-E8FE-4209-AC22-F68CA8564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65735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Unified BI operating model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6C23FE-239A-45EE-A163-DA692260F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28850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A496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FFBA7F-EF9B-4F2E-AC28-A7FAB1FE5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717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5C6F2"/>
                </a:solidFill>
              </a:defRPr>
            </a:pPr>
            <a:r>
              <a:rPr sz="900" b="1">
                <a:solidFill>
                  <a:srgbClr val="55C6F2"/>
                </a:solidFill>
              </a:rPr>
              <a:t>EVOLVE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E191D0-B88F-4D43-AC9D-1F1E8C028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87655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AI-assisted applications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598C68-E724-477B-A489-FF61D627E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448050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A496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9613EE-2FD8-4B88-993B-A5C469953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7909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5C6F2"/>
                </a:solidFill>
              </a:defRPr>
            </a:pPr>
            <a:r>
              <a:rPr sz="900" b="1">
                <a:solidFill>
                  <a:srgbClr val="55C6F2"/>
                </a:solidFill>
              </a:rPr>
              <a:t>TRUST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52FD8C-B5D4-44C1-AADC-76AFA7C70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09575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Automated migration validation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CC986C-7AEA-440C-B5E5-422E9378E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626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36174"/>
                </a:solidFill>
              </a:defRPr>
            </a:pPr>
            <a:r>
              <a:rPr sz="1050" b="0">
                <a:solidFill>
                  <a:srgbClr val="536174"/>
                </a:solidFill>
              </a:rPr>
              <a:t>Sharath Kumar  |  Snowflake modernization demo</a:t>
            </a:r>
          </a:p>
        </p:txBody>
      </p:sp>
    </p:spTree>
    <p:extLst>
      <p:ext uri="{BB962C8B-B14F-4D97-AF65-F5344CB8AC3E}">
        <p14:creationId xmlns:p14="http://schemas.microsoft.com/office/powerpoint/2010/main" val="124266270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FD7AE7B-FC4D-48C1-95C1-EA9FDACB7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D73EA"/>
                </a:solidFill>
              </a:defRPr>
            </a:pPr>
            <a:r>
              <a:rPr sz="900" b="1">
                <a:solidFill>
                  <a:srgbClr val="1D73EA"/>
                </a:solidFill>
              </a:rPr>
              <a:t>TABLEAU TO STREAMLIT-IN-SNOWFLAKE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3DC409-6EDD-4B38-A88C-CBC2BEFB5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11277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220"/>
                </a:solidFill>
              </a:defRPr>
            </a:pPr>
            <a:r>
              <a:rPr sz="2700" b="1">
                <a:solidFill>
                  <a:srgbClr val="0B1220"/>
                </a:solidFill>
              </a:rPr>
              <a:t>The data platform modernized, but BI still operates separately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949DED-DA81-4EC7-B30B-9F5BD7155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01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1D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733C58-EEEC-4451-90FD-8D1A874DE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09700"/>
            <a:ext cx="1057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36174"/>
                </a:solidFill>
              </a:defRPr>
            </a:pPr>
            <a:r>
              <a:rPr sz="1650" b="0">
                <a:solidFill>
                  <a:srgbClr val="536174"/>
                </a:solidFill>
              </a:rPr>
              <a:t>Snowflake is the governed system of record; Tableau remains a second platform, control plane and cost base.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49808A-6583-4FBF-98B1-E62777730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33600"/>
            <a:ext cx="47625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6"/>
          </a:solidFill>
          <a:ln xmlns:a="http://schemas.openxmlformats.org/drawingml/2006/main" w="9525">
            <a:solidFill>
              <a:srgbClr val="C8D1D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21A788-FA59-4CA1-B037-7CBDC8BF3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622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73EA"/>
                </a:solidFill>
              </a:defRPr>
            </a:pPr>
            <a:r>
              <a:rPr sz="975" b="1">
                <a:solidFill>
                  <a:srgbClr val="1D73EA"/>
                </a:solidFill>
              </a:rPr>
              <a:t>CURRENT OPERATING MODEL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79FA7D-C6EE-460C-B3C3-C76ED7133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95600"/>
            <a:ext cx="1619250" cy="81915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E8F6F2"/>
          </a:solidFill>
          <a:ln xmlns:a="http://schemas.openxmlformats.org/drawingml/2006/main" w="9525">
            <a:solidFill>
              <a:srgbClr val="C8D1D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84C1FF-C1C2-40FD-B641-7E6F226CC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48000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220"/>
                </a:solidFill>
              </a:defRPr>
            </a:pPr>
            <a:r>
              <a:rPr sz="1650" b="1">
                <a:solidFill>
                  <a:srgbClr val="0B1220"/>
                </a:solidFill>
              </a:rPr>
              <a:t>Snowflake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BFAC1B-DA93-4067-848C-57AEB3C91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52800"/>
            <a:ext cx="1314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36174"/>
                </a:solidFill>
              </a:defRPr>
            </a:pPr>
            <a:r>
              <a:rPr sz="975" b="0">
                <a:solidFill>
                  <a:srgbClr val="536174"/>
                </a:solidFill>
              </a:rPr>
              <a:t>Data + governance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0795C5-B1F2-4912-905C-855DCDB4D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009900"/>
            <a:ext cx="590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536174"/>
                </a:solidFill>
              </a:defRPr>
            </a:pPr>
            <a:r>
              <a:rPr sz="2700" b="1">
                <a:solidFill>
                  <a:srgbClr val="536174"/>
                </a:solidFill>
              </a:rPr>
              <a:t>+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C2F705-0C61-435E-89D8-5DD2C8F7F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895600"/>
            <a:ext cx="1619250" cy="81915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8D1D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2A6B39-4CB5-4511-87C5-6377AC103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048000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220"/>
                </a:solidFill>
              </a:defRPr>
            </a:pPr>
            <a:r>
              <a:rPr sz="1650" b="1">
                <a:solidFill>
                  <a:srgbClr val="0B1220"/>
                </a:solidFill>
              </a:rPr>
              <a:t>Tableau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1291B9-0639-4090-B43A-695BB6AD3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352800"/>
            <a:ext cx="1314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36174"/>
                </a:solidFill>
              </a:defRPr>
            </a:pPr>
            <a:r>
              <a:rPr sz="975" b="0">
                <a:solidFill>
                  <a:srgbClr val="536174"/>
                </a:solidFill>
              </a:rPr>
              <a:t>BI consumption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611B97-C4AA-4508-9B6D-EDEC4E20F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14800"/>
            <a:ext cx="400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Two platforms to license, secure, administer, monitor and release.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4527A5-E0B3-4885-A18D-0DB7BEE78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133600"/>
            <a:ext cx="0" cy="3257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1D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F246D3-8F96-445B-8988-5889B0D19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622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83B49"/>
                </a:solidFill>
              </a:defRPr>
            </a:pPr>
            <a:r>
              <a:rPr sz="975" b="1">
                <a:solidFill>
                  <a:srgbClr val="C83B49"/>
                </a:solidFill>
              </a:rPr>
              <a:t>THE RESULT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860CC8-7C71-4B4A-8C56-E0D501168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0035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220"/>
                </a:solidFill>
              </a:defRPr>
            </a:pPr>
            <a:r>
              <a:rPr sz="1275" b="1">
                <a:solidFill>
                  <a:srgbClr val="0B1220"/>
                </a:solidFill>
              </a:rPr>
              <a:t>Separate cost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0FF299-4204-40EB-B3DA-AB59075BC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80035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174"/>
                </a:solidFill>
              </a:defRPr>
            </a:pPr>
            <a:r>
              <a:rPr sz="1125" b="0">
                <a:solidFill>
                  <a:srgbClr val="536174"/>
                </a:solidFill>
              </a:rPr>
              <a:t>Tableau licenses, infrastructure or cloud subscription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46222A-D5C1-4655-A4D4-E533B4300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3375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220"/>
                </a:solidFill>
              </a:defRPr>
            </a:pPr>
            <a:r>
              <a:rPr sz="1275" b="1">
                <a:solidFill>
                  <a:srgbClr val="0B1220"/>
                </a:solidFill>
              </a:rPr>
              <a:t>Duplicated operations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9242EF-0B36-4E53-BBCF-DD41BD904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33375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174"/>
                </a:solidFill>
              </a:defRPr>
            </a:pPr>
            <a:r>
              <a:rPr sz="1125" b="0">
                <a:solidFill>
                  <a:srgbClr val="536174"/>
                </a:solidFill>
              </a:rPr>
              <a:t>Administration, access, monitoring and deployment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84ABF53-5B0F-412F-8ABC-4F82A1F01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6715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220"/>
                </a:solidFill>
              </a:defRPr>
            </a:pPr>
            <a:r>
              <a:rPr sz="1275" b="1">
                <a:solidFill>
                  <a:srgbClr val="0B1220"/>
                </a:solidFill>
              </a:rPr>
              <a:t>Data movement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725BBF-5AB3-4B02-ABB2-6DDA83E40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86715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174"/>
                </a:solidFill>
              </a:defRPr>
            </a:pPr>
            <a:r>
              <a:rPr sz="1125" b="0">
                <a:solidFill>
                  <a:srgbClr val="536174"/>
                </a:solidFill>
              </a:rPr>
              <a:t>Extract creation, refresh schedules and failure handling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12CCDC-54FA-4C7E-8963-8FDAFA916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40055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220"/>
                </a:solidFill>
              </a:defRPr>
            </a:pPr>
            <a:r>
              <a:rPr sz="1275" b="1">
                <a:solidFill>
                  <a:srgbClr val="0B1220"/>
                </a:solidFill>
              </a:rPr>
              <a:t>Logic duplication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77BD33C-85AC-4719-8932-8D652E1C6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40055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174"/>
                </a:solidFill>
              </a:defRPr>
            </a:pPr>
            <a:r>
              <a:rPr sz="1125" b="0">
                <a:solidFill>
                  <a:srgbClr val="536174"/>
                </a:solidFill>
              </a:rPr>
              <a:t>Business calculations repeated across ELT and dashboards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7BED65A-6EE1-42CE-B9AB-573CC20CF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93395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220"/>
                </a:solidFill>
              </a:defRPr>
            </a:pPr>
            <a:r>
              <a:rPr sz="1275" b="1">
                <a:solidFill>
                  <a:srgbClr val="0B1220"/>
                </a:solidFill>
              </a:rPr>
              <a:t>Limited extensibility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5A19D8F-3CF5-4DAB-8E8F-220600E5B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93395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174"/>
                </a:solidFill>
              </a:defRPr>
            </a:pPr>
            <a:r>
              <a:rPr sz="1125" b="0">
                <a:solidFill>
                  <a:srgbClr val="536174"/>
                </a:solidFill>
              </a:rPr>
              <a:t>Additional applications needed beyond dashboard interaction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7DAAF1B-492A-4C25-BEB4-D86F73619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9120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220"/>
                </a:solidFill>
              </a:defRPr>
            </a:pPr>
            <a:r>
              <a:rPr sz="1650" b="1">
                <a:solidFill>
                  <a:srgbClr val="0B1220"/>
                </a:solidFill>
              </a:rPr>
              <a:t>This is the situation the modernization program is designed to change.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CE8482B-9EC7-4643-9AEE-E58F98655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1D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3489F16-BC79-4C26-AFDA-5B1D89894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6272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36174"/>
                </a:solidFill>
              </a:defRPr>
            </a:pPr>
            <a:r>
              <a:rPr sz="750" b="0">
                <a:solidFill>
                  <a:srgbClr val="536174"/>
                </a:solidFill>
              </a:rPr>
              <a:t>BI modernization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DE503C5-3826-450F-BE18-40B5689FE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56272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36174"/>
                </a:solidFill>
              </a:defRPr>
            </a:pPr>
            <a:r>
              <a:rPr sz="750" b="1">
                <a:solidFill>
                  <a:srgbClr val="536174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74684143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3A9690E-5F95-4FDA-B753-B94A9B8EB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D73EA"/>
                </a:solidFill>
              </a:defRPr>
            </a:pPr>
            <a:r>
              <a:rPr sz="900" b="1">
                <a:solidFill>
                  <a:srgbClr val="1D73EA"/>
                </a:solidFill>
              </a:rPr>
              <a:t>TABLEAU TO STREAMLIT-IN-SNOWFLAKE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CBC017-49A9-4D3C-91BF-6565A0D07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11277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220"/>
                </a:solidFill>
              </a:defRPr>
            </a:pPr>
            <a:r>
              <a:rPr sz="2700" b="1">
                <a:solidFill>
                  <a:srgbClr val="0B1220"/>
                </a:solidFill>
              </a:rPr>
              <a:t>Modernization creates value beyond visualization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B4C1AB-ABC5-4B83-910A-681E3599B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01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1D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9B6968-87E2-4942-818B-D9B3483BA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09700"/>
            <a:ext cx="781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36174"/>
                </a:solidFill>
              </a:defRPr>
            </a:pPr>
            <a:r>
              <a:rPr sz="1650" b="0">
                <a:solidFill>
                  <a:srgbClr val="536174"/>
                </a:solidFill>
              </a:rPr>
              <a:t>The opportunity is larger than replacing a visualization tool.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1FEF2F-FC80-4245-ACF5-466B9F15A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71700"/>
            <a:ext cx="2324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1D73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AEA384-3C3B-4E73-ACA5-BD316DC4A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00300"/>
            <a:ext cx="2324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220"/>
                </a:solidFill>
              </a:defRPr>
            </a:pPr>
            <a:r>
              <a:rPr sz="1650" b="1">
                <a:solidFill>
                  <a:srgbClr val="0B1220"/>
                </a:solidFill>
              </a:rPr>
              <a:t>Platform economics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F645A2-26FF-4B9C-B2CD-9FBAD3101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24200"/>
            <a:ext cx="23241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174"/>
                </a:solidFill>
              </a:defRPr>
            </a:pPr>
            <a:r>
              <a:rPr sz="1275" b="0">
                <a:solidFill>
                  <a:srgbClr val="536174"/>
                </a:solidFill>
              </a:rPr>
              <a:t>Potentially reduce Tableau licenses and duplicated platform support for migrated users.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613E12-FF46-4820-B0E9-D862D91EB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14850"/>
            <a:ext cx="2324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D73EA"/>
                </a:solidFill>
              </a:defRPr>
            </a:pPr>
            <a:r>
              <a:rPr sz="1275" b="1">
                <a:solidFill>
                  <a:srgbClr val="1D73EA"/>
                </a:solidFill>
              </a:rPr>
              <a:t>Lower duplicate cost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32B356-1257-41D6-BF06-430565CE1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171700"/>
            <a:ext cx="2324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06866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ED10E1-0852-4C90-8530-0F2C50965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400300"/>
            <a:ext cx="2324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220"/>
                </a:solidFill>
              </a:defRPr>
            </a:pPr>
            <a:r>
              <a:rPr sz="1650" b="1">
                <a:solidFill>
                  <a:srgbClr val="0B1220"/>
                </a:solidFill>
              </a:rPr>
              <a:t>Delivery speed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3FECE5-4098-425C-BA1D-8259FE567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124200"/>
            <a:ext cx="23241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174"/>
                </a:solidFill>
              </a:defRPr>
            </a:pPr>
            <a:r>
              <a:rPr sz="1275" b="0">
                <a:solidFill>
                  <a:srgbClr val="536174"/>
                </a:solidFill>
              </a:rPr>
              <a:t>Build on governed Snowflake data using reusable Python and Streamlit components.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89A459-CAC0-4F92-8A1D-4B7716768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514850"/>
            <a:ext cx="2324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6866B"/>
                </a:solidFill>
              </a:defRPr>
            </a:pPr>
            <a:r>
              <a:rPr sz="1275" b="1">
                <a:solidFill>
                  <a:srgbClr val="06866B"/>
                </a:solidFill>
              </a:rPr>
              <a:t>Shorter change cycles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42DC55-2BDD-49DD-90B8-D0DDF2ACC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171700"/>
            <a:ext cx="2324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B76A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AED9B0-C0B3-4D62-A734-40C0B7CB0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400300"/>
            <a:ext cx="2324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220"/>
                </a:solidFill>
              </a:defRPr>
            </a:pPr>
            <a:r>
              <a:rPr sz="1650" b="1">
                <a:solidFill>
                  <a:srgbClr val="0B1220"/>
                </a:solidFill>
              </a:rPr>
              <a:t>Governance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244717-5F5C-4687-9906-708550ED4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124200"/>
            <a:ext cx="23241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174"/>
                </a:solidFill>
              </a:defRPr>
            </a:pPr>
            <a:r>
              <a:rPr sz="1275" b="0">
                <a:solidFill>
                  <a:srgbClr val="536174"/>
                </a:solidFill>
              </a:rPr>
              <a:t>Reuse Snowflake RBAC, masking policies, semantic assets and controlled deployment.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74338A-39A8-49B0-A4AE-638AE68EC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514850"/>
            <a:ext cx="2324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76A00"/>
                </a:solidFill>
              </a:defRPr>
            </a:pPr>
            <a:r>
              <a:rPr sz="1275" b="1">
                <a:solidFill>
                  <a:srgbClr val="B76A00"/>
                </a:solidFill>
              </a:rPr>
              <a:t>Fewer control gaps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5169FB-BEEA-4DF6-AC48-B6F7254CF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171700"/>
            <a:ext cx="2324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55C6F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A44248-BB67-470A-92B3-6A70184BE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400300"/>
            <a:ext cx="2324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220"/>
                </a:solidFill>
              </a:defRPr>
            </a:pPr>
            <a:r>
              <a:rPr sz="1650" b="1">
                <a:solidFill>
                  <a:srgbClr val="0B1220"/>
                </a:solidFill>
              </a:rPr>
              <a:t>AI-ready experiences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92999A-9ABD-43EF-830C-EA8AC70E0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124200"/>
            <a:ext cx="23241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174"/>
                </a:solidFill>
              </a:defRPr>
            </a:pPr>
            <a:r>
              <a:rPr sz="1275" b="0">
                <a:solidFill>
                  <a:srgbClr val="536174"/>
                </a:solidFill>
              </a:rPr>
              <a:t>Extend migrated apps with CoCo and add natural-language analytics through Cortex Analyst.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AA28FC-747A-43E4-BA13-D9C959F6E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514850"/>
            <a:ext cx="2324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5C6F2"/>
                </a:solidFill>
              </a:defRPr>
            </a:pPr>
            <a:r>
              <a:rPr sz="1275" b="1">
                <a:solidFill>
                  <a:srgbClr val="55C6F2"/>
                </a:solidFill>
              </a:rPr>
              <a:t>New client experiences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7CB5F5-F583-4DC3-8053-30147287A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62550"/>
            <a:ext cx="108394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D"/>
          </a:solidFill>
          <a:ln xmlns:a="http://schemas.openxmlformats.org/drawingml/2006/main" w="9525">
            <a:solidFill>
              <a:srgbClr val="101B2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DFB8BB-6922-480C-B4E4-95CACF715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149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C6F2"/>
                </a:solidFill>
              </a:defRPr>
            </a:pPr>
            <a:r>
              <a:rPr sz="1200" b="1">
                <a:solidFill>
                  <a:srgbClr val="55C6F2"/>
                </a:solidFill>
              </a:rPr>
              <a:t>Measure the business case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466E28-B4BB-4A48-ABBF-DFD036EAF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5238750"/>
            <a:ext cx="7753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Baseline licenses, platform support, extract operations and dashboard change lead time before the pilot.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A3F3AA0-33F5-40A3-B448-8F62F5C4F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1D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A0F9508-E3B8-4D39-8C27-8A50C6A1F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6272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36174"/>
                </a:solidFill>
              </a:defRPr>
            </a:pPr>
            <a:r>
              <a:rPr sz="750" b="0">
                <a:solidFill>
                  <a:srgbClr val="536174"/>
                </a:solidFill>
              </a:rPr>
              <a:t>BI modernization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75E8660-7CF0-4E9F-8909-EB67C9FE5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56272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36174"/>
                </a:solidFill>
              </a:defRPr>
            </a:pPr>
            <a:r>
              <a:rPr sz="750" b="1">
                <a:solidFill>
                  <a:srgbClr val="536174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34087600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611CFAE-E386-458B-ACE4-A1202F980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D73EA"/>
                </a:solidFill>
              </a:defRPr>
            </a:pPr>
            <a:r>
              <a:rPr sz="900" b="1">
                <a:solidFill>
                  <a:srgbClr val="1D73EA"/>
                </a:solidFill>
              </a:rPr>
              <a:t>TABLEAU TO STREAMLIT-IN-SNOWFLAKE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E86F31-2DDE-408C-AEE8-C6E559702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11277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220"/>
                </a:solidFill>
              </a:defRPr>
            </a:pPr>
            <a:r>
              <a:rPr sz="2700" b="1">
                <a:solidFill>
                  <a:srgbClr val="0B1220"/>
                </a:solidFill>
              </a:rPr>
              <a:t>The migrated application becomes an AI-assisted product, not a static replica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F5694A-7E71-414F-A331-8A3C59D05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01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1D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9950F8-6563-4879-AE33-B148248DE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09700"/>
            <a:ext cx="1000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36174"/>
                </a:solidFill>
              </a:defRPr>
            </a:pPr>
            <a:r>
              <a:rPr sz="1650" b="0">
                <a:solidFill>
                  <a:srgbClr val="536174"/>
                </a:solidFill>
              </a:rPr>
              <a:t>Natural-language enhancement changes the economics of maintaining and extending BI applications.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3574FA-8CAB-4CAD-928B-E7D835A80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33700"/>
            <a:ext cx="942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D73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8AB309-E954-4F20-B97C-A93107D84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0"/>
            <a:ext cx="1885950" cy="12001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EEF2F6"/>
          </a:solidFill>
          <a:ln xmlns:a="http://schemas.openxmlformats.org/drawingml/2006/main" w="9525">
            <a:solidFill>
              <a:srgbClr val="C8D1D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34C350-0B83-4591-B42E-326D42C1B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717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220"/>
                </a:solidFill>
              </a:defRPr>
            </a:pPr>
            <a:r>
              <a:rPr sz="1650" b="1">
                <a:solidFill>
                  <a:srgbClr val="0B1220"/>
                </a:solidFill>
              </a:rPr>
              <a:t>Migrate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D02440-B7E8-4970-BD51-72F33E738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480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36174"/>
                </a:solidFill>
              </a:defRPr>
            </a:pPr>
            <a:r>
              <a:rPr sz="1050" b="0">
                <a:solidFill>
                  <a:srgbClr val="536174"/>
                </a:solidFill>
              </a:rPr>
              <a:t>Tableau to Streamlit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B782DE-52E6-4D6A-8E47-71BD52273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381250"/>
            <a:ext cx="1885950" cy="12001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EEF2F6"/>
          </a:solidFill>
          <a:ln xmlns:a="http://schemas.openxmlformats.org/drawingml/2006/main" w="9525">
            <a:solidFill>
              <a:srgbClr val="C8D1D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3FD858-3F04-451C-8A81-F1B304A97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5717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220"/>
                </a:solidFill>
              </a:defRPr>
            </a:pPr>
            <a:r>
              <a:rPr sz="1650" b="1">
                <a:solidFill>
                  <a:srgbClr val="0B1220"/>
                </a:solidFill>
              </a:rPr>
              <a:t>Validate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4D65C4-323D-44C8-8405-6A7085217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0480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36174"/>
                </a:solidFill>
              </a:defRPr>
            </a:pPr>
            <a:r>
              <a:rPr sz="1050" b="0">
                <a:solidFill>
                  <a:srgbClr val="536174"/>
                </a:solidFill>
              </a:rPr>
              <a:t>Visual, data, formulas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C72646-21BE-4393-ABB0-BA32CA189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381250"/>
            <a:ext cx="1885950" cy="12001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EEF2F6"/>
          </a:solidFill>
          <a:ln xmlns:a="http://schemas.openxmlformats.org/drawingml/2006/main" w="9525">
            <a:solidFill>
              <a:srgbClr val="C8D1D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0E3A38-6DD1-4CCF-8AC2-98FFE37C5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5717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220"/>
                </a:solidFill>
              </a:defRPr>
            </a:pPr>
            <a:r>
              <a:rPr sz="1650" b="1">
                <a:solidFill>
                  <a:srgbClr val="0B1220"/>
                </a:solidFill>
              </a:rPr>
              <a:t>Deploy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D5501D-9184-47F2-ADAD-3F3EBD0D0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0480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36174"/>
                </a:solidFill>
              </a:defRPr>
            </a:pPr>
            <a:r>
              <a:rPr sz="1050" b="0">
                <a:solidFill>
                  <a:srgbClr val="536174"/>
                </a:solidFill>
              </a:rPr>
              <a:t>Governed SiS app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D5DECF-CB83-452A-B425-91D8AD937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381250"/>
            <a:ext cx="1885950" cy="12001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1D73E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08EAAD-CAE7-4331-81D1-DFD101B42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5717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D73EA"/>
                </a:solidFill>
              </a:defRPr>
            </a:pPr>
            <a:r>
              <a:rPr sz="1650" b="1">
                <a:solidFill>
                  <a:srgbClr val="1D73EA"/>
                </a:solidFill>
              </a:rPr>
              <a:t>Enhance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DC53D0-C582-4AE3-B629-E8031D0A2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0480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36174"/>
                </a:solidFill>
              </a:defRPr>
            </a:pPr>
            <a:r>
              <a:rPr sz="1050" b="0">
                <a:solidFill>
                  <a:srgbClr val="536174"/>
                </a:solidFill>
              </a:rPr>
              <a:t>CoCo instructions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7A6359-6636-4881-8431-3CF4027F4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381250"/>
            <a:ext cx="1885950" cy="12001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EEF2F6"/>
          </a:solidFill>
          <a:ln xmlns:a="http://schemas.openxmlformats.org/drawingml/2006/main" w="9525">
            <a:solidFill>
              <a:srgbClr val="C8D1D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A6F4DE-0942-415B-AB8E-C3C112258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5717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220"/>
                </a:solidFill>
              </a:defRPr>
            </a:pPr>
            <a:r>
              <a:rPr sz="1650" b="1">
                <a:solidFill>
                  <a:srgbClr val="0B1220"/>
                </a:solidFill>
              </a:rPr>
              <a:t>Revalidate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5EC640-F2B6-4946-8A93-19845256E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0480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36174"/>
                </a:solidFill>
              </a:defRPr>
            </a:pPr>
            <a:r>
              <a:rPr sz="1050" b="0">
                <a:solidFill>
                  <a:srgbClr val="536174"/>
                </a:solidFill>
              </a:rPr>
              <a:t>Controlled release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AD0446C-EC84-4846-8B9D-CD21B9603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33850"/>
            <a:ext cx="67056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D"/>
          </a:solidFill>
          <a:ln xmlns:a="http://schemas.openxmlformats.org/drawingml/2006/main" w="9525">
            <a:solidFill>
              <a:srgbClr val="101B2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B71774-24E1-4846-B0AD-6F67DBF2E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243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C6F2"/>
                </a:solidFill>
              </a:defRPr>
            </a:pPr>
            <a:r>
              <a:rPr sz="1050" b="1">
                <a:solidFill>
                  <a:srgbClr val="55C6F2"/>
                </a:solidFill>
              </a:rPr>
              <a:t>Example instruction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4D82DD5-5767-4B0F-97ED-83DA337E3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0"/>
            <a:ext cx="6153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“Add a region filter to every chart, preserve existing calculations, and create a customer-detail view on selection.”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7AAE8E-CD24-4F83-9200-685A491A6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2291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D73EA"/>
                </a:solidFill>
              </a:defRPr>
            </a:pPr>
            <a:r>
              <a:rPr sz="1425" b="1">
                <a:solidFill>
                  <a:srgbClr val="1D73EA"/>
                </a:solidFill>
              </a:rPr>
              <a:t>CoCo / Cortex Code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00F507B-F798-4498-8957-C25B27F64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610100"/>
            <a:ext cx="3486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220"/>
                </a:solidFill>
              </a:defRPr>
            </a:pPr>
            <a:r>
              <a:rPr sz="1275" b="0">
                <a:solidFill>
                  <a:srgbClr val="0B1220"/>
                </a:solidFill>
              </a:rPr>
              <a:t>Generates reviewable application changes from natural-language requirements.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D0AB611-309F-44B6-B20A-56292B6BF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53149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6866B"/>
                </a:solidFill>
              </a:defRPr>
            </a:pPr>
            <a:r>
              <a:rPr sz="1425" b="1">
                <a:solidFill>
                  <a:srgbClr val="06866B"/>
                </a:solidFill>
              </a:rPr>
              <a:t>Cortex Analyst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7A56358-7388-4D51-B856-4D7C54A80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5619750"/>
            <a:ext cx="3486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220"/>
                </a:solidFill>
              </a:defRPr>
            </a:pPr>
            <a:r>
              <a:rPr sz="1275" b="0">
                <a:solidFill>
                  <a:srgbClr val="0B1220"/>
                </a:solidFill>
              </a:rPr>
              <a:t>Adds governed natural-language questions over semantic views.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3FF7F37-9EA3-4829-B55F-5866D8A35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1D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ED334A5-97EC-43B5-8C82-981B7B6DF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6272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36174"/>
                </a:solidFill>
              </a:defRPr>
            </a:pPr>
            <a:r>
              <a:rPr sz="750" b="0">
                <a:solidFill>
                  <a:srgbClr val="536174"/>
                </a:solidFill>
              </a:rPr>
              <a:t>AI-assisted BI lifecycle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9142DA2-217C-4DB9-9917-21755A2F5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56272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36174"/>
                </a:solidFill>
              </a:defRPr>
            </a:pPr>
            <a:r>
              <a:rPr sz="750" b="1">
                <a:solidFill>
                  <a:srgbClr val="536174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45663023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BC3F12B-973F-40E8-8643-60992B535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D73EA"/>
                </a:solidFill>
              </a:defRPr>
            </a:pPr>
            <a:r>
              <a:rPr sz="900" b="1">
                <a:solidFill>
                  <a:srgbClr val="1D73EA"/>
                </a:solidFill>
              </a:rPr>
              <a:t>TABLEAU TO STREAMLIT-IN-SNOWFLAKE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5E3BDA-E3C9-4753-BEE7-2A9C3E6BE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11277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220"/>
                </a:solidFill>
              </a:defRPr>
            </a:pPr>
            <a:r>
              <a:rPr sz="2700" b="1">
                <a:solidFill>
                  <a:srgbClr val="0B1220"/>
                </a:solidFill>
              </a:rPr>
              <a:t>One workbook moves through five controlled stages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C8477F-907C-46AF-B605-6F9867544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01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1D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4B0995-4A30-46DE-86C3-08FD5CB62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09700"/>
            <a:ext cx="819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36174"/>
                </a:solidFill>
              </a:defRPr>
            </a:pPr>
            <a:r>
              <a:rPr sz="1650" b="0">
                <a:solidFill>
                  <a:srgbClr val="536174"/>
                </a:solidFill>
              </a:rPr>
              <a:t>Each stage leaves an inspectable artifact before the next stage proceeds.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517666-0502-48D7-B515-DABCCA238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0"/>
            <a:ext cx="2038350" cy="20002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EEF2F6"/>
          </a:solidFill>
          <a:ln xmlns:a="http://schemas.openxmlformats.org/drawingml/2006/main" w="9525">
            <a:solidFill>
              <a:srgbClr val="C8D1D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257CE8-C391-4E2F-83EF-CBA30AB78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384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6174"/>
                </a:solidFill>
              </a:defRPr>
            </a:pPr>
            <a:r>
              <a:rPr sz="1275" b="1">
                <a:solidFill>
                  <a:srgbClr val="536174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CF3672-BA86-4C2C-8E5B-78CA3EFAB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57500"/>
            <a:ext cx="1695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220"/>
                </a:solidFill>
              </a:defRPr>
            </a:pPr>
            <a:r>
              <a:rPr sz="1650" b="1">
                <a:solidFill>
                  <a:srgbClr val="0B1220"/>
                </a:solidFill>
              </a:rPr>
              <a:t>Discovery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8DAAF3-27BB-443E-8ABD-94F5C9252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29000"/>
            <a:ext cx="1695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174"/>
                </a:solidFill>
              </a:defRPr>
            </a:pPr>
            <a:r>
              <a:rPr sz="1125" b="0">
                <a:solidFill>
                  <a:srgbClr val="536174"/>
                </a:solidFill>
              </a:rPr>
              <a:t>Sources, extracts and tables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979B1A-823F-4695-AD76-489AAB4B2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286125"/>
            <a:ext cx="209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D73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45B6D6-F57F-432E-AA8F-C690AD2DA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286000"/>
            <a:ext cx="2038350" cy="20002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EEF2F6"/>
          </a:solidFill>
          <a:ln xmlns:a="http://schemas.openxmlformats.org/drawingml/2006/main" w="9525">
            <a:solidFill>
              <a:srgbClr val="C8D1D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F9F710-033F-4C7F-B2C8-81C398A7C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4384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6174"/>
                </a:solidFill>
              </a:defRPr>
            </a:pPr>
            <a:r>
              <a:rPr sz="1275" b="1">
                <a:solidFill>
                  <a:srgbClr val="536174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8AA476-5507-403D-BC3F-61C97E14D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857500"/>
            <a:ext cx="1695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220"/>
                </a:solidFill>
              </a:defRPr>
            </a:pPr>
            <a:r>
              <a:rPr sz="1650" b="1">
                <a:solidFill>
                  <a:srgbClr val="0B1220"/>
                </a:solidFill>
              </a:rPr>
              <a:t>Parsing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BE7EFD-7773-4049-A86E-0A8E41527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429000"/>
            <a:ext cx="1695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174"/>
                </a:solidFill>
              </a:defRPr>
            </a:pPr>
            <a:r>
              <a:rPr sz="1125" b="0">
                <a:solidFill>
                  <a:srgbClr val="536174"/>
                </a:solidFill>
              </a:rPr>
              <a:t>Workbook to migration IR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77A52F-4E86-4C0D-A57C-FA82AC487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286125"/>
            <a:ext cx="209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D73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85DBDD-699F-401E-A1E4-E2AB69565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286000"/>
            <a:ext cx="2038350" cy="20002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EEF2F6"/>
          </a:solidFill>
          <a:ln xmlns:a="http://schemas.openxmlformats.org/drawingml/2006/main" w="9525">
            <a:solidFill>
              <a:srgbClr val="C8D1D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C753F6-22D3-4E3C-8276-EE296155E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4384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6174"/>
                </a:solidFill>
              </a:defRPr>
            </a:pPr>
            <a:r>
              <a:rPr sz="1275" b="1">
                <a:solidFill>
                  <a:srgbClr val="536174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12D238-95D6-4293-A164-021C0C9A4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857500"/>
            <a:ext cx="1695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220"/>
                </a:solidFill>
              </a:defRPr>
            </a:pPr>
            <a:r>
              <a:rPr sz="1650" b="1">
                <a:solidFill>
                  <a:srgbClr val="0B1220"/>
                </a:solidFill>
              </a:rPr>
              <a:t>Data model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E3D8BC-E424-4027-BA71-33CDE8023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429000"/>
            <a:ext cx="1695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174"/>
                </a:solidFill>
              </a:defRPr>
            </a:pPr>
            <a:r>
              <a:rPr sz="1125" b="0">
                <a:solidFill>
                  <a:srgbClr val="536174"/>
                </a:solidFill>
              </a:rPr>
              <a:t>Relations and optional semantic view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01DDFA-0445-4FD6-837B-4D9E9C3C4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286125"/>
            <a:ext cx="209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D73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EC2DD0-88F7-4DF1-8805-940201F08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286000"/>
            <a:ext cx="2038350" cy="20002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EEF2F6"/>
          </a:solidFill>
          <a:ln xmlns:a="http://schemas.openxmlformats.org/drawingml/2006/main" w="9525">
            <a:solidFill>
              <a:srgbClr val="C8D1D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F42A4B-8BDE-4C4E-845C-64B71FADA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4384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6174"/>
                </a:solidFill>
              </a:defRPr>
            </a:pPr>
            <a:r>
              <a:rPr sz="1275" b="1">
                <a:solidFill>
                  <a:srgbClr val="536174"/>
                </a:solidFill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6C92338-0704-4F2C-A672-918AC6D89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857500"/>
            <a:ext cx="1695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220"/>
                </a:solidFill>
              </a:defRPr>
            </a:pPr>
            <a:r>
              <a:rPr sz="1650" b="1">
                <a:solidFill>
                  <a:srgbClr val="0B1220"/>
                </a:solidFill>
              </a:rPr>
              <a:t>App creation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DECE0D-7448-4581-82FE-095DCCDA5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429000"/>
            <a:ext cx="1695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174"/>
                </a:solidFill>
              </a:defRPr>
            </a:pPr>
            <a:r>
              <a:rPr sz="1125" b="0">
                <a:solidFill>
                  <a:srgbClr val="536174"/>
                </a:solidFill>
              </a:rPr>
              <a:t>Generated Streamlit application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4F57A3A-6BDF-418D-987F-58BB7DDEE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286125"/>
            <a:ext cx="209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D73E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28156C5-C324-4617-BFFA-768F77DF9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286000"/>
            <a:ext cx="2038350" cy="20002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1D73E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20D1A09-1D58-484A-8C9E-C0C6EF3DD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4384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D73EA"/>
                </a:solidFill>
              </a:defRPr>
            </a:pPr>
            <a:r>
              <a:rPr sz="1275" b="1">
                <a:solidFill>
                  <a:srgbClr val="1D73EA"/>
                </a:solidFill>
              </a:rPr>
              <a:t>05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B8114F6-6306-4085-8A74-1E6DA63BE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857500"/>
            <a:ext cx="1695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220"/>
                </a:solidFill>
              </a:defRPr>
            </a:pPr>
            <a:r>
              <a:rPr sz="1650" b="1">
                <a:solidFill>
                  <a:srgbClr val="0B1220"/>
                </a:solidFill>
              </a:rPr>
              <a:t>Validation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9CE7203-57B5-4730-B965-4A8F63B90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429000"/>
            <a:ext cx="1695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174"/>
                </a:solidFill>
              </a:defRPr>
            </a:pPr>
            <a:r>
              <a:rPr sz="1125" b="0">
                <a:solidFill>
                  <a:srgbClr val="536174"/>
                </a:solidFill>
              </a:rPr>
              <a:t>Visual, data and formula evidence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8041B3F-0A3A-41E7-863F-C8822DB67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6291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D73EA"/>
                </a:solidFill>
              </a:defRPr>
            </a:pPr>
            <a:r>
              <a:rPr sz="1050" b="1">
                <a:solidFill>
                  <a:srgbClr val="1D73EA"/>
                </a:solidFill>
              </a:rPr>
              <a:t>Human deployment gate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EF65411-B109-4CB1-8C9D-0908E4F47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895850"/>
            <a:ext cx="28765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174"/>
                </a:solidFill>
              </a:defRPr>
            </a:pPr>
            <a:r>
              <a:rPr sz="1275" b="0">
                <a:solidFill>
                  <a:srgbClr val="536174"/>
                </a:solidFill>
              </a:rPr>
              <a:t>The application is deployed only after findings and validation are visible.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7B38FA2-F75E-4DFD-BA77-1D247CCD0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1D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536FC2A-CF78-44DB-8661-B5020C25D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6272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36174"/>
                </a:solidFill>
              </a:defRPr>
            </a:pPr>
            <a:r>
              <a:rPr sz="750" b="0">
                <a:solidFill>
                  <a:srgbClr val="536174"/>
                </a:solidFill>
              </a:rPr>
              <a:t>Accelerator demo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32BA61A-1952-49CC-8BFF-5F2BCBCF4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56272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36174"/>
                </a:solidFill>
              </a:defRPr>
            </a:pPr>
            <a:r>
              <a:rPr sz="750" b="1">
                <a:solidFill>
                  <a:srgbClr val="536174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05527858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9ED5E1-4F7F-40DA-A6D7-5657A48F6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D73EA"/>
                </a:solidFill>
              </a:defRPr>
            </a:pPr>
            <a:r>
              <a:rPr sz="900" b="1">
                <a:solidFill>
                  <a:srgbClr val="1D73EA"/>
                </a:solidFill>
              </a:rPr>
              <a:t>TABLEAU TO STREAMLIT-IN-SNOWFLAKE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F2B710-F7C5-4D16-AB2D-FF12AE457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11277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220"/>
                </a:solidFill>
              </a:defRPr>
            </a:pPr>
            <a:r>
              <a:rPr sz="2700" b="1">
                <a:solidFill>
                  <a:srgbClr val="0B1220"/>
                </a:solidFill>
              </a:rPr>
              <a:t>Visual parity is reviewed at dashboard level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F43408-45C0-453B-9445-28759BAC5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01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1D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14CAEC-3A20-4620-A7BF-B04A60855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90650"/>
            <a:ext cx="971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36174"/>
                </a:solidFill>
              </a:defRPr>
            </a:pPr>
            <a:r>
              <a:rPr sz="1650" b="0">
                <a:solidFill>
                  <a:srgbClr val="536174"/>
                </a:solidFill>
              </a:rPr>
              <a:t>The first check is immediate: does the migrated tab preserve the same analytical composition?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014980155f4010"/>
          <a:stretch xmlns:a="http://schemas.openxmlformats.org/drawingml/2006/main"/>
        </p:blipFill>
        <p:spPr>
          <a:xfrm xmlns:a="http://schemas.openxmlformats.org/drawingml/2006/main">
            <a:off x="457200" y="2158248"/>
            <a:ext cx="11277600" cy="2636753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AA0381-9E68-487C-AB31-F4515609C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768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1D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D274B5-7CEE-4CC3-9E45-21BEB9368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673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D73EA"/>
                </a:solidFill>
              </a:defRPr>
            </a:pPr>
            <a:r>
              <a:rPr sz="1125" b="1">
                <a:solidFill>
                  <a:srgbClr val="1D73EA"/>
                </a:solidFill>
              </a:rPr>
              <a:t>Compare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03E637-0C37-4EDA-8734-86928330D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4292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220"/>
                </a:solidFill>
              </a:defRPr>
            </a:pPr>
            <a:r>
              <a:rPr sz="1350" b="0">
                <a:solidFill>
                  <a:srgbClr val="0B1220"/>
                </a:solidFill>
              </a:rPr>
              <a:t>layout hierarchy  |  KPI presence  |  chart type  |  filters  |  labels  |  visible grain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1FE99A-5146-495D-98B7-8C1E2A012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429250"/>
            <a:ext cx="1638300" cy="3429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4DE"/>
          </a:solidFill>
          <a:ln xmlns:a="http://schemas.openxmlformats.org/drawingml/2006/main" w="9525">
            <a:solidFill>
              <a:srgbClr val="FFF4D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BDA8D4-F78C-49AC-88A3-A1E84C859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5467350"/>
            <a:ext cx="1409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B76A00"/>
                </a:solidFill>
              </a:defRPr>
            </a:pPr>
            <a:r>
              <a:rPr sz="1050" b="1">
                <a:solidFill>
                  <a:srgbClr val="B76A00"/>
                </a:solidFill>
              </a:rPr>
              <a:t>Review evidence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E76AA1-5679-4F74-AE85-4FDEDA557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1D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9E1273-45CF-4DB6-8D4A-5B8D8755B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6272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36174"/>
                </a:solidFill>
              </a:defRPr>
            </a:pPr>
            <a:r>
              <a:rPr sz="750" b="0">
                <a:solidFill>
                  <a:srgbClr val="536174"/>
                </a:solidFill>
              </a:rPr>
              <a:t>Accelerator demo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F5E28B-07E6-4576-9F3C-61D3090C2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56272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36174"/>
                </a:solidFill>
              </a:defRPr>
            </a:pPr>
            <a:r>
              <a:rPr sz="750" b="1">
                <a:solidFill>
                  <a:srgbClr val="536174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28059834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15319A-B8D9-4546-86E6-579234CAD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D73EA"/>
                </a:solidFill>
              </a:defRPr>
            </a:pPr>
            <a:r>
              <a:rPr sz="900" b="1">
                <a:solidFill>
                  <a:srgbClr val="1D73EA"/>
                </a:solidFill>
              </a:rPr>
              <a:t>TABLEAU TO STREAMLIT-IN-SNOWFLAKE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2EE983-CE48-40FE-AB21-7D5207546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11277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220"/>
                </a:solidFill>
              </a:defRPr>
            </a:pPr>
            <a:r>
              <a:rPr sz="2700" b="1">
                <a:solidFill>
                  <a:srgbClr val="0B1220"/>
                </a:solidFill>
              </a:rPr>
              <a:t>A PASS is earned with chart-grain numbers and formulas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4C7B98-48A5-4B11-A5FE-524AE4671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01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1D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000469-B45D-45E6-BD1B-FA2B05E1C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81125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36174"/>
                </a:solidFill>
              </a:defRPr>
            </a:pPr>
            <a:r>
              <a:rPr sz="1575" b="0">
                <a:solidFill>
                  <a:srgbClr val="536174"/>
                </a:solidFill>
              </a:rPr>
              <a:t>The displayed visual grain determines the evidence: product rows for a ranked product table, not a dashboard total.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C172D5-D6A7-42B1-9F2F-A4103BC78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002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73EA"/>
                </a:solidFill>
              </a:defRPr>
            </a:pPr>
            <a:r>
              <a:rPr sz="975" b="1">
                <a:solidFill>
                  <a:srgbClr val="1D73EA"/>
                </a:solidFill>
              </a:rPr>
              <a:t>DATA PROOF</a:t>
            </a:r>
          </a:p>
        </p:txBody>
      </p:sp>
      <p:graphicFrame>
        <p:nvGraphicFramePr>
          <p:cNvPr id="24" name=""/>
          <p:cNvGraphicFramePr/>
          <p:nvPr/>
        </p:nvGraphicFramePr>
        <p:xfrm>
          <a:off xmlns:a="http://schemas.openxmlformats.org/drawingml/2006/main" x="457200" y="2305050"/>
          <a:ext xmlns:a="http://schemas.openxmlformats.org/drawingml/2006/main" cx="11277600" cy="1695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1714500"/>
                <a:gridCol w="1714500"/>
                <a:gridCol w="1714500"/>
                <a:gridCol w="1238250"/>
                <a:gridCol w="1238250"/>
              </a:tblGrid>
              <a:tr h="423863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B1220"/>
                          </a:solidFill>
                        </a:rPr>
                        <a:t>Product</a:t>
                      </a:r>
                    </a:p>
                  </a:txBody>
                  <a:tcPr marL="95250" marR="95250" marT="57150" marB="57150">
                    <a:solidFill>
                      <a:srgbClr val="EA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B1220"/>
                          </a:solidFill>
                        </a:rPr>
                        <a:t>Tableau</a:t>
                      </a:r>
                    </a:p>
                  </a:txBody>
                  <a:tcPr marL="95250" marR="95250" marT="57150" marB="57150">
                    <a:solidFill>
                      <a:srgbClr val="EA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B1220"/>
                          </a:solidFill>
                        </a:rPr>
                        <a:t>Streamlit</a:t>
                      </a:r>
                    </a:p>
                  </a:txBody>
                  <a:tcPr marL="95250" marR="95250" marT="57150" marB="57150">
                    <a:solidFill>
                      <a:srgbClr val="EA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B1220"/>
                          </a:solidFill>
                        </a:rPr>
                        <a:t>Backend</a:t>
                      </a:r>
                    </a:p>
                  </a:txBody>
                  <a:tcPr marL="95250" marR="95250" marT="57150" marB="57150">
                    <a:solidFill>
                      <a:srgbClr val="EA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B1220"/>
                          </a:solidFill>
                        </a:rPr>
                        <a:t>Diff</a:t>
                      </a:r>
                    </a:p>
                  </a:txBody>
                  <a:tcPr marL="95250" marR="95250" marT="57150" marB="57150">
                    <a:solidFill>
                      <a:srgbClr val="EA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B1220"/>
                          </a:solidFill>
                        </a:rPr>
                        <a:t>Result</a:t>
                      </a:r>
                    </a:p>
                  </a:txBody>
                  <a:tcPr marL="95250" marR="95250" marT="57150" marB="57150">
                    <a:solidFill>
                      <a:srgbClr val="EAF4FF"/>
                    </a:solidFill>
                  </a:tcPr>
                </a:tc>
              </a:tr>
              <a:tr h="423863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B1220"/>
                          </a:solidFill>
                        </a:rPr>
                        <a:t>Canon imageCLASS 2200</a:t>
                      </a:r>
                    </a:p>
                  </a:txBody>
                  <a:tcPr marL="95250" marR="95250" marT="57150" marB="5715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B1220"/>
                          </a:solidFill>
                        </a:rPr>
                        <a:t>$61,600.00</a:t>
                      </a:r>
                    </a:p>
                  </a:txBody>
                  <a:tcPr marL="95250" marR="95250" marT="57150" marB="5715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B1220"/>
                          </a:solidFill>
                        </a:rPr>
                        <a:t>$61,599.82</a:t>
                      </a:r>
                    </a:p>
                  </a:txBody>
                  <a:tcPr marL="95250" marR="95250" marT="57150" marB="5715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B1220"/>
                          </a:solidFill>
                        </a:rPr>
                        <a:t>$61,599.82</a:t>
                      </a:r>
                    </a:p>
                  </a:txBody>
                  <a:tcPr marL="95250" marR="95250" marT="57150" marB="5715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B1220"/>
                          </a:solidFill>
                        </a:rPr>
                        <a:t>$0.18</a:t>
                      </a:r>
                    </a:p>
                  </a:txBody>
                  <a:tcPr marL="95250" marR="95250" marT="57150" marB="57150"/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6866B"/>
                          </a:solidFill>
                        </a:rPr>
                        <a:t>PASS</a:t>
                      </a:r>
                    </a:p>
                  </a:txBody>
                  <a:tcPr marL="95250" marR="95250" marT="57150" marB="57150">
                    <a:solidFill>
                      <a:srgbClr val="E8F6F2"/>
                    </a:solidFill>
                  </a:tcPr>
                </a:tc>
              </a:tr>
              <a:tr h="423863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B1220"/>
                          </a:solidFill>
                        </a:rPr>
                        <a:t>Fellowes PB500</a:t>
                      </a:r>
                    </a:p>
                  </a:txBody>
                  <a:tcPr marL="95250" marR="95250" marT="57150" marB="5715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B1220"/>
                          </a:solidFill>
                        </a:rPr>
                        <a:t>$27,454.00</a:t>
                      </a:r>
                    </a:p>
                  </a:txBody>
                  <a:tcPr marL="95250" marR="95250" marT="57150" marB="5715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B1220"/>
                          </a:solidFill>
                        </a:rPr>
                        <a:t>$27,453.78</a:t>
                      </a:r>
                    </a:p>
                  </a:txBody>
                  <a:tcPr marL="95250" marR="95250" marT="57150" marB="5715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B1220"/>
                          </a:solidFill>
                        </a:rPr>
                        <a:t>$27,453.78</a:t>
                      </a:r>
                    </a:p>
                  </a:txBody>
                  <a:tcPr marL="95250" marR="95250" marT="57150" marB="5715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B1220"/>
                          </a:solidFill>
                        </a:rPr>
                        <a:t>$0.22</a:t>
                      </a:r>
                    </a:p>
                  </a:txBody>
                  <a:tcPr marL="95250" marR="95250" marT="57150" marB="57150"/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6866B"/>
                          </a:solidFill>
                        </a:rPr>
                        <a:t>PASS</a:t>
                      </a:r>
                    </a:p>
                  </a:txBody>
                  <a:tcPr marL="95250" marR="95250" marT="57150" marB="57150">
                    <a:solidFill>
                      <a:srgbClr val="E8F6F2"/>
                    </a:solidFill>
                  </a:tcPr>
                </a:tc>
              </a:tr>
              <a:tr h="423863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B1220"/>
                          </a:solidFill>
                        </a:rPr>
                        <a:t>Cisco TelePresence</a:t>
                      </a:r>
                    </a:p>
                  </a:txBody>
                  <a:tcPr marL="95250" marR="95250" marT="57150" marB="5715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B1220"/>
                          </a:solidFill>
                        </a:rPr>
                        <a:t>$22,638.00</a:t>
                      </a:r>
                    </a:p>
                  </a:txBody>
                  <a:tcPr marL="95250" marR="95250" marT="57150" marB="5715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B1220"/>
                          </a:solidFill>
                        </a:rPr>
                        <a:t>$22,638.28</a:t>
                      </a:r>
                    </a:p>
                  </a:txBody>
                  <a:tcPr marL="95250" marR="95250" marT="57150" marB="5715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B1220"/>
                          </a:solidFill>
                        </a:rPr>
                        <a:t>$22,638.28</a:t>
                      </a:r>
                    </a:p>
                  </a:txBody>
                  <a:tcPr marL="95250" marR="95250" marT="57150" marB="5715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B1220"/>
                          </a:solidFill>
                        </a:rPr>
                        <a:t>$0.28</a:t>
                      </a:r>
                    </a:p>
                  </a:txBody>
                  <a:tcPr marL="95250" marR="95250" marT="57150" marB="57150"/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6866B"/>
                          </a:solidFill>
                        </a:rPr>
                        <a:t>PASS</a:t>
                      </a:r>
                    </a:p>
                  </a:txBody>
                  <a:tcPr marL="95250" marR="95250" marT="57150" marB="57150">
                    <a:solidFill>
                      <a:srgbClr val="E8F6F2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487107-2418-49E9-A677-00B6CCCA2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243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73EA"/>
                </a:solidFill>
              </a:defRPr>
            </a:pPr>
            <a:r>
              <a:rPr sz="975" b="1">
                <a:solidFill>
                  <a:srgbClr val="1D73EA"/>
                </a:solidFill>
              </a:rPr>
              <a:t>FORMULA PROOF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03E2C3-F250-4271-B53A-445129945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29150"/>
            <a:ext cx="53911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6"/>
          </a:solidFill>
          <a:ln xmlns:a="http://schemas.openxmlformats.org/drawingml/2006/main" w="9525">
            <a:solidFill>
              <a:srgbClr val="C8D1D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BA33E0-D861-4B52-A7BA-4D16E733C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625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36174"/>
                </a:solidFill>
              </a:defRPr>
            </a:pPr>
            <a:r>
              <a:rPr sz="1050" b="1">
                <a:solidFill>
                  <a:srgbClr val="536174"/>
                </a:solidFill>
              </a:rPr>
              <a:t>Tableau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6EB51B-B3C1-440F-807D-4AE7B0FA9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673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SUM([Profit]) / SUM([Sales])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024384-24BF-42F4-9031-C305A3C6F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054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36174"/>
                </a:solidFill>
              </a:defRPr>
            </a:pPr>
            <a:r>
              <a:rPr sz="1050" b="0">
                <a:solidFill>
                  <a:srgbClr val="536174"/>
                </a:solidFill>
              </a:rPr>
              <a:t>Profit Ratio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90DCC5-42C7-4D87-852F-D694ED6A7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629150"/>
            <a:ext cx="5715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1D73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423DCD-A74E-42F1-8B4B-B2C35962D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7625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D73EA"/>
                </a:solidFill>
              </a:defRPr>
            </a:pPr>
            <a:r>
              <a:rPr sz="1050" b="1">
                <a:solidFill>
                  <a:srgbClr val="1D73EA"/>
                </a:solidFill>
              </a:rPr>
              <a:t>Generated Snowflake SQL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F98C77-94B4-4AFE-BFD0-C60A09C50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067300"/>
            <a:ext cx="5257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1220"/>
                </a:solidFill>
              </a:defRPr>
            </a:pPr>
            <a:r>
              <a:rPr sz="1425" b="1">
                <a:solidFill>
                  <a:srgbClr val="0B1220"/>
                </a:solidFill>
              </a:rPr>
              <a:t>SUM(PROFIT) / NULLIF(SUM(SALES), 0)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573A96-F273-47DE-A4C3-9608A87A3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5054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6866B"/>
                </a:solidFill>
              </a:defRPr>
            </a:pPr>
            <a:r>
              <a:rPr sz="1050" b="1">
                <a:solidFill>
                  <a:srgbClr val="06866B"/>
                </a:solidFill>
              </a:rPr>
              <a:t>Semantically equivalent + null-safe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C8BD85-1739-4FE2-995A-C8DC2F83B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1D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C35A86-2011-43BD-99D4-ADEB6A542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6272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36174"/>
                </a:solidFill>
              </a:defRPr>
            </a:pPr>
            <a:r>
              <a:rPr sz="750" b="0">
                <a:solidFill>
                  <a:srgbClr val="536174"/>
                </a:solidFill>
              </a:rPr>
              <a:t>Accelerator demo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1BF23D-B373-402A-8173-1F94AFBB0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56272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36174"/>
                </a:solidFill>
              </a:defRPr>
            </a:pPr>
            <a:r>
              <a:rPr sz="750" b="1">
                <a:solidFill>
                  <a:srgbClr val="536174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79525522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606AE9-6DCF-4BBF-A6B1-6296DACEE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D73EA"/>
                </a:solidFill>
              </a:defRPr>
            </a:pPr>
            <a:r>
              <a:rPr sz="900" b="1">
                <a:solidFill>
                  <a:srgbClr val="1D73EA"/>
                </a:solidFill>
              </a:rPr>
              <a:t>TABLEAU TO STREAMLIT-IN-SNOWFLAKE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BEB028-81C6-4C45-BE05-7C0AC18DB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11277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220"/>
                </a:solidFill>
              </a:defRPr>
            </a:pPr>
            <a:r>
              <a:rPr sz="2700" b="1">
                <a:solidFill>
                  <a:srgbClr val="0B1220"/>
                </a:solidFill>
              </a:rPr>
              <a:t>Modernize the workloads that benefit; retain the workloads that do not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7AE808-8B0F-45DD-BF97-32F487E03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01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1D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D64BB8-5548-483A-9559-130E4C2F9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9065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36174"/>
                </a:solidFill>
              </a:defRPr>
            </a:pPr>
            <a:r>
              <a:rPr sz="1650" b="0">
                <a:solidFill>
                  <a:srgbClr val="536174"/>
                </a:solidFill>
              </a:rPr>
              <a:t>A selective portfolio approach protects value and avoids forcing every Tableau use case into Streamlit.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673123-47D8-45AE-A9EF-D627CFD9A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0"/>
            <a:ext cx="5219700" cy="3295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6F2"/>
          </a:solidFill>
          <a:ln xmlns:a="http://schemas.openxmlformats.org/drawingml/2006/main" w="9525">
            <a:solidFill>
              <a:srgbClr val="E8F6F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A61A1E-7406-4789-8B54-5183C85E9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0"/>
            <a:ext cx="5219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06866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25C420-A3F8-4522-9EAC-F08C673CA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8125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6866B"/>
                </a:solidFill>
              </a:defRPr>
            </a:pPr>
            <a:r>
              <a:rPr sz="1875" b="1">
                <a:solidFill>
                  <a:srgbClr val="06866B"/>
                </a:solidFill>
              </a:rPr>
              <a:t>Strong migration candidates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DFD762-472F-4588-B876-6A7666336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43250"/>
            <a:ext cx="4476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Snowflake-centric dashboards</a:t>
            </a:r>
          </a:p>
          <a:p xmlns:a="http://schemas.openxmlformats.org/drawingml/2006/main">
            <a:pPr algn="l"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Operational analytics applications</a:t>
            </a:r>
          </a:p>
          <a:p xmlns:a="http://schemas.openxmlformats.org/drawingml/2006/main">
            <a:pPr algn="l"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Custom workflows and write-back</a:t>
            </a:r>
          </a:p>
          <a:p xmlns:a="http://schemas.openxmlformats.org/drawingml/2006/main">
            <a:pPr algn="l"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Cortex-enabled experiences</a:t>
            </a:r>
          </a:p>
          <a:p xmlns:a="http://schemas.openxmlformats.org/drawingml/2006/main">
            <a:pPr algn="l"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High duplicated-platform overhead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E54F29-EE09-4A5B-AEAB-C225E89D6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095500"/>
            <a:ext cx="5219700" cy="3295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E"/>
          </a:solidFill>
          <a:ln xmlns:a="http://schemas.openxmlformats.org/drawingml/2006/main" w="9525">
            <a:solidFill>
              <a:srgbClr val="FFF4D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232A1D-BBE7-4565-BB31-6167EBF71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095500"/>
            <a:ext cx="5219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B76A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A16BC0-67DF-473D-863B-40C68F5E1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38125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B76A00"/>
                </a:solidFill>
              </a:defRPr>
            </a:pPr>
            <a:r>
              <a:rPr sz="1875" b="1">
                <a:solidFill>
                  <a:srgbClr val="B76A00"/>
                </a:solidFill>
              </a:rPr>
              <a:t>Review carefully or retain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6748FF-A477-40A6-84DF-8191041F5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143250"/>
            <a:ext cx="4476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Broad self-service authoring</a:t>
            </a:r>
          </a:p>
          <a:p xmlns:a="http://schemas.openxmlformats.org/drawingml/2006/main">
            <a:pPr algn="l"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Dashboard actions and stories</a:t>
            </a:r>
          </a:p>
          <a:p xmlns:a="http://schemas.openxmlformats.org/drawingml/2006/main">
            <a:pPr algn="l"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Specialist Tableau visualizations</a:t>
            </a:r>
          </a:p>
          <a:p xmlns:a="http://schemas.openxmlformats.org/drawingml/2006/main">
            <a:pPr algn="l"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Pixel-specific publications</a:t>
            </a:r>
          </a:p>
          <a:p xmlns:a="http://schemas.openxmlformats.org/drawingml/2006/main">
            <a:pPr algn="l"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Unsupported live-source patterns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3F265D-4DD8-41E5-98E7-E90A089EF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72150"/>
            <a:ext cx="10782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220"/>
                </a:solidFill>
              </a:defRPr>
            </a:pPr>
            <a:r>
              <a:rPr sz="1575" b="1">
                <a:solidFill>
                  <a:srgbClr val="0B1220"/>
                </a:solidFill>
              </a:rPr>
              <a:t>Unsupported constructs receive a named outcome before deployment; they are never silently dropped.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2A5606-95E0-4A52-89EE-2294348CB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1D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D340D9-C38D-4EC5-975D-85F8D4E12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6272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36174"/>
                </a:solidFill>
              </a:defRPr>
            </a:pPr>
            <a:r>
              <a:rPr sz="750" b="0">
                <a:solidFill>
                  <a:srgbClr val="536174"/>
                </a:solidFill>
              </a:rPr>
              <a:t>Accelerator demo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CEB539-9458-4DD2-BAA2-77C462FCE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56272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36174"/>
                </a:solidFill>
              </a:defRPr>
            </a:pPr>
            <a:r>
              <a:rPr sz="750" b="1">
                <a:solidFill>
                  <a:srgbClr val="536174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83692290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9E46AB0-77E0-4EE0-A8DC-A311758EF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D73EA"/>
                </a:solidFill>
              </a:defRPr>
            </a:pPr>
            <a:r>
              <a:rPr sz="900" b="1">
                <a:solidFill>
                  <a:srgbClr val="1D73EA"/>
                </a:solidFill>
              </a:rPr>
              <a:t>TABLEAU TO STREAMLIT-IN-SNOWFLAKE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0E310F-94F8-44E5-A704-72B16D616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11277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220"/>
                </a:solidFill>
              </a:defRPr>
            </a:pPr>
            <a:r>
              <a:rPr sz="2700" b="1">
                <a:solidFill>
                  <a:srgbClr val="0B1220"/>
                </a:solidFill>
              </a:rPr>
              <a:t>A controlled pilot should test trust, not just conversion speed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2F77D6-FE6A-412F-815F-D06ADF269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01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1D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0E0FED-3D90-4C58-9D0B-F4EBAEA44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9065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36174"/>
                </a:solidFill>
              </a:defRPr>
            </a:pPr>
            <a:r>
              <a:rPr sz="1725" b="0">
                <a:solidFill>
                  <a:srgbClr val="536174"/>
                </a:solidFill>
              </a:rPr>
              <a:t>Proposed decision: approve a representative workbook pilot with explicit acceptance criteria.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395535-C9DF-40FB-BE98-45A881B48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D73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1617AA-8FE6-4FC8-AC4B-96D868DAF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220"/>
                </a:solidFill>
              </a:defRPr>
            </a:pPr>
            <a:r>
              <a:rPr sz="2550" b="1">
                <a:solidFill>
                  <a:srgbClr val="0B1220"/>
                </a:solidFill>
              </a:rPr>
              <a:t>5-8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51BA49-3B24-4E9C-A2F7-754D18A6F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7655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174"/>
                </a:solidFill>
              </a:defRPr>
            </a:pPr>
            <a:r>
              <a:rPr sz="1125" b="0">
                <a:solidFill>
                  <a:srgbClr val="536174"/>
                </a:solidFill>
              </a:rPr>
              <a:t>workbooks across simple, moderate and complex patterns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9AAE87-6725-40C3-BD0C-3C49832A2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209800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76A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472344-18C9-45F1-9A5D-56F1BE51B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34315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220"/>
                </a:solidFill>
              </a:defRPr>
            </a:pPr>
            <a:r>
              <a:rPr sz="2550" b="1">
                <a:solidFill>
                  <a:srgbClr val="0B1220"/>
                </a:solidFill>
              </a:rPr>
              <a:t>100%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5B181F-1A87-4F25-A144-275EFBEB8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87655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174"/>
                </a:solidFill>
              </a:defRPr>
            </a:pPr>
            <a:r>
              <a:rPr sz="1125" b="0">
                <a:solidFill>
                  <a:srgbClr val="536174"/>
                </a:solidFill>
              </a:rPr>
              <a:t>unsupported constructs surfaced before deployment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E24613-A026-4270-9281-9745227B0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09800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6866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304E42-0D2D-4F3B-A2B7-B62061303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34315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220"/>
                </a:solidFill>
              </a:defRPr>
            </a:pPr>
            <a:r>
              <a:rPr sz="2550" b="1">
                <a:solidFill>
                  <a:srgbClr val="0B1220"/>
                </a:solidFill>
              </a:rPr>
              <a:t>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92DCE3-A46E-4584-B886-C42F70DD2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7655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174"/>
                </a:solidFill>
              </a:defRPr>
            </a:pPr>
            <a:r>
              <a:rPr sz="1125" b="0">
                <a:solidFill>
                  <a:srgbClr val="536174"/>
                </a:solidFill>
              </a:rPr>
              <a:t>unexplained numeric mismatches at accepted tolerance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1257C4-74BB-4FB1-806E-E9B896AB6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209800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55C6F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C27423-6177-4DDE-96AB-B56B98998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34315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220"/>
                </a:solidFill>
              </a:defRPr>
            </a:pPr>
            <a:r>
              <a:rPr sz="2550" b="1">
                <a:solidFill>
                  <a:srgbClr val="0B1220"/>
                </a:solidFill>
              </a:rPr>
              <a:t>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3CE56B-BAF7-467E-88BC-D94569250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87655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174"/>
                </a:solidFill>
              </a:defRPr>
            </a:pPr>
            <a:r>
              <a:rPr sz="1125" b="0">
                <a:solidFill>
                  <a:srgbClr val="536174"/>
                </a:solidFill>
              </a:rPr>
              <a:t>reviewable evidence package per workbook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E82A66-9519-4A75-93EA-A42FF3C19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106489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6"/>
          </a:solidFill>
          <a:ln xmlns:a="http://schemas.openxmlformats.org/drawingml/2006/main" w="9525">
            <a:solidFill>
              <a:srgbClr val="EEF2F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9CCEBC-AEC9-4CD2-B45F-D31237313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D73EA"/>
                </a:solidFill>
              </a:defRPr>
            </a:pPr>
            <a:r>
              <a:rPr sz="1275" b="1">
                <a:solidFill>
                  <a:srgbClr val="1D73EA"/>
                </a:solidFill>
              </a:rPr>
              <a:t>Pilot output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BFF509-4E24-4337-9092-EFA4652F1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529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220"/>
                </a:solidFill>
              </a:defRPr>
            </a:pPr>
            <a:r>
              <a:rPr sz="1575" b="1">
                <a:solidFill>
                  <a:srgbClr val="0B1220"/>
                </a:solidFill>
              </a:rPr>
              <a:t>Converted SiS app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59992E-6986-429D-AD88-6C0C7FE72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5529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220"/>
                </a:solidFill>
              </a:defRPr>
            </a:pPr>
            <a:r>
              <a:rPr sz="1575" b="1">
                <a:solidFill>
                  <a:srgbClr val="0B1220"/>
                </a:solidFill>
              </a:rPr>
              <a:t>Migration findings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C746D0-E6D0-4160-93D9-1D3B1F36E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5529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220"/>
                </a:solidFill>
              </a:defRPr>
            </a:pPr>
            <a:r>
              <a:rPr sz="1575" b="1">
                <a:solidFill>
                  <a:srgbClr val="0B1220"/>
                </a:solidFill>
              </a:rPr>
              <a:t>Validation report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53209B8-9919-4559-BB3A-2A8750672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5529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220"/>
                </a:solidFill>
              </a:defRPr>
            </a:pPr>
            <a:r>
              <a:rPr sz="1575" b="1">
                <a:solidFill>
                  <a:srgbClr val="0B1220"/>
                </a:solidFill>
              </a:rPr>
              <a:t>Coverage backlog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EB06827-C3BD-46A1-AA8C-E0ED5CD68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340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D73EA"/>
                </a:solidFill>
              </a:defRPr>
            </a:pPr>
            <a:r>
              <a:rPr sz="1050" b="1">
                <a:solidFill>
                  <a:srgbClr val="1D73EA"/>
                </a:solidFill>
              </a:rPr>
              <a:t>Decision required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18B6C54-3E3D-49EC-BFB0-0FCA89670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676900"/>
            <a:ext cx="781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220"/>
                </a:solidFill>
              </a:defRPr>
            </a:pPr>
            <a:r>
              <a:rPr sz="1800" b="1">
                <a:solidFill>
                  <a:srgbClr val="0B1220"/>
                </a:solidFill>
              </a:rPr>
              <a:t>Select the pilot workbooks, Snowflake environment, and acceptance owners.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B9A3015-502A-4032-B030-49C53894D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1D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64EE98D-B7B0-41A3-A4C7-77284C3E5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6272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36174"/>
                </a:solidFill>
              </a:defRPr>
            </a:pPr>
            <a:r>
              <a:rPr sz="750" b="0">
                <a:solidFill>
                  <a:srgbClr val="536174"/>
                </a:solidFill>
              </a:rPr>
              <a:t>Core presentation ends here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C25713A-D59F-4E20-86C1-3A83B8069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56272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36174"/>
                </a:solidFill>
              </a:defRPr>
            </a:pPr>
            <a:r>
              <a:rPr sz="750" b="1">
                <a:solidFill>
                  <a:srgbClr val="536174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86827184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899044-19DB-4325-AE53-C977BDC41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D73EA"/>
                </a:solidFill>
              </a:defRPr>
            </a:pPr>
            <a:r>
              <a:rPr sz="900" b="1">
                <a:solidFill>
                  <a:srgbClr val="1D73EA"/>
                </a:solidFill>
              </a:rPr>
              <a:t>APPENDIX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B7A2CE-688F-47DA-AC60-81D34EB98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11277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220"/>
                </a:solidFill>
              </a:defRPr>
            </a:pPr>
            <a:r>
              <a:rPr sz="2700" b="1">
                <a:solidFill>
                  <a:srgbClr val="0B1220"/>
                </a:solidFill>
              </a:rPr>
              <a:t>Appendix: the corpus tests different migration risks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CD898B-AE8F-405B-853F-BBB7DB891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01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1DC"/>
            </a:solidFill>
            <a:prstDash val="solid"/>
          </a:ln>
        </p:spPr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457200" y="1524000"/>
          <a:ext xmlns:a="http://schemas.openxmlformats.org/drawingml/2006/main" cx="1127760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52750"/>
                <a:gridCol w="1238250"/>
                <a:gridCol w="4000500"/>
                <a:gridCol w="3086100"/>
              </a:tblGrid>
              <a:tr h="57150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0B1220"/>
                          </a:solidFill>
                        </a:rPr>
                        <a:t>Workbook</a:t>
                      </a:r>
                    </a:p>
                  </a:txBody>
                  <a:tcPr marL="114300" marR="95250" marT="76200" marB="76200">
                    <a:solidFill>
                      <a:srgbClr val="EA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0B1220"/>
                          </a:solidFill>
                        </a:rPr>
                        <a:t>Fidelity</a:t>
                      </a:r>
                    </a:p>
                  </a:txBody>
                  <a:tcPr marL="114300" marR="95250" marT="76200" marB="76200">
                    <a:solidFill>
                      <a:srgbClr val="EA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0B1220"/>
                          </a:solidFill>
                        </a:rPr>
                        <a:t>Primary stress case</a:t>
                      </a:r>
                    </a:p>
                  </a:txBody>
                  <a:tcPr marL="114300" marR="95250" marT="76200" marB="76200">
                    <a:solidFill>
                      <a:srgbClr val="EA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0B1220"/>
                          </a:solidFill>
                        </a:rPr>
                        <a:t>Current evidence</a:t>
                      </a:r>
                    </a:p>
                  </a:txBody>
                  <a:tcPr marL="114300" marR="95250" marT="76200" marB="76200">
                    <a:solidFill>
                      <a:srgbClr val="EAF4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B1220"/>
                          </a:solidFill>
                        </a:rPr>
                        <a:t>Regional Analysis</a:t>
                      </a:r>
                    </a:p>
                  </a:txBody>
                  <a:tcPr marL="114300" marR="95250" marT="66675" marB="66675"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6866B"/>
                          </a:solidFill>
                        </a:rPr>
                        <a:t>100%</a:t>
                      </a:r>
                    </a:p>
                  </a:txBody>
                  <a:tcPr marL="114300" marR="95250" marT="66675" marB="66675">
                    <a:solidFill>
                      <a:srgbClr val="E8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B1220"/>
                          </a:solidFill>
                        </a:rPr>
                        <a:t>Three-table relationship extract</a:t>
                      </a:r>
                    </a:p>
                  </a:txBody>
                  <a:tcPr marL="114300" marR="95250" marT="66675" marB="66675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B1220"/>
                          </a:solidFill>
                        </a:rPr>
                        <a:t>Assessed clean</a:t>
                      </a:r>
                    </a:p>
                  </a:txBody>
                  <a:tcPr marL="114300" marR="95250" marT="66675" marB="66675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B1220"/>
                          </a:solidFill>
                        </a:rPr>
                        <a:t>World Indicators</a:t>
                      </a:r>
                    </a:p>
                  </a:txBody>
                  <a:tcPr marL="114300" marR="95250" marT="66675" marB="66675"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6866B"/>
                          </a:solidFill>
                        </a:rPr>
                        <a:t>99%</a:t>
                      </a:r>
                    </a:p>
                  </a:txBody>
                  <a:tcPr marL="114300" marR="95250" marT="66675" marB="66675">
                    <a:solidFill>
                      <a:srgbClr val="E8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B1220"/>
                          </a:solidFill>
                        </a:rPr>
                        <a:t>Date-part filters + map</a:t>
                      </a:r>
                    </a:p>
                  </a:txBody>
                  <a:tcPr marL="114300" marR="95250" marT="66675" marB="66675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B1220"/>
                          </a:solidFill>
                        </a:rPr>
                        <a:t>Regression corpus</a:t>
                      </a:r>
                    </a:p>
                  </a:txBody>
                  <a:tcPr marL="114300" marR="95250" marT="66675" marB="66675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B1220"/>
                          </a:solidFill>
                        </a:rPr>
                        <a:t>Superstore</a:t>
                      </a:r>
                    </a:p>
                  </a:txBody>
                  <a:tcPr marL="114300" marR="95250" marT="66675" marB="66675"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6866B"/>
                          </a:solidFill>
                        </a:rPr>
                        <a:t>96%</a:t>
                      </a:r>
                    </a:p>
                  </a:txBody>
                  <a:tcPr marL="114300" marR="95250" marT="66675" marB="66675">
                    <a:solidFill>
                      <a:srgbClr val="E8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B1220"/>
                          </a:solidFill>
                        </a:rPr>
                        <a:t>Multi-datasource + parameters</a:t>
                      </a:r>
                    </a:p>
                  </a:txBody>
                  <a:tcPr marL="114300" marR="95250" marT="66675" marB="66675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B1220"/>
                          </a:solidFill>
                        </a:rPr>
                        <a:t>20 sheets</a:t>
                      </a:r>
                    </a:p>
                  </a:txBody>
                  <a:tcPr marL="114300" marR="95250" marT="66675" marB="66675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B1220"/>
                          </a:solidFill>
                        </a:rPr>
                        <a:t>Global Sales</a:t>
                      </a:r>
                    </a:p>
                  </a:txBody>
                  <a:tcPr marL="114300" marR="95250" marT="66675" marB="66675"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6866B"/>
                          </a:solidFill>
                        </a:rPr>
                        <a:t>95%</a:t>
                      </a:r>
                    </a:p>
                  </a:txBody>
                  <a:tcPr marL="114300" marR="95250" marT="66675" marB="66675">
                    <a:solidFill>
                      <a:srgbClr val="E8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B1220"/>
                          </a:solidFill>
                        </a:rPr>
                        <a:t>Four datasources</a:t>
                      </a:r>
                    </a:p>
                  </a:txBody>
                  <a:tcPr marL="114300" marR="95250" marT="66675" marB="66675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B1220"/>
                          </a:solidFill>
                        </a:rPr>
                        <a:t>14 of 15</a:t>
                      </a:r>
                    </a:p>
                  </a:txBody>
                  <a:tcPr marL="114300" marR="95250" marT="66675" marB="66675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B1220"/>
                          </a:solidFill>
                        </a:rPr>
                        <a:t>E-Commerce Software Sales</a:t>
                      </a:r>
                    </a:p>
                  </a:txBody>
                  <a:tcPr marL="114300" marR="95250" marT="66675" marB="66675"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6866B"/>
                          </a:solidFill>
                        </a:rPr>
                        <a:t>97%</a:t>
                      </a:r>
                    </a:p>
                  </a:txBody>
                  <a:tcPr marL="114300" marR="95250" marT="66675" marB="66675">
                    <a:solidFill>
                      <a:srgbClr val="E8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B1220"/>
                          </a:solidFill>
                        </a:rPr>
                        <a:t>Table calcs + 50 sheets</a:t>
                      </a:r>
                    </a:p>
                  </a:txBody>
                  <a:tcPr marL="114300" marR="95250" marT="66675" marB="66675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B1220"/>
                          </a:solidFill>
                        </a:rPr>
                        <a:t>Deployed to SiS</a:t>
                      </a:r>
                    </a:p>
                  </a:txBody>
                  <a:tcPr marL="114300" marR="95250" marT="66675" marB="66675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B1220"/>
                          </a:solidFill>
                        </a:rPr>
                        <a:t>Top-N Measure Swap</a:t>
                      </a:r>
                    </a:p>
                  </a:txBody>
                  <a:tcPr marL="114300" marR="95250" marT="66675" marB="66675"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6866B"/>
                          </a:solidFill>
                        </a:rPr>
                        <a:t>100%</a:t>
                      </a:r>
                    </a:p>
                  </a:txBody>
                  <a:tcPr marL="114300" marR="95250" marT="66675" marB="66675">
                    <a:solidFill>
                      <a:srgbClr val="E8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B1220"/>
                          </a:solidFill>
                        </a:rPr>
                        <a:t>Parameter-driven ranking</a:t>
                      </a:r>
                    </a:p>
                  </a:txBody>
                  <a:tcPr marL="114300" marR="95250" marT="66675" marB="66675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B1220"/>
                          </a:solidFill>
                        </a:rPr>
                        <a:t>Numerically exact</a:t>
                      </a:r>
                    </a:p>
                  </a:txBody>
                  <a:tcPr marL="114300" marR="95250" marT="66675" marB="66675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9B937C-0197-4205-B772-A8BED6CBD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293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174"/>
                </a:solidFill>
              </a:defRPr>
            </a:pPr>
            <a:r>
              <a:rPr sz="1200" b="0">
                <a:solidFill>
                  <a:srgbClr val="536174"/>
                </a:solidFill>
              </a:rPr>
              <a:t>Fidelity is workbook-specific and reflects the recorded project corpus, not a blanket SLA.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E1EAC4-7CD6-42DE-8E54-C6440039E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1D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538417-D5E9-4ACA-8BC3-BBF233284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6272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36174"/>
                </a:solidFill>
              </a:defRPr>
            </a:pPr>
            <a:r>
              <a:rPr sz="750" b="0">
                <a:solidFill>
                  <a:srgbClr val="536174"/>
                </a:solidFill>
              </a:rPr>
              <a:t>Appendix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0734A0-B695-410E-B807-79B951F39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56272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36174"/>
                </a:solidFill>
              </a:defRPr>
            </a:pPr>
            <a:r>
              <a:rPr sz="750" b="1">
                <a:solidFill>
                  <a:srgbClr val="536174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46835585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DC5924-FEA0-4987-ADF7-22E946C2B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D73EA"/>
                </a:solidFill>
              </a:defRPr>
            </a:pPr>
            <a:r>
              <a:rPr sz="900" b="1">
                <a:solidFill>
                  <a:srgbClr val="1D73EA"/>
                </a:solidFill>
              </a:rPr>
              <a:t>APPENDIX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3318DC-914E-4114-9789-0A46F6385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11277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220"/>
                </a:solidFill>
              </a:defRPr>
            </a:pPr>
            <a:r>
              <a:rPr sz="2700" b="1">
                <a:solidFill>
                  <a:srgbClr val="0B1220"/>
                </a:solidFill>
              </a:rPr>
              <a:t>Appendix: Cortex assists only where its output can be governed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C46B6E-C4E7-4C57-8765-5C46F8501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01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1D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80E723-5302-4B0E-AB17-61C719D10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14500"/>
            <a:ext cx="46672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D"/>
          </a:solidFill>
          <a:ln xmlns:a="http://schemas.openxmlformats.org/drawingml/2006/main" w="9525">
            <a:solidFill>
              <a:srgbClr val="101B2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A91E92-FF12-4A56-91F6-73EF37814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38350"/>
            <a:ext cx="400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Deterministic core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801BF7-58C8-4D9E-8DCB-CE8905693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43200"/>
            <a:ext cx="3905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DE5F0"/>
                </a:solidFill>
              </a:defRPr>
            </a:pPr>
            <a:r>
              <a:rPr sz="1575" b="0">
                <a:solidFill>
                  <a:srgbClr val="DDE5F0"/>
                </a:solidFill>
              </a:rPr>
              <a:t>Workbook parser</a:t>
            </a:r>
          </a:p>
          <a:p xmlns:a="http://schemas.openxmlformats.org/drawingml/2006/main">
            <a:pPr algn="l">
              <a:defRPr sz="1575" b="0">
                <a:solidFill>
                  <a:srgbClr val="DDE5F0"/>
                </a:solidFill>
              </a:defRPr>
            </a:pPr>
            <a:r>
              <a:rPr sz="1575" b="0">
                <a:solidFill>
                  <a:srgbClr val="DDE5F0"/>
                </a:solidFill>
              </a:rPr>
              <a:t>Intermediate representation</a:t>
            </a:r>
          </a:p>
          <a:p xmlns:a="http://schemas.openxmlformats.org/drawingml/2006/main">
            <a:pPr algn="l">
              <a:defRPr sz="1575" b="0">
                <a:solidFill>
                  <a:srgbClr val="DDE5F0"/>
                </a:solidFill>
              </a:defRPr>
            </a:pPr>
            <a:r>
              <a:rPr sz="1575" b="0">
                <a:solidFill>
                  <a:srgbClr val="DDE5F0"/>
                </a:solidFill>
              </a:rPr>
              <a:t>Calculation rules</a:t>
            </a:r>
          </a:p>
          <a:p xmlns:a="http://schemas.openxmlformats.org/drawingml/2006/main">
            <a:pPr algn="l">
              <a:defRPr sz="1575" b="0">
                <a:solidFill>
                  <a:srgbClr val="DDE5F0"/>
                </a:solidFill>
              </a:defRPr>
            </a:pPr>
            <a:r>
              <a:rPr sz="1575" b="0">
                <a:solidFill>
                  <a:srgbClr val="DDE5F0"/>
                </a:solidFill>
              </a:rPr>
              <a:t>Code generation</a:t>
            </a:r>
          </a:p>
          <a:p xmlns:a="http://schemas.openxmlformats.org/drawingml/2006/main">
            <a:pPr algn="l">
              <a:defRPr sz="1575" b="0">
                <a:solidFill>
                  <a:srgbClr val="DDE5F0"/>
                </a:solidFill>
              </a:defRPr>
            </a:pPr>
            <a:r>
              <a:rPr sz="1575" b="0">
                <a:solidFill>
                  <a:srgbClr val="DDE5F0"/>
                </a:solidFill>
              </a:rPr>
              <a:t>Numeric validation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AC9524-5BB5-4479-9116-AEC76C072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1490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C6F2"/>
                </a:solidFill>
              </a:defRPr>
            </a:pPr>
            <a:r>
              <a:rPr sz="1050" b="1">
                <a:solidFill>
                  <a:srgbClr val="55C6F2"/>
                </a:solidFill>
              </a:rPr>
              <a:t>No model decision is needed for the standard path.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F1C2F2-C1D6-4E43-84F9-F3BC34941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067050"/>
            <a:ext cx="762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1D73EA"/>
                </a:solidFill>
              </a:defRPr>
            </a:pPr>
            <a:r>
              <a:rPr sz="3900" b="1">
                <a:solidFill>
                  <a:srgbClr val="1D73EA"/>
                </a:solidFill>
              </a:rPr>
              <a:t>+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3D0AEA-0E00-435E-BFAE-ADE55B8FE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714500"/>
            <a:ext cx="47625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1D73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5AD349-9B7F-4F97-A695-0954C306B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038350"/>
            <a:ext cx="4152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1220"/>
                </a:solidFill>
              </a:defRPr>
            </a:pPr>
            <a:r>
              <a:rPr sz="2100" b="1">
                <a:solidFill>
                  <a:srgbClr val="0B1220"/>
                </a:solidFill>
              </a:rPr>
              <a:t>Optional Cortex assistance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C6C462-192B-4CD4-AAEC-F03CA6CD7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743200"/>
            <a:ext cx="40005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220"/>
                </a:solidFill>
              </a:defRPr>
            </a:pPr>
            <a:r>
              <a:rPr sz="1575" b="0">
                <a:solidFill>
                  <a:srgbClr val="0B1220"/>
                </a:solidFill>
              </a:rPr>
              <a:t>Semantic view generation</a:t>
            </a:r>
          </a:p>
          <a:p xmlns:a="http://schemas.openxmlformats.org/drawingml/2006/main">
            <a:pPr algn="l">
              <a:defRPr sz="1575" b="0">
                <a:solidFill>
                  <a:srgbClr val="0B1220"/>
                </a:solidFill>
              </a:defRPr>
            </a:pPr>
            <a:r>
              <a:rPr sz="1575" b="0">
                <a:solidFill>
                  <a:srgbClr val="0B1220"/>
                </a:solidFill>
              </a:rPr>
              <a:t>Guarded calculation proposal</a:t>
            </a:r>
          </a:p>
          <a:p xmlns:a="http://schemas.openxmlformats.org/drawingml/2006/main">
            <a:pPr algn="l">
              <a:defRPr sz="1575" b="0">
                <a:solidFill>
                  <a:srgbClr val="0B1220"/>
                </a:solidFill>
              </a:defRPr>
            </a:pPr>
            <a:r>
              <a:rPr sz="1575" b="0">
                <a:solidFill>
                  <a:srgbClr val="0B1220"/>
                </a:solidFill>
              </a:rPr>
              <a:t>Narrative validation summary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D9C0FE-67DE-4FE1-85F4-A2EA60F0F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305300"/>
            <a:ext cx="403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D73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994AAA-1885-492D-9DAA-A780333C3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5148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6866B"/>
                </a:solidFill>
              </a:defRPr>
            </a:pPr>
            <a:r>
              <a:rPr sz="1275" b="1">
                <a:solidFill>
                  <a:srgbClr val="06866B"/>
                </a:solidFill>
              </a:rPr>
              <a:t>Execution-gated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6B0132-A200-47DD-94F8-D36ABA6A5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5148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6866B"/>
                </a:solidFill>
              </a:defRPr>
            </a:pPr>
            <a:r>
              <a:rPr sz="1275" b="1">
                <a:solidFill>
                  <a:srgbClr val="06866B"/>
                </a:solidFill>
              </a:rPr>
              <a:t>Human-reviewed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D0E86C-A3AF-47AB-9ABD-48489BA61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9149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83B49"/>
                </a:solidFill>
              </a:defRPr>
            </a:pPr>
            <a:r>
              <a:rPr sz="1050" b="1">
                <a:solidFill>
                  <a:srgbClr val="C83B49"/>
                </a:solidFill>
              </a:rPr>
              <a:t>Cortex cannot convert a deterministic mismatch into a PASS.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658A8D-0B7E-49E9-87F5-67861FB46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1D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F05826-1ECA-4BDD-B06C-ADF16A1B8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6272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36174"/>
                </a:solidFill>
              </a:defRPr>
            </a:pPr>
            <a:r>
              <a:rPr sz="750" b="0">
                <a:solidFill>
                  <a:srgbClr val="536174"/>
                </a:solidFill>
              </a:rPr>
              <a:t>Appendix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84783F-3A75-4421-8D14-95ED49D2A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56272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36174"/>
                </a:solidFill>
              </a:defRPr>
            </a:pPr>
            <a:r>
              <a:rPr sz="750" b="1">
                <a:solidFill>
                  <a:srgbClr val="536174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12127749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0C5D9F5-3A56-4BD9-98CC-1DB7BB89A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D73EA"/>
                </a:solidFill>
              </a:defRPr>
            </a:pPr>
            <a:r>
              <a:rPr sz="900" b="1">
                <a:solidFill>
                  <a:srgbClr val="1D73EA"/>
                </a:solidFill>
              </a:rPr>
              <a:t>APPENDIX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A0EAFC-6FAE-4B3F-BA42-34E76EF68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11277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220"/>
                </a:solidFill>
              </a:defRPr>
            </a:pPr>
            <a:r>
              <a:rPr sz="2700" b="1">
                <a:solidFill>
                  <a:srgbClr val="0B1220"/>
                </a:solidFill>
              </a:rPr>
              <a:t>Appendix: every dashboard tab receives the same evidence contract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203026-C918-4A20-9CE7-EB8AF8AE4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01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1D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1B27A3-81C1-4BA0-A3EC-82F870E0F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00200"/>
            <a:ext cx="51435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1D73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AA8485-5B81-4F3B-984C-617E51325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0020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D73EA"/>
                </a:solidFill>
              </a:defRPr>
            </a:pPr>
            <a:r>
              <a:rPr sz="1575" b="1">
                <a:solidFill>
                  <a:srgbClr val="1D73EA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79536D-19E2-4E7F-8E2A-A602F1C15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60020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220"/>
                </a:solidFill>
              </a:defRPr>
            </a:pPr>
            <a:r>
              <a:rPr sz="1575" b="1">
                <a:solidFill>
                  <a:srgbClr val="0B1220"/>
                </a:solidFill>
              </a:rPr>
              <a:t>Summary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097904-C244-4ABF-9A69-98079B692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600200"/>
            <a:ext cx="790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174"/>
                </a:solidFill>
              </a:defRPr>
            </a:pPr>
            <a:r>
              <a:rPr sz="1275" b="0">
                <a:solidFill>
                  <a:srgbClr val="536174"/>
                </a:solidFill>
              </a:rPr>
              <a:t>Dashboard and sheet verdicts with reasons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E8C670-415A-4763-AAB7-D448D5B4E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14550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8D1D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ECCC6A-89B9-43B4-9335-BB4D0D9FF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24100"/>
            <a:ext cx="51435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1D73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34154F-C04B-4BE7-BBFB-1BDE2E054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2410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D73EA"/>
                </a:solidFill>
              </a:defRPr>
            </a:pPr>
            <a:r>
              <a:rPr sz="1575" b="1">
                <a:solidFill>
                  <a:srgbClr val="1D73EA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2BB213-9F29-461A-82E1-7C5F0DA29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32410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220"/>
                </a:solidFill>
              </a:defRPr>
            </a:pPr>
            <a:r>
              <a:rPr sz="1575" b="1">
                <a:solidFill>
                  <a:srgbClr val="0B1220"/>
                </a:solidFill>
              </a:rPr>
              <a:t>Visual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2829E1-7EED-45C7-87BA-0C237E999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324100"/>
            <a:ext cx="790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174"/>
                </a:solidFill>
              </a:defRPr>
            </a:pPr>
            <a:r>
              <a:rPr sz="1275" b="0">
                <a:solidFill>
                  <a:srgbClr val="536174"/>
                </a:solidFill>
              </a:rPr>
              <a:t>Tableau and Streamlit tab comparison when source capture is available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F23C6B-9205-472E-A6AA-5AEB16FF3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38450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8D1D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E1F5D1-F42E-4C8E-BF9E-CF3F1BE6F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0"/>
            <a:ext cx="51435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1D73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3CAD68-B567-458B-BA2B-0D7A88CC4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D73EA"/>
                </a:solidFill>
              </a:defRPr>
            </a:pPr>
            <a:r>
              <a:rPr sz="1575" b="1">
                <a:solidFill>
                  <a:srgbClr val="1D73EA"/>
                </a:solidFill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E62074-991C-47AA-8B7E-928055B72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04800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220"/>
                </a:solidFill>
              </a:defRPr>
            </a:pPr>
            <a:r>
              <a:rPr sz="1575" b="1">
                <a:solidFill>
                  <a:srgbClr val="0B1220"/>
                </a:solidFill>
              </a:rPr>
              <a:t>Chart data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D40564-D93C-474E-880A-C88090AE4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048000"/>
            <a:ext cx="790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174"/>
                </a:solidFill>
              </a:defRPr>
            </a:pPr>
            <a:r>
              <a:rPr sz="1275" b="0">
                <a:solidFill>
                  <a:srgbClr val="536174"/>
                </a:solidFill>
              </a:rPr>
              <a:t>Every displayed key compared across Tableau, Streamlit and backend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B71013-049C-43EF-A590-B740C36D1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62350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8D1D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D63223-15EB-4E55-ABE5-04CA7DB14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71900"/>
            <a:ext cx="51435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1D73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95D0F9-7832-4412-B9A0-C9D42367E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7190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D73EA"/>
                </a:solidFill>
              </a:defRPr>
            </a:pPr>
            <a:r>
              <a:rPr sz="1575" b="1">
                <a:solidFill>
                  <a:srgbClr val="1D73EA"/>
                </a:solidFill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5C7B436-7FDD-4C9F-A3C1-566E587AE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77190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220"/>
                </a:solidFill>
              </a:defRPr>
            </a:pPr>
            <a:r>
              <a:rPr sz="1575" b="1">
                <a:solidFill>
                  <a:srgbClr val="0B1220"/>
                </a:solidFill>
              </a:rPr>
              <a:t>Formulas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AE1899D-6FC1-47CF-90C8-D495F7FBA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771900"/>
            <a:ext cx="790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174"/>
                </a:solidFill>
              </a:defRPr>
            </a:pPr>
            <a:r>
              <a:rPr sz="1275" b="0">
                <a:solidFill>
                  <a:srgbClr val="536174"/>
                </a:solidFill>
              </a:rPr>
              <a:t>Tableau calculation mapped to generated Snowflake SQL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706CC60-64D4-46AC-B015-915AB16BA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86250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8D1D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93C6A48-0BAA-4BB7-AA98-EA44E7B22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95800"/>
            <a:ext cx="51435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EF2F6"/>
          </a:solidFill>
          <a:ln xmlns:a="http://schemas.openxmlformats.org/drawingml/2006/main" w="9525">
            <a:solidFill>
              <a:srgbClr val="C8D1D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10BD0A7-6C2E-497C-BB94-27F8E0D9B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9580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536174"/>
                </a:solidFill>
              </a:defRPr>
            </a:pPr>
            <a:r>
              <a:rPr sz="1575" b="1">
                <a:solidFill>
                  <a:srgbClr val="536174"/>
                </a:solidFill>
              </a:rPr>
              <a:t>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A8C4FD5-B3E7-4169-B7CF-1D2104E04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49580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220"/>
                </a:solidFill>
              </a:defRPr>
            </a:pPr>
            <a:r>
              <a:rPr sz="1575" b="1">
                <a:solidFill>
                  <a:srgbClr val="0B1220"/>
                </a:solidFill>
              </a:rPr>
              <a:t>Interactions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368D7E2-5C64-4F0D-8F58-4468CA0B2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495800"/>
            <a:ext cx="790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174"/>
                </a:solidFill>
              </a:defRPr>
            </a:pPr>
            <a:r>
              <a:rPr sz="1275" b="0">
                <a:solidFill>
                  <a:srgbClr val="536174"/>
                </a:solidFill>
              </a:rPr>
              <a:t>Filters, parameters, sorting and tooltip behavior checked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0938B38-61EA-4BA0-B06D-992E6AB77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10150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8D1D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629C8C7-7694-4828-A850-58CE337D0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19700"/>
            <a:ext cx="51435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EF2F6"/>
          </a:solidFill>
          <a:ln xmlns:a="http://schemas.openxmlformats.org/drawingml/2006/main" w="9525">
            <a:solidFill>
              <a:srgbClr val="C8D1D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68479C4-4D97-4837-956D-31C94ECAC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1970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536174"/>
                </a:solidFill>
              </a:defRPr>
            </a:pPr>
            <a:r>
              <a:rPr sz="1575" b="1">
                <a:solidFill>
                  <a:srgbClr val="536174"/>
                </a:solidFill>
              </a:rPr>
              <a:t>6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E0BB8B0-6742-437F-9E7B-88E70F9E0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21970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220"/>
                </a:solidFill>
              </a:defRPr>
            </a:pPr>
            <a:r>
              <a:rPr sz="1575" b="1">
                <a:solidFill>
                  <a:srgbClr val="0B1220"/>
                </a:solidFill>
              </a:rPr>
              <a:t>Artifacts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F1242BC-B50A-4ACE-9E0B-543470489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219700"/>
            <a:ext cx="790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174"/>
                </a:solidFill>
              </a:defRPr>
            </a:pPr>
            <a:r>
              <a:rPr sz="1275" b="0">
                <a:solidFill>
                  <a:srgbClr val="536174"/>
                </a:solidFill>
              </a:rPr>
              <a:t>Full rows, mismatches, queries and notebook retained for audit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EA8CB54-B794-4F6D-A225-4E5ADC955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1DC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1CBDDD4-D272-44B0-B74B-6E124B6BF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6272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36174"/>
                </a:solidFill>
              </a:defRPr>
            </a:pPr>
            <a:r>
              <a:rPr sz="750" b="0">
                <a:solidFill>
                  <a:srgbClr val="536174"/>
                </a:solidFill>
              </a:rPr>
              <a:t>Appendix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D1C4155-8896-4844-932E-E4D69F6A9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56272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36174"/>
                </a:solidFill>
              </a:defRPr>
            </a:pPr>
            <a:r>
              <a:rPr sz="750" b="1">
                <a:solidFill>
                  <a:srgbClr val="536174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8626566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2026-08-05T13:30:42.0410000Z</dcterms:created>
  <dcterms:modified xsi:type="dcterms:W3CDTF">2026-08-05T13:30:42.0420000Z</dcterms:modified>
</coreProperties>
</file>