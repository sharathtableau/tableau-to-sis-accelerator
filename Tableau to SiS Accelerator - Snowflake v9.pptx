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on speed and confidence, not savings — the cost argument is already made on slide 1, so this slide is about what the customer gets. The four headline cards are the value message: the majority converts automatically, a workbook becomes a live app in a single run, every measure is tied out with evidence, and the estate is assessed before anyone commits. Then show both value columns — the business case that wins the account on the left, and the reason to co-sell it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showcase close, not a sales close — there is no commercial ask on this slide by design. Run the demo from the Snowsight-hosted app so every stage is executing on Snowflake compute, and if anyone questions whether it is real, open Query History alongside it. The roadmap row is there to invite reaction: these are the next four things being built, and this room is exactly the right audience to tell you whether they are the right four. Close on the question,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548640" y="237744"/>
            <a:ext cx="3950208" cy="310896"/>
          </a:xfrm>
          <a:prstGeom prst="roundRect">
            <a:avLst>
              <a:gd name="adj" fmla="val 17647"/>
            </a:avLst>
          </a:prstGeom>
          <a:solidFill>
            <a:srgbClr val="053057"/>
          </a:solidFill>
          <a:ln w="12700">
            <a:solidFill>
              <a:srgbClr val="053057"/>
            </a:solidFill>
            <a:prstDash val="solid"/>
          </a:ln>
        </p:spPr>
      </p:sp>
      <p:sp>
        <p:nvSpPr>
          <p:cNvPr id="3" name="Text 1"/>
          <p:cNvSpPr/>
          <p:nvPr/>
        </p:nvSpPr>
        <p:spPr>
          <a:xfrm>
            <a:off x="548640" y="237744"/>
            <a:ext cx="3950208" cy="310896"/>
          </a:xfrm>
          <a:prstGeom prst="rect">
            <a:avLst/>
          </a:prstGeom>
          <a:noFill/>
          <a:ln/>
        </p:spPr>
        <p:txBody>
          <a:bodyPr wrap="square" lIns="0" tIns="0" rIns="0" bIns="0" rtlCol="0" anchor="ctr"/>
          <a:lstStyle/>
          <a:p>
            <a:pPr algn="ctr" indent="0" marL="0">
              <a:buNone/>
            </a:pPr>
            <a:r>
              <a:rPr lang="en-US" sz="1000" b="1" spc="140" kern="0" dirty="0">
                <a:solidFill>
                  <a:srgbClr val="00EDED"/>
                </a:solidFill>
                <a:latin typeface="Montserrat" pitchFamily="34" charset="0"/>
                <a:ea typeface="Montserrat" pitchFamily="34" charset="-122"/>
                <a:cs typeface="Montserrat" pitchFamily="34" charset="-120"/>
              </a:rPr>
              <a:t>TABLEAU  →  STREAMLIT IN SNOWFLAKE</a:t>
            </a:r>
            <a:endParaRPr lang="en-US" sz="1000" dirty="0"/>
          </a:p>
        </p:txBody>
      </p:sp>
      <p:sp>
        <p:nvSpPr>
          <p:cNvPr id="4" name="Text 2"/>
          <p:cNvSpPr/>
          <p:nvPr/>
        </p:nvSpPr>
        <p:spPr>
          <a:xfrm>
            <a:off x="548640" y="621792"/>
            <a:ext cx="11064240" cy="493776"/>
          </a:xfrm>
          <a:prstGeom prst="rect">
            <a:avLst/>
          </a:prstGeom>
          <a:noFill/>
          <a:ln/>
        </p:spPr>
        <p:txBody>
          <a:bodyPr wrap="square" lIns="0" tIns="0" rIns="0" bIns="0" rtlCol="0" anchor="ctr"/>
          <a:lstStyle/>
          <a:p>
            <a:pPr indent="0" marL="0">
              <a:buNone/>
            </a:pPr>
            <a:r>
              <a:rPr lang="en-US" sz="3000" b="1" dirty="0">
                <a:solidFill>
                  <a:srgbClr val="053057"/>
                </a:solidFill>
                <a:latin typeface="Montserrat" pitchFamily="34" charset="0"/>
                <a:ea typeface="Montserrat" pitchFamily="34" charset="-122"/>
                <a:cs typeface="Montserrat" pitchFamily="34" charset="-120"/>
              </a:rPr>
              <a:t>Tableau Dashboards, Rebuilt Natively in Snowflake</a:t>
            </a:r>
            <a:endParaRPr lang="en-US" sz="3000" dirty="0"/>
          </a:p>
        </p:txBody>
      </p:sp>
      <p:sp>
        <p:nvSpPr>
          <p:cNvPr id="5" name="Text 3"/>
          <p:cNvSpPr/>
          <p:nvPr/>
        </p:nvSpPr>
        <p:spPr>
          <a:xfrm>
            <a:off x="548640" y="1115568"/>
            <a:ext cx="11064240" cy="274320"/>
          </a:xfrm>
          <a:prstGeom prst="rect">
            <a:avLst/>
          </a:prstGeom>
          <a:noFill/>
          <a:ln/>
        </p:spPr>
        <p:txBody>
          <a:bodyPr wrap="square" lIns="0" tIns="0" rIns="0" bIns="0" rtlCol="0" anchor="ctr"/>
          <a:lstStyle/>
          <a:p>
            <a:pPr indent="0" marL="0">
              <a:buNone/>
            </a:pPr>
            <a:r>
              <a:rPr lang="en-US" sz="1350" dirty="0">
                <a:solidFill>
                  <a:srgbClr val="6B7C88"/>
                </a:solidFill>
                <a:latin typeface="Montserrat" pitchFamily="34" charset="0"/>
                <a:ea typeface="Montserrat" pitchFamily="34" charset="-122"/>
                <a:cs typeface="Montserrat" pitchFamily="34" charset="-120"/>
              </a:rPr>
              <a:t>Retire the separate BI platform — the same dashboards, running on the data Snowflake already holds</a:t>
            </a:r>
            <a:endParaRPr lang="en-US" sz="1350" dirty="0"/>
          </a:p>
        </p:txBody>
      </p:sp>
      <p:sp>
        <p:nvSpPr>
          <p:cNvPr id="6" name="Text 4"/>
          <p:cNvSpPr/>
          <p:nvPr/>
        </p:nvSpPr>
        <p:spPr>
          <a:xfrm>
            <a:off x="548640"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THE CHALLENGE — TABLEAU TODAY</a:t>
            </a:r>
            <a:endParaRPr lang="en-US" sz="1000" dirty="0"/>
          </a:p>
        </p:txBody>
      </p:sp>
      <p:sp>
        <p:nvSpPr>
          <p:cNvPr id="7" name="Text 5"/>
          <p:cNvSpPr/>
          <p:nvPr/>
        </p:nvSpPr>
        <p:spPr>
          <a:xfrm>
            <a:off x="4306824"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TRADITIONAL SOLUTION</a:t>
            </a:r>
            <a:endParaRPr lang="en-US" sz="1000" dirty="0"/>
          </a:p>
        </p:txBody>
      </p:sp>
      <p:sp>
        <p:nvSpPr>
          <p:cNvPr id="8" name="Text 6"/>
          <p:cNvSpPr/>
          <p:nvPr/>
        </p:nvSpPr>
        <p:spPr>
          <a:xfrm>
            <a:off x="8065008" y="1426464"/>
            <a:ext cx="3575304" cy="256032"/>
          </a:xfrm>
          <a:prstGeom prst="rect">
            <a:avLst/>
          </a:prstGeom>
          <a:noFill/>
          <a:ln/>
        </p:spPr>
        <p:txBody>
          <a:bodyPr wrap="square" lIns="0" tIns="0" rIns="0" bIns="0" rtlCol="0" anchor="ctr"/>
          <a:lstStyle/>
          <a:p>
            <a:pPr indent="0" marL="0">
              <a:buNone/>
            </a:pPr>
            <a:r>
              <a:rPr lang="en-US" sz="1000" b="1" spc="120" kern="0" dirty="0">
                <a:solidFill>
                  <a:srgbClr val="053057"/>
                </a:solidFill>
                <a:latin typeface="Montserrat" pitchFamily="34" charset="0"/>
                <a:ea typeface="Montserrat" pitchFamily="34" charset="-122"/>
                <a:cs typeface="Montserrat" pitchFamily="34" charset="-120"/>
              </a:rPr>
              <a:t>TABLEAU → STREAMLIT IN SNOWFLAKE</a:t>
            </a:r>
            <a:endParaRPr lang="en-US" sz="1000" dirty="0"/>
          </a:p>
        </p:txBody>
      </p:sp>
      <p:sp>
        <p:nvSpPr>
          <p:cNvPr id="9" name="Shape 7"/>
          <p:cNvSpPr/>
          <p:nvPr/>
        </p:nvSpPr>
        <p:spPr>
          <a:xfrm>
            <a:off x="548640" y="1700784"/>
            <a:ext cx="3575304" cy="1261872"/>
          </a:xfrm>
          <a:prstGeom prst="roundRect">
            <a:avLst>
              <a:gd name="adj" fmla="val 5797"/>
            </a:avLst>
          </a:prstGeom>
          <a:solidFill>
            <a:srgbClr val="FFFFFF"/>
          </a:solidFill>
          <a:ln w="12700">
            <a:solidFill>
              <a:srgbClr val="DFE3E6"/>
            </a:solidFill>
            <a:prstDash val="solid"/>
          </a:ln>
        </p:spPr>
      </p:sp>
      <p:sp>
        <p:nvSpPr>
          <p:cNvPr id="10" name="Text 8"/>
          <p:cNvSpPr/>
          <p:nvPr/>
        </p:nvSpPr>
        <p:spPr>
          <a:xfrm>
            <a:off x="786384"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11" name="Text 9"/>
          <p:cNvSpPr/>
          <p:nvPr/>
        </p:nvSpPr>
        <p:spPr>
          <a:xfrm>
            <a:off x="786384"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2" name="Shape 10"/>
          <p:cNvSpPr/>
          <p:nvPr/>
        </p:nvSpPr>
        <p:spPr>
          <a:xfrm>
            <a:off x="4306824" y="1700784"/>
            <a:ext cx="3575304" cy="1261872"/>
          </a:xfrm>
          <a:prstGeom prst="roundRect">
            <a:avLst>
              <a:gd name="adj" fmla="val 5797"/>
            </a:avLst>
          </a:prstGeom>
          <a:solidFill>
            <a:srgbClr val="FFFFFF"/>
          </a:solidFill>
          <a:ln w="12700">
            <a:solidFill>
              <a:srgbClr val="DFE3E6"/>
            </a:solidFill>
            <a:prstDash val="solid"/>
          </a:ln>
        </p:spPr>
      </p:sp>
      <p:sp>
        <p:nvSpPr>
          <p:cNvPr id="13" name="Text 11"/>
          <p:cNvSpPr/>
          <p:nvPr/>
        </p:nvSpPr>
        <p:spPr>
          <a:xfrm>
            <a:off x="4544568"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4" name="Text 12"/>
          <p:cNvSpPr/>
          <p:nvPr/>
        </p:nvSpPr>
        <p:spPr>
          <a:xfrm>
            <a:off x="4544568"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5" name="Shape 13"/>
          <p:cNvSpPr/>
          <p:nvPr/>
        </p:nvSpPr>
        <p:spPr>
          <a:xfrm>
            <a:off x="8065008" y="1700784"/>
            <a:ext cx="3575304" cy="1261872"/>
          </a:xfrm>
          <a:prstGeom prst="roundRect">
            <a:avLst>
              <a:gd name="adj" fmla="val 5797"/>
            </a:avLst>
          </a:prstGeom>
          <a:solidFill>
            <a:srgbClr val="053057"/>
          </a:solidFill>
          <a:ln w="12700">
            <a:solidFill>
              <a:srgbClr val="053057"/>
            </a:solidFill>
            <a:prstDash val="solid"/>
          </a:ln>
        </p:spPr>
      </p:sp>
      <p:sp>
        <p:nvSpPr>
          <p:cNvPr id="16" name="Shape 14"/>
          <p:cNvSpPr/>
          <p:nvPr/>
        </p:nvSpPr>
        <p:spPr>
          <a:xfrm>
            <a:off x="8302752" y="1901952"/>
            <a:ext cx="237744" cy="237744"/>
          </a:xfrm>
          <a:prstGeom prst="ellipse">
            <a:avLst/>
          </a:prstGeom>
          <a:solidFill>
            <a:srgbClr val="00EDED"/>
          </a:solidFill>
          <a:ln/>
        </p:spPr>
      </p:sp>
      <p:sp>
        <p:nvSpPr>
          <p:cNvPr id="17" name="Text 15"/>
          <p:cNvSpPr/>
          <p:nvPr/>
        </p:nvSpPr>
        <p:spPr>
          <a:xfrm>
            <a:off x="8631936" y="18470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8" name="Text 16"/>
          <p:cNvSpPr/>
          <p:nvPr/>
        </p:nvSpPr>
        <p:spPr>
          <a:xfrm>
            <a:off x="8302752" y="22311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9" name="Shape 17"/>
          <p:cNvSpPr/>
          <p:nvPr/>
        </p:nvSpPr>
        <p:spPr>
          <a:xfrm>
            <a:off x="548640" y="3072384"/>
            <a:ext cx="3575304" cy="1261872"/>
          </a:xfrm>
          <a:prstGeom prst="roundRect">
            <a:avLst>
              <a:gd name="adj" fmla="val 5797"/>
            </a:avLst>
          </a:prstGeom>
          <a:solidFill>
            <a:srgbClr val="FFFFFF"/>
          </a:solidFill>
          <a:ln w="12700">
            <a:solidFill>
              <a:srgbClr val="DFE3E6"/>
            </a:solidFill>
            <a:prstDash val="solid"/>
          </a:ln>
        </p:spPr>
      </p:sp>
      <p:sp>
        <p:nvSpPr>
          <p:cNvPr id="20" name="Text 18"/>
          <p:cNvSpPr/>
          <p:nvPr/>
        </p:nvSpPr>
        <p:spPr>
          <a:xfrm>
            <a:off x="786384"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21" name="Text 19"/>
          <p:cNvSpPr/>
          <p:nvPr/>
        </p:nvSpPr>
        <p:spPr>
          <a:xfrm>
            <a:off x="786384"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2" name="Shape 20"/>
          <p:cNvSpPr/>
          <p:nvPr/>
        </p:nvSpPr>
        <p:spPr>
          <a:xfrm>
            <a:off x="4306824" y="3072384"/>
            <a:ext cx="3575304" cy="1261872"/>
          </a:xfrm>
          <a:prstGeom prst="roundRect">
            <a:avLst>
              <a:gd name="adj" fmla="val 5797"/>
            </a:avLst>
          </a:prstGeom>
          <a:solidFill>
            <a:srgbClr val="FFFFFF"/>
          </a:solidFill>
          <a:ln w="12700">
            <a:solidFill>
              <a:srgbClr val="DFE3E6"/>
            </a:solidFill>
            <a:prstDash val="solid"/>
          </a:ln>
        </p:spPr>
      </p:sp>
      <p:sp>
        <p:nvSpPr>
          <p:cNvPr id="23" name="Text 21"/>
          <p:cNvSpPr/>
          <p:nvPr/>
        </p:nvSpPr>
        <p:spPr>
          <a:xfrm>
            <a:off x="4544568"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4" name="Text 22"/>
          <p:cNvSpPr/>
          <p:nvPr/>
        </p:nvSpPr>
        <p:spPr>
          <a:xfrm>
            <a:off x="4544568"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5" name="Shape 23"/>
          <p:cNvSpPr/>
          <p:nvPr/>
        </p:nvSpPr>
        <p:spPr>
          <a:xfrm>
            <a:off x="8065008" y="3072384"/>
            <a:ext cx="3575304" cy="1261872"/>
          </a:xfrm>
          <a:prstGeom prst="roundRect">
            <a:avLst>
              <a:gd name="adj" fmla="val 5797"/>
            </a:avLst>
          </a:prstGeom>
          <a:solidFill>
            <a:srgbClr val="053057"/>
          </a:solidFill>
          <a:ln w="12700">
            <a:solidFill>
              <a:srgbClr val="053057"/>
            </a:solidFill>
            <a:prstDash val="solid"/>
          </a:ln>
        </p:spPr>
      </p:sp>
      <p:sp>
        <p:nvSpPr>
          <p:cNvPr id="26" name="Shape 24"/>
          <p:cNvSpPr/>
          <p:nvPr/>
        </p:nvSpPr>
        <p:spPr>
          <a:xfrm>
            <a:off x="8302752" y="3273552"/>
            <a:ext cx="237744" cy="237744"/>
          </a:xfrm>
          <a:prstGeom prst="ellipse">
            <a:avLst/>
          </a:prstGeom>
          <a:solidFill>
            <a:srgbClr val="00EDED"/>
          </a:solidFill>
          <a:ln/>
        </p:spPr>
      </p:sp>
      <p:sp>
        <p:nvSpPr>
          <p:cNvPr id="27" name="Text 25"/>
          <p:cNvSpPr/>
          <p:nvPr/>
        </p:nvSpPr>
        <p:spPr>
          <a:xfrm>
            <a:off x="8631936" y="32186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8" name="Text 26"/>
          <p:cNvSpPr/>
          <p:nvPr/>
        </p:nvSpPr>
        <p:spPr>
          <a:xfrm>
            <a:off x="8302752" y="36027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9" name="Shape 27"/>
          <p:cNvSpPr/>
          <p:nvPr/>
        </p:nvSpPr>
        <p:spPr>
          <a:xfrm>
            <a:off x="548640" y="4443984"/>
            <a:ext cx="3575304" cy="1261872"/>
          </a:xfrm>
          <a:prstGeom prst="roundRect">
            <a:avLst>
              <a:gd name="adj" fmla="val 5797"/>
            </a:avLst>
          </a:prstGeom>
          <a:solidFill>
            <a:srgbClr val="FFFFFF"/>
          </a:solidFill>
          <a:ln w="12700">
            <a:solidFill>
              <a:srgbClr val="DFE3E6"/>
            </a:solidFill>
            <a:prstDash val="solid"/>
          </a:ln>
        </p:spPr>
      </p:sp>
      <p:sp>
        <p:nvSpPr>
          <p:cNvPr id="30" name="Text 28"/>
          <p:cNvSpPr/>
          <p:nvPr/>
        </p:nvSpPr>
        <p:spPr>
          <a:xfrm>
            <a:off x="786384"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31" name="Text 29"/>
          <p:cNvSpPr/>
          <p:nvPr/>
        </p:nvSpPr>
        <p:spPr>
          <a:xfrm>
            <a:off x="786384"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2" name="Shape 30"/>
          <p:cNvSpPr/>
          <p:nvPr/>
        </p:nvSpPr>
        <p:spPr>
          <a:xfrm>
            <a:off x="4306824" y="4443984"/>
            <a:ext cx="3575304" cy="1261872"/>
          </a:xfrm>
          <a:prstGeom prst="roundRect">
            <a:avLst>
              <a:gd name="adj" fmla="val 5797"/>
            </a:avLst>
          </a:prstGeom>
          <a:solidFill>
            <a:srgbClr val="FFFFFF"/>
          </a:solidFill>
          <a:ln w="12700">
            <a:solidFill>
              <a:srgbClr val="DFE3E6"/>
            </a:solidFill>
            <a:prstDash val="solid"/>
          </a:ln>
        </p:spPr>
      </p:sp>
      <p:sp>
        <p:nvSpPr>
          <p:cNvPr id="33" name="Text 31"/>
          <p:cNvSpPr/>
          <p:nvPr/>
        </p:nvSpPr>
        <p:spPr>
          <a:xfrm>
            <a:off x="4544568"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4" name="Text 32"/>
          <p:cNvSpPr/>
          <p:nvPr/>
        </p:nvSpPr>
        <p:spPr>
          <a:xfrm>
            <a:off x="4544568"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5" name="Shape 33"/>
          <p:cNvSpPr/>
          <p:nvPr/>
        </p:nvSpPr>
        <p:spPr>
          <a:xfrm>
            <a:off x="8065008" y="4443984"/>
            <a:ext cx="3575304" cy="1261872"/>
          </a:xfrm>
          <a:prstGeom prst="roundRect">
            <a:avLst>
              <a:gd name="adj" fmla="val 5797"/>
            </a:avLst>
          </a:prstGeom>
          <a:solidFill>
            <a:srgbClr val="053057"/>
          </a:solidFill>
          <a:ln w="12700">
            <a:solidFill>
              <a:srgbClr val="053057"/>
            </a:solidFill>
            <a:prstDash val="solid"/>
          </a:ln>
        </p:spPr>
      </p:sp>
      <p:sp>
        <p:nvSpPr>
          <p:cNvPr id="36" name="Shape 34"/>
          <p:cNvSpPr/>
          <p:nvPr/>
        </p:nvSpPr>
        <p:spPr>
          <a:xfrm>
            <a:off x="8302752" y="4645152"/>
            <a:ext cx="237744" cy="237744"/>
          </a:xfrm>
          <a:prstGeom prst="ellipse">
            <a:avLst/>
          </a:prstGeom>
          <a:solidFill>
            <a:srgbClr val="00EDED"/>
          </a:solidFill>
          <a:ln/>
        </p:spPr>
      </p:sp>
      <p:sp>
        <p:nvSpPr>
          <p:cNvPr id="37" name="Text 35"/>
          <p:cNvSpPr/>
          <p:nvPr/>
        </p:nvSpPr>
        <p:spPr>
          <a:xfrm>
            <a:off x="8631936" y="45902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8" name="Text 36"/>
          <p:cNvSpPr/>
          <p:nvPr/>
        </p:nvSpPr>
        <p:spPr>
          <a:xfrm>
            <a:off x="8302752" y="49743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9" name="Shape 37"/>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sp>
      <p:sp>
        <p:nvSpPr>
          <p:cNvPr id="40" name="Text 38"/>
          <p:cNvSpPr/>
          <p:nvPr/>
        </p:nvSpPr>
        <p:spPr>
          <a:xfrm>
            <a:off x="841248" y="5980176"/>
            <a:ext cx="10515600" cy="530352"/>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pPr indent="0" marL="0">
              <a:buNone/>
            </a:pP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sp>
      <p:sp>
        <p:nvSpPr>
          <p:cNvPr id="5" name="Text 3"/>
          <p:cNvSpPr/>
          <p:nvPr/>
        </p:nvSpPr>
        <p:spPr>
          <a:xfrm>
            <a:off x="731520"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sp>
      <p:sp>
        <p:nvSpPr>
          <p:cNvPr id="9" name="Text 7"/>
          <p:cNvSpPr/>
          <p:nvPr/>
        </p:nvSpPr>
        <p:spPr>
          <a:xfrm>
            <a:off x="2999232"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sp>
      <p:sp>
        <p:nvSpPr>
          <p:cNvPr id="13" name="Text 11"/>
          <p:cNvSpPr/>
          <p:nvPr/>
        </p:nvSpPr>
        <p:spPr>
          <a:xfrm>
            <a:off x="5266944"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sp>
      <p:sp>
        <p:nvSpPr>
          <p:cNvPr id="17" name="Text 15"/>
          <p:cNvSpPr/>
          <p:nvPr/>
        </p:nvSpPr>
        <p:spPr>
          <a:xfrm>
            <a:off x="7534656"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sp>
      <p:sp>
        <p:nvSpPr>
          <p:cNvPr id="21" name="Text 19"/>
          <p:cNvSpPr/>
          <p:nvPr/>
        </p:nvSpPr>
        <p:spPr>
          <a:xfrm>
            <a:off x="9802368"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sp>
      <p:sp>
        <p:nvSpPr>
          <p:cNvPr id="25" name="Text 23"/>
          <p:cNvSpPr/>
          <p:nvPr/>
        </p:nvSpPr>
        <p:spPr>
          <a:xfrm>
            <a:off x="548640" y="340156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sp>
      <p:sp>
        <p:nvSpPr>
          <p:cNvPr id="27" name="Text 25"/>
          <p:cNvSpPr/>
          <p:nvPr/>
        </p:nvSpPr>
        <p:spPr>
          <a:xfrm>
            <a:off x="841248"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sp>
      <p:sp>
        <p:nvSpPr>
          <p:cNvPr id="30" name="Text 28"/>
          <p:cNvSpPr/>
          <p:nvPr/>
        </p:nvSpPr>
        <p:spPr>
          <a:xfrm>
            <a:off x="6501384"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indent="0" marL="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sp>
      <p:sp>
        <p:nvSpPr>
          <p:cNvPr id="5" name="Shape 3"/>
          <p:cNvSpPr/>
          <p:nvPr/>
        </p:nvSpPr>
        <p:spPr>
          <a:xfrm>
            <a:off x="768096" y="1536192"/>
            <a:ext cx="402336" cy="402336"/>
          </a:xfrm>
          <a:prstGeom prst="ellipse">
            <a:avLst/>
          </a:prstGeom>
          <a:solidFill>
            <a:srgbClr val="00EDED"/>
          </a:solidFill>
          <a:ln/>
        </p:spPr>
      </p:sp>
      <p:sp>
        <p:nvSpPr>
          <p:cNvPr id="6" name="Text 4"/>
          <p:cNvSpPr/>
          <p:nvPr/>
        </p:nvSpPr>
        <p:spPr>
          <a:xfrm>
            <a:off x="768096"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sp>
      <p:sp>
        <p:nvSpPr>
          <p:cNvPr id="10" name="Shape 8"/>
          <p:cNvSpPr/>
          <p:nvPr/>
        </p:nvSpPr>
        <p:spPr>
          <a:xfrm>
            <a:off x="3721608" y="1536192"/>
            <a:ext cx="402336" cy="402336"/>
          </a:xfrm>
          <a:prstGeom prst="ellipse">
            <a:avLst/>
          </a:prstGeom>
          <a:solidFill>
            <a:srgbClr val="00EDED"/>
          </a:solidFill>
          <a:ln/>
        </p:spPr>
      </p:sp>
      <p:sp>
        <p:nvSpPr>
          <p:cNvPr id="11" name="Text 9"/>
          <p:cNvSpPr/>
          <p:nvPr/>
        </p:nvSpPr>
        <p:spPr>
          <a:xfrm>
            <a:off x="3721608"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sp>
      <p:sp>
        <p:nvSpPr>
          <p:cNvPr id="15" name="Shape 13"/>
          <p:cNvSpPr/>
          <p:nvPr/>
        </p:nvSpPr>
        <p:spPr>
          <a:xfrm>
            <a:off x="6675120" y="1536192"/>
            <a:ext cx="402336" cy="402336"/>
          </a:xfrm>
          <a:prstGeom prst="ellipse">
            <a:avLst/>
          </a:prstGeom>
          <a:solidFill>
            <a:srgbClr val="00EDED"/>
          </a:solidFill>
          <a:ln/>
        </p:spPr>
      </p:sp>
      <p:sp>
        <p:nvSpPr>
          <p:cNvPr id="16" name="Text 14"/>
          <p:cNvSpPr/>
          <p:nvPr/>
        </p:nvSpPr>
        <p:spPr>
          <a:xfrm>
            <a:off x="6675120"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sp>
      <p:sp>
        <p:nvSpPr>
          <p:cNvPr id="20" name="Shape 18"/>
          <p:cNvSpPr/>
          <p:nvPr/>
        </p:nvSpPr>
        <p:spPr>
          <a:xfrm>
            <a:off x="9628632" y="1536192"/>
            <a:ext cx="402336" cy="402336"/>
          </a:xfrm>
          <a:prstGeom prst="ellipse">
            <a:avLst/>
          </a:prstGeom>
          <a:solidFill>
            <a:srgbClr val="00EDED"/>
          </a:solidFill>
          <a:ln/>
        </p:spPr>
      </p:sp>
      <p:sp>
        <p:nvSpPr>
          <p:cNvPr id="21" name="Text 19"/>
          <p:cNvSpPr/>
          <p:nvPr/>
        </p:nvSpPr>
        <p:spPr>
          <a:xfrm>
            <a:off x="9628632"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sp>
      <p:sp>
        <p:nvSpPr>
          <p:cNvPr id="26" name="Text 24"/>
          <p:cNvSpPr/>
          <p:nvPr/>
        </p:nvSpPr>
        <p:spPr>
          <a:xfrm>
            <a:off x="786384"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sp>
      <p:sp>
        <p:nvSpPr>
          <p:cNvPr id="30" name="Text 28"/>
          <p:cNvSpPr/>
          <p:nvPr/>
        </p:nvSpPr>
        <p:spPr>
          <a:xfrm>
            <a:off x="4544568"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sp>
      <p:sp>
        <p:nvSpPr>
          <p:cNvPr id="34" name="Text 32"/>
          <p:cNvSpPr/>
          <p:nvPr/>
        </p:nvSpPr>
        <p:spPr>
          <a:xfrm>
            <a:off x="8302752" y="4443984"/>
            <a:ext cx="3099816" cy="237744"/>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dirty="0"/>
          </a:p>
        </p:txBody>
      </p:sp>
      <p:sp>
        <p:nvSpPr>
          <p:cNvPr id="4" name="Shape 2"/>
          <p:cNvSpPr/>
          <p:nvPr/>
        </p:nvSpPr>
        <p:spPr>
          <a:xfrm>
            <a:off x="548640" y="1243584"/>
            <a:ext cx="2724912" cy="1591056"/>
          </a:xfrm>
          <a:prstGeom prst="roundRect">
            <a:avLst>
              <a:gd name="adj" fmla="val 4598"/>
            </a:avLst>
          </a:prstGeom>
          <a:solidFill>
            <a:srgbClr val="053057"/>
          </a:solidFill>
          <a:ln w="12700">
            <a:solidFill>
              <a:srgbClr val="053057"/>
            </a:solidFill>
            <a:prstDash val="solid"/>
          </a:ln>
        </p:spPr>
      </p:sp>
      <p:sp>
        <p:nvSpPr>
          <p:cNvPr id="5" name="Text 3"/>
          <p:cNvSpPr/>
          <p:nvPr/>
        </p:nvSpPr>
        <p:spPr>
          <a:xfrm>
            <a:off x="768096" y="1371600"/>
            <a:ext cx="2286000" cy="475488"/>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90%+</a:t>
            </a:r>
            <a:endParaRPr lang="en-US" sz="3000" dirty="0"/>
          </a:p>
        </p:txBody>
      </p:sp>
      <p:sp>
        <p:nvSpPr>
          <p:cNvPr id="6" name="Text 4"/>
          <p:cNvSpPr/>
          <p:nvPr/>
        </p:nvSpPr>
        <p:spPr>
          <a:xfrm>
            <a:off x="768096" y="1865376"/>
            <a:ext cx="2286000"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converted automatically</a:t>
            </a:r>
            <a:endParaRPr lang="en-US" sz="1100" dirty="0"/>
          </a:p>
        </p:txBody>
      </p:sp>
      <p:sp>
        <p:nvSpPr>
          <p:cNvPr id="7" name="Text 5"/>
          <p:cNvSpPr/>
          <p:nvPr/>
        </p:nvSpPr>
        <p:spPr>
          <a:xfrm>
            <a:off x="768096"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A2F3F3"/>
                </a:solidFill>
                <a:latin typeface="Montserrat" pitchFamily="34" charset="0"/>
                <a:ea typeface="Montserrat" pitchFamily="34" charset="-122"/>
                <a:cs typeface="Montserrat" pitchFamily="34" charset="-120"/>
              </a:rPr>
              <a:t>The common majority of every dashboard — charts, calculations, filters and layout — without a developer rebuilding it by hand.</a:t>
            </a:r>
            <a:endParaRPr lang="en-US" sz="900" dirty="0"/>
          </a:p>
        </p:txBody>
      </p:sp>
      <p:sp>
        <p:nvSpPr>
          <p:cNvPr id="8" name="Shape 6"/>
          <p:cNvSpPr/>
          <p:nvPr/>
        </p:nvSpPr>
        <p:spPr>
          <a:xfrm>
            <a:off x="3502152" y="1243584"/>
            <a:ext cx="2724912" cy="1591056"/>
          </a:xfrm>
          <a:prstGeom prst="roundRect">
            <a:avLst>
              <a:gd name="adj" fmla="val 4598"/>
            </a:avLst>
          </a:prstGeom>
          <a:solidFill>
            <a:srgbClr val="053057"/>
          </a:solidFill>
          <a:ln w="12700">
            <a:solidFill>
              <a:srgbClr val="053057"/>
            </a:solidFill>
            <a:prstDash val="solid"/>
          </a:ln>
        </p:spPr>
      </p:sp>
      <p:sp>
        <p:nvSpPr>
          <p:cNvPr id="9" name="Text 7"/>
          <p:cNvSpPr/>
          <p:nvPr/>
        </p:nvSpPr>
        <p:spPr>
          <a:xfrm>
            <a:off x="3721608" y="1371600"/>
            <a:ext cx="2286000" cy="475488"/>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Minutes</a:t>
            </a:r>
            <a:endParaRPr lang="en-US" sz="3000" dirty="0"/>
          </a:p>
        </p:txBody>
      </p:sp>
      <p:sp>
        <p:nvSpPr>
          <p:cNvPr id="10" name="Text 8"/>
          <p:cNvSpPr/>
          <p:nvPr/>
        </p:nvSpPr>
        <p:spPr>
          <a:xfrm>
            <a:off x="3721608" y="1865376"/>
            <a:ext cx="2286000"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from workbook to live app</a:t>
            </a:r>
            <a:endParaRPr lang="en-US" sz="1100" dirty="0"/>
          </a:p>
        </p:txBody>
      </p:sp>
      <p:sp>
        <p:nvSpPr>
          <p:cNvPr id="11" name="Text 9"/>
          <p:cNvSpPr/>
          <p:nvPr/>
        </p:nvSpPr>
        <p:spPr>
          <a:xfrm>
            <a:off x="3721608"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A2F3F3"/>
                </a:solidFill>
                <a:latin typeface="Montserrat" pitchFamily="34" charset="0"/>
                <a:ea typeface="Montserrat" pitchFamily="34" charset="-122"/>
                <a:cs typeface="Montserrat" pitchFamily="34" charset="-120"/>
              </a:rPr>
              <a:t>One run inside the Snowflake account, not a rebuild project measured in sprints and handoffs.</a:t>
            </a:r>
            <a:endParaRPr lang="en-US" sz="900" dirty="0"/>
          </a:p>
        </p:txBody>
      </p:sp>
      <p:sp>
        <p:nvSpPr>
          <p:cNvPr id="12" name="Shape 10"/>
          <p:cNvSpPr/>
          <p:nvPr/>
        </p:nvSpPr>
        <p:spPr>
          <a:xfrm>
            <a:off x="6455664" y="1243584"/>
            <a:ext cx="2724912" cy="1591056"/>
          </a:xfrm>
          <a:prstGeom prst="roundRect">
            <a:avLst>
              <a:gd name="adj" fmla="val 4598"/>
            </a:avLst>
          </a:prstGeom>
          <a:solidFill>
            <a:srgbClr val="FFFFFF"/>
          </a:solidFill>
          <a:ln w="12700">
            <a:solidFill>
              <a:srgbClr val="DFE3E6"/>
            </a:solidFill>
            <a:prstDash val="solid"/>
          </a:ln>
        </p:spPr>
      </p:sp>
      <p:sp>
        <p:nvSpPr>
          <p:cNvPr id="13" name="Text 11"/>
          <p:cNvSpPr/>
          <p:nvPr/>
        </p:nvSpPr>
        <p:spPr>
          <a:xfrm>
            <a:off x="6675120" y="1371600"/>
            <a:ext cx="2286000" cy="475488"/>
          </a:xfrm>
          <a:prstGeom prst="rect">
            <a:avLst/>
          </a:prstGeom>
          <a:noFill/>
          <a:ln/>
        </p:spPr>
        <p:txBody>
          <a:bodyPr wrap="square" lIns="0" tIns="0" rIns="0" bIns="0" rtlCol="0" anchor="ctr"/>
          <a:lstStyle/>
          <a:p>
            <a:pPr indent="0" marL="0">
              <a:buNone/>
            </a:pPr>
            <a:r>
              <a:rPr lang="en-US" sz="1900" b="1" dirty="0">
                <a:solidFill>
                  <a:srgbClr val="053057"/>
                </a:solidFill>
                <a:latin typeface="Montserrat" pitchFamily="34" charset="0"/>
                <a:ea typeface="Montserrat" pitchFamily="34" charset="-122"/>
                <a:cs typeface="Montserrat" pitchFamily="34" charset="-120"/>
              </a:rPr>
              <a:t>Every measure</a:t>
            </a:r>
            <a:endParaRPr lang="en-US" sz="1900" dirty="0"/>
          </a:p>
        </p:txBody>
      </p:sp>
      <p:sp>
        <p:nvSpPr>
          <p:cNvPr id="14" name="Text 12"/>
          <p:cNvSpPr/>
          <p:nvPr/>
        </p:nvSpPr>
        <p:spPr>
          <a:xfrm>
            <a:off x="6675120" y="1865376"/>
            <a:ext cx="2286000" cy="256032"/>
          </a:xfrm>
          <a:prstGeom prst="rect">
            <a:avLst/>
          </a:prstGeom>
          <a:noFill/>
          <a:ln/>
        </p:spPr>
        <p:txBody>
          <a:bodyPr wrap="square" lIns="0" tIns="0" rIns="0" bIns="0" rtlCol="0" anchor="ctr"/>
          <a:lstStyle/>
          <a:p>
            <a:pPr indent="0" marL="0">
              <a:buNone/>
            </a:pPr>
            <a:r>
              <a:rPr lang="en-US" sz="1100" b="1" dirty="0">
                <a:solidFill>
                  <a:srgbClr val="314550"/>
                </a:solidFill>
                <a:latin typeface="Montserrat" pitchFamily="34" charset="0"/>
                <a:ea typeface="Montserrat" pitchFamily="34" charset="-122"/>
                <a:cs typeface="Montserrat" pitchFamily="34" charset="-120"/>
              </a:rPr>
              <a:t>tied out to the source</a:t>
            </a:r>
            <a:endParaRPr lang="en-US" sz="1100" dirty="0"/>
          </a:p>
        </p:txBody>
      </p:sp>
      <p:sp>
        <p:nvSpPr>
          <p:cNvPr id="15" name="Text 13"/>
          <p:cNvSpPr/>
          <p:nvPr/>
        </p:nvSpPr>
        <p:spPr>
          <a:xfrm>
            <a:off x="6675120"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Validated automatically as part of the migration, with downloadable evidence rather than an assurance.</a:t>
            </a:r>
            <a:endParaRPr lang="en-US" sz="900" dirty="0"/>
          </a:p>
        </p:txBody>
      </p:sp>
      <p:sp>
        <p:nvSpPr>
          <p:cNvPr id="16" name="Shape 14"/>
          <p:cNvSpPr/>
          <p:nvPr/>
        </p:nvSpPr>
        <p:spPr>
          <a:xfrm>
            <a:off x="9409176" y="1243584"/>
            <a:ext cx="2724912" cy="1591056"/>
          </a:xfrm>
          <a:prstGeom prst="roundRect">
            <a:avLst>
              <a:gd name="adj" fmla="val 4598"/>
            </a:avLst>
          </a:prstGeom>
          <a:solidFill>
            <a:srgbClr val="FFFFFF"/>
          </a:solidFill>
          <a:ln w="12700">
            <a:solidFill>
              <a:srgbClr val="DFE3E6"/>
            </a:solidFill>
            <a:prstDash val="solid"/>
          </a:ln>
        </p:spPr>
      </p:sp>
      <p:sp>
        <p:nvSpPr>
          <p:cNvPr id="17" name="Text 15"/>
          <p:cNvSpPr/>
          <p:nvPr/>
        </p:nvSpPr>
        <p:spPr>
          <a:xfrm>
            <a:off x="9628632" y="1371600"/>
            <a:ext cx="2286000" cy="475488"/>
          </a:xfrm>
          <a:prstGeom prst="rect">
            <a:avLst/>
          </a:prstGeom>
          <a:noFill/>
          <a:ln/>
        </p:spPr>
        <p:txBody>
          <a:bodyPr wrap="square" lIns="0" tIns="0" rIns="0" bIns="0" rtlCol="0" anchor="ctr"/>
          <a:lstStyle/>
          <a:p>
            <a:pPr indent="0" marL="0">
              <a:buNone/>
            </a:pPr>
            <a:r>
              <a:rPr lang="en-US" sz="1900" b="1" dirty="0">
                <a:solidFill>
                  <a:srgbClr val="053057"/>
                </a:solidFill>
                <a:latin typeface="Montserrat" pitchFamily="34" charset="0"/>
                <a:ea typeface="Montserrat" pitchFamily="34" charset="-122"/>
                <a:cs typeface="Montserrat" pitchFamily="34" charset="-120"/>
              </a:rPr>
              <a:t>Before you commit</a:t>
            </a:r>
            <a:endParaRPr lang="en-US" sz="1900" dirty="0"/>
          </a:p>
        </p:txBody>
      </p:sp>
      <p:sp>
        <p:nvSpPr>
          <p:cNvPr id="18" name="Text 16"/>
          <p:cNvSpPr/>
          <p:nvPr/>
        </p:nvSpPr>
        <p:spPr>
          <a:xfrm>
            <a:off x="9628632" y="1865376"/>
            <a:ext cx="2286000" cy="256032"/>
          </a:xfrm>
          <a:prstGeom prst="rect">
            <a:avLst/>
          </a:prstGeom>
          <a:noFill/>
          <a:ln/>
        </p:spPr>
        <p:txBody>
          <a:bodyPr wrap="square" lIns="0" tIns="0" rIns="0" bIns="0" rtlCol="0" anchor="ctr"/>
          <a:lstStyle/>
          <a:p>
            <a:pPr indent="0" marL="0">
              <a:buNone/>
            </a:pPr>
            <a:r>
              <a:rPr lang="en-US" sz="1100" b="1" dirty="0">
                <a:solidFill>
                  <a:srgbClr val="314550"/>
                </a:solidFill>
                <a:latin typeface="Montserrat" pitchFamily="34" charset="0"/>
                <a:ea typeface="Montserrat" pitchFamily="34" charset="-122"/>
                <a:cs typeface="Montserrat" pitchFamily="34" charset="-120"/>
              </a:rPr>
              <a:t>assessment comes first</a:t>
            </a:r>
            <a:endParaRPr lang="en-US" sz="1100" dirty="0"/>
          </a:p>
        </p:txBody>
      </p:sp>
      <p:sp>
        <p:nvSpPr>
          <p:cNvPr id="19" name="Text 17"/>
          <p:cNvSpPr/>
          <p:nvPr/>
        </p:nvSpPr>
        <p:spPr>
          <a:xfrm>
            <a:off x="9628632"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estate is scanned and scored up front, so what converts — and what needs attention — is known before the work starts.</a:t>
            </a:r>
            <a:endParaRPr lang="en-US" sz="900" dirty="0"/>
          </a:p>
        </p:txBody>
      </p:sp>
      <p:sp>
        <p:nvSpPr>
          <p:cNvPr id="20" name="Shape 18"/>
          <p:cNvSpPr/>
          <p:nvPr/>
        </p:nvSpPr>
        <p:spPr>
          <a:xfrm>
            <a:off x="548640" y="2980944"/>
            <a:ext cx="5431536" cy="2011680"/>
          </a:xfrm>
          <a:prstGeom prst="roundRect">
            <a:avLst>
              <a:gd name="adj" fmla="val 3636"/>
            </a:avLst>
          </a:prstGeom>
          <a:solidFill>
            <a:srgbClr val="FFFFFF"/>
          </a:solidFill>
          <a:ln w="12700">
            <a:solidFill>
              <a:srgbClr val="DFE3E6"/>
            </a:solidFill>
            <a:prstDash val="solid"/>
          </a:ln>
        </p:spPr>
      </p:sp>
      <p:sp>
        <p:nvSpPr>
          <p:cNvPr id="21" name="Text 19"/>
          <p:cNvSpPr/>
          <p:nvPr/>
        </p:nvSpPr>
        <p:spPr>
          <a:xfrm>
            <a:off x="841248" y="3145536"/>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VALUE TO THE BUSINESS</a:t>
            </a:r>
            <a:endParaRPr lang="en-US" sz="1050" dirty="0"/>
          </a:p>
        </p:txBody>
      </p:sp>
      <p:sp>
        <p:nvSpPr>
          <p:cNvPr id="22" name="Shape 20"/>
          <p:cNvSpPr/>
          <p:nvPr/>
        </p:nvSpPr>
        <p:spPr>
          <a:xfrm>
            <a:off x="896112" y="3602736"/>
            <a:ext cx="128016" cy="128016"/>
          </a:xfrm>
          <a:prstGeom prst="ellipse">
            <a:avLst/>
          </a:prstGeom>
          <a:solidFill>
            <a:srgbClr val="C3CBD1"/>
          </a:solidFill>
          <a:ln/>
        </p:spPr>
      </p:sp>
      <p:sp>
        <p:nvSpPr>
          <p:cNvPr id="23" name="Text 21"/>
          <p:cNvSpPr/>
          <p:nvPr/>
        </p:nvSpPr>
        <p:spPr>
          <a:xfrm>
            <a:off x="1170432" y="352958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Dashboards live in days, not development cycles</a:t>
            </a:r>
            <a:endParaRPr lang="en-US" sz="1000" dirty="0"/>
          </a:p>
        </p:txBody>
      </p:sp>
      <p:sp>
        <p:nvSpPr>
          <p:cNvPr id="24" name="Shape 22"/>
          <p:cNvSpPr/>
          <p:nvPr/>
        </p:nvSpPr>
        <p:spPr>
          <a:xfrm>
            <a:off x="896112" y="3968496"/>
            <a:ext cx="128016" cy="128016"/>
          </a:xfrm>
          <a:prstGeom prst="ellipse">
            <a:avLst/>
          </a:prstGeom>
          <a:solidFill>
            <a:srgbClr val="C3CBD1"/>
          </a:solidFill>
          <a:ln/>
        </p:spPr>
      </p:sp>
      <p:sp>
        <p:nvSpPr>
          <p:cNvPr id="25" name="Text 23"/>
          <p:cNvSpPr/>
          <p:nvPr/>
        </p:nvSpPr>
        <p:spPr>
          <a:xfrm>
            <a:off x="1170432" y="389534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The data team owns the whole path — no specialist queue, and no second platform to run</a:t>
            </a:r>
            <a:endParaRPr lang="en-US" sz="1000" dirty="0"/>
          </a:p>
        </p:txBody>
      </p:sp>
      <p:sp>
        <p:nvSpPr>
          <p:cNvPr id="26" name="Shape 24"/>
          <p:cNvSpPr/>
          <p:nvPr/>
        </p:nvSpPr>
        <p:spPr>
          <a:xfrm>
            <a:off x="896112" y="4334256"/>
            <a:ext cx="128016" cy="128016"/>
          </a:xfrm>
          <a:prstGeom prst="ellipse">
            <a:avLst/>
          </a:prstGeom>
          <a:solidFill>
            <a:srgbClr val="C3CBD1"/>
          </a:solidFill>
          <a:ln/>
        </p:spPr>
      </p:sp>
      <p:sp>
        <p:nvSpPr>
          <p:cNvPr id="27" name="Text 25"/>
          <p:cNvSpPr/>
          <p:nvPr/>
        </p:nvSpPr>
        <p:spPr>
          <a:xfrm>
            <a:off x="1170432" y="426110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Governance stays with the data — access rules and row-level security inherited, not rebuilt</a:t>
            </a:r>
            <a:endParaRPr lang="en-US" sz="1000" dirty="0"/>
          </a:p>
        </p:txBody>
      </p:sp>
      <p:sp>
        <p:nvSpPr>
          <p:cNvPr id="28" name="Shape 26"/>
          <p:cNvSpPr/>
          <p:nvPr/>
        </p:nvSpPr>
        <p:spPr>
          <a:xfrm>
            <a:off x="896112" y="4700016"/>
            <a:ext cx="128016" cy="128016"/>
          </a:xfrm>
          <a:prstGeom prst="ellipse">
            <a:avLst/>
          </a:prstGeom>
          <a:solidFill>
            <a:srgbClr val="C3CBD1"/>
          </a:solidFill>
          <a:ln/>
        </p:spPr>
      </p:sp>
      <p:sp>
        <p:nvSpPr>
          <p:cNvPr id="29" name="Text 27"/>
          <p:cNvSpPr/>
          <p:nvPr/>
        </p:nvSpPr>
        <p:spPr>
          <a:xfrm>
            <a:off x="1170432" y="462686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Anything that cannot convert is surfaced up front, never discovered late</a:t>
            </a:r>
            <a:endParaRPr lang="en-US" sz="1000" dirty="0"/>
          </a:p>
        </p:txBody>
      </p:sp>
      <p:sp>
        <p:nvSpPr>
          <p:cNvPr id="30" name="Shape 28"/>
          <p:cNvSpPr/>
          <p:nvPr/>
        </p:nvSpPr>
        <p:spPr>
          <a:xfrm>
            <a:off x="6208776" y="2980944"/>
            <a:ext cx="5431536" cy="2011680"/>
          </a:xfrm>
          <a:prstGeom prst="roundRect">
            <a:avLst>
              <a:gd name="adj" fmla="val 3636"/>
            </a:avLst>
          </a:prstGeom>
          <a:solidFill>
            <a:srgbClr val="053057"/>
          </a:solidFill>
          <a:ln w="15875">
            <a:solidFill>
              <a:srgbClr val="00EDED"/>
            </a:solidFill>
            <a:prstDash val="solid"/>
          </a:ln>
        </p:spPr>
      </p:sp>
      <p:sp>
        <p:nvSpPr>
          <p:cNvPr id="31" name="Text 29"/>
          <p:cNvSpPr/>
          <p:nvPr/>
        </p:nvSpPr>
        <p:spPr>
          <a:xfrm>
            <a:off x="6501384" y="3145536"/>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VALUE TO SNOWFLAKE</a:t>
            </a:r>
            <a:endParaRPr lang="en-US" sz="1050" dirty="0"/>
          </a:p>
        </p:txBody>
      </p:sp>
      <p:sp>
        <p:nvSpPr>
          <p:cNvPr id="32" name="Shape 30"/>
          <p:cNvSpPr/>
          <p:nvPr/>
        </p:nvSpPr>
        <p:spPr>
          <a:xfrm>
            <a:off x="6556248" y="3602736"/>
            <a:ext cx="128016" cy="128016"/>
          </a:xfrm>
          <a:prstGeom prst="ellipse">
            <a:avLst/>
          </a:prstGeom>
          <a:solidFill>
            <a:srgbClr val="00EDED"/>
          </a:solidFill>
          <a:ln/>
        </p:spPr>
      </p:sp>
      <p:sp>
        <p:nvSpPr>
          <p:cNvPr id="33" name="Text 31"/>
          <p:cNvSpPr/>
          <p:nvPr/>
        </p:nvSpPr>
        <p:spPr>
          <a:xfrm>
            <a:off x="6830568" y="352958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Warehouse compute on every dashboard view, where an extract served it before</a:t>
            </a:r>
            <a:endParaRPr lang="en-US" sz="1000" dirty="0"/>
          </a:p>
        </p:txBody>
      </p:sp>
      <p:sp>
        <p:nvSpPr>
          <p:cNvPr id="34" name="Shape 32"/>
          <p:cNvSpPr/>
          <p:nvPr/>
        </p:nvSpPr>
        <p:spPr>
          <a:xfrm>
            <a:off x="6556248" y="3968496"/>
            <a:ext cx="128016" cy="128016"/>
          </a:xfrm>
          <a:prstGeom prst="ellipse">
            <a:avLst/>
          </a:prstGeom>
          <a:solidFill>
            <a:srgbClr val="00EDED"/>
          </a:solidFill>
          <a:ln/>
        </p:spPr>
      </p:sp>
      <p:sp>
        <p:nvSpPr>
          <p:cNvPr id="35" name="Text 33"/>
          <p:cNvSpPr/>
          <p:nvPr/>
        </p:nvSpPr>
        <p:spPr>
          <a:xfrm>
            <a:off x="6830568" y="389534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Cortex consumption on every workbook migrated</a:t>
            </a:r>
            <a:endParaRPr lang="en-US" sz="1000" dirty="0"/>
          </a:p>
        </p:txBody>
      </p:sp>
      <p:sp>
        <p:nvSpPr>
          <p:cNvPr id="36" name="Shape 34"/>
          <p:cNvSpPr/>
          <p:nvPr/>
        </p:nvSpPr>
        <p:spPr>
          <a:xfrm>
            <a:off x="6556248" y="4334256"/>
            <a:ext cx="128016" cy="128016"/>
          </a:xfrm>
          <a:prstGeom prst="ellipse">
            <a:avLst/>
          </a:prstGeom>
          <a:solidFill>
            <a:srgbClr val="00EDED"/>
          </a:solidFill>
          <a:ln/>
        </p:spPr>
      </p:sp>
      <p:sp>
        <p:nvSpPr>
          <p:cNvPr id="37" name="Text 35"/>
          <p:cNvSpPr/>
          <p:nvPr/>
        </p:nvSpPr>
        <p:spPr>
          <a:xfrm>
            <a:off x="6830568" y="426110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The semantic layer adopted as the governed model, feeding Cortex Analyst</a:t>
            </a:r>
            <a:endParaRPr lang="en-US" sz="1000" dirty="0"/>
          </a:p>
        </p:txBody>
      </p:sp>
      <p:sp>
        <p:nvSpPr>
          <p:cNvPr id="38" name="Shape 36"/>
          <p:cNvSpPr/>
          <p:nvPr/>
        </p:nvSpPr>
        <p:spPr>
          <a:xfrm>
            <a:off x="6556248" y="4700016"/>
            <a:ext cx="128016" cy="128016"/>
          </a:xfrm>
          <a:prstGeom prst="ellipse">
            <a:avLst/>
          </a:prstGeom>
          <a:solidFill>
            <a:srgbClr val="00EDED"/>
          </a:solidFill>
          <a:ln/>
        </p:spPr>
      </p:sp>
      <p:sp>
        <p:nvSpPr>
          <p:cNvPr id="39" name="Text 37"/>
          <p:cNvSpPr/>
          <p:nvPr/>
        </p:nvSpPr>
        <p:spPr>
          <a:xfrm>
            <a:off x="6830568" y="462686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BI workload consolidated onto the platform, and share taken from a competing stack</a:t>
            </a:r>
            <a:endParaRPr lang="en-US" sz="1000" dirty="0"/>
          </a:p>
        </p:txBody>
      </p:sp>
      <p:sp>
        <p:nvSpPr>
          <p:cNvPr id="40" name="Shape 38"/>
          <p:cNvSpPr/>
          <p:nvPr/>
        </p:nvSpPr>
        <p:spPr>
          <a:xfrm>
            <a:off x="548640" y="5157216"/>
            <a:ext cx="11091672" cy="932688"/>
          </a:xfrm>
          <a:prstGeom prst="roundRect">
            <a:avLst>
              <a:gd name="adj" fmla="val 7843"/>
            </a:avLst>
          </a:prstGeom>
          <a:solidFill>
            <a:srgbClr val="053057"/>
          </a:solidFill>
          <a:ln w="15875">
            <a:solidFill>
              <a:srgbClr val="00EDED"/>
            </a:solidFill>
            <a:prstDash val="solid"/>
          </a:ln>
        </p:spPr>
      </p:sp>
      <p:sp>
        <p:nvSpPr>
          <p:cNvPr id="41" name="Text 39"/>
          <p:cNvSpPr/>
          <p:nvPr/>
        </p:nvSpPr>
        <p:spPr>
          <a:xfrm>
            <a:off x="841248" y="5285232"/>
            <a:ext cx="10515600"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An extract sends Snowflake no query workload at all</a:t>
            </a:r>
            <a:endParaRPr lang="en-US" sz="1300" dirty="0"/>
          </a:p>
        </p:txBody>
      </p:sp>
      <p:sp>
        <p:nvSpPr>
          <p:cNvPr id="42" name="Text 40"/>
          <p:cNvSpPr/>
          <p:nvPr/>
        </p:nvSpPr>
        <p:spPr>
          <a:xfrm>
            <a:off x="841248" y="5596128"/>
            <a:ext cx="10515600" cy="402336"/>
          </a:xfrm>
          <a:prstGeom prst="rect">
            <a:avLst/>
          </a:prstGeom>
          <a:noFill/>
          <a:ln/>
        </p:spPr>
        <p:txBody>
          <a:bodyPr wrap="square" lIns="0" tIns="0" rIns="0" bIns="0" rtlCol="0" anchor="ctr"/>
          <a:lstStyle/>
          <a:p>
            <a:pPr indent="0" marL="0">
              <a:buNone/>
            </a:pPr>
            <a:r>
              <a:rPr lang="en-US" sz="1050" dirty="0">
                <a:solidFill>
                  <a:srgbClr val="D6E6F0"/>
                </a:solidFill>
                <a:latin typeface="Montserrat" pitchFamily="34" charset="0"/>
                <a:ea typeface="Montserrat" pitchFamily="34" charset="-122"/>
                <a:cs typeface="Montserrat" pitchFamily="34" charset="-120"/>
              </a:rPr>
              <a:t>Tableau's own engine serves it, so those dashboard views never reach the warehouse. Migrated, every single view becomes warehouse compute and every migration becomes Cortex consumption — on data that never leaves the account.</a:t>
            </a:r>
            <a:endParaRPr lang="en-US" sz="1050" dirty="0"/>
          </a:p>
        </p:txBody>
      </p:sp>
      <p:sp>
        <p:nvSpPr>
          <p:cNvPr id="43" name="Shape 41"/>
          <p:cNvSpPr/>
          <p:nvPr/>
        </p:nvSpPr>
        <p:spPr>
          <a:xfrm>
            <a:off x="548640" y="6236208"/>
            <a:ext cx="11091672" cy="420624"/>
          </a:xfrm>
          <a:prstGeom prst="roundRect">
            <a:avLst>
              <a:gd name="adj" fmla="val 13043"/>
            </a:avLst>
          </a:prstGeom>
          <a:solidFill>
            <a:srgbClr val="053057"/>
          </a:solidFill>
          <a:ln w="12700">
            <a:solidFill>
              <a:srgbClr val="053057"/>
            </a:solidFill>
            <a:prstDash val="solid"/>
          </a:ln>
        </p:spPr>
      </p:sp>
      <p:sp>
        <p:nvSpPr>
          <p:cNvPr id="44" name="Text 42"/>
          <p:cNvSpPr/>
          <p:nvPr/>
        </p:nvSpPr>
        <p:spPr>
          <a:xfrm>
            <a:off x="548640" y="623620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See It Run</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A live migration inside a Snowflake account — and where it goes next</a:t>
            </a:r>
            <a:endParaRPr lang="en-US" sz="1400" dirty="0"/>
          </a:p>
        </p:txBody>
      </p:sp>
      <p:sp>
        <p:nvSpPr>
          <p:cNvPr id="4" name="Shape 2"/>
          <p:cNvSpPr/>
          <p:nvPr/>
        </p:nvSpPr>
        <p:spPr>
          <a:xfrm>
            <a:off x="548640" y="1225296"/>
            <a:ext cx="11091672" cy="1188720"/>
          </a:xfrm>
          <a:prstGeom prst="roundRect">
            <a:avLst>
              <a:gd name="adj" fmla="val 6154"/>
            </a:avLst>
          </a:prstGeom>
          <a:solidFill>
            <a:srgbClr val="0A3E6B"/>
          </a:solidFill>
          <a:ln w="15875">
            <a:solidFill>
              <a:srgbClr val="00EDED"/>
            </a:solidFill>
            <a:prstDash val="solid"/>
          </a:ln>
        </p:spPr>
      </p:sp>
      <p:sp>
        <p:nvSpPr>
          <p:cNvPr id="5" name="Text 3"/>
          <p:cNvSpPr/>
          <p:nvPr/>
        </p:nvSpPr>
        <p:spPr>
          <a:xfrm>
            <a:off x="868680" y="1371600"/>
            <a:ext cx="2743200" cy="237744"/>
          </a:xfrm>
          <a:prstGeom prst="rect">
            <a:avLst/>
          </a:prstGeom>
          <a:noFill/>
          <a:ln/>
        </p:spPr>
        <p:txBody>
          <a:bodyPr wrap="square" lIns="0" tIns="0" rIns="0" bIns="0" rtlCol="0" anchor="ctr"/>
          <a:lstStyle/>
          <a:p>
            <a:pPr indent="0" marL="0">
              <a:buNone/>
            </a:pPr>
            <a:r>
              <a:rPr lang="en-US" sz="1050" b="1" spc="240" kern="0" dirty="0">
                <a:solidFill>
                  <a:srgbClr val="00EDED"/>
                </a:solidFill>
                <a:latin typeface="Montserrat" pitchFamily="34" charset="0"/>
                <a:ea typeface="Montserrat" pitchFamily="34" charset="-122"/>
                <a:cs typeface="Montserrat" pitchFamily="34" charset="-120"/>
              </a:rPr>
              <a:t>DEMO</a:t>
            </a:r>
            <a:endParaRPr lang="en-US" sz="1050" dirty="0"/>
          </a:p>
        </p:txBody>
      </p:sp>
      <p:sp>
        <p:nvSpPr>
          <p:cNvPr id="6" name="Text 4"/>
          <p:cNvSpPr/>
          <p:nvPr/>
        </p:nvSpPr>
        <p:spPr>
          <a:xfrm>
            <a:off x="868680" y="1645920"/>
            <a:ext cx="10424160" cy="676656"/>
          </a:xfrm>
          <a:prstGeom prst="rect">
            <a:avLst/>
          </a:prstGeom>
          <a:noFill/>
          <a:ln/>
        </p:spPr>
        <p:txBody>
          <a:bodyPr wrap="square" lIns="0" tIns="0" rIns="0" bIns="0" rtlCol="0" anchor="ctr"/>
          <a:lstStyle/>
          <a:p>
            <a:pPr indent="0" marL="0">
              <a:buNone/>
            </a:pPr>
            <a:r>
              <a:rPr lang="en-US" sz="1100" dirty="0">
                <a:solidFill>
                  <a:srgbClr val="D6E6F0"/>
                </a:solidFill>
                <a:latin typeface="Montserrat" pitchFamily="34" charset="0"/>
                <a:ea typeface="Montserrat" pitchFamily="34" charset="-122"/>
                <a:cs typeface="Montserrat" pitchFamily="34" charset="-120"/>
              </a:rPr>
              <a:t>Upload a Tableau workbook and watch every stage execute in the account — tables created and loaded, Cortex translating the calculations, the semantic view deployed, the dashboard rendered, and the numbers checked measure by measure. Every statement is visible in Snowsight Query History, with live timestamps.</a:t>
            </a:r>
            <a:endParaRPr lang="en-US" sz="1100" dirty="0"/>
          </a:p>
        </p:txBody>
      </p:sp>
      <p:sp>
        <p:nvSpPr>
          <p:cNvPr id="7" name="Shape 5"/>
          <p:cNvSpPr/>
          <p:nvPr/>
        </p:nvSpPr>
        <p:spPr>
          <a:xfrm>
            <a:off x="548640" y="2578608"/>
            <a:ext cx="2103120" cy="548640"/>
          </a:xfrm>
          <a:prstGeom prst="roundRect">
            <a:avLst>
              <a:gd name="adj" fmla="val 13333"/>
            </a:avLst>
          </a:prstGeom>
          <a:solidFill>
            <a:srgbClr val="0A3E6B"/>
          </a:solidFill>
          <a:ln w="12700">
            <a:solidFill>
              <a:srgbClr val="17517F"/>
            </a:solidFill>
            <a:prstDash val="solid"/>
          </a:ln>
        </p:spPr>
      </p:sp>
      <p:sp>
        <p:nvSpPr>
          <p:cNvPr id="8" name="Text 6"/>
          <p:cNvSpPr/>
          <p:nvPr/>
        </p:nvSpPr>
        <p:spPr>
          <a:xfrm>
            <a:off x="548640" y="2578608"/>
            <a:ext cx="210312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Discovery</a:t>
            </a:r>
            <a:endParaRPr lang="en-US" sz="950" dirty="0"/>
          </a:p>
        </p:txBody>
      </p:sp>
      <p:sp>
        <p:nvSpPr>
          <p:cNvPr id="9" name="Shape 7"/>
          <p:cNvSpPr/>
          <p:nvPr/>
        </p:nvSpPr>
        <p:spPr>
          <a:xfrm>
            <a:off x="2816352" y="2578608"/>
            <a:ext cx="2103120" cy="548640"/>
          </a:xfrm>
          <a:prstGeom prst="roundRect">
            <a:avLst>
              <a:gd name="adj" fmla="val 13333"/>
            </a:avLst>
          </a:prstGeom>
          <a:solidFill>
            <a:srgbClr val="0A3E6B"/>
          </a:solidFill>
          <a:ln w="12700">
            <a:solidFill>
              <a:srgbClr val="17517F"/>
            </a:solidFill>
            <a:prstDash val="solid"/>
          </a:ln>
        </p:spPr>
      </p:sp>
      <p:sp>
        <p:nvSpPr>
          <p:cNvPr id="10" name="Text 8"/>
          <p:cNvSpPr/>
          <p:nvPr/>
        </p:nvSpPr>
        <p:spPr>
          <a:xfrm>
            <a:off x="2816352" y="2578608"/>
            <a:ext cx="210312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Model Extraction</a:t>
            </a:r>
            <a:endParaRPr lang="en-US" sz="950" dirty="0"/>
          </a:p>
        </p:txBody>
      </p:sp>
      <p:sp>
        <p:nvSpPr>
          <p:cNvPr id="11" name="Shape 9"/>
          <p:cNvSpPr/>
          <p:nvPr/>
        </p:nvSpPr>
        <p:spPr>
          <a:xfrm>
            <a:off x="5084064" y="2578608"/>
            <a:ext cx="2103120" cy="548640"/>
          </a:xfrm>
          <a:prstGeom prst="roundRect">
            <a:avLst>
              <a:gd name="adj" fmla="val 13333"/>
            </a:avLst>
          </a:prstGeom>
          <a:solidFill>
            <a:srgbClr val="0A3E6B"/>
          </a:solidFill>
          <a:ln w="19050">
            <a:solidFill>
              <a:srgbClr val="00EDED"/>
            </a:solidFill>
            <a:prstDash val="solid"/>
          </a:ln>
        </p:spPr>
      </p:sp>
      <p:sp>
        <p:nvSpPr>
          <p:cNvPr id="12" name="Text 10"/>
          <p:cNvSpPr/>
          <p:nvPr/>
        </p:nvSpPr>
        <p:spPr>
          <a:xfrm>
            <a:off x="5084064" y="2578608"/>
            <a:ext cx="210312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Translation</a:t>
            </a:r>
            <a:endParaRPr lang="en-US" sz="950" dirty="0"/>
          </a:p>
        </p:txBody>
      </p:sp>
      <p:sp>
        <p:nvSpPr>
          <p:cNvPr id="13" name="Shape 11"/>
          <p:cNvSpPr/>
          <p:nvPr/>
        </p:nvSpPr>
        <p:spPr>
          <a:xfrm>
            <a:off x="7351776" y="2578608"/>
            <a:ext cx="2103120" cy="548640"/>
          </a:xfrm>
          <a:prstGeom prst="roundRect">
            <a:avLst>
              <a:gd name="adj" fmla="val 13333"/>
            </a:avLst>
          </a:prstGeom>
          <a:solidFill>
            <a:srgbClr val="0A3E6B"/>
          </a:solidFill>
          <a:ln w="19050">
            <a:solidFill>
              <a:srgbClr val="00EDED"/>
            </a:solidFill>
            <a:prstDash val="solid"/>
          </a:ln>
        </p:spPr>
      </p:sp>
      <p:sp>
        <p:nvSpPr>
          <p:cNvPr id="14" name="Text 12"/>
          <p:cNvSpPr/>
          <p:nvPr/>
        </p:nvSpPr>
        <p:spPr>
          <a:xfrm>
            <a:off x="7351776" y="2578608"/>
            <a:ext cx="210312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Semantic + App</a:t>
            </a:r>
            <a:endParaRPr lang="en-US" sz="950" dirty="0"/>
          </a:p>
        </p:txBody>
      </p:sp>
      <p:sp>
        <p:nvSpPr>
          <p:cNvPr id="15" name="Shape 13"/>
          <p:cNvSpPr/>
          <p:nvPr/>
        </p:nvSpPr>
        <p:spPr>
          <a:xfrm>
            <a:off x="9619488" y="2578608"/>
            <a:ext cx="2103120" cy="548640"/>
          </a:xfrm>
          <a:prstGeom prst="roundRect">
            <a:avLst>
              <a:gd name="adj" fmla="val 13333"/>
            </a:avLst>
          </a:prstGeom>
          <a:solidFill>
            <a:srgbClr val="0A3E6B"/>
          </a:solidFill>
          <a:ln w="19050">
            <a:solidFill>
              <a:srgbClr val="00EDED"/>
            </a:solidFill>
            <a:prstDash val="solid"/>
          </a:ln>
        </p:spPr>
      </p:sp>
      <p:sp>
        <p:nvSpPr>
          <p:cNvPr id="16" name="Text 14"/>
          <p:cNvSpPr/>
          <p:nvPr/>
        </p:nvSpPr>
        <p:spPr>
          <a:xfrm>
            <a:off x="9619488" y="2578608"/>
            <a:ext cx="210312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Validation</a:t>
            </a:r>
            <a:endParaRPr lang="en-US" sz="950" dirty="0"/>
          </a:p>
        </p:txBody>
      </p:sp>
      <p:sp>
        <p:nvSpPr>
          <p:cNvPr id="17" name="Text 15"/>
          <p:cNvSpPr/>
          <p:nvPr/>
        </p:nvSpPr>
        <p:spPr>
          <a:xfrm>
            <a:off x="548640" y="3346704"/>
            <a:ext cx="11091672" cy="256032"/>
          </a:xfrm>
          <a:prstGeom prst="rect">
            <a:avLst/>
          </a:prstGeom>
          <a:noFill/>
          <a:ln/>
        </p:spPr>
        <p:txBody>
          <a:bodyPr wrap="square" lIns="0" tIns="0" rIns="0" bIns="0" rtlCol="0" anchor="ctr"/>
          <a:lstStyle/>
          <a:p>
            <a:pPr indent="0" marL="0">
              <a:buNone/>
            </a:pPr>
            <a:r>
              <a:rPr lang="en-US" sz="1100" b="1" spc="180" kern="0" dirty="0">
                <a:solidFill>
                  <a:srgbClr val="00EDED"/>
                </a:solidFill>
                <a:latin typeface="Montserrat" pitchFamily="34" charset="0"/>
                <a:ea typeface="Montserrat" pitchFamily="34" charset="-122"/>
                <a:cs typeface="Montserrat" pitchFamily="34" charset="-120"/>
              </a:rPr>
              <a:t>WHERE IT GOES NEXT</a:t>
            </a:r>
            <a:endParaRPr lang="en-US" sz="1100" dirty="0"/>
          </a:p>
        </p:txBody>
      </p:sp>
      <p:sp>
        <p:nvSpPr>
          <p:cNvPr id="18" name="Shape 16"/>
          <p:cNvSpPr/>
          <p:nvPr/>
        </p:nvSpPr>
        <p:spPr>
          <a:xfrm>
            <a:off x="548640" y="3657600"/>
            <a:ext cx="2724912" cy="1426464"/>
          </a:xfrm>
          <a:prstGeom prst="roundRect">
            <a:avLst>
              <a:gd name="adj" fmla="val 5128"/>
            </a:avLst>
          </a:prstGeom>
          <a:solidFill>
            <a:srgbClr val="0A3E6B"/>
          </a:solidFill>
          <a:ln w="12700">
            <a:solidFill>
              <a:srgbClr val="17517F"/>
            </a:solidFill>
            <a:prstDash val="solid"/>
          </a:ln>
        </p:spPr>
      </p:sp>
      <p:sp>
        <p:nvSpPr>
          <p:cNvPr id="19" name="Shape 17"/>
          <p:cNvSpPr/>
          <p:nvPr/>
        </p:nvSpPr>
        <p:spPr>
          <a:xfrm>
            <a:off x="768096" y="3840480"/>
            <a:ext cx="347472" cy="347472"/>
          </a:xfrm>
          <a:prstGeom prst="ellipse">
            <a:avLst/>
          </a:prstGeom>
          <a:solidFill>
            <a:srgbClr val="00EDED"/>
          </a:solidFill>
          <a:ln/>
        </p:spPr>
      </p:sp>
      <p:sp>
        <p:nvSpPr>
          <p:cNvPr id="20" name="Text 18"/>
          <p:cNvSpPr/>
          <p:nvPr/>
        </p:nvSpPr>
        <p:spPr>
          <a:xfrm>
            <a:off x="768096" y="3890772"/>
            <a:ext cx="347472" cy="256032"/>
          </a:xfrm>
          <a:prstGeom prst="rect">
            <a:avLst/>
          </a:prstGeom>
          <a:noFill/>
          <a:ln/>
        </p:spPr>
        <p:txBody>
          <a:bodyPr wrap="square" lIns="0" tIns="0" rIns="0" bIns="0" rtlCol="0" anchor="ctr"/>
          <a:lstStyle/>
          <a:p>
            <a:pPr algn="ctr" indent="0" marL="0">
              <a:buNone/>
            </a:pPr>
            <a:r>
              <a:rPr lang="en-US" sz="1150" b="1" dirty="0">
                <a:solidFill>
                  <a:srgbClr val="053057"/>
                </a:solidFill>
                <a:latin typeface="Montserrat" pitchFamily="34" charset="0"/>
                <a:ea typeface="Montserrat" pitchFamily="34" charset="-122"/>
                <a:cs typeface="Montserrat" pitchFamily="34" charset="-120"/>
              </a:rPr>
              <a:t>1</a:t>
            </a:r>
            <a:endParaRPr lang="en-US" sz="1150" dirty="0"/>
          </a:p>
        </p:txBody>
      </p:sp>
      <p:sp>
        <p:nvSpPr>
          <p:cNvPr id="21" name="Text 19"/>
          <p:cNvSpPr/>
          <p:nvPr/>
        </p:nvSpPr>
        <p:spPr>
          <a:xfrm>
            <a:off x="768096" y="4242816"/>
            <a:ext cx="2286000" cy="384048"/>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Straight from Tableau Server</a:t>
            </a:r>
            <a:endParaRPr lang="en-US" sz="1100" dirty="0"/>
          </a:p>
        </p:txBody>
      </p:sp>
      <p:sp>
        <p:nvSpPr>
          <p:cNvPr id="22" name="Text 20"/>
          <p:cNvSpPr/>
          <p:nvPr/>
        </p:nvSpPr>
        <p:spPr>
          <a:xfrm>
            <a:off x="768096" y="4626864"/>
            <a:ext cx="2286000" cy="43891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Paste a dashboard link and the workbook is pulled in over the REST API — no file handling at all.</a:t>
            </a:r>
            <a:endParaRPr lang="en-US" sz="850" dirty="0"/>
          </a:p>
        </p:txBody>
      </p:sp>
      <p:sp>
        <p:nvSpPr>
          <p:cNvPr id="23" name="Shape 21"/>
          <p:cNvSpPr/>
          <p:nvPr/>
        </p:nvSpPr>
        <p:spPr>
          <a:xfrm>
            <a:off x="3502152" y="3657600"/>
            <a:ext cx="2724912" cy="1426464"/>
          </a:xfrm>
          <a:prstGeom prst="roundRect">
            <a:avLst>
              <a:gd name="adj" fmla="val 5128"/>
            </a:avLst>
          </a:prstGeom>
          <a:solidFill>
            <a:srgbClr val="0A3E6B"/>
          </a:solidFill>
          <a:ln w="12700">
            <a:solidFill>
              <a:srgbClr val="17517F"/>
            </a:solidFill>
            <a:prstDash val="solid"/>
          </a:ln>
        </p:spPr>
      </p:sp>
      <p:sp>
        <p:nvSpPr>
          <p:cNvPr id="24" name="Shape 22"/>
          <p:cNvSpPr/>
          <p:nvPr/>
        </p:nvSpPr>
        <p:spPr>
          <a:xfrm>
            <a:off x="3721608" y="3840480"/>
            <a:ext cx="347472" cy="347472"/>
          </a:xfrm>
          <a:prstGeom prst="ellipse">
            <a:avLst/>
          </a:prstGeom>
          <a:solidFill>
            <a:srgbClr val="00EDED"/>
          </a:solidFill>
          <a:ln/>
        </p:spPr>
      </p:sp>
      <p:sp>
        <p:nvSpPr>
          <p:cNvPr id="25" name="Text 23"/>
          <p:cNvSpPr/>
          <p:nvPr/>
        </p:nvSpPr>
        <p:spPr>
          <a:xfrm>
            <a:off x="3721608" y="3890772"/>
            <a:ext cx="347472" cy="256032"/>
          </a:xfrm>
          <a:prstGeom prst="rect">
            <a:avLst/>
          </a:prstGeom>
          <a:noFill/>
          <a:ln/>
        </p:spPr>
        <p:txBody>
          <a:bodyPr wrap="square" lIns="0" tIns="0" rIns="0" bIns="0" rtlCol="0" anchor="ctr"/>
          <a:lstStyle/>
          <a:p>
            <a:pPr algn="ctr" indent="0" marL="0">
              <a:buNone/>
            </a:pPr>
            <a:r>
              <a:rPr lang="en-US" sz="1150" b="1" dirty="0">
                <a:solidFill>
                  <a:srgbClr val="053057"/>
                </a:solidFill>
                <a:latin typeface="Montserrat" pitchFamily="34" charset="0"/>
                <a:ea typeface="Montserrat" pitchFamily="34" charset="-122"/>
                <a:cs typeface="Montserrat" pitchFamily="34" charset="-120"/>
              </a:rPr>
              <a:t>2</a:t>
            </a:r>
            <a:endParaRPr lang="en-US" sz="1150" dirty="0"/>
          </a:p>
        </p:txBody>
      </p:sp>
      <p:sp>
        <p:nvSpPr>
          <p:cNvPr id="26" name="Text 24"/>
          <p:cNvSpPr/>
          <p:nvPr/>
        </p:nvSpPr>
        <p:spPr>
          <a:xfrm>
            <a:off x="3721608" y="4242816"/>
            <a:ext cx="2286000" cy="384048"/>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Cortex validation, section by section</a:t>
            </a:r>
            <a:endParaRPr lang="en-US" sz="1100" dirty="0"/>
          </a:p>
        </p:txBody>
      </p:sp>
      <p:sp>
        <p:nvSpPr>
          <p:cNvPr id="27" name="Text 25"/>
          <p:cNvSpPr/>
          <p:nvPr/>
        </p:nvSpPr>
        <p:spPr>
          <a:xfrm>
            <a:off x="3721608" y="4626864"/>
            <a:ext cx="2286000" cy="43891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reads the source workbook and checks the migrated app tab by tab, not just measure by measure.</a:t>
            </a:r>
            <a:endParaRPr lang="en-US" sz="850" dirty="0"/>
          </a:p>
        </p:txBody>
      </p:sp>
      <p:sp>
        <p:nvSpPr>
          <p:cNvPr id="28" name="Shape 26"/>
          <p:cNvSpPr/>
          <p:nvPr/>
        </p:nvSpPr>
        <p:spPr>
          <a:xfrm>
            <a:off x="6455664" y="3657600"/>
            <a:ext cx="2724912" cy="1426464"/>
          </a:xfrm>
          <a:prstGeom prst="roundRect">
            <a:avLst>
              <a:gd name="adj" fmla="val 5128"/>
            </a:avLst>
          </a:prstGeom>
          <a:solidFill>
            <a:srgbClr val="0A3E6B"/>
          </a:solidFill>
          <a:ln w="12700">
            <a:solidFill>
              <a:srgbClr val="17517F"/>
            </a:solidFill>
            <a:prstDash val="solid"/>
          </a:ln>
        </p:spPr>
      </p:sp>
      <p:sp>
        <p:nvSpPr>
          <p:cNvPr id="29" name="Shape 27"/>
          <p:cNvSpPr/>
          <p:nvPr/>
        </p:nvSpPr>
        <p:spPr>
          <a:xfrm>
            <a:off x="6675120" y="3840480"/>
            <a:ext cx="347472" cy="347472"/>
          </a:xfrm>
          <a:prstGeom prst="ellipse">
            <a:avLst/>
          </a:prstGeom>
          <a:solidFill>
            <a:srgbClr val="00EDED"/>
          </a:solidFill>
          <a:ln/>
        </p:spPr>
      </p:sp>
      <p:sp>
        <p:nvSpPr>
          <p:cNvPr id="30" name="Text 28"/>
          <p:cNvSpPr/>
          <p:nvPr/>
        </p:nvSpPr>
        <p:spPr>
          <a:xfrm>
            <a:off x="6675120" y="3890772"/>
            <a:ext cx="347472" cy="256032"/>
          </a:xfrm>
          <a:prstGeom prst="rect">
            <a:avLst/>
          </a:prstGeom>
          <a:noFill/>
          <a:ln/>
        </p:spPr>
        <p:txBody>
          <a:bodyPr wrap="square" lIns="0" tIns="0" rIns="0" bIns="0" rtlCol="0" anchor="ctr"/>
          <a:lstStyle/>
          <a:p>
            <a:pPr algn="ctr" indent="0" marL="0">
              <a:buNone/>
            </a:pPr>
            <a:r>
              <a:rPr lang="en-US" sz="1150" b="1" dirty="0">
                <a:solidFill>
                  <a:srgbClr val="053057"/>
                </a:solidFill>
                <a:latin typeface="Montserrat" pitchFamily="34" charset="0"/>
                <a:ea typeface="Montserrat" pitchFamily="34" charset="-122"/>
                <a:cs typeface="Montserrat" pitchFamily="34" charset="-120"/>
              </a:rPr>
              <a:t>3</a:t>
            </a:r>
            <a:endParaRPr lang="en-US" sz="1150" dirty="0"/>
          </a:p>
        </p:txBody>
      </p:sp>
      <p:sp>
        <p:nvSpPr>
          <p:cNvPr id="31" name="Text 29"/>
          <p:cNvSpPr/>
          <p:nvPr/>
        </p:nvSpPr>
        <p:spPr>
          <a:xfrm>
            <a:off x="6675120" y="4242816"/>
            <a:ext cx="2286000" cy="384048"/>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Deploy from inside the tool</a:t>
            </a:r>
            <a:endParaRPr lang="en-US" sz="1100" dirty="0"/>
          </a:p>
        </p:txBody>
      </p:sp>
      <p:sp>
        <p:nvSpPr>
          <p:cNvPr id="32" name="Text 30"/>
          <p:cNvSpPr/>
          <p:nvPr/>
        </p:nvSpPr>
        <p:spPr>
          <a:xfrm>
            <a:off x="6675120" y="4626864"/>
            <a:ext cx="2286000" cy="43891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Review the result, then publish the finished app to Snowsight with a single action.</a:t>
            </a:r>
            <a:endParaRPr lang="en-US" sz="850" dirty="0"/>
          </a:p>
        </p:txBody>
      </p:sp>
      <p:sp>
        <p:nvSpPr>
          <p:cNvPr id="33" name="Shape 31"/>
          <p:cNvSpPr/>
          <p:nvPr/>
        </p:nvSpPr>
        <p:spPr>
          <a:xfrm>
            <a:off x="9409176" y="3657600"/>
            <a:ext cx="2724912" cy="1426464"/>
          </a:xfrm>
          <a:prstGeom prst="roundRect">
            <a:avLst>
              <a:gd name="adj" fmla="val 5128"/>
            </a:avLst>
          </a:prstGeom>
          <a:solidFill>
            <a:srgbClr val="0A3E6B"/>
          </a:solidFill>
          <a:ln w="12700">
            <a:solidFill>
              <a:srgbClr val="17517F"/>
            </a:solidFill>
            <a:prstDash val="solid"/>
          </a:ln>
        </p:spPr>
      </p:sp>
      <p:sp>
        <p:nvSpPr>
          <p:cNvPr id="34" name="Shape 32"/>
          <p:cNvSpPr/>
          <p:nvPr/>
        </p:nvSpPr>
        <p:spPr>
          <a:xfrm>
            <a:off x="9628632" y="3840480"/>
            <a:ext cx="347472" cy="347472"/>
          </a:xfrm>
          <a:prstGeom prst="ellipse">
            <a:avLst/>
          </a:prstGeom>
          <a:solidFill>
            <a:srgbClr val="00EDED"/>
          </a:solidFill>
          <a:ln/>
        </p:spPr>
      </p:sp>
      <p:sp>
        <p:nvSpPr>
          <p:cNvPr id="35" name="Text 33"/>
          <p:cNvSpPr/>
          <p:nvPr/>
        </p:nvSpPr>
        <p:spPr>
          <a:xfrm>
            <a:off x="9628632" y="3890772"/>
            <a:ext cx="347472" cy="256032"/>
          </a:xfrm>
          <a:prstGeom prst="rect">
            <a:avLst/>
          </a:prstGeom>
          <a:noFill/>
          <a:ln/>
        </p:spPr>
        <p:txBody>
          <a:bodyPr wrap="square" lIns="0" tIns="0" rIns="0" bIns="0" rtlCol="0" anchor="ctr"/>
          <a:lstStyle/>
          <a:p>
            <a:pPr algn="ctr" indent="0" marL="0">
              <a:buNone/>
            </a:pPr>
            <a:r>
              <a:rPr lang="en-US" sz="1150" b="1" dirty="0">
                <a:solidFill>
                  <a:srgbClr val="053057"/>
                </a:solidFill>
                <a:latin typeface="Montserrat" pitchFamily="34" charset="0"/>
                <a:ea typeface="Montserrat" pitchFamily="34" charset="-122"/>
                <a:cs typeface="Montserrat" pitchFamily="34" charset="-120"/>
              </a:rPr>
              <a:t>4</a:t>
            </a:r>
            <a:endParaRPr lang="en-US" sz="1150" dirty="0"/>
          </a:p>
        </p:txBody>
      </p:sp>
      <p:sp>
        <p:nvSpPr>
          <p:cNvPr id="36" name="Text 34"/>
          <p:cNvSpPr/>
          <p:nvPr/>
        </p:nvSpPr>
        <p:spPr>
          <a:xfrm>
            <a:off x="9628632" y="4242816"/>
            <a:ext cx="2286000" cy="384048"/>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Reuse tables already in Snowflake</a:t>
            </a:r>
            <a:endParaRPr lang="en-US" sz="1100" dirty="0"/>
          </a:p>
        </p:txBody>
      </p:sp>
      <p:sp>
        <p:nvSpPr>
          <p:cNvPr id="37" name="Text 35"/>
          <p:cNvSpPr/>
          <p:nvPr/>
        </p:nvSpPr>
        <p:spPr>
          <a:xfrm>
            <a:off x="9628632" y="4626864"/>
            <a:ext cx="2286000" cy="43891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Where the source data already lives in the account, point straight at it instead of loading it again.</a:t>
            </a:r>
            <a:endParaRPr lang="en-US" sz="850" dirty="0"/>
          </a:p>
        </p:txBody>
      </p:sp>
      <p:sp>
        <p:nvSpPr>
          <p:cNvPr id="38" name="Shape 36"/>
          <p:cNvSpPr/>
          <p:nvPr/>
        </p:nvSpPr>
        <p:spPr>
          <a:xfrm>
            <a:off x="548640" y="5248656"/>
            <a:ext cx="11091672" cy="822960"/>
          </a:xfrm>
          <a:prstGeom prst="roundRect">
            <a:avLst>
              <a:gd name="adj" fmla="val 8889"/>
            </a:avLst>
          </a:prstGeom>
          <a:solidFill>
            <a:srgbClr val="0A3E6B"/>
          </a:solidFill>
          <a:ln w="15875">
            <a:solidFill>
              <a:srgbClr val="00EDED"/>
            </a:solidFill>
            <a:prstDash val="solid"/>
          </a:ln>
        </p:spPr>
      </p:sp>
      <p:sp>
        <p:nvSpPr>
          <p:cNvPr id="39" name="Text 37"/>
          <p:cNvSpPr/>
          <p:nvPr/>
        </p:nvSpPr>
        <p:spPr>
          <a:xfrm>
            <a:off x="868680" y="5431536"/>
            <a:ext cx="10424160" cy="512064"/>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We would value your view.  </a:t>
            </a:r>
            <a:pPr indent="0" marL="0">
              <a:buNone/>
            </a:pPr>
            <a:r>
              <a:rPr lang="en-US" sz="1100" dirty="0">
                <a:solidFill>
                  <a:srgbClr val="D6E6F0"/>
                </a:solidFill>
                <a:latin typeface="Montserrat" pitchFamily="34" charset="0"/>
                <a:ea typeface="Montserrat" pitchFamily="34" charset="-122"/>
                <a:cs typeface="Montserrat" pitchFamily="34" charset="-120"/>
              </a:rPr>
              <a:t>Which Snowflake capabilities are worth leaning on harder, where this would be most useful in front of your customers, and what you would want to see before it goes anywhere near one.</a:t>
            </a:r>
            <a:endParaRPr lang="en-US" sz="1100" dirty="0"/>
          </a:p>
        </p:txBody>
      </p:sp>
      <p:sp>
        <p:nvSpPr>
          <p:cNvPr id="40" name="Shape 38"/>
          <p:cNvSpPr/>
          <p:nvPr/>
        </p:nvSpPr>
        <p:spPr>
          <a:xfrm>
            <a:off x="548640" y="6217920"/>
            <a:ext cx="11091672" cy="420624"/>
          </a:xfrm>
          <a:prstGeom prst="roundRect">
            <a:avLst>
              <a:gd name="adj" fmla="val 13043"/>
            </a:avLst>
          </a:prstGeom>
          <a:solidFill>
            <a:srgbClr val="0A3E6B"/>
          </a:solidFill>
          <a:ln w="12700">
            <a:solidFill>
              <a:srgbClr val="17517F"/>
            </a:solidFill>
            <a:prstDash val="solid"/>
          </a:ln>
        </p:spPr>
      </p:sp>
      <p:sp>
        <p:nvSpPr>
          <p:cNvPr id="41" name="Text 39"/>
          <p:cNvSpPr/>
          <p:nvPr/>
        </p:nvSpPr>
        <p:spPr>
          <a:xfrm>
            <a:off x="548640" y="6217920"/>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cp:lastModifiedBy>
  <cp:revision>1</cp:revision>
  <dcterms:created xsi:type="dcterms:W3CDTF">2026-07-23T09:25:02Z</dcterms:created>
  <dcterms:modified xsi:type="dcterms:W3CDTF">2026-07-23T09:25:02Z</dcterms:modified>
</cp:coreProperties>
</file>