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cost conversation. Three recurring costs: the licence, the specialist skill, and the second platform. The middle column is what most customers actually do — renew, hire more, and maintain both — which changes nothing. Only the third column removes the spend rather than moving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Cyan-bordered stages are where Cortex does the work — three of the five. Human-in-the-loop is an enterprise control, not a caveat: the AI proposes, it is proven against real data, a person signs it off, and the decision is audited. Mention assessment — a customer can see what a migration involves before committing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worked example — it makes Cortex's contribution concrete: a genuinely hard Tableau construct, the SQL Cortex produced, and the fact it was executed and checked against an independent ground truth before anyone accepted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arithmetic, not a claim — it is checkable on the spot at Tableau's published list pricing, and the audience can substitute the customer's real seat counts live. The shape is the argument: the licence recurs every year, the migration happens once. The closing bar is the sentence for this audience — an extract means Snowflake currently gets NO query workload from that dashboard, because Tableau's own engine serves it. After migration every single view is warehouse compute. That is the consumption swing, on top of the licence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from the Snowsight-hosted app so every stage is physically executing on Snowflake compute — nothing local but the browser tab. If anyone questions whether it is real, open Query History alongside and show the Cortex calls and CREATE SEMANTIC VIEW landing live. The prerequisites are deliberately short: the customer already has almost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All We Want Is Our Dashboards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Paying a second platform to display data Snowflake already stores and serves</a:t>
            </a:r>
            <a:endParaRPr lang="en-US" sz="1400" dirty="0"/>
          </a:p>
        </p:txBody>
      </p:sp>
      <p:sp>
        <p:nvSpPr>
          <p:cNvPr id="4" name="Text 2"/>
          <p:cNvSpPr/>
          <p:nvPr/>
        </p:nvSpPr>
        <p:spPr>
          <a:xfrm>
            <a:off x="548640" y="1243584"/>
            <a:ext cx="3575304" cy="256032"/>
          </a:xfrm>
          <a:prstGeom prst="rect">
            <a:avLst/>
          </a:prstGeom>
          <a:noFill/>
          <a:ln/>
        </p:spPr>
        <p:txBody>
          <a:bodyPr wrap="square" lIns="0" tIns="0" rIns="0" bIns="0" rtlCol="0" anchor="ctr"/>
          <a:lstStyle/>
          <a:p>
            <a:pPr indent="0" marL="0">
              <a:buNone/>
            </a:pPr>
            <a:r>
              <a:rPr lang="en-US" sz="1100" b="1" spc="160" kern="0" dirty="0">
                <a:solidFill>
                  <a:srgbClr val="6B7C88"/>
                </a:solidFill>
                <a:latin typeface="Montserrat" pitchFamily="34" charset="0"/>
                <a:ea typeface="Montserrat" pitchFamily="34" charset="-122"/>
                <a:cs typeface="Montserrat" pitchFamily="34" charset="-120"/>
              </a:rPr>
              <a:t>THE CHALLENGE</a:t>
            </a:r>
            <a:endParaRPr lang="en-US" sz="1100" dirty="0"/>
          </a:p>
        </p:txBody>
      </p:sp>
      <p:sp>
        <p:nvSpPr>
          <p:cNvPr id="5" name="Text 3"/>
          <p:cNvSpPr/>
          <p:nvPr/>
        </p:nvSpPr>
        <p:spPr>
          <a:xfrm>
            <a:off x="4306824" y="1243584"/>
            <a:ext cx="3575304" cy="256032"/>
          </a:xfrm>
          <a:prstGeom prst="rect">
            <a:avLst/>
          </a:prstGeom>
          <a:noFill/>
          <a:ln/>
        </p:spPr>
        <p:txBody>
          <a:bodyPr wrap="square" lIns="0" tIns="0" rIns="0" bIns="0" rtlCol="0" anchor="ctr"/>
          <a:lstStyle/>
          <a:p>
            <a:pPr indent="0" marL="0">
              <a:buNone/>
            </a:pPr>
            <a:r>
              <a:rPr lang="en-US" sz="1100" b="1" spc="160" kern="0" dirty="0">
                <a:solidFill>
                  <a:srgbClr val="6B7C88"/>
                </a:solidFill>
                <a:latin typeface="Montserrat" pitchFamily="34" charset="0"/>
                <a:ea typeface="Montserrat" pitchFamily="34" charset="-122"/>
                <a:cs typeface="Montserrat" pitchFamily="34" charset="-120"/>
              </a:rPr>
              <a:t>TRADITIONAL SOLUTION</a:t>
            </a:r>
            <a:endParaRPr lang="en-US" sz="1100" dirty="0"/>
          </a:p>
        </p:txBody>
      </p:sp>
      <p:sp>
        <p:nvSpPr>
          <p:cNvPr id="6" name="Text 4"/>
          <p:cNvSpPr/>
          <p:nvPr/>
        </p:nvSpPr>
        <p:spPr>
          <a:xfrm>
            <a:off x="8065008" y="1243584"/>
            <a:ext cx="3575304" cy="256032"/>
          </a:xfrm>
          <a:prstGeom prst="rect">
            <a:avLst/>
          </a:prstGeom>
          <a:noFill/>
          <a:ln/>
        </p:spPr>
        <p:txBody>
          <a:bodyPr wrap="square" lIns="0" tIns="0" rIns="0" bIns="0" rtlCol="0" anchor="ctr"/>
          <a:lstStyle/>
          <a:p>
            <a:pPr indent="0" marL="0">
              <a:buNone/>
            </a:pPr>
            <a:r>
              <a:rPr lang="en-US" sz="1100" b="1" spc="160" kern="0" dirty="0">
                <a:solidFill>
                  <a:srgbClr val="053057"/>
                </a:solidFill>
                <a:latin typeface="Montserrat" pitchFamily="34" charset="0"/>
                <a:ea typeface="Montserrat" pitchFamily="34" charset="-122"/>
                <a:cs typeface="Montserrat" pitchFamily="34" charset="-120"/>
              </a:rPr>
              <a:t>THE ACCELERATOR</a:t>
            </a:r>
            <a:endParaRPr lang="en-US" sz="1100" dirty="0"/>
          </a:p>
        </p:txBody>
      </p:sp>
      <p:sp>
        <p:nvSpPr>
          <p:cNvPr id="7" name="Shape 5"/>
          <p:cNvSpPr/>
          <p:nvPr/>
        </p:nvSpPr>
        <p:spPr>
          <a:xfrm>
            <a:off x="548640" y="1554480"/>
            <a:ext cx="3575304" cy="1316736"/>
          </a:xfrm>
          <a:prstGeom prst="roundRect">
            <a:avLst>
              <a:gd name="adj" fmla="val 5556"/>
            </a:avLst>
          </a:prstGeom>
          <a:solidFill>
            <a:srgbClr val="FFFFFF"/>
          </a:solidFill>
          <a:ln w="12700">
            <a:solidFill>
              <a:srgbClr val="DFE3E6"/>
            </a:solidFill>
            <a:prstDash val="solid"/>
          </a:ln>
        </p:spPr>
      </p:sp>
      <p:sp>
        <p:nvSpPr>
          <p:cNvPr id="8" name="Text 6"/>
          <p:cNvSpPr/>
          <p:nvPr/>
        </p:nvSpPr>
        <p:spPr>
          <a:xfrm>
            <a:off x="786384" y="1719072"/>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Licences on top of Snowflake</a:t>
            </a:r>
            <a:endParaRPr lang="en-US" sz="1250" dirty="0"/>
          </a:p>
        </p:txBody>
      </p:sp>
      <p:sp>
        <p:nvSpPr>
          <p:cNvPr id="9" name="Text 7"/>
          <p:cNvSpPr/>
          <p:nvPr/>
        </p:nvSpPr>
        <p:spPr>
          <a:xfrm>
            <a:off x="786384" y="2121408"/>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Creator and viewer licences billed per user, every year, for a presentation layer sitting on data Snowflake already holds.</a:t>
            </a:r>
            <a:endParaRPr lang="en-US" sz="950" dirty="0"/>
          </a:p>
        </p:txBody>
      </p:sp>
      <p:sp>
        <p:nvSpPr>
          <p:cNvPr id="10" name="Shape 8"/>
          <p:cNvSpPr/>
          <p:nvPr/>
        </p:nvSpPr>
        <p:spPr>
          <a:xfrm>
            <a:off x="4306824" y="1554480"/>
            <a:ext cx="3575304" cy="1316736"/>
          </a:xfrm>
          <a:prstGeom prst="roundRect">
            <a:avLst>
              <a:gd name="adj" fmla="val 5556"/>
            </a:avLst>
          </a:prstGeom>
          <a:solidFill>
            <a:srgbClr val="FFFFFF"/>
          </a:solidFill>
          <a:ln w="12700">
            <a:solidFill>
              <a:srgbClr val="DFE3E6"/>
            </a:solidFill>
            <a:prstDash val="solid"/>
          </a:ln>
        </p:spPr>
      </p:sp>
      <p:sp>
        <p:nvSpPr>
          <p:cNvPr id="11" name="Text 9"/>
          <p:cNvSpPr/>
          <p:nvPr/>
        </p:nvSpPr>
        <p:spPr>
          <a:xfrm>
            <a:off x="4544568" y="1719072"/>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Renew, and keep paying</a:t>
            </a:r>
            <a:endParaRPr lang="en-US" sz="1250" dirty="0"/>
          </a:p>
        </p:txBody>
      </p:sp>
      <p:sp>
        <p:nvSpPr>
          <p:cNvPr id="12" name="Text 10"/>
          <p:cNvSpPr/>
          <p:nvPr/>
        </p:nvSpPr>
        <p:spPr>
          <a:xfrm>
            <a:off x="4544568" y="2121408"/>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The licence renews because the dashboards live there. Cost grows with every viewer added.</a:t>
            </a:r>
            <a:endParaRPr lang="en-US" sz="950" dirty="0"/>
          </a:p>
        </p:txBody>
      </p:sp>
      <p:sp>
        <p:nvSpPr>
          <p:cNvPr id="13" name="Shape 11"/>
          <p:cNvSpPr/>
          <p:nvPr/>
        </p:nvSpPr>
        <p:spPr>
          <a:xfrm>
            <a:off x="8065008" y="1554480"/>
            <a:ext cx="3575304" cy="1316736"/>
          </a:xfrm>
          <a:prstGeom prst="roundRect">
            <a:avLst>
              <a:gd name="adj" fmla="val 5556"/>
            </a:avLst>
          </a:prstGeom>
          <a:solidFill>
            <a:srgbClr val="053057"/>
          </a:solidFill>
          <a:ln w="12700">
            <a:solidFill>
              <a:srgbClr val="053057"/>
            </a:solidFill>
            <a:prstDash val="solid"/>
          </a:ln>
        </p:spPr>
      </p:sp>
      <p:sp>
        <p:nvSpPr>
          <p:cNvPr id="14" name="Shape 12"/>
          <p:cNvSpPr/>
          <p:nvPr/>
        </p:nvSpPr>
        <p:spPr>
          <a:xfrm>
            <a:off x="8302752" y="1773936"/>
            <a:ext cx="237744" cy="237744"/>
          </a:xfrm>
          <a:prstGeom prst="ellipse">
            <a:avLst/>
          </a:prstGeom>
          <a:solidFill>
            <a:srgbClr val="00EDED"/>
          </a:solidFill>
          <a:ln/>
        </p:spPr>
      </p:sp>
      <p:sp>
        <p:nvSpPr>
          <p:cNvPr id="15" name="Text 13"/>
          <p:cNvSpPr/>
          <p:nvPr/>
        </p:nvSpPr>
        <p:spPr>
          <a:xfrm>
            <a:off x="8631936" y="1719072"/>
            <a:ext cx="2770632" cy="347472"/>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Dashboards move to what you own</a:t>
            </a:r>
            <a:endParaRPr lang="en-US" sz="1250" dirty="0"/>
          </a:p>
        </p:txBody>
      </p:sp>
      <p:sp>
        <p:nvSpPr>
          <p:cNvPr id="16" name="Text 14"/>
          <p:cNvSpPr/>
          <p:nvPr/>
        </p:nvSpPr>
        <p:spPr>
          <a:xfrm>
            <a:off x="8302752" y="2121408"/>
            <a:ext cx="3099816" cy="65836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is already part of Snowflake. The same dashboards run with no BI licence underneath them.</a:t>
            </a:r>
            <a:endParaRPr lang="en-US" sz="950" dirty="0"/>
          </a:p>
        </p:txBody>
      </p:sp>
      <p:sp>
        <p:nvSpPr>
          <p:cNvPr id="17" name="Shape 15"/>
          <p:cNvSpPr/>
          <p:nvPr/>
        </p:nvSpPr>
        <p:spPr>
          <a:xfrm>
            <a:off x="548640" y="2990088"/>
            <a:ext cx="3575304" cy="1316736"/>
          </a:xfrm>
          <a:prstGeom prst="roundRect">
            <a:avLst>
              <a:gd name="adj" fmla="val 5556"/>
            </a:avLst>
          </a:prstGeom>
          <a:solidFill>
            <a:srgbClr val="FFFFFF"/>
          </a:solidFill>
          <a:ln w="12700">
            <a:solidFill>
              <a:srgbClr val="DFE3E6"/>
            </a:solidFill>
            <a:prstDash val="solid"/>
          </a:ln>
        </p:spPr>
      </p:sp>
      <p:sp>
        <p:nvSpPr>
          <p:cNvPr id="18" name="Text 16"/>
          <p:cNvSpPr/>
          <p:nvPr/>
        </p:nvSpPr>
        <p:spPr>
          <a:xfrm>
            <a:off x="786384" y="3154680"/>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specialist skill to hire for</a:t>
            </a:r>
            <a:endParaRPr lang="en-US" sz="1250" dirty="0"/>
          </a:p>
        </p:txBody>
      </p:sp>
      <p:sp>
        <p:nvSpPr>
          <p:cNvPr id="19" name="Text 17"/>
          <p:cNvSpPr/>
          <p:nvPr/>
        </p:nvSpPr>
        <p:spPr>
          <a:xfrm>
            <a:off x="786384" y="3557016"/>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Tableau development is its own discipline — its own hiring line, contractors, and a handoff on every model change.</a:t>
            </a:r>
            <a:endParaRPr lang="en-US" sz="950" dirty="0"/>
          </a:p>
        </p:txBody>
      </p:sp>
      <p:sp>
        <p:nvSpPr>
          <p:cNvPr id="20" name="Shape 18"/>
          <p:cNvSpPr/>
          <p:nvPr/>
        </p:nvSpPr>
        <p:spPr>
          <a:xfrm>
            <a:off x="4306824" y="2990088"/>
            <a:ext cx="3575304" cy="1316736"/>
          </a:xfrm>
          <a:prstGeom prst="roundRect">
            <a:avLst>
              <a:gd name="adj" fmla="val 5556"/>
            </a:avLst>
          </a:prstGeom>
          <a:solidFill>
            <a:srgbClr val="FFFFFF"/>
          </a:solidFill>
          <a:ln w="12700">
            <a:solidFill>
              <a:srgbClr val="DFE3E6"/>
            </a:solidFill>
            <a:prstDash val="solid"/>
          </a:ln>
        </p:spPr>
      </p:sp>
      <p:sp>
        <p:nvSpPr>
          <p:cNvPr id="21" name="Text 19"/>
          <p:cNvSpPr/>
          <p:nvPr/>
        </p:nvSpPr>
        <p:spPr>
          <a:xfrm>
            <a:off x="4544568" y="3154680"/>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Hire or contract more of it</a:t>
            </a:r>
            <a:endParaRPr lang="en-US" sz="1250" dirty="0"/>
          </a:p>
        </p:txBody>
      </p:sp>
      <p:sp>
        <p:nvSpPr>
          <p:cNvPr id="22" name="Text 20"/>
          <p:cNvSpPr/>
          <p:nvPr/>
        </p:nvSpPr>
        <p:spPr>
          <a:xfrm>
            <a:off x="4544568" y="3557016"/>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Capacity is bought in and the dependency deepens with each new dashboard.</a:t>
            </a:r>
            <a:endParaRPr lang="en-US" sz="950" dirty="0"/>
          </a:p>
        </p:txBody>
      </p:sp>
      <p:sp>
        <p:nvSpPr>
          <p:cNvPr id="23" name="Shape 21"/>
          <p:cNvSpPr/>
          <p:nvPr/>
        </p:nvSpPr>
        <p:spPr>
          <a:xfrm>
            <a:off x="8065008" y="2990088"/>
            <a:ext cx="3575304" cy="1316736"/>
          </a:xfrm>
          <a:prstGeom prst="roundRect">
            <a:avLst>
              <a:gd name="adj" fmla="val 5556"/>
            </a:avLst>
          </a:prstGeom>
          <a:solidFill>
            <a:srgbClr val="053057"/>
          </a:solidFill>
          <a:ln w="12700">
            <a:solidFill>
              <a:srgbClr val="053057"/>
            </a:solidFill>
            <a:prstDash val="solid"/>
          </a:ln>
        </p:spPr>
      </p:sp>
      <p:sp>
        <p:nvSpPr>
          <p:cNvPr id="24" name="Shape 22"/>
          <p:cNvSpPr/>
          <p:nvPr/>
        </p:nvSpPr>
        <p:spPr>
          <a:xfrm>
            <a:off x="8302752" y="3209544"/>
            <a:ext cx="237744" cy="237744"/>
          </a:xfrm>
          <a:prstGeom prst="ellipse">
            <a:avLst/>
          </a:prstGeom>
          <a:solidFill>
            <a:srgbClr val="00EDED"/>
          </a:solidFill>
          <a:ln/>
        </p:spPr>
      </p:sp>
      <p:sp>
        <p:nvSpPr>
          <p:cNvPr id="25" name="Text 23"/>
          <p:cNvSpPr/>
          <p:nvPr/>
        </p:nvSpPr>
        <p:spPr>
          <a:xfrm>
            <a:off x="8631936" y="3154680"/>
            <a:ext cx="2770632" cy="347472"/>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Your data team already has it</a:t>
            </a:r>
            <a:endParaRPr lang="en-US" sz="1250" dirty="0"/>
          </a:p>
        </p:txBody>
      </p:sp>
      <p:sp>
        <p:nvSpPr>
          <p:cNvPr id="26" name="Text 24"/>
          <p:cNvSpPr/>
          <p:nvPr/>
        </p:nvSpPr>
        <p:spPr>
          <a:xfrm>
            <a:off x="8302752" y="3557016"/>
            <a:ext cx="3099816" cy="65836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is Python. The engineers already on the platform own the whole path, table to dashboard.</a:t>
            </a:r>
            <a:endParaRPr lang="en-US" sz="950" dirty="0"/>
          </a:p>
        </p:txBody>
      </p:sp>
      <p:sp>
        <p:nvSpPr>
          <p:cNvPr id="27" name="Shape 25"/>
          <p:cNvSpPr/>
          <p:nvPr/>
        </p:nvSpPr>
        <p:spPr>
          <a:xfrm>
            <a:off x="548640" y="4425696"/>
            <a:ext cx="3575304" cy="1316736"/>
          </a:xfrm>
          <a:prstGeom prst="roundRect">
            <a:avLst>
              <a:gd name="adj" fmla="val 5556"/>
            </a:avLst>
          </a:prstGeom>
          <a:solidFill>
            <a:srgbClr val="FFFFFF"/>
          </a:solidFill>
          <a:ln w="12700">
            <a:solidFill>
              <a:srgbClr val="DFE3E6"/>
            </a:solidFill>
            <a:prstDash val="solid"/>
          </a:ln>
        </p:spPr>
      </p:sp>
      <p:sp>
        <p:nvSpPr>
          <p:cNvPr id="28" name="Text 26"/>
          <p:cNvSpPr/>
          <p:nvPr/>
        </p:nvSpPr>
        <p:spPr>
          <a:xfrm>
            <a:off x="786384" y="4590288"/>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second platform to run</a:t>
            </a:r>
            <a:endParaRPr lang="en-US" sz="1250" dirty="0"/>
          </a:p>
        </p:txBody>
      </p:sp>
      <p:sp>
        <p:nvSpPr>
          <p:cNvPr id="29" name="Text 27"/>
          <p:cNvSpPr/>
          <p:nvPr/>
        </p:nvSpPr>
        <p:spPr>
          <a:xfrm>
            <a:off x="786384" y="4992624"/>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Another environment to host, upgrade and support, with access rules re-implemented away from the data.</a:t>
            </a:r>
            <a:endParaRPr lang="en-US" sz="950" dirty="0"/>
          </a:p>
        </p:txBody>
      </p:sp>
      <p:sp>
        <p:nvSpPr>
          <p:cNvPr id="30" name="Shape 28"/>
          <p:cNvSpPr/>
          <p:nvPr/>
        </p:nvSpPr>
        <p:spPr>
          <a:xfrm>
            <a:off x="4306824" y="4425696"/>
            <a:ext cx="3575304" cy="1316736"/>
          </a:xfrm>
          <a:prstGeom prst="roundRect">
            <a:avLst>
              <a:gd name="adj" fmla="val 5556"/>
            </a:avLst>
          </a:prstGeom>
          <a:solidFill>
            <a:srgbClr val="FFFFFF"/>
          </a:solidFill>
          <a:ln w="12700">
            <a:solidFill>
              <a:srgbClr val="DFE3E6"/>
            </a:solidFill>
            <a:prstDash val="solid"/>
          </a:ln>
        </p:spPr>
      </p:sp>
      <p:sp>
        <p:nvSpPr>
          <p:cNvPr id="31" name="Text 29"/>
          <p:cNvSpPr/>
          <p:nvPr/>
        </p:nvSpPr>
        <p:spPr>
          <a:xfrm>
            <a:off x="4544568" y="4590288"/>
            <a:ext cx="3099816" cy="347472"/>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Maintain both, indefinitely</a:t>
            </a:r>
            <a:endParaRPr lang="en-US" sz="1250" dirty="0"/>
          </a:p>
        </p:txBody>
      </p:sp>
      <p:sp>
        <p:nvSpPr>
          <p:cNvPr id="32" name="Text 30"/>
          <p:cNvSpPr/>
          <p:nvPr/>
        </p:nvSpPr>
        <p:spPr>
          <a:xfrm>
            <a:off x="4544568" y="4992624"/>
            <a:ext cx="3099816" cy="658368"/>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Two platforms, two governance models, two support lines, permanently.</a:t>
            </a:r>
            <a:endParaRPr lang="en-US" sz="950" dirty="0"/>
          </a:p>
        </p:txBody>
      </p:sp>
      <p:sp>
        <p:nvSpPr>
          <p:cNvPr id="33" name="Shape 31"/>
          <p:cNvSpPr/>
          <p:nvPr/>
        </p:nvSpPr>
        <p:spPr>
          <a:xfrm>
            <a:off x="8065008" y="4425696"/>
            <a:ext cx="3575304" cy="1316736"/>
          </a:xfrm>
          <a:prstGeom prst="roundRect">
            <a:avLst>
              <a:gd name="adj" fmla="val 5556"/>
            </a:avLst>
          </a:prstGeom>
          <a:solidFill>
            <a:srgbClr val="053057"/>
          </a:solidFill>
          <a:ln w="12700">
            <a:solidFill>
              <a:srgbClr val="053057"/>
            </a:solidFill>
            <a:prstDash val="solid"/>
          </a:ln>
        </p:spPr>
      </p:sp>
      <p:sp>
        <p:nvSpPr>
          <p:cNvPr id="34" name="Shape 32"/>
          <p:cNvSpPr/>
          <p:nvPr/>
        </p:nvSpPr>
        <p:spPr>
          <a:xfrm>
            <a:off x="8302752" y="4645152"/>
            <a:ext cx="237744" cy="237744"/>
          </a:xfrm>
          <a:prstGeom prst="ellipse">
            <a:avLst/>
          </a:prstGeom>
          <a:solidFill>
            <a:srgbClr val="00EDED"/>
          </a:solidFill>
          <a:ln/>
        </p:spPr>
      </p:sp>
      <p:sp>
        <p:nvSpPr>
          <p:cNvPr id="35" name="Text 33"/>
          <p:cNvSpPr/>
          <p:nvPr/>
        </p:nvSpPr>
        <p:spPr>
          <a:xfrm>
            <a:off x="8631936" y="4590288"/>
            <a:ext cx="2770632" cy="347472"/>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One platform, one set of roles</a:t>
            </a:r>
            <a:endParaRPr lang="en-US" sz="1250" dirty="0"/>
          </a:p>
        </p:txBody>
      </p:sp>
      <p:sp>
        <p:nvSpPr>
          <p:cNvPr id="36" name="Text 34"/>
          <p:cNvSpPr/>
          <p:nvPr/>
        </p:nvSpPr>
        <p:spPr>
          <a:xfrm>
            <a:off x="8302752" y="4992624"/>
            <a:ext cx="3099816" cy="65836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Serverless inside Snowflake, governed by the roles already managed there.</a:t>
            </a:r>
            <a:endParaRPr lang="en-US" sz="950" dirty="0"/>
          </a:p>
        </p:txBody>
      </p:sp>
      <p:sp>
        <p:nvSpPr>
          <p:cNvPr id="37" name="Shape 35"/>
          <p:cNvSpPr/>
          <p:nvPr/>
        </p:nvSpPr>
        <p:spPr>
          <a:xfrm>
            <a:off x="548640" y="5870448"/>
            <a:ext cx="11091672" cy="731520"/>
          </a:xfrm>
          <a:prstGeom prst="roundRect">
            <a:avLst>
              <a:gd name="adj" fmla="val 10000"/>
            </a:avLst>
          </a:prstGeom>
          <a:solidFill>
            <a:srgbClr val="053057"/>
          </a:solidFill>
          <a:ln w="15875">
            <a:solidFill>
              <a:srgbClr val="00EDED"/>
            </a:solidFill>
            <a:prstDash val="solid"/>
          </a:ln>
        </p:spPr>
      </p:sp>
      <p:sp>
        <p:nvSpPr>
          <p:cNvPr id="38" name="Text 36"/>
          <p:cNvSpPr/>
          <p:nvPr/>
        </p:nvSpPr>
        <p:spPr>
          <a:xfrm>
            <a:off x="841248" y="5980176"/>
            <a:ext cx="10515600" cy="530352"/>
          </a:xfrm>
          <a:prstGeom prst="rect">
            <a:avLst/>
          </a:prstGeom>
          <a:noFill/>
          <a:ln/>
        </p:spPr>
        <p:txBody>
          <a:bodyPr wrap="square" lIns="0" tIns="0" rIns="0" bIns="0" rtlCol="0" anchor="ctr"/>
          <a:lstStyle/>
          <a:p>
            <a:pPr indent="0" marL="0">
              <a:buNone/>
            </a:pPr>
            <a:r>
              <a:rPr lang="en-US" sz="1050" b="1" dirty="0">
                <a:solidFill>
                  <a:srgbClr val="00EDED"/>
                </a:solidFill>
                <a:latin typeface="Montserrat" pitchFamily="34" charset="0"/>
                <a:ea typeface="Montserrat" pitchFamily="34" charset="-122"/>
                <a:cs typeface="Montserrat" pitchFamily="34" charset="-120"/>
              </a:rPr>
              <a:t>The dashboards were never the problem — the platform underneath them was.  </a:t>
            </a:r>
            <a:pPr indent="0" marL="0">
              <a:buNone/>
            </a:pPr>
            <a:r>
              <a:rPr lang="en-US" sz="1050" dirty="0">
                <a:solidFill>
                  <a:srgbClr val="D6E6F0"/>
                </a:solidFill>
                <a:latin typeface="Montserrat" pitchFamily="34" charset="0"/>
                <a:ea typeface="Montserrat" pitchFamily="34" charset="-122"/>
                <a:cs typeface="Montserrat" pitchFamily="34" charset="-120"/>
              </a:rPr>
              <a:t>Snowflake already stores the data, runs every query, and now hosts the dashboards and the AI as well. The one thing that kept the BI tool in place was the cost of rebuilding what it holds.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AI-Accelerated Migration, With Human Oversight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Five stages, executing inside the customer's own Snowflake account</a:t>
            </a:r>
            <a:endParaRPr lang="en-US" sz="1400" dirty="0"/>
          </a:p>
        </p:txBody>
      </p:sp>
      <p:sp>
        <p:nvSpPr>
          <p:cNvPr id="4" name="Shape 2"/>
          <p:cNvSpPr/>
          <p:nvPr/>
        </p:nvSpPr>
        <p:spPr>
          <a:xfrm>
            <a:off x="548640" y="1225296"/>
            <a:ext cx="2103120" cy="2048256"/>
          </a:xfrm>
          <a:prstGeom prst="roundRect">
            <a:avLst>
              <a:gd name="adj" fmla="val 3571"/>
            </a:avLst>
          </a:prstGeom>
          <a:solidFill>
            <a:srgbClr val="0A3E6B"/>
          </a:solidFill>
          <a:ln w="12700">
            <a:solidFill>
              <a:srgbClr val="17517F"/>
            </a:solidFill>
            <a:prstDash val="solid"/>
          </a:ln>
        </p:spPr>
      </p:sp>
      <p:sp>
        <p:nvSpPr>
          <p:cNvPr id="5" name="Text 3"/>
          <p:cNvSpPr/>
          <p:nvPr/>
        </p:nvSpPr>
        <p:spPr>
          <a:xfrm>
            <a:off x="731520"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1</a:t>
            </a:r>
            <a:endParaRPr lang="en-US" sz="900" dirty="0"/>
          </a:p>
        </p:txBody>
      </p:sp>
      <p:sp>
        <p:nvSpPr>
          <p:cNvPr id="6" name="Text 4"/>
          <p:cNvSpPr/>
          <p:nvPr/>
        </p:nvSpPr>
        <p:spPr>
          <a:xfrm>
            <a:off x="731520"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Discovery</a:t>
            </a:r>
            <a:endParaRPr lang="en-US" sz="1300" dirty="0"/>
          </a:p>
        </p:txBody>
      </p:sp>
      <p:sp>
        <p:nvSpPr>
          <p:cNvPr id="7" name="Text 5"/>
          <p:cNvSpPr/>
          <p:nvPr/>
        </p:nvSpPr>
        <p:spPr>
          <a:xfrm>
            <a:off x="731520"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850" dirty="0"/>
          </a:p>
        </p:txBody>
      </p:sp>
      <p:sp>
        <p:nvSpPr>
          <p:cNvPr id="8" name="Shape 6"/>
          <p:cNvSpPr/>
          <p:nvPr/>
        </p:nvSpPr>
        <p:spPr>
          <a:xfrm>
            <a:off x="2816352" y="1225296"/>
            <a:ext cx="2103120" cy="2048256"/>
          </a:xfrm>
          <a:prstGeom prst="roundRect">
            <a:avLst>
              <a:gd name="adj" fmla="val 3571"/>
            </a:avLst>
          </a:prstGeom>
          <a:solidFill>
            <a:srgbClr val="0A3E6B"/>
          </a:solidFill>
          <a:ln w="12700">
            <a:solidFill>
              <a:srgbClr val="17517F"/>
            </a:solidFill>
            <a:prstDash val="solid"/>
          </a:ln>
        </p:spPr>
      </p:sp>
      <p:sp>
        <p:nvSpPr>
          <p:cNvPr id="9" name="Text 7"/>
          <p:cNvSpPr/>
          <p:nvPr/>
        </p:nvSpPr>
        <p:spPr>
          <a:xfrm>
            <a:off x="2999232"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2</a:t>
            </a:r>
            <a:endParaRPr lang="en-US" sz="900" dirty="0"/>
          </a:p>
        </p:txBody>
      </p:sp>
      <p:sp>
        <p:nvSpPr>
          <p:cNvPr id="10" name="Text 8"/>
          <p:cNvSpPr/>
          <p:nvPr/>
        </p:nvSpPr>
        <p:spPr>
          <a:xfrm>
            <a:off x="2999232"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Model Extraction</a:t>
            </a:r>
            <a:endParaRPr lang="en-US" sz="1300" dirty="0"/>
          </a:p>
        </p:txBody>
      </p:sp>
      <p:sp>
        <p:nvSpPr>
          <p:cNvPr id="11" name="Text 9"/>
          <p:cNvSpPr/>
          <p:nvPr/>
        </p:nvSpPr>
        <p:spPr>
          <a:xfrm>
            <a:off x="2999232"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850" dirty="0"/>
          </a:p>
        </p:txBody>
      </p:sp>
      <p:sp>
        <p:nvSpPr>
          <p:cNvPr id="12" name="Shape 10"/>
          <p:cNvSpPr/>
          <p:nvPr/>
        </p:nvSpPr>
        <p:spPr>
          <a:xfrm>
            <a:off x="5084064" y="1225296"/>
            <a:ext cx="2103120" cy="2048256"/>
          </a:xfrm>
          <a:prstGeom prst="roundRect">
            <a:avLst>
              <a:gd name="adj" fmla="val 3571"/>
            </a:avLst>
          </a:prstGeom>
          <a:solidFill>
            <a:srgbClr val="0A3E6B"/>
          </a:solidFill>
          <a:ln w="19050">
            <a:solidFill>
              <a:srgbClr val="00EDED"/>
            </a:solidFill>
            <a:prstDash val="solid"/>
          </a:ln>
        </p:spPr>
      </p:sp>
      <p:sp>
        <p:nvSpPr>
          <p:cNvPr id="13" name="Text 11"/>
          <p:cNvSpPr/>
          <p:nvPr/>
        </p:nvSpPr>
        <p:spPr>
          <a:xfrm>
            <a:off x="5266944"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3</a:t>
            </a:r>
            <a:endParaRPr lang="en-US" sz="900" dirty="0"/>
          </a:p>
        </p:txBody>
      </p:sp>
      <p:sp>
        <p:nvSpPr>
          <p:cNvPr id="14" name="Text 12"/>
          <p:cNvSpPr/>
          <p:nvPr/>
        </p:nvSpPr>
        <p:spPr>
          <a:xfrm>
            <a:off x="5266944"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Translation</a:t>
            </a:r>
            <a:endParaRPr lang="en-US" sz="1300" dirty="0"/>
          </a:p>
        </p:txBody>
      </p:sp>
      <p:sp>
        <p:nvSpPr>
          <p:cNvPr id="15" name="Text 13"/>
          <p:cNvSpPr/>
          <p:nvPr/>
        </p:nvSpPr>
        <p:spPr>
          <a:xfrm>
            <a:off x="5266944"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850" dirty="0"/>
          </a:p>
        </p:txBody>
      </p:sp>
      <p:sp>
        <p:nvSpPr>
          <p:cNvPr id="16" name="Shape 14"/>
          <p:cNvSpPr/>
          <p:nvPr/>
        </p:nvSpPr>
        <p:spPr>
          <a:xfrm>
            <a:off x="7351776" y="1225296"/>
            <a:ext cx="2103120" cy="2048256"/>
          </a:xfrm>
          <a:prstGeom prst="roundRect">
            <a:avLst>
              <a:gd name="adj" fmla="val 3571"/>
            </a:avLst>
          </a:prstGeom>
          <a:solidFill>
            <a:srgbClr val="0A3E6B"/>
          </a:solidFill>
          <a:ln w="19050">
            <a:solidFill>
              <a:srgbClr val="00EDED"/>
            </a:solidFill>
            <a:prstDash val="solid"/>
          </a:ln>
        </p:spPr>
      </p:sp>
      <p:sp>
        <p:nvSpPr>
          <p:cNvPr id="17" name="Text 15"/>
          <p:cNvSpPr/>
          <p:nvPr/>
        </p:nvSpPr>
        <p:spPr>
          <a:xfrm>
            <a:off x="7534656"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4</a:t>
            </a:r>
            <a:endParaRPr lang="en-US" sz="900" dirty="0"/>
          </a:p>
        </p:txBody>
      </p:sp>
      <p:sp>
        <p:nvSpPr>
          <p:cNvPr id="18" name="Text 16"/>
          <p:cNvSpPr/>
          <p:nvPr/>
        </p:nvSpPr>
        <p:spPr>
          <a:xfrm>
            <a:off x="7534656"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Semantic + App</a:t>
            </a:r>
            <a:endParaRPr lang="en-US" sz="1300" dirty="0"/>
          </a:p>
        </p:txBody>
      </p:sp>
      <p:sp>
        <p:nvSpPr>
          <p:cNvPr id="19" name="Text 17"/>
          <p:cNvSpPr/>
          <p:nvPr/>
        </p:nvSpPr>
        <p:spPr>
          <a:xfrm>
            <a:off x="7534656"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850" dirty="0"/>
          </a:p>
        </p:txBody>
      </p:sp>
      <p:sp>
        <p:nvSpPr>
          <p:cNvPr id="20" name="Shape 18"/>
          <p:cNvSpPr/>
          <p:nvPr/>
        </p:nvSpPr>
        <p:spPr>
          <a:xfrm>
            <a:off x="9619488" y="1225296"/>
            <a:ext cx="2103120" cy="2048256"/>
          </a:xfrm>
          <a:prstGeom prst="roundRect">
            <a:avLst>
              <a:gd name="adj" fmla="val 3571"/>
            </a:avLst>
          </a:prstGeom>
          <a:solidFill>
            <a:srgbClr val="0A3E6B"/>
          </a:solidFill>
          <a:ln w="19050">
            <a:solidFill>
              <a:srgbClr val="00EDED"/>
            </a:solidFill>
            <a:prstDash val="solid"/>
          </a:ln>
        </p:spPr>
      </p:sp>
      <p:sp>
        <p:nvSpPr>
          <p:cNvPr id="21" name="Text 19"/>
          <p:cNvSpPr/>
          <p:nvPr/>
        </p:nvSpPr>
        <p:spPr>
          <a:xfrm>
            <a:off x="9802368"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5</a:t>
            </a:r>
            <a:endParaRPr lang="en-US" sz="900" dirty="0"/>
          </a:p>
        </p:txBody>
      </p:sp>
      <p:sp>
        <p:nvSpPr>
          <p:cNvPr id="22" name="Text 20"/>
          <p:cNvSpPr/>
          <p:nvPr/>
        </p:nvSpPr>
        <p:spPr>
          <a:xfrm>
            <a:off x="9802368"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Validation</a:t>
            </a:r>
            <a:endParaRPr lang="en-US" sz="1300" dirty="0"/>
          </a:p>
        </p:txBody>
      </p:sp>
      <p:sp>
        <p:nvSpPr>
          <p:cNvPr id="23" name="Text 21"/>
          <p:cNvSpPr/>
          <p:nvPr/>
        </p:nvSpPr>
        <p:spPr>
          <a:xfrm>
            <a:off x="9802368"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850" dirty="0"/>
          </a:p>
        </p:txBody>
      </p:sp>
      <p:sp>
        <p:nvSpPr>
          <p:cNvPr id="24" name="Shape 22"/>
          <p:cNvSpPr/>
          <p:nvPr/>
        </p:nvSpPr>
        <p:spPr>
          <a:xfrm>
            <a:off x="548640" y="3401568"/>
            <a:ext cx="11091672" cy="420624"/>
          </a:xfrm>
          <a:prstGeom prst="roundRect">
            <a:avLst>
              <a:gd name="adj" fmla="val 13043"/>
            </a:avLst>
          </a:prstGeom>
          <a:solidFill>
            <a:srgbClr val="0A3E6B"/>
          </a:solidFill>
          <a:ln w="12700">
            <a:solidFill>
              <a:srgbClr val="17517F"/>
            </a:solidFill>
            <a:prstDash val="solid"/>
          </a:ln>
        </p:spPr>
      </p:sp>
      <p:sp>
        <p:nvSpPr>
          <p:cNvPr id="25" name="Text 23"/>
          <p:cNvSpPr/>
          <p:nvPr/>
        </p:nvSpPr>
        <p:spPr>
          <a:xfrm>
            <a:off x="548640" y="3401568"/>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
        <p:nvSpPr>
          <p:cNvPr id="26" name="Shape 24"/>
          <p:cNvSpPr/>
          <p:nvPr/>
        </p:nvSpPr>
        <p:spPr>
          <a:xfrm>
            <a:off x="548640" y="4005072"/>
            <a:ext cx="5431536" cy="1371600"/>
          </a:xfrm>
          <a:prstGeom prst="roundRect">
            <a:avLst>
              <a:gd name="adj" fmla="val 5333"/>
            </a:avLst>
          </a:prstGeom>
          <a:solidFill>
            <a:srgbClr val="0A3E6B"/>
          </a:solidFill>
          <a:ln w="15875">
            <a:solidFill>
              <a:srgbClr val="00EDED"/>
            </a:solidFill>
            <a:prstDash val="solid"/>
          </a:ln>
        </p:spPr>
      </p:sp>
      <p:sp>
        <p:nvSpPr>
          <p:cNvPr id="27" name="Text 25"/>
          <p:cNvSpPr/>
          <p:nvPr/>
        </p:nvSpPr>
        <p:spPr>
          <a:xfrm>
            <a:off x="841248" y="4151376"/>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Human-in-the-Loop</a:t>
            </a:r>
            <a:endParaRPr lang="en-US" sz="1250" dirty="0"/>
          </a:p>
        </p:txBody>
      </p:sp>
      <p:sp>
        <p:nvSpPr>
          <p:cNvPr id="28" name="Text 26"/>
          <p:cNvSpPr/>
          <p:nvPr/>
        </p:nvSpPr>
        <p:spPr>
          <a:xfrm>
            <a:off x="841248" y="4443984"/>
            <a:ext cx="4846320" cy="822960"/>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a:t>
            </a:r>
            <a:endParaRPr lang="en-US" sz="950" dirty="0"/>
          </a:p>
        </p:txBody>
      </p:sp>
      <p:sp>
        <p:nvSpPr>
          <p:cNvPr id="29" name="Shape 27"/>
          <p:cNvSpPr/>
          <p:nvPr/>
        </p:nvSpPr>
        <p:spPr>
          <a:xfrm>
            <a:off x="6208776" y="4005072"/>
            <a:ext cx="5431536" cy="1371600"/>
          </a:xfrm>
          <a:prstGeom prst="roundRect">
            <a:avLst>
              <a:gd name="adj" fmla="val 5333"/>
            </a:avLst>
          </a:prstGeom>
          <a:solidFill>
            <a:srgbClr val="0A3E6B"/>
          </a:solidFill>
          <a:ln w="15875">
            <a:solidFill>
              <a:srgbClr val="00EDED"/>
            </a:solidFill>
            <a:prstDash val="solid"/>
          </a:ln>
        </p:spPr>
      </p:sp>
      <p:sp>
        <p:nvSpPr>
          <p:cNvPr id="30" name="Text 28"/>
          <p:cNvSpPr/>
          <p:nvPr/>
        </p:nvSpPr>
        <p:spPr>
          <a:xfrm>
            <a:off x="6501384" y="4151376"/>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Everything Runs In-Account</a:t>
            </a:r>
            <a:endParaRPr lang="en-US" sz="1250" dirty="0"/>
          </a:p>
        </p:txBody>
      </p:sp>
      <p:sp>
        <p:nvSpPr>
          <p:cNvPr id="31" name="Text 29"/>
          <p:cNvSpPr/>
          <p:nvPr/>
        </p:nvSpPr>
        <p:spPr>
          <a:xfrm>
            <a:off x="6501384" y="4443984"/>
            <a:ext cx="4846320" cy="822960"/>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Cortex calls, semantic view creation, table loads and the finished dashboard all execute on Snowflake compute under the customer's own roles. No data leaves the account.</a:t>
            </a:r>
            <a:endParaRPr lang="en-US" sz="950" dirty="0"/>
          </a:p>
        </p:txBody>
      </p:sp>
      <p:sp>
        <p:nvSpPr>
          <p:cNvPr id="32" name="Text 30"/>
          <p:cNvSpPr/>
          <p:nvPr/>
        </p:nvSpPr>
        <p:spPr>
          <a:xfrm>
            <a:off x="548640" y="5541264"/>
            <a:ext cx="11091672" cy="457200"/>
          </a:xfrm>
          <a:prstGeom prst="rect">
            <a:avLst/>
          </a:prstGeom>
          <a:noFill/>
          <a:ln/>
        </p:spPr>
        <p:txBody>
          <a:bodyPr wrap="square" lIns="0" tIns="0" rIns="0" bIns="0" rtlCol="0" anchor="ctr"/>
          <a:lstStyle/>
          <a:p>
            <a:pPr indent="0" marL="0">
              <a:buNone/>
            </a:pPr>
            <a:r>
              <a:rPr lang="en-US" sz="1000" i="1" dirty="0">
                <a:solidFill>
                  <a:srgbClr val="A2F3F3"/>
                </a:solidFill>
                <a:latin typeface="Montserrat" pitchFamily="34" charset="0"/>
                <a:ea typeface="Montserrat" pitchFamily="34" charset="-122"/>
                <a:cs typeface="Montserrat" pitchFamily="34" charset="-120"/>
              </a:rPr>
              <a:t>Assessment first: before any conversion, the workbook is scanned and a migration-readiness report is produced — what converts, what needs attention, and where the effort sits.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What Cortex Does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Claude models running inside the customer's Snowflake account</a:t>
            </a:r>
            <a:endParaRPr lang="en-US" sz="1400" dirty="0"/>
          </a:p>
        </p:txBody>
      </p:sp>
      <p:sp>
        <p:nvSpPr>
          <p:cNvPr id="4" name="Shape 2"/>
          <p:cNvSpPr/>
          <p:nvPr/>
        </p:nvSpPr>
        <p:spPr>
          <a:xfrm>
            <a:off x="548640" y="1316736"/>
            <a:ext cx="2724912" cy="2414016"/>
          </a:xfrm>
          <a:prstGeom prst="roundRect">
            <a:avLst>
              <a:gd name="adj" fmla="val 3030"/>
            </a:avLst>
          </a:prstGeom>
          <a:solidFill>
            <a:srgbClr val="FFFFFF"/>
          </a:solidFill>
          <a:ln w="12700">
            <a:solidFill>
              <a:srgbClr val="DFE3E6"/>
            </a:solidFill>
            <a:prstDash val="solid"/>
          </a:ln>
        </p:spPr>
      </p:sp>
      <p:sp>
        <p:nvSpPr>
          <p:cNvPr id="5" name="Shape 3"/>
          <p:cNvSpPr/>
          <p:nvPr/>
        </p:nvSpPr>
        <p:spPr>
          <a:xfrm>
            <a:off x="768096" y="1536192"/>
            <a:ext cx="402336" cy="402336"/>
          </a:xfrm>
          <a:prstGeom prst="ellipse">
            <a:avLst/>
          </a:prstGeom>
          <a:solidFill>
            <a:srgbClr val="00EDED"/>
          </a:solidFill>
          <a:ln/>
        </p:spPr>
      </p:sp>
      <p:sp>
        <p:nvSpPr>
          <p:cNvPr id="6" name="Text 4"/>
          <p:cNvSpPr/>
          <p:nvPr/>
        </p:nvSpPr>
        <p:spPr>
          <a:xfrm>
            <a:off x="768096"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1</a:t>
            </a:r>
            <a:endParaRPr lang="en-US" sz="1300" dirty="0"/>
          </a:p>
        </p:txBody>
      </p:sp>
      <p:sp>
        <p:nvSpPr>
          <p:cNvPr id="7" name="Text 5"/>
          <p:cNvSpPr/>
          <p:nvPr/>
        </p:nvSpPr>
        <p:spPr>
          <a:xfrm>
            <a:off x="768096"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Translates the complex calculations</a:t>
            </a:r>
            <a:endParaRPr lang="en-US" sz="1250" dirty="0"/>
          </a:p>
        </p:txBody>
      </p:sp>
      <p:sp>
        <p:nvSpPr>
          <p:cNvPr id="8" name="Text 6"/>
          <p:cNvSpPr/>
          <p:nvPr/>
        </p:nvSpPr>
        <p:spPr>
          <a:xfrm>
            <a:off x="768096"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Nested level-of-detail expressions and blended, cross-source measures become Snowflake SQL — then execute against the real table to confirm they run and return the right values.</a:t>
            </a:r>
            <a:endParaRPr lang="en-US" sz="900" dirty="0"/>
          </a:p>
        </p:txBody>
      </p:sp>
      <p:sp>
        <p:nvSpPr>
          <p:cNvPr id="9" name="Shape 7"/>
          <p:cNvSpPr/>
          <p:nvPr/>
        </p:nvSpPr>
        <p:spPr>
          <a:xfrm>
            <a:off x="3502152" y="1316736"/>
            <a:ext cx="2724912" cy="2414016"/>
          </a:xfrm>
          <a:prstGeom prst="roundRect">
            <a:avLst>
              <a:gd name="adj" fmla="val 3030"/>
            </a:avLst>
          </a:prstGeom>
          <a:solidFill>
            <a:srgbClr val="FFFFFF"/>
          </a:solidFill>
          <a:ln w="12700">
            <a:solidFill>
              <a:srgbClr val="DFE3E6"/>
            </a:solidFill>
            <a:prstDash val="solid"/>
          </a:ln>
        </p:spPr>
      </p:sp>
      <p:sp>
        <p:nvSpPr>
          <p:cNvPr id="10" name="Shape 8"/>
          <p:cNvSpPr/>
          <p:nvPr/>
        </p:nvSpPr>
        <p:spPr>
          <a:xfrm>
            <a:off x="3721608" y="1536192"/>
            <a:ext cx="402336" cy="402336"/>
          </a:xfrm>
          <a:prstGeom prst="ellipse">
            <a:avLst/>
          </a:prstGeom>
          <a:solidFill>
            <a:srgbClr val="00EDED"/>
          </a:solidFill>
          <a:ln/>
        </p:spPr>
      </p:sp>
      <p:sp>
        <p:nvSpPr>
          <p:cNvPr id="11" name="Text 9"/>
          <p:cNvSpPr/>
          <p:nvPr/>
        </p:nvSpPr>
        <p:spPr>
          <a:xfrm>
            <a:off x="3721608"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2</a:t>
            </a:r>
            <a:endParaRPr lang="en-US" sz="1300" dirty="0"/>
          </a:p>
        </p:txBody>
      </p:sp>
      <p:sp>
        <p:nvSpPr>
          <p:cNvPr id="12" name="Text 10"/>
          <p:cNvSpPr/>
          <p:nvPr/>
        </p:nvSpPr>
        <p:spPr>
          <a:xfrm>
            <a:off x="3721608"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Builds the governed semantic model</a:t>
            </a:r>
            <a:endParaRPr lang="en-US" sz="1250" dirty="0"/>
          </a:p>
        </p:txBody>
      </p:sp>
      <p:sp>
        <p:nvSpPr>
          <p:cNvPr id="13" name="Text 11"/>
          <p:cNvSpPr/>
          <p:nvPr/>
        </p:nvSpPr>
        <p:spPr>
          <a:xfrm>
            <a:off x="3721608"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The workbook's verified measures become a native semantic view: Tableau measures as Snowflake metrics, business captions as synonyms, identifiers read from the live tables.</a:t>
            </a:r>
            <a:endParaRPr lang="en-US" sz="900" dirty="0"/>
          </a:p>
        </p:txBody>
      </p:sp>
      <p:sp>
        <p:nvSpPr>
          <p:cNvPr id="14" name="Shape 12"/>
          <p:cNvSpPr/>
          <p:nvPr/>
        </p:nvSpPr>
        <p:spPr>
          <a:xfrm>
            <a:off x="6455664" y="1316736"/>
            <a:ext cx="2724912" cy="2414016"/>
          </a:xfrm>
          <a:prstGeom prst="roundRect">
            <a:avLst>
              <a:gd name="adj" fmla="val 3030"/>
            </a:avLst>
          </a:prstGeom>
          <a:solidFill>
            <a:srgbClr val="FFFFFF"/>
          </a:solidFill>
          <a:ln w="12700">
            <a:solidFill>
              <a:srgbClr val="DFE3E6"/>
            </a:solidFill>
            <a:prstDash val="solid"/>
          </a:ln>
        </p:spPr>
      </p:sp>
      <p:sp>
        <p:nvSpPr>
          <p:cNvPr id="15" name="Shape 13"/>
          <p:cNvSpPr/>
          <p:nvPr/>
        </p:nvSpPr>
        <p:spPr>
          <a:xfrm>
            <a:off x="6675120" y="1536192"/>
            <a:ext cx="402336" cy="402336"/>
          </a:xfrm>
          <a:prstGeom prst="ellipse">
            <a:avLst/>
          </a:prstGeom>
          <a:solidFill>
            <a:srgbClr val="00EDED"/>
          </a:solidFill>
          <a:ln/>
        </p:spPr>
      </p:sp>
      <p:sp>
        <p:nvSpPr>
          <p:cNvPr id="16" name="Text 14"/>
          <p:cNvSpPr/>
          <p:nvPr/>
        </p:nvSpPr>
        <p:spPr>
          <a:xfrm>
            <a:off x="6675120"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3</a:t>
            </a:r>
            <a:endParaRPr lang="en-US" sz="1300" dirty="0"/>
          </a:p>
        </p:txBody>
      </p:sp>
      <p:sp>
        <p:nvSpPr>
          <p:cNvPr id="17" name="Text 15"/>
          <p:cNvSpPr/>
          <p:nvPr/>
        </p:nvSpPr>
        <p:spPr>
          <a:xfrm>
            <a:off x="6675120"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Serves natural-language questions</a:t>
            </a:r>
            <a:endParaRPr lang="en-US" sz="1250" dirty="0"/>
          </a:p>
        </p:txBody>
      </p:sp>
      <p:sp>
        <p:nvSpPr>
          <p:cNvPr id="18" name="Text 16"/>
          <p:cNvSpPr/>
          <p:nvPr/>
        </p:nvSpPr>
        <p:spPr>
          <a:xfrm>
            <a:off x="6675120"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Analyst answers business questions over that same governed model, so exploration uses the definitions the migrated dashboards already use.</a:t>
            </a:r>
            <a:endParaRPr lang="en-US" sz="900" dirty="0"/>
          </a:p>
        </p:txBody>
      </p:sp>
      <p:sp>
        <p:nvSpPr>
          <p:cNvPr id="19" name="Shape 17"/>
          <p:cNvSpPr/>
          <p:nvPr/>
        </p:nvSpPr>
        <p:spPr>
          <a:xfrm>
            <a:off x="9409176" y="1316736"/>
            <a:ext cx="2724912" cy="2414016"/>
          </a:xfrm>
          <a:prstGeom prst="roundRect">
            <a:avLst>
              <a:gd name="adj" fmla="val 3030"/>
            </a:avLst>
          </a:prstGeom>
          <a:solidFill>
            <a:srgbClr val="FFFFFF"/>
          </a:solidFill>
          <a:ln w="12700">
            <a:solidFill>
              <a:srgbClr val="DFE3E6"/>
            </a:solidFill>
            <a:prstDash val="solid"/>
          </a:ln>
        </p:spPr>
      </p:sp>
      <p:sp>
        <p:nvSpPr>
          <p:cNvPr id="20" name="Shape 18"/>
          <p:cNvSpPr/>
          <p:nvPr/>
        </p:nvSpPr>
        <p:spPr>
          <a:xfrm>
            <a:off x="9628632" y="1536192"/>
            <a:ext cx="402336" cy="402336"/>
          </a:xfrm>
          <a:prstGeom prst="ellipse">
            <a:avLst/>
          </a:prstGeom>
          <a:solidFill>
            <a:srgbClr val="00EDED"/>
          </a:solidFill>
          <a:ln/>
        </p:spPr>
      </p:sp>
      <p:sp>
        <p:nvSpPr>
          <p:cNvPr id="21" name="Text 19"/>
          <p:cNvSpPr/>
          <p:nvPr/>
        </p:nvSpPr>
        <p:spPr>
          <a:xfrm>
            <a:off x="9628632"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4</a:t>
            </a:r>
            <a:endParaRPr lang="en-US" sz="1300" dirty="0"/>
          </a:p>
        </p:txBody>
      </p:sp>
      <p:sp>
        <p:nvSpPr>
          <p:cNvPr id="22" name="Text 20"/>
          <p:cNvSpPr/>
          <p:nvPr/>
        </p:nvSpPr>
        <p:spPr>
          <a:xfrm>
            <a:off x="9628632"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Validates the migration</a:t>
            </a:r>
            <a:endParaRPr lang="en-US" sz="1250" dirty="0"/>
          </a:p>
        </p:txBody>
      </p:sp>
      <p:sp>
        <p:nvSpPr>
          <p:cNvPr id="23" name="Text 21"/>
          <p:cNvSpPr/>
          <p:nvPr/>
        </p:nvSpPr>
        <p:spPr>
          <a:xfrm>
            <a:off x="9628632"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reads the source workbook and compares it against the generated app section by section, producing the evidence pack that closes the migration.</a:t>
            </a:r>
            <a:endParaRPr lang="en-US" sz="900" dirty="0"/>
          </a:p>
        </p:txBody>
      </p:sp>
      <p:sp>
        <p:nvSpPr>
          <p:cNvPr id="24" name="Text 22"/>
          <p:cNvSpPr/>
          <p:nvPr/>
        </p:nvSpPr>
        <p:spPr>
          <a:xfrm>
            <a:off x="548640" y="3913632"/>
            <a:ext cx="11091672" cy="292608"/>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Worked example — a calculation Cortex converted and proved</a:t>
            </a:r>
            <a:endParaRPr lang="en-US" sz="1250" dirty="0"/>
          </a:p>
        </p:txBody>
      </p:sp>
      <p:sp>
        <p:nvSpPr>
          <p:cNvPr id="25" name="Shape 23"/>
          <p:cNvSpPr/>
          <p:nvPr/>
        </p:nvSpPr>
        <p:spPr>
          <a:xfrm>
            <a:off x="548640" y="4279392"/>
            <a:ext cx="3575304" cy="1572768"/>
          </a:xfrm>
          <a:prstGeom prst="roundRect">
            <a:avLst>
              <a:gd name="adj" fmla="val 4651"/>
            </a:avLst>
          </a:prstGeom>
          <a:solidFill>
            <a:srgbClr val="FFFFFF"/>
          </a:solidFill>
          <a:ln w="12700">
            <a:solidFill>
              <a:srgbClr val="DFE3E6"/>
            </a:solidFill>
            <a:prstDash val="solid"/>
          </a:ln>
        </p:spPr>
      </p:sp>
      <p:sp>
        <p:nvSpPr>
          <p:cNvPr id="26" name="Text 24"/>
          <p:cNvSpPr/>
          <p:nvPr/>
        </p:nvSpPr>
        <p:spPr>
          <a:xfrm>
            <a:off x="786384" y="4443984"/>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TABLEAU SOURCE</a:t>
            </a:r>
            <a:endParaRPr lang="en-US" sz="900" dirty="0"/>
          </a:p>
        </p:txBody>
      </p:sp>
      <p:sp>
        <p:nvSpPr>
          <p:cNvPr id="27" name="Text 25"/>
          <p:cNvSpPr/>
          <p:nvPr/>
        </p:nvSpPr>
        <p:spPr>
          <a:xfrm>
            <a:off x="786384" y="4718304"/>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 FIXED [Region] : AVG( { FIXED [Region],[Sub-Category] : SUM([Sales]) } ) }</a:t>
            </a:r>
            <a:endParaRPr lang="en-US" sz="900" dirty="0"/>
          </a:p>
        </p:txBody>
      </p:sp>
      <p:sp>
        <p:nvSpPr>
          <p:cNvPr id="28" name="Text 26"/>
          <p:cNvSpPr/>
          <p:nvPr/>
        </p:nvSpPr>
        <p:spPr>
          <a:xfrm>
            <a:off x="786384" y="5358384"/>
            <a:ext cx="3099816" cy="42062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A nested level-of-detail expression — an average of an average, at two different grains.</a:t>
            </a:r>
            <a:endParaRPr lang="en-US" sz="850" dirty="0"/>
          </a:p>
        </p:txBody>
      </p:sp>
      <p:sp>
        <p:nvSpPr>
          <p:cNvPr id="29" name="Shape 27"/>
          <p:cNvSpPr/>
          <p:nvPr/>
        </p:nvSpPr>
        <p:spPr>
          <a:xfrm>
            <a:off x="4306824" y="4279392"/>
            <a:ext cx="3575304" cy="1572768"/>
          </a:xfrm>
          <a:prstGeom prst="roundRect">
            <a:avLst>
              <a:gd name="adj" fmla="val 4651"/>
            </a:avLst>
          </a:prstGeom>
          <a:solidFill>
            <a:srgbClr val="FFFFFF"/>
          </a:solidFill>
          <a:ln w="12700">
            <a:solidFill>
              <a:srgbClr val="DFE3E6"/>
            </a:solidFill>
            <a:prstDash val="solid"/>
          </a:ln>
        </p:spPr>
      </p:sp>
      <p:sp>
        <p:nvSpPr>
          <p:cNvPr id="30" name="Text 28"/>
          <p:cNvSpPr/>
          <p:nvPr/>
        </p:nvSpPr>
        <p:spPr>
          <a:xfrm>
            <a:off x="4544568" y="4443984"/>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CORTEX OUTPUT</a:t>
            </a:r>
            <a:endParaRPr lang="en-US" sz="900" dirty="0"/>
          </a:p>
        </p:txBody>
      </p:sp>
      <p:sp>
        <p:nvSpPr>
          <p:cNvPr id="31" name="Text 29"/>
          <p:cNvSpPr/>
          <p:nvPr/>
        </p:nvSpPr>
        <p:spPr>
          <a:xfrm>
            <a:off x="4544568" y="4718304"/>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WITH inner AS ( SELECT region, sub_category, SUM(sales) … )  SELECT region, AVG(v) …</a:t>
            </a:r>
            <a:endParaRPr lang="en-US" sz="900" dirty="0"/>
          </a:p>
        </p:txBody>
      </p:sp>
      <p:sp>
        <p:nvSpPr>
          <p:cNvPr id="32" name="Text 30"/>
          <p:cNvSpPr/>
          <p:nvPr/>
        </p:nvSpPr>
        <p:spPr>
          <a:xfrm>
            <a:off x="4544568" y="5358384"/>
            <a:ext cx="3099816" cy="42062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Rewritten as layered CTEs that Snowflake executes directly.</a:t>
            </a:r>
            <a:endParaRPr lang="en-US" sz="850" dirty="0"/>
          </a:p>
        </p:txBody>
      </p:sp>
      <p:sp>
        <p:nvSpPr>
          <p:cNvPr id="33" name="Shape 31"/>
          <p:cNvSpPr/>
          <p:nvPr/>
        </p:nvSpPr>
        <p:spPr>
          <a:xfrm>
            <a:off x="8065008" y="4279392"/>
            <a:ext cx="3575304" cy="1572768"/>
          </a:xfrm>
          <a:prstGeom prst="roundRect">
            <a:avLst>
              <a:gd name="adj" fmla="val 4651"/>
            </a:avLst>
          </a:prstGeom>
          <a:solidFill>
            <a:srgbClr val="053057"/>
          </a:solidFill>
          <a:ln w="12700">
            <a:solidFill>
              <a:srgbClr val="053057"/>
            </a:solidFill>
            <a:prstDash val="solid"/>
          </a:ln>
        </p:spPr>
      </p:sp>
      <p:sp>
        <p:nvSpPr>
          <p:cNvPr id="34" name="Text 32"/>
          <p:cNvSpPr/>
          <p:nvPr/>
        </p:nvSpPr>
        <p:spPr>
          <a:xfrm>
            <a:off x="8302752" y="4443984"/>
            <a:ext cx="3099816" cy="237744"/>
          </a:xfrm>
          <a:prstGeom prst="rect">
            <a:avLst/>
          </a:prstGeom>
          <a:noFill/>
          <a:ln/>
        </p:spPr>
        <p:txBody>
          <a:bodyPr wrap="square" lIns="0" tIns="0" rIns="0" bIns="0" rtlCol="0" anchor="ctr"/>
          <a:lstStyle/>
          <a:p>
            <a:pPr indent="0" marL="0">
              <a:buNone/>
            </a:pPr>
            <a:r>
              <a:rPr lang="en-US" sz="900" b="1" spc="140" kern="0" dirty="0">
                <a:solidFill>
                  <a:srgbClr val="00EDED"/>
                </a:solidFill>
                <a:latin typeface="Montserrat" pitchFamily="34" charset="0"/>
                <a:ea typeface="Montserrat" pitchFamily="34" charset="-122"/>
                <a:cs typeface="Montserrat" pitchFamily="34" charset="-120"/>
              </a:rPr>
              <a:t>PROVEN</a:t>
            </a:r>
            <a:endParaRPr lang="en-US" sz="900" dirty="0"/>
          </a:p>
        </p:txBody>
      </p:sp>
      <p:sp>
        <p:nvSpPr>
          <p:cNvPr id="35" name="Text 33"/>
          <p:cNvSpPr/>
          <p:nvPr/>
        </p:nvSpPr>
        <p:spPr>
          <a:xfrm>
            <a:off x="8302752" y="4718304"/>
            <a:ext cx="3099816" cy="603504"/>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4 of 4 region values exact</a:t>
            </a:r>
            <a:endParaRPr lang="en-US" sz="1300" dirty="0"/>
          </a:p>
        </p:txBody>
      </p:sp>
      <p:sp>
        <p:nvSpPr>
          <p:cNvPr id="36" name="Text 34"/>
          <p:cNvSpPr/>
          <p:nvPr/>
        </p:nvSpPr>
        <p:spPr>
          <a:xfrm>
            <a:off x="8302752" y="5358384"/>
            <a:ext cx="3099816" cy="420624"/>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Executed against the real table and checked against an independent ground truth before acceptance.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Impact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What the second platform costs — and what happens when it goes away</a:t>
            </a:r>
            <a:endParaRPr lang="en-US" sz="1400" dirty="0"/>
          </a:p>
        </p:txBody>
      </p:sp>
      <p:sp>
        <p:nvSpPr>
          <p:cNvPr id="4" name="Text 2"/>
          <p:cNvSpPr/>
          <p:nvPr/>
        </p:nvSpPr>
        <p:spPr>
          <a:xfrm>
            <a:off x="548640" y="1207008"/>
            <a:ext cx="11091672" cy="256032"/>
          </a:xfrm>
          <a:prstGeom prst="rect">
            <a:avLst/>
          </a:prstGeom>
          <a:noFill/>
          <a:ln/>
        </p:spPr>
        <p:txBody>
          <a:bodyPr wrap="square" lIns="0" tIns="0" rIns="0" bIns="0" rtlCol="0" anchor="ctr"/>
          <a:lstStyle/>
          <a:p>
            <a:pPr indent="0" marL="0">
              <a:buNone/>
            </a:pPr>
            <a:r>
              <a:rPr lang="en-US" sz="1050" b="1" spc="150" kern="0" dirty="0">
                <a:solidFill>
                  <a:srgbClr val="6B7C88"/>
                </a:solidFill>
                <a:latin typeface="Montserrat" pitchFamily="34" charset="0"/>
                <a:ea typeface="Montserrat" pitchFamily="34" charset="-122"/>
                <a:cs typeface="Montserrat" pitchFamily="34" charset="-120"/>
              </a:rPr>
              <a:t>A WORKED EXAMPLE — ONE MID-SIZED ANALYTICS ESTATE, AT PUBLISHED LIST PRICING</a:t>
            </a:r>
            <a:endParaRPr lang="en-US" sz="1050" dirty="0"/>
          </a:p>
        </p:txBody>
      </p:sp>
      <p:sp>
        <p:nvSpPr>
          <p:cNvPr id="5" name="Shape 3"/>
          <p:cNvSpPr/>
          <p:nvPr/>
        </p:nvSpPr>
        <p:spPr>
          <a:xfrm>
            <a:off x="548640" y="1517904"/>
            <a:ext cx="2724912" cy="1463040"/>
          </a:xfrm>
          <a:prstGeom prst="roundRect">
            <a:avLst>
              <a:gd name="adj" fmla="val 5000"/>
            </a:avLst>
          </a:prstGeom>
          <a:solidFill>
            <a:srgbClr val="FFFFFF"/>
          </a:solidFill>
          <a:ln w="12700">
            <a:solidFill>
              <a:srgbClr val="DFE3E6"/>
            </a:solidFill>
            <a:prstDash val="solid"/>
          </a:ln>
        </p:spPr>
      </p:sp>
      <p:sp>
        <p:nvSpPr>
          <p:cNvPr id="6" name="Text 4"/>
          <p:cNvSpPr/>
          <p:nvPr/>
        </p:nvSpPr>
        <p:spPr>
          <a:xfrm>
            <a:off x="768096" y="1645920"/>
            <a:ext cx="2286000" cy="219456"/>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VIEWERS</a:t>
            </a:r>
            <a:endParaRPr lang="en-US" sz="900" dirty="0"/>
          </a:p>
        </p:txBody>
      </p:sp>
      <p:sp>
        <p:nvSpPr>
          <p:cNvPr id="7" name="Text 5"/>
          <p:cNvSpPr/>
          <p:nvPr/>
        </p:nvSpPr>
        <p:spPr>
          <a:xfrm>
            <a:off x="768096" y="1883664"/>
            <a:ext cx="2286000" cy="530352"/>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100</a:t>
            </a:r>
            <a:endParaRPr lang="en-US" sz="3200" dirty="0"/>
          </a:p>
        </p:txBody>
      </p:sp>
      <p:sp>
        <p:nvSpPr>
          <p:cNvPr id="8" name="Text 6"/>
          <p:cNvSpPr/>
          <p:nvPr/>
        </p:nvSpPr>
        <p:spPr>
          <a:xfrm>
            <a:off x="768096" y="2432304"/>
            <a:ext cx="2286000" cy="237744"/>
          </a:xfrm>
          <a:prstGeom prst="rect">
            <a:avLst/>
          </a:prstGeom>
          <a:noFill/>
          <a:ln/>
        </p:spPr>
        <p:txBody>
          <a:bodyPr wrap="square" lIns="0" tIns="0" rIns="0" bIns="0" rtlCol="0" anchor="ctr"/>
          <a:lstStyle/>
          <a:p>
            <a:pPr indent="0" marL="0">
              <a:buNone/>
            </a:pPr>
            <a:r>
              <a:rPr lang="en-US" sz="1000" b="1" dirty="0">
                <a:solidFill>
                  <a:srgbClr val="314550"/>
                </a:solidFill>
                <a:latin typeface="Montserrat" pitchFamily="34" charset="0"/>
                <a:ea typeface="Montserrat" pitchFamily="34" charset="-122"/>
                <a:cs typeface="Montserrat" pitchFamily="34" charset="-120"/>
              </a:rPr>
              <a:t>× $15 / user / month</a:t>
            </a:r>
            <a:endParaRPr lang="en-US" sz="1000" dirty="0"/>
          </a:p>
        </p:txBody>
      </p:sp>
      <p:sp>
        <p:nvSpPr>
          <p:cNvPr id="9" name="Text 7"/>
          <p:cNvSpPr/>
          <p:nvPr/>
        </p:nvSpPr>
        <p:spPr>
          <a:xfrm>
            <a:off x="768096" y="2670048"/>
            <a:ext cx="2286000" cy="256032"/>
          </a:xfrm>
          <a:prstGeom prst="rect">
            <a:avLst/>
          </a:prstGeom>
          <a:noFill/>
          <a:ln/>
        </p:spPr>
        <p:txBody>
          <a:bodyPr wrap="square" lIns="0" tIns="0" rIns="0" bIns="0" rtlCol="0" anchor="ctr"/>
          <a:lstStyle/>
          <a:p>
            <a:pPr indent="0" marL="0">
              <a:buNone/>
            </a:pPr>
            <a:r>
              <a:rPr lang="en-US" sz="900" dirty="0">
                <a:solidFill>
                  <a:srgbClr val="6B7C88"/>
                </a:solidFill>
                <a:latin typeface="Montserrat" pitchFamily="34" charset="0"/>
                <a:ea typeface="Montserrat" pitchFamily="34" charset="-122"/>
                <a:cs typeface="Montserrat" pitchFamily="34" charset="-120"/>
              </a:rPr>
              <a:t>$18,000 a year</a:t>
            </a:r>
            <a:endParaRPr lang="en-US" sz="900" dirty="0"/>
          </a:p>
        </p:txBody>
      </p:sp>
      <p:sp>
        <p:nvSpPr>
          <p:cNvPr id="10" name="Shape 8"/>
          <p:cNvSpPr/>
          <p:nvPr/>
        </p:nvSpPr>
        <p:spPr>
          <a:xfrm>
            <a:off x="3502152" y="1517904"/>
            <a:ext cx="2724912" cy="1463040"/>
          </a:xfrm>
          <a:prstGeom prst="roundRect">
            <a:avLst>
              <a:gd name="adj" fmla="val 5000"/>
            </a:avLst>
          </a:prstGeom>
          <a:solidFill>
            <a:srgbClr val="FFFFFF"/>
          </a:solidFill>
          <a:ln w="12700">
            <a:solidFill>
              <a:srgbClr val="DFE3E6"/>
            </a:solidFill>
            <a:prstDash val="solid"/>
          </a:ln>
        </p:spPr>
      </p:sp>
      <p:sp>
        <p:nvSpPr>
          <p:cNvPr id="11" name="Text 9"/>
          <p:cNvSpPr/>
          <p:nvPr/>
        </p:nvSpPr>
        <p:spPr>
          <a:xfrm>
            <a:off x="3721608" y="1645920"/>
            <a:ext cx="2286000" cy="219456"/>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CREATORS</a:t>
            </a:r>
            <a:endParaRPr lang="en-US" sz="900" dirty="0"/>
          </a:p>
        </p:txBody>
      </p:sp>
      <p:sp>
        <p:nvSpPr>
          <p:cNvPr id="12" name="Text 10"/>
          <p:cNvSpPr/>
          <p:nvPr/>
        </p:nvSpPr>
        <p:spPr>
          <a:xfrm>
            <a:off x="3721608" y="1883664"/>
            <a:ext cx="2286000" cy="530352"/>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7</a:t>
            </a:r>
            <a:endParaRPr lang="en-US" sz="3200" dirty="0"/>
          </a:p>
        </p:txBody>
      </p:sp>
      <p:sp>
        <p:nvSpPr>
          <p:cNvPr id="13" name="Text 11"/>
          <p:cNvSpPr/>
          <p:nvPr/>
        </p:nvSpPr>
        <p:spPr>
          <a:xfrm>
            <a:off x="3721608" y="2432304"/>
            <a:ext cx="2286000" cy="237744"/>
          </a:xfrm>
          <a:prstGeom prst="rect">
            <a:avLst/>
          </a:prstGeom>
          <a:noFill/>
          <a:ln/>
        </p:spPr>
        <p:txBody>
          <a:bodyPr wrap="square" lIns="0" tIns="0" rIns="0" bIns="0" rtlCol="0" anchor="ctr"/>
          <a:lstStyle/>
          <a:p>
            <a:pPr indent="0" marL="0">
              <a:buNone/>
            </a:pPr>
            <a:r>
              <a:rPr lang="en-US" sz="1000" b="1" dirty="0">
                <a:solidFill>
                  <a:srgbClr val="314550"/>
                </a:solidFill>
                <a:latin typeface="Montserrat" pitchFamily="34" charset="0"/>
                <a:ea typeface="Montserrat" pitchFamily="34" charset="-122"/>
                <a:cs typeface="Montserrat" pitchFamily="34" charset="-120"/>
              </a:rPr>
              <a:t>× $75 / user / month</a:t>
            </a:r>
            <a:endParaRPr lang="en-US" sz="1000" dirty="0"/>
          </a:p>
        </p:txBody>
      </p:sp>
      <p:sp>
        <p:nvSpPr>
          <p:cNvPr id="14" name="Text 12"/>
          <p:cNvSpPr/>
          <p:nvPr/>
        </p:nvSpPr>
        <p:spPr>
          <a:xfrm>
            <a:off x="3721608" y="2670048"/>
            <a:ext cx="2286000" cy="256032"/>
          </a:xfrm>
          <a:prstGeom prst="rect">
            <a:avLst/>
          </a:prstGeom>
          <a:noFill/>
          <a:ln/>
        </p:spPr>
        <p:txBody>
          <a:bodyPr wrap="square" lIns="0" tIns="0" rIns="0" bIns="0" rtlCol="0" anchor="ctr"/>
          <a:lstStyle/>
          <a:p>
            <a:pPr indent="0" marL="0">
              <a:buNone/>
            </a:pPr>
            <a:r>
              <a:rPr lang="en-US" sz="900" dirty="0">
                <a:solidFill>
                  <a:srgbClr val="6B7C88"/>
                </a:solidFill>
                <a:latin typeface="Montserrat" pitchFamily="34" charset="0"/>
                <a:ea typeface="Montserrat" pitchFamily="34" charset="-122"/>
                <a:cs typeface="Montserrat" pitchFamily="34" charset="-120"/>
              </a:rPr>
              <a:t>$6,300 a year</a:t>
            </a:r>
            <a:endParaRPr lang="en-US" sz="900" dirty="0"/>
          </a:p>
        </p:txBody>
      </p:sp>
      <p:sp>
        <p:nvSpPr>
          <p:cNvPr id="15" name="Shape 13"/>
          <p:cNvSpPr/>
          <p:nvPr/>
        </p:nvSpPr>
        <p:spPr>
          <a:xfrm>
            <a:off x="6455664" y="1517904"/>
            <a:ext cx="2724912" cy="1463040"/>
          </a:xfrm>
          <a:prstGeom prst="roundRect">
            <a:avLst>
              <a:gd name="adj" fmla="val 5000"/>
            </a:avLst>
          </a:prstGeom>
          <a:solidFill>
            <a:srgbClr val="053057"/>
          </a:solidFill>
          <a:ln w="12700">
            <a:solidFill>
              <a:srgbClr val="053057"/>
            </a:solidFill>
            <a:prstDash val="solid"/>
          </a:ln>
        </p:spPr>
      </p:sp>
      <p:sp>
        <p:nvSpPr>
          <p:cNvPr id="16" name="Text 14"/>
          <p:cNvSpPr/>
          <p:nvPr/>
        </p:nvSpPr>
        <p:spPr>
          <a:xfrm>
            <a:off x="6675120" y="1645920"/>
            <a:ext cx="2286000" cy="219456"/>
          </a:xfrm>
          <a:prstGeom prst="rect">
            <a:avLst/>
          </a:prstGeom>
          <a:noFill/>
          <a:ln/>
        </p:spPr>
        <p:txBody>
          <a:bodyPr wrap="square" lIns="0" tIns="0" rIns="0" bIns="0" rtlCol="0" anchor="ctr"/>
          <a:lstStyle/>
          <a:p>
            <a:pPr indent="0" marL="0">
              <a:buNone/>
            </a:pPr>
            <a:r>
              <a:rPr lang="en-US" sz="900" b="1" spc="140" kern="0" dirty="0">
                <a:solidFill>
                  <a:srgbClr val="00EDED"/>
                </a:solidFill>
                <a:latin typeface="Montserrat" pitchFamily="34" charset="0"/>
                <a:ea typeface="Montserrat" pitchFamily="34" charset="-122"/>
                <a:cs typeface="Montserrat" pitchFamily="34" charset="-120"/>
              </a:rPr>
              <a:t>RECURRING COST</a:t>
            </a:r>
            <a:endParaRPr lang="en-US" sz="900" dirty="0"/>
          </a:p>
        </p:txBody>
      </p:sp>
      <p:sp>
        <p:nvSpPr>
          <p:cNvPr id="17" name="Text 15"/>
          <p:cNvSpPr/>
          <p:nvPr/>
        </p:nvSpPr>
        <p:spPr>
          <a:xfrm>
            <a:off x="6675120" y="1883664"/>
            <a:ext cx="2286000" cy="530352"/>
          </a:xfrm>
          <a:prstGeom prst="rect">
            <a:avLst/>
          </a:prstGeom>
          <a:noFill/>
          <a:ln/>
        </p:spPr>
        <p:txBody>
          <a:bodyPr wrap="square" lIns="0" tIns="0" rIns="0" bIns="0" rtlCol="0" anchor="ctr"/>
          <a:lstStyle/>
          <a:p>
            <a:pPr indent="0" marL="0">
              <a:buNone/>
            </a:pPr>
            <a:r>
              <a:rPr lang="en-US" sz="2600" b="1" dirty="0">
                <a:solidFill>
                  <a:srgbClr val="00EDED"/>
                </a:solidFill>
                <a:latin typeface="Montserrat" pitchFamily="34" charset="0"/>
                <a:ea typeface="Montserrat" pitchFamily="34" charset="-122"/>
                <a:cs typeface="Montserrat" pitchFamily="34" charset="-120"/>
              </a:rPr>
              <a:t>~$24K</a:t>
            </a:r>
            <a:endParaRPr lang="en-US" sz="2600" dirty="0"/>
          </a:p>
        </p:txBody>
      </p:sp>
      <p:sp>
        <p:nvSpPr>
          <p:cNvPr id="18" name="Text 16"/>
          <p:cNvSpPr/>
          <p:nvPr/>
        </p:nvSpPr>
        <p:spPr>
          <a:xfrm>
            <a:off x="6675120" y="2432304"/>
            <a:ext cx="2286000" cy="23774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every single year</a:t>
            </a:r>
            <a:endParaRPr lang="en-US" sz="1000" dirty="0"/>
          </a:p>
        </p:txBody>
      </p:sp>
      <p:sp>
        <p:nvSpPr>
          <p:cNvPr id="19" name="Text 17"/>
          <p:cNvSpPr/>
          <p:nvPr/>
        </p:nvSpPr>
        <p:spPr>
          <a:xfrm>
            <a:off x="6675120" y="2670048"/>
            <a:ext cx="2286000" cy="256032"/>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for the presentation layer alone</a:t>
            </a:r>
            <a:endParaRPr lang="en-US" sz="900" dirty="0"/>
          </a:p>
        </p:txBody>
      </p:sp>
      <p:sp>
        <p:nvSpPr>
          <p:cNvPr id="20" name="Shape 18"/>
          <p:cNvSpPr/>
          <p:nvPr/>
        </p:nvSpPr>
        <p:spPr>
          <a:xfrm>
            <a:off x="9409176" y="1517904"/>
            <a:ext cx="2724912" cy="1463040"/>
          </a:xfrm>
          <a:prstGeom prst="roundRect">
            <a:avLst>
              <a:gd name="adj" fmla="val 5000"/>
            </a:avLst>
          </a:prstGeom>
          <a:solidFill>
            <a:srgbClr val="053057"/>
          </a:solidFill>
          <a:ln w="12700">
            <a:solidFill>
              <a:srgbClr val="053057"/>
            </a:solidFill>
            <a:prstDash val="solid"/>
          </a:ln>
        </p:spPr>
      </p:sp>
      <p:sp>
        <p:nvSpPr>
          <p:cNvPr id="21" name="Text 19"/>
          <p:cNvSpPr/>
          <p:nvPr/>
        </p:nvSpPr>
        <p:spPr>
          <a:xfrm>
            <a:off x="9628632" y="1645920"/>
            <a:ext cx="2286000" cy="219456"/>
          </a:xfrm>
          <a:prstGeom prst="rect">
            <a:avLst/>
          </a:prstGeom>
          <a:noFill/>
          <a:ln/>
        </p:spPr>
        <p:txBody>
          <a:bodyPr wrap="square" lIns="0" tIns="0" rIns="0" bIns="0" rtlCol="0" anchor="ctr"/>
          <a:lstStyle/>
          <a:p>
            <a:pPr indent="0" marL="0">
              <a:buNone/>
            </a:pPr>
            <a:r>
              <a:rPr lang="en-US" sz="900" b="1" spc="140" kern="0" dirty="0">
                <a:solidFill>
                  <a:srgbClr val="00EDED"/>
                </a:solidFill>
                <a:latin typeface="Montserrat" pitchFamily="34" charset="0"/>
                <a:ea typeface="Montserrat" pitchFamily="34" charset="-122"/>
                <a:cs typeface="Montserrat" pitchFamily="34" charset="-120"/>
              </a:rPr>
              <a:t>MIGRATION</a:t>
            </a:r>
            <a:endParaRPr lang="en-US" sz="900" dirty="0"/>
          </a:p>
        </p:txBody>
      </p:sp>
      <p:sp>
        <p:nvSpPr>
          <p:cNvPr id="22" name="Text 20"/>
          <p:cNvSpPr/>
          <p:nvPr/>
        </p:nvSpPr>
        <p:spPr>
          <a:xfrm>
            <a:off x="9628632" y="1883664"/>
            <a:ext cx="2286000" cy="530352"/>
          </a:xfrm>
          <a:prstGeom prst="rect">
            <a:avLst/>
          </a:prstGeom>
          <a:noFill/>
          <a:ln/>
        </p:spPr>
        <p:txBody>
          <a:bodyPr wrap="square" lIns="0" tIns="0" rIns="0" bIns="0" rtlCol="0" anchor="ctr"/>
          <a:lstStyle/>
          <a:p>
            <a:pPr indent="0" marL="0">
              <a:buNone/>
            </a:pPr>
            <a:r>
              <a:rPr lang="en-US" sz="2600" b="1" dirty="0">
                <a:solidFill>
                  <a:srgbClr val="00EDED"/>
                </a:solidFill>
                <a:latin typeface="Montserrat" pitchFamily="34" charset="0"/>
                <a:ea typeface="Montserrat" pitchFamily="34" charset="-122"/>
                <a:cs typeface="Montserrat" pitchFamily="34" charset="-120"/>
              </a:rPr>
              <a:t>One-time</a:t>
            </a:r>
            <a:endParaRPr lang="en-US" sz="2600" dirty="0"/>
          </a:p>
        </p:txBody>
      </p:sp>
      <p:sp>
        <p:nvSpPr>
          <p:cNvPr id="23" name="Text 21"/>
          <p:cNvSpPr/>
          <p:nvPr/>
        </p:nvSpPr>
        <p:spPr>
          <a:xfrm>
            <a:off x="9628632" y="2432304"/>
            <a:ext cx="2286000" cy="23774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and then it is done</a:t>
            </a:r>
            <a:endParaRPr lang="en-US" sz="1000" dirty="0"/>
          </a:p>
        </p:txBody>
      </p:sp>
      <p:sp>
        <p:nvSpPr>
          <p:cNvPr id="24" name="Text 22"/>
          <p:cNvSpPr/>
          <p:nvPr/>
        </p:nvSpPr>
        <p:spPr>
          <a:xfrm>
            <a:off x="9628632" y="2670048"/>
            <a:ext cx="2286000" cy="256032"/>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the saving repeats every year after</a:t>
            </a:r>
            <a:endParaRPr lang="en-US" sz="900" dirty="0"/>
          </a:p>
        </p:txBody>
      </p:sp>
      <p:sp>
        <p:nvSpPr>
          <p:cNvPr id="25" name="Text 23"/>
          <p:cNvSpPr/>
          <p:nvPr/>
        </p:nvSpPr>
        <p:spPr>
          <a:xfrm>
            <a:off x="548640" y="3035808"/>
            <a:ext cx="11091672" cy="274320"/>
          </a:xfrm>
          <a:prstGeom prst="rect">
            <a:avLst/>
          </a:prstGeom>
          <a:noFill/>
          <a:ln/>
        </p:spPr>
        <p:txBody>
          <a:bodyPr wrap="square" lIns="0" tIns="0" rIns="0" bIns="0" rtlCol="0" anchor="ctr"/>
          <a:lstStyle/>
          <a:p>
            <a:pPr indent="0" marL="0">
              <a:buNone/>
            </a:pPr>
            <a:r>
              <a:rPr lang="en-US" sz="900" i="1" dirty="0">
                <a:solidFill>
                  <a:srgbClr val="6B7C88"/>
                </a:solidFill>
                <a:latin typeface="Montserrat" pitchFamily="34" charset="0"/>
                <a:ea typeface="Montserrat" pitchFamily="34" charset="-122"/>
                <a:cs typeface="Montserrat" pitchFamily="34" charset="-120"/>
              </a:rPr>
              <a:t>Illustrative only — swap in the customer's own seat counts and contract rates. The point is the shape: the licence recurs, the migration does not.</a:t>
            </a:r>
            <a:endParaRPr lang="en-US" sz="900" dirty="0"/>
          </a:p>
        </p:txBody>
      </p:sp>
      <p:sp>
        <p:nvSpPr>
          <p:cNvPr id="26" name="Shape 24"/>
          <p:cNvSpPr/>
          <p:nvPr/>
        </p:nvSpPr>
        <p:spPr>
          <a:xfrm>
            <a:off x="548640" y="3401568"/>
            <a:ext cx="5431536" cy="1755648"/>
          </a:xfrm>
          <a:prstGeom prst="roundRect">
            <a:avLst>
              <a:gd name="adj" fmla="val 4167"/>
            </a:avLst>
          </a:prstGeom>
          <a:solidFill>
            <a:srgbClr val="FFFFFF"/>
          </a:solidFill>
          <a:ln w="12700">
            <a:solidFill>
              <a:srgbClr val="DFE3E6"/>
            </a:solidFill>
            <a:prstDash val="solid"/>
          </a:ln>
        </p:spPr>
      </p:sp>
      <p:sp>
        <p:nvSpPr>
          <p:cNvPr id="27" name="Text 25"/>
          <p:cNvSpPr/>
          <p:nvPr/>
        </p:nvSpPr>
        <p:spPr>
          <a:xfrm>
            <a:off x="841248" y="3566160"/>
            <a:ext cx="4846320" cy="237744"/>
          </a:xfrm>
          <a:prstGeom prst="rect">
            <a:avLst/>
          </a:prstGeom>
          <a:noFill/>
          <a:ln/>
        </p:spPr>
        <p:txBody>
          <a:bodyPr wrap="square" lIns="0" tIns="0" rIns="0" bIns="0" rtlCol="0" anchor="ctr"/>
          <a:lstStyle/>
          <a:p>
            <a:pPr indent="0" marL="0">
              <a:buNone/>
            </a:pPr>
            <a:r>
              <a:rPr lang="en-US" sz="1050" b="1" spc="150" kern="0" dirty="0">
                <a:solidFill>
                  <a:srgbClr val="6B7C88"/>
                </a:solidFill>
                <a:latin typeface="Montserrat" pitchFamily="34" charset="0"/>
                <a:ea typeface="Montserrat" pitchFamily="34" charset="-122"/>
                <a:cs typeface="Montserrat" pitchFamily="34" charset="-120"/>
              </a:rPr>
              <a:t>WHAT YOU STOP PAYING FOR</a:t>
            </a:r>
            <a:endParaRPr lang="en-US" sz="1050" dirty="0"/>
          </a:p>
        </p:txBody>
      </p:sp>
      <p:sp>
        <p:nvSpPr>
          <p:cNvPr id="28" name="Shape 26"/>
          <p:cNvSpPr/>
          <p:nvPr/>
        </p:nvSpPr>
        <p:spPr>
          <a:xfrm>
            <a:off x="896112" y="3950208"/>
            <a:ext cx="128016" cy="128016"/>
          </a:xfrm>
          <a:prstGeom prst="ellipse">
            <a:avLst/>
          </a:prstGeom>
          <a:solidFill>
            <a:srgbClr val="C3CBD1"/>
          </a:solidFill>
          <a:ln/>
        </p:spPr>
      </p:sp>
      <p:sp>
        <p:nvSpPr>
          <p:cNvPr id="29" name="Text 27"/>
          <p:cNvSpPr/>
          <p:nvPr/>
        </p:nvSpPr>
        <p:spPr>
          <a:xfrm>
            <a:off x="1170432" y="3886200"/>
            <a:ext cx="4553712" cy="292608"/>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Creator and viewer licences, renewed every year</a:t>
            </a:r>
            <a:endParaRPr lang="en-US" sz="1000" dirty="0"/>
          </a:p>
        </p:txBody>
      </p:sp>
      <p:sp>
        <p:nvSpPr>
          <p:cNvPr id="30" name="Shape 28"/>
          <p:cNvSpPr/>
          <p:nvPr/>
        </p:nvSpPr>
        <p:spPr>
          <a:xfrm>
            <a:off x="896112" y="4279392"/>
            <a:ext cx="128016" cy="128016"/>
          </a:xfrm>
          <a:prstGeom prst="ellipse">
            <a:avLst/>
          </a:prstGeom>
          <a:solidFill>
            <a:srgbClr val="C3CBD1"/>
          </a:solidFill>
          <a:ln/>
        </p:spPr>
      </p:sp>
      <p:sp>
        <p:nvSpPr>
          <p:cNvPr id="31" name="Text 29"/>
          <p:cNvSpPr/>
          <p:nvPr/>
        </p:nvSpPr>
        <p:spPr>
          <a:xfrm>
            <a:off x="1170432" y="4215384"/>
            <a:ext cx="4553712" cy="292608"/>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Tableau developers hired or contracted to build and maintain</a:t>
            </a:r>
            <a:endParaRPr lang="en-US" sz="1000" dirty="0"/>
          </a:p>
        </p:txBody>
      </p:sp>
      <p:sp>
        <p:nvSpPr>
          <p:cNvPr id="32" name="Shape 30"/>
          <p:cNvSpPr/>
          <p:nvPr/>
        </p:nvSpPr>
        <p:spPr>
          <a:xfrm>
            <a:off x="896112" y="4608576"/>
            <a:ext cx="128016" cy="128016"/>
          </a:xfrm>
          <a:prstGeom prst="ellipse">
            <a:avLst/>
          </a:prstGeom>
          <a:solidFill>
            <a:srgbClr val="C3CBD1"/>
          </a:solidFill>
          <a:ln/>
        </p:spPr>
      </p:sp>
      <p:sp>
        <p:nvSpPr>
          <p:cNvPr id="33" name="Text 31"/>
          <p:cNvSpPr/>
          <p:nvPr/>
        </p:nvSpPr>
        <p:spPr>
          <a:xfrm>
            <a:off x="1170432" y="4544568"/>
            <a:ext cx="4553712" cy="292608"/>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A second platform to host, upgrade and support</a:t>
            </a:r>
            <a:endParaRPr lang="en-US" sz="1000" dirty="0"/>
          </a:p>
        </p:txBody>
      </p:sp>
      <p:sp>
        <p:nvSpPr>
          <p:cNvPr id="34" name="Shape 32"/>
          <p:cNvSpPr/>
          <p:nvPr/>
        </p:nvSpPr>
        <p:spPr>
          <a:xfrm>
            <a:off x="896112" y="4937760"/>
            <a:ext cx="128016" cy="128016"/>
          </a:xfrm>
          <a:prstGeom prst="ellipse">
            <a:avLst/>
          </a:prstGeom>
          <a:solidFill>
            <a:srgbClr val="C3CBD1"/>
          </a:solidFill>
          <a:ln/>
        </p:spPr>
      </p:sp>
      <p:sp>
        <p:nvSpPr>
          <p:cNvPr id="35" name="Text 33"/>
          <p:cNvSpPr/>
          <p:nvPr/>
        </p:nvSpPr>
        <p:spPr>
          <a:xfrm>
            <a:off x="1170432" y="4873752"/>
            <a:ext cx="4553712" cy="292608"/>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Access rules and row-level security rebuilt away from the data</a:t>
            </a:r>
            <a:endParaRPr lang="en-US" sz="1000" dirty="0"/>
          </a:p>
        </p:txBody>
      </p:sp>
      <p:sp>
        <p:nvSpPr>
          <p:cNvPr id="36" name="Shape 34"/>
          <p:cNvSpPr/>
          <p:nvPr/>
        </p:nvSpPr>
        <p:spPr>
          <a:xfrm>
            <a:off x="6208776" y="3401568"/>
            <a:ext cx="5431536" cy="1755648"/>
          </a:xfrm>
          <a:prstGeom prst="roundRect">
            <a:avLst>
              <a:gd name="adj" fmla="val 4167"/>
            </a:avLst>
          </a:prstGeom>
          <a:solidFill>
            <a:srgbClr val="053057"/>
          </a:solidFill>
          <a:ln w="12700">
            <a:solidFill>
              <a:srgbClr val="053057"/>
            </a:solidFill>
            <a:prstDash val="solid"/>
          </a:ln>
        </p:spPr>
      </p:sp>
      <p:sp>
        <p:nvSpPr>
          <p:cNvPr id="37" name="Text 35"/>
          <p:cNvSpPr/>
          <p:nvPr/>
        </p:nvSpPr>
        <p:spPr>
          <a:xfrm>
            <a:off x="6501384" y="3566160"/>
            <a:ext cx="4846320" cy="237744"/>
          </a:xfrm>
          <a:prstGeom prst="rect">
            <a:avLst/>
          </a:prstGeom>
          <a:noFill/>
          <a:ln/>
        </p:spPr>
        <p:txBody>
          <a:bodyPr wrap="square" lIns="0" tIns="0" rIns="0" bIns="0" rtlCol="0" anchor="ctr"/>
          <a:lstStyle/>
          <a:p>
            <a:pPr indent="0" marL="0">
              <a:buNone/>
            </a:pPr>
            <a:r>
              <a:rPr lang="en-US" sz="1050" b="1" spc="150" kern="0" dirty="0">
                <a:solidFill>
                  <a:srgbClr val="00EDED"/>
                </a:solidFill>
                <a:latin typeface="Montserrat" pitchFamily="34" charset="0"/>
                <a:ea typeface="Montserrat" pitchFamily="34" charset="-122"/>
                <a:cs typeface="Montserrat" pitchFamily="34" charset="-120"/>
              </a:rPr>
              <a:t>WHAT YOU ALREADY OWN</a:t>
            </a:r>
            <a:endParaRPr lang="en-US" sz="1050" dirty="0"/>
          </a:p>
        </p:txBody>
      </p:sp>
      <p:sp>
        <p:nvSpPr>
          <p:cNvPr id="38" name="Shape 36"/>
          <p:cNvSpPr/>
          <p:nvPr/>
        </p:nvSpPr>
        <p:spPr>
          <a:xfrm>
            <a:off x="6556248" y="3950208"/>
            <a:ext cx="128016" cy="128016"/>
          </a:xfrm>
          <a:prstGeom prst="ellipse">
            <a:avLst/>
          </a:prstGeom>
          <a:solidFill>
            <a:srgbClr val="00EDED"/>
          </a:solidFill>
          <a:ln/>
        </p:spPr>
      </p:sp>
      <p:sp>
        <p:nvSpPr>
          <p:cNvPr id="39" name="Text 37"/>
          <p:cNvSpPr/>
          <p:nvPr/>
        </p:nvSpPr>
        <p:spPr>
          <a:xfrm>
            <a:off x="6830568" y="3886200"/>
            <a:ext cx="4553712" cy="292608"/>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No BI licence — Streamlit is already included in Snowflake</a:t>
            </a:r>
            <a:endParaRPr lang="en-US" sz="1000" dirty="0"/>
          </a:p>
        </p:txBody>
      </p:sp>
      <p:sp>
        <p:nvSpPr>
          <p:cNvPr id="40" name="Shape 38"/>
          <p:cNvSpPr/>
          <p:nvPr/>
        </p:nvSpPr>
        <p:spPr>
          <a:xfrm>
            <a:off x="6556248" y="4279392"/>
            <a:ext cx="128016" cy="128016"/>
          </a:xfrm>
          <a:prstGeom prst="ellipse">
            <a:avLst/>
          </a:prstGeom>
          <a:solidFill>
            <a:srgbClr val="00EDED"/>
          </a:solidFill>
          <a:ln/>
        </p:spPr>
      </p:sp>
      <p:sp>
        <p:nvSpPr>
          <p:cNvPr id="41" name="Text 39"/>
          <p:cNvSpPr/>
          <p:nvPr/>
        </p:nvSpPr>
        <p:spPr>
          <a:xfrm>
            <a:off x="6830568" y="4215384"/>
            <a:ext cx="4553712" cy="292608"/>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Built and owned by the data engineers already on the platform</a:t>
            </a:r>
            <a:endParaRPr lang="en-US" sz="1000" dirty="0"/>
          </a:p>
        </p:txBody>
      </p:sp>
      <p:sp>
        <p:nvSpPr>
          <p:cNvPr id="42" name="Shape 40"/>
          <p:cNvSpPr/>
          <p:nvPr/>
        </p:nvSpPr>
        <p:spPr>
          <a:xfrm>
            <a:off x="6556248" y="4608576"/>
            <a:ext cx="128016" cy="128016"/>
          </a:xfrm>
          <a:prstGeom prst="ellipse">
            <a:avLst/>
          </a:prstGeom>
          <a:solidFill>
            <a:srgbClr val="00EDED"/>
          </a:solidFill>
          <a:ln/>
        </p:spPr>
      </p:sp>
      <p:sp>
        <p:nvSpPr>
          <p:cNvPr id="43" name="Text 41"/>
          <p:cNvSpPr/>
          <p:nvPr/>
        </p:nvSpPr>
        <p:spPr>
          <a:xfrm>
            <a:off x="6830568" y="4544568"/>
            <a:ext cx="4553712" cy="292608"/>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Serverless inside Snowflake, with nothing extra to run</a:t>
            </a:r>
            <a:endParaRPr lang="en-US" sz="1000" dirty="0"/>
          </a:p>
        </p:txBody>
      </p:sp>
      <p:sp>
        <p:nvSpPr>
          <p:cNvPr id="44" name="Shape 42"/>
          <p:cNvSpPr/>
          <p:nvPr/>
        </p:nvSpPr>
        <p:spPr>
          <a:xfrm>
            <a:off x="6556248" y="4937760"/>
            <a:ext cx="128016" cy="128016"/>
          </a:xfrm>
          <a:prstGeom prst="ellipse">
            <a:avLst/>
          </a:prstGeom>
          <a:solidFill>
            <a:srgbClr val="00EDED"/>
          </a:solidFill>
          <a:ln/>
        </p:spPr>
      </p:sp>
      <p:sp>
        <p:nvSpPr>
          <p:cNvPr id="45" name="Text 43"/>
          <p:cNvSpPr/>
          <p:nvPr/>
        </p:nvSpPr>
        <p:spPr>
          <a:xfrm>
            <a:off x="6830568" y="4873752"/>
            <a:ext cx="4553712" cy="292608"/>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Governance inherited from Snowflake — stronger than BI-layer security</a:t>
            </a:r>
            <a:endParaRPr lang="en-US" sz="1000" dirty="0"/>
          </a:p>
        </p:txBody>
      </p:sp>
      <p:sp>
        <p:nvSpPr>
          <p:cNvPr id="46" name="Shape 44"/>
          <p:cNvSpPr/>
          <p:nvPr/>
        </p:nvSpPr>
        <p:spPr>
          <a:xfrm>
            <a:off x="548640" y="5321808"/>
            <a:ext cx="11091672" cy="969264"/>
          </a:xfrm>
          <a:prstGeom prst="roundRect">
            <a:avLst>
              <a:gd name="adj" fmla="val 7547"/>
            </a:avLst>
          </a:prstGeom>
          <a:solidFill>
            <a:srgbClr val="053057"/>
          </a:solidFill>
          <a:ln w="15875">
            <a:solidFill>
              <a:srgbClr val="00EDED"/>
            </a:solidFill>
            <a:prstDash val="solid"/>
          </a:ln>
        </p:spPr>
      </p:sp>
      <p:sp>
        <p:nvSpPr>
          <p:cNvPr id="47" name="Text 45"/>
          <p:cNvSpPr/>
          <p:nvPr/>
        </p:nvSpPr>
        <p:spPr>
          <a:xfrm>
            <a:off x="841248" y="5468112"/>
            <a:ext cx="10515600"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Every migrated dashboard converts a Tableau extract into live Snowflake consumption</a:t>
            </a:r>
            <a:endParaRPr lang="en-US" sz="1300" dirty="0"/>
          </a:p>
        </p:txBody>
      </p:sp>
      <p:sp>
        <p:nvSpPr>
          <p:cNvPr id="48" name="Text 46"/>
          <p:cNvSpPr/>
          <p:nvPr/>
        </p:nvSpPr>
        <p:spPr>
          <a:xfrm>
            <a:off x="841248" y="5779008"/>
            <a:ext cx="10515600" cy="420624"/>
          </a:xfrm>
          <a:prstGeom prst="rect">
            <a:avLst/>
          </a:prstGeom>
          <a:noFill/>
          <a:ln/>
        </p:spPr>
        <p:txBody>
          <a:bodyPr wrap="square" lIns="0" tIns="0" rIns="0" bIns="0" rtlCol="0" anchor="ctr"/>
          <a:lstStyle/>
          <a:p>
            <a:pPr indent="0" marL="0">
              <a:buNone/>
            </a:pPr>
            <a:r>
              <a:rPr lang="en-US" sz="1050" dirty="0">
                <a:solidFill>
                  <a:srgbClr val="D6E6F0"/>
                </a:solidFill>
                <a:latin typeface="Montserrat" pitchFamily="34" charset="0"/>
                <a:ea typeface="Montserrat" pitchFamily="34" charset="-122"/>
                <a:cs typeface="Montserrat" pitchFamily="34" charset="-120"/>
              </a:rPr>
              <a:t>An extract is served by Tableau's own engine, so Snowflake sees no query workload at all. Migrated, every view becomes warehouse compute — and every migration becomes Cortex consumption — while the recurring licence above simply stops.</a:t>
            </a:r>
            <a:endParaRPr lang="en-US" sz="1050" dirty="0"/>
          </a:p>
        </p:txBody>
      </p:sp>
      <p:sp>
        <p:nvSpPr>
          <p:cNvPr id="49" name="Shape 47"/>
          <p:cNvSpPr/>
          <p:nvPr/>
        </p:nvSpPr>
        <p:spPr>
          <a:xfrm>
            <a:off x="548640" y="6400800"/>
            <a:ext cx="11091672" cy="420624"/>
          </a:xfrm>
          <a:prstGeom prst="roundRect">
            <a:avLst>
              <a:gd name="adj" fmla="val 13043"/>
            </a:avLst>
          </a:prstGeom>
          <a:solidFill>
            <a:srgbClr val="053057"/>
          </a:solidFill>
          <a:ln w="12700">
            <a:solidFill>
              <a:srgbClr val="053057"/>
            </a:solidFill>
            <a:prstDash val="solid"/>
          </a:ln>
        </p:spPr>
      </p:sp>
      <p:sp>
        <p:nvSpPr>
          <p:cNvPr id="50" name="Text 48"/>
          <p:cNvSpPr/>
          <p:nvPr/>
        </p:nvSpPr>
        <p:spPr>
          <a:xfrm>
            <a:off x="548640" y="6400800"/>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9601200" y="3566160"/>
            <a:ext cx="4023360" cy="4023360"/>
          </a:xfrm>
          <a:prstGeom prst="ellipse">
            <a:avLst/>
          </a:prstGeom>
          <a:solidFill>
            <a:srgbClr val="053057"/>
          </a:solidFill>
          <a:ln w="15875">
            <a:solidFill>
              <a:srgbClr val="17517F"/>
            </a:solidFill>
            <a:prstDash val="solid"/>
          </a:ln>
        </p:spPr>
      </p:sp>
      <p:sp>
        <p:nvSpPr>
          <p:cNvPr id="3" name="Text 1"/>
          <p:cNvSpPr/>
          <p:nvPr/>
        </p:nvSpPr>
        <p:spPr>
          <a:xfrm>
            <a:off x="777240" y="822960"/>
            <a:ext cx="5486400" cy="292608"/>
          </a:xfrm>
          <a:prstGeom prst="rect">
            <a:avLst/>
          </a:prstGeom>
          <a:noFill/>
          <a:ln/>
        </p:spPr>
        <p:txBody>
          <a:bodyPr wrap="square" lIns="0" tIns="0" rIns="0" bIns="0" rtlCol="0" anchor="ctr"/>
          <a:lstStyle/>
          <a:p>
            <a:pPr indent="0" marL="0">
              <a:buNone/>
            </a:pPr>
            <a:r>
              <a:rPr lang="en-US" sz="1300" b="1" spc="300" kern="0" dirty="0">
                <a:solidFill>
                  <a:srgbClr val="00EDED"/>
                </a:solidFill>
                <a:latin typeface="Montserrat" pitchFamily="34" charset="0"/>
                <a:ea typeface="Montserrat" pitchFamily="34" charset="-122"/>
                <a:cs typeface="Montserrat" pitchFamily="34" charset="-120"/>
              </a:rPr>
              <a:t>DEMO</a:t>
            </a:r>
            <a:endParaRPr lang="en-US" sz="1300" dirty="0"/>
          </a:p>
        </p:txBody>
      </p:sp>
      <p:sp>
        <p:nvSpPr>
          <p:cNvPr id="4" name="Text 2"/>
          <p:cNvSpPr/>
          <p:nvPr/>
        </p:nvSpPr>
        <p:spPr>
          <a:xfrm>
            <a:off x="777240" y="1188720"/>
            <a:ext cx="8595360" cy="694944"/>
          </a:xfrm>
          <a:prstGeom prst="rect">
            <a:avLst/>
          </a:prstGeom>
          <a:noFill/>
          <a:ln/>
        </p:spPr>
        <p:txBody>
          <a:bodyPr wrap="square" lIns="0" tIns="0" rIns="0" bIns="0"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See it run inside Snowflake</a:t>
            </a:r>
            <a:endParaRPr lang="en-US" sz="3600" dirty="0"/>
          </a:p>
        </p:txBody>
      </p:sp>
      <p:sp>
        <p:nvSpPr>
          <p:cNvPr id="5" name="Text 3"/>
          <p:cNvSpPr/>
          <p:nvPr/>
        </p:nvSpPr>
        <p:spPr>
          <a:xfrm>
            <a:off x="777240" y="1975104"/>
            <a:ext cx="8321040" cy="877824"/>
          </a:xfrm>
          <a:prstGeom prst="rect">
            <a:avLst/>
          </a:prstGeom>
          <a:noFill/>
          <a:ln/>
        </p:spPr>
        <p:txBody>
          <a:bodyPr wrap="square" lIns="0" tIns="0" rIns="0" bIns="0" rtlCol="0" anchor="ctr"/>
          <a:lstStyle/>
          <a:p>
            <a:pPr indent="0" marL="0">
              <a:buNone/>
            </a:pPr>
            <a:r>
              <a:rPr lang="en-US" sz="1350" dirty="0">
                <a:solidFill>
                  <a:srgbClr val="A2F3F3"/>
                </a:solidFill>
                <a:latin typeface="Montserrat" pitchFamily="34" charset="0"/>
                <a:ea typeface="Montserrat" pitchFamily="34" charset="-122"/>
                <a:cs typeface="Montserrat" pitchFamily="34" charset="-120"/>
              </a:rPr>
              <a:t>Upload a Tableau workbook and watch every stage execute in the account — tables created and loaded, Cortex translating the hard calculations, the semantic view deployed, the dashboard rendered, and the numbers checked measure by measure.</a:t>
            </a:r>
            <a:endParaRPr lang="en-US" sz="1350" dirty="0"/>
          </a:p>
        </p:txBody>
      </p:sp>
      <p:sp>
        <p:nvSpPr>
          <p:cNvPr id="6" name="Shape 4"/>
          <p:cNvSpPr/>
          <p:nvPr/>
        </p:nvSpPr>
        <p:spPr>
          <a:xfrm>
            <a:off x="777240" y="3017520"/>
            <a:ext cx="1847088" cy="585216"/>
          </a:xfrm>
          <a:prstGeom prst="roundRect">
            <a:avLst>
              <a:gd name="adj" fmla="val 12500"/>
            </a:avLst>
          </a:prstGeom>
          <a:solidFill>
            <a:srgbClr val="0A3E6B"/>
          </a:solidFill>
          <a:ln w="12700">
            <a:solidFill>
              <a:srgbClr val="17517F"/>
            </a:solidFill>
            <a:prstDash val="solid"/>
          </a:ln>
        </p:spPr>
      </p:sp>
      <p:sp>
        <p:nvSpPr>
          <p:cNvPr id="7" name="Text 5"/>
          <p:cNvSpPr/>
          <p:nvPr/>
        </p:nvSpPr>
        <p:spPr>
          <a:xfrm>
            <a:off x="777240" y="3017520"/>
            <a:ext cx="1847088" cy="585216"/>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Discovery</a:t>
            </a:r>
            <a:endParaRPr lang="en-US" sz="950" dirty="0"/>
          </a:p>
        </p:txBody>
      </p:sp>
      <p:sp>
        <p:nvSpPr>
          <p:cNvPr id="8" name="Text 6"/>
          <p:cNvSpPr/>
          <p:nvPr/>
        </p:nvSpPr>
        <p:spPr>
          <a:xfrm>
            <a:off x="2624328" y="3017520"/>
            <a:ext cx="292608" cy="585216"/>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9" name="Shape 7"/>
          <p:cNvSpPr/>
          <p:nvPr/>
        </p:nvSpPr>
        <p:spPr>
          <a:xfrm>
            <a:off x="2916936" y="3017520"/>
            <a:ext cx="1847088" cy="585216"/>
          </a:xfrm>
          <a:prstGeom prst="roundRect">
            <a:avLst>
              <a:gd name="adj" fmla="val 12500"/>
            </a:avLst>
          </a:prstGeom>
          <a:solidFill>
            <a:srgbClr val="0A3E6B"/>
          </a:solidFill>
          <a:ln w="12700">
            <a:solidFill>
              <a:srgbClr val="17517F"/>
            </a:solidFill>
            <a:prstDash val="solid"/>
          </a:ln>
        </p:spPr>
      </p:sp>
      <p:sp>
        <p:nvSpPr>
          <p:cNvPr id="10" name="Text 8"/>
          <p:cNvSpPr/>
          <p:nvPr/>
        </p:nvSpPr>
        <p:spPr>
          <a:xfrm>
            <a:off x="2916936" y="3017520"/>
            <a:ext cx="1847088" cy="585216"/>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Model Extraction</a:t>
            </a:r>
            <a:endParaRPr lang="en-US" sz="950" dirty="0"/>
          </a:p>
        </p:txBody>
      </p:sp>
      <p:sp>
        <p:nvSpPr>
          <p:cNvPr id="11" name="Text 9"/>
          <p:cNvSpPr/>
          <p:nvPr/>
        </p:nvSpPr>
        <p:spPr>
          <a:xfrm>
            <a:off x="4764024" y="3017520"/>
            <a:ext cx="292608" cy="585216"/>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2" name="Shape 10"/>
          <p:cNvSpPr/>
          <p:nvPr/>
        </p:nvSpPr>
        <p:spPr>
          <a:xfrm>
            <a:off x="5056632" y="3017520"/>
            <a:ext cx="1847088" cy="585216"/>
          </a:xfrm>
          <a:prstGeom prst="roundRect">
            <a:avLst>
              <a:gd name="adj" fmla="val 12500"/>
            </a:avLst>
          </a:prstGeom>
          <a:solidFill>
            <a:srgbClr val="0A3E6B"/>
          </a:solidFill>
          <a:ln w="19050">
            <a:solidFill>
              <a:srgbClr val="00EDED"/>
            </a:solidFill>
            <a:prstDash val="solid"/>
          </a:ln>
        </p:spPr>
      </p:sp>
      <p:sp>
        <p:nvSpPr>
          <p:cNvPr id="13" name="Text 11"/>
          <p:cNvSpPr/>
          <p:nvPr/>
        </p:nvSpPr>
        <p:spPr>
          <a:xfrm>
            <a:off x="5056632" y="3017520"/>
            <a:ext cx="1847088" cy="585216"/>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Cortex Translation</a:t>
            </a:r>
            <a:endParaRPr lang="en-US" sz="950" dirty="0"/>
          </a:p>
        </p:txBody>
      </p:sp>
      <p:sp>
        <p:nvSpPr>
          <p:cNvPr id="14" name="Text 12"/>
          <p:cNvSpPr/>
          <p:nvPr/>
        </p:nvSpPr>
        <p:spPr>
          <a:xfrm>
            <a:off x="6903720" y="3017520"/>
            <a:ext cx="292608" cy="585216"/>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5" name="Shape 13"/>
          <p:cNvSpPr/>
          <p:nvPr/>
        </p:nvSpPr>
        <p:spPr>
          <a:xfrm>
            <a:off x="7196328" y="3017520"/>
            <a:ext cx="1847088" cy="585216"/>
          </a:xfrm>
          <a:prstGeom prst="roundRect">
            <a:avLst>
              <a:gd name="adj" fmla="val 12500"/>
            </a:avLst>
          </a:prstGeom>
          <a:solidFill>
            <a:srgbClr val="0A3E6B"/>
          </a:solidFill>
          <a:ln w="19050">
            <a:solidFill>
              <a:srgbClr val="00EDED"/>
            </a:solidFill>
            <a:prstDash val="solid"/>
          </a:ln>
        </p:spPr>
      </p:sp>
      <p:sp>
        <p:nvSpPr>
          <p:cNvPr id="16" name="Text 14"/>
          <p:cNvSpPr/>
          <p:nvPr/>
        </p:nvSpPr>
        <p:spPr>
          <a:xfrm>
            <a:off x="7196328" y="3017520"/>
            <a:ext cx="1847088" cy="585216"/>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Semantic + App</a:t>
            </a:r>
            <a:endParaRPr lang="en-US" sz="950" dirty="0"/>
          </a:p>
        </p:txBody>
      </p:sp>
      <p:sp>
        <p:nvSpPr>
          <p:cNvPr id="17" name="Text 15"/>
          <p:cNvSpPr/>
          <p:nvPr/>
        </p:nvSpPr>
        <p:spPr>
          <a:xfrm>
            <a:off x="9043416" y="3017520"/>
            <a:ext cx="292608" cy="585216"/>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8" name="Shape 16"/>
          <p:cNvSpPr/>
          <p:nvPr/>
        </p:nvSpPr>
        <p:spPr>
          <a:xfrm>
            <a:off x="9336024" y="3017520"/>
            <a:ext cx="1847088" cy="585216"/>
          </a:xfrm>
          <a:prstGeom prst="roundRect">
            <a:avLst>
              <a:gd name="adj" fmla="val 12500"/>
            </a:avLst>
          </a:prstGeom>
          <a:solidFill>
            <a:srgbClr val="0A3E6B"/>
          </a:solidFill>
          <a:ln w="19050">
            <a:solidFill>
              <a:srgbClr val="00EDED"/>
            </a:solidFill>
            <a:prstDash val="solid"/>
          </a:ln>
        </p:spPr>
      </p:sp>
      <p:sp>
        <p:nvSpPr>
          <p:cNvPr id="19" name="Text 17"/>
          <p:cNvSpPr/>
          <p:nvPr/>
        </p:nvSpPr>
        <p:spPr>
          <a:xfrm>
            <a:off x="9336024" y="3017520"/>
            <a:ext cx="1847088" cy="585216"/>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Cortex Validation</a:t>
            </a:r>
            <a:endParaRPr lang="en-US" sz="950" dirty="0"/>
          </a:p>
        </p:txBody>
      </p:sp>
      <p:sp>
        <p:nvSpPr>
          <p:cNvPr id="20" name="Text 18"/>
          <p:cNvSpPr/>
          <p:nvPr/>
        </p:nvSpPr>
        <p:spPr>
          <a:xfrm>
            <a:off x="777240" y="3712464"/>
            <a:ext cx="9692640" cy="365760"/>
          </a:xfrm>
          <a:prstGeom prst="rect">
            <a:avLst/>
          </a:prstGeom>
          <a:noFill/>
          <a:ln/>
        </p:spPr>
        <p:txBody>
          <a:bodyPr wrap="square" lIns="0" tIns="0" rIns="0" bIns="0" rtlCol="0" anchor="ctr"/>
          <a:lstStyle/>
          <a:p>
            <a:pPr indent="0" marL="0">
              <a:buNone/>
            </a:pPr>
            <a:r>
              <a:rPr lang="en-US" sz="1100" dirty="0">
                <a:solidFill>
                  <a:srgbClr val="6B7C88"/>
                </a:solidFill>
                <a:latin typeface="Montserrat" pitchFamily="34" charset="0"/>
                <a:ea typeface="Montserrat" pitchFamily="34" charset="-122"/>
                <a:cs typeface="Montserrat" pitchFamily="34" charset="-120"/>
              </a:rPr>
              <a:t>Every statement is visible in Snowsight Query History — the Cortex calls, the semantic view creation and the dashboard queries, with live timestamps.</a:t>
            </a:r>
            <a:endParaRPr lang="en-US" sz="1100" dirty="0"/>
          </a:p>
        </p:txBody>
      </p:sp>
      <p:sp>
        <p:nvSpPr>
          <p:cNvPr id="21" name="Text 19"/>
          <p:cNvSpPr/>
          <p:nvPr/>
        </p:nvSpPr>
        <p:spPr>
          <a:xfrm>
            <a:off x="548640" y="4206240"/>
            <a:ext cx="7315200" cy="310896"/>
          </a:xfrm>
          <a:prstGeom prst="rect">
            <a:avLst/>
          </a:prstGeom>
          <a:noFill/>
          <a:ln/>
        </p:spPr>
        <p:txBody>
          <a:bodyPr wrap="square" lIns="0" tIns="0" rIns="0" bIns="0" rtlCol="0" anchor="ctr"/>
          <a:lstStyle/>
          <a:p>
            <a:pPr indent="0" marL="0">
              <a:buNone/>
            </a:pPr>
            <a:r>
              <a:rPr lang="en-US" sz="1700" b="1" dirty="0">
                <a:solidFill>
                  <a:srgbClr val="FFFFFF"/>
                </a:solidFill>
                <a:latin typeface="Montserrat" pitchFamily="34" charset="0"/>
                <a:ea typeface="Montserrat" pitchFamily="34" charset="-122"/>
                <a:cs typeface="Montserrat" pitchFamily="34" charset="-120"/>
              </a:rPr>
              <a:t>What You Need to Get Started</a:t>
            </a:r>
            <a:endParaRPr lang="en-US" sz="1700" dirty="0"/>
          </a:p>
        </p:txBody>
      </p:sp>
      <p:sp>
        <p:nvSpPr>
          <p:cNvPr id="22" name="Shape 20"/>
          <p:cNvSpPr/>
          <p:nvPr/>
        </p:nvSpPr>
        <p:spPr>
          <a:xfrm>
            <a:off x="548640" y="4608576"/>
            <a:ext cx="2103120" cy="1042416"/>
          </a:xfrm>
          <a:prstGeom prst="roundRect">
            <a:avLst>
              <a:gd name="adj" fmla="val 7018"/>
            </a:avLst>
          </a:prstGeom>
          <a:solidFill>
            <a:srgbClr val="0A3E6B"/>
          </a:solidFill>
          <a:ln w="12700">
            <a:solidFill>
              <a:srgbClr val="17517F"/>
            </a:solidFill>
            <a:prstDash val="solid"/>
          </a:ln>
        </p:spPr>
      </p:sp>
      <p:sp>
        <p:nvSpPr>
          <p:cNvPr id="23" name="Text 21"/>
          <p:cNvSpPr/>
          <p:nvPr/>
        </p:nvSpPr>
        <p:spPr>
          <a:xfrm>
            <a:off x="731520" y="4736592"/>
            <a:ext cx="365760" cy="237744"/>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1</a:t>
            </a:r>
            <a:endParaRPr lang="en-US" sz="1250" dirty="0"/>
          </a:p>
        </p:txBody>
      </p:sp>
      <p:sp>
        <p:nvSpPr>
          <p:cNvPr id="24" name="Text 22"/>
          <p:cNvSpPr/>
          <p:nvPr/>
        </p:nvSpPr>
        <p:spPr>
          <a:xfrm>
            <a:off x="731520" y="4974336"/>
            <a:ext cx="1737360" cy="237744"/>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Snowflake account</a:t>
            </a:r>
            <a:endParaRPr lang="en-US" sz="1050" dirty="0"/>
          </a:p>
        </p:txBody>
      </p:sp>
      <p:sp>
        <p:nvSpPr>
          <p:cNvPr id="25" name="Text 23"/>
          <p:cNvSpPr/>
          <p:nvPr/>
        </p:nvSpPr>
        <p:spPr>
          <a:xfrm>
            <a:off x="731520" y="5212080"/>
            <a:ext cx="1737360" cy="384048"/>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with Streamlit-in-Snowflake enabled</a:t>
            </a:r>
            <a:endParaRPr lang="en-US" sz="850" dirty="0"/>
          </a:p>
        </p:txBody>
      </p:sp>
      <p:sp>
        <p:nvSpPr>
          <p:cNvPr id="26" name="Shape 24"/>
          <p:cNvSpPr/>
          <p:nvPr/>
        </p:nvSpPr>
        <p:spPr>
          <a:xfrm>
            <a:off x="2816352" y="4608576"/>
            <a:ext cx="2103120" cy="1042416"/>
          </a:xfrm>
          <a:prstGeom prst="roundRect">
            <a:avLst>
              <a:gd name="adj" fmla="val 7018"/>
            </a:avLst>
          </a:prstGeom>
          <a:solidFill>
            <a:srgbClr val="0A3E6B"/>
          </a:solidFill>
          <a:ln w="12700">
            <a:solidFill>
              <a:srgbClr val="17517F"/>
            </a:solidFill>
            <a:prstDash val="solid"/>
          </a:ln>
        </p:spPr>
      </p:sp>
      <p:sp>
        <p:nvSpPr>
          <p:cNvPr id="27" name="Text 25"/>
          <p:cNvSpPr/>
          <p:nvPr/>
        </p:nvSpPr>
        <p:spPr>
          <a:xfrm>
            <a:off x="2999232" y="4736592"/>
            <a:ext cx="365760" cy="237744"/>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2</a:t>
            </a:r>
            <a:endParaRPr lang="en-US" sz="1250" dirty="0"/>
          </a:p>
        </p:txBody>
      </p:sp>
      <p:sp>
        <p:nvSpPr>
          <p:cNvPr id="28" name="Text 26"/>
          <p:cNvSpPr/>
          <p:nvPr/>
        </p:nvSpPr>
        <p:spPr>
          <a:xfrm>
            <a:off x="2999232" y="4974336"/>
            <a:ext cx="1737360" cy="237744"/>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Warehouse + schema</a:t>
            </a:r>
            <a:endParaRPr lang="en-US" sz="1050" dirty="0"/>
          </a:p>
        </p:txBody>
      </p:sp>
      <p:sp>
        <p:nvSpPr>
          <p:cNvPr id="29" name="Text 27"/>
          <p:cNvSpPr/>
          <p:nvPr/>
        </p:nvSpPr>
        <p:spPr>
          <a:xfrm>
            <a:off x="2999232" y="5212080"/>
            <a:ext cx="1737360" cy="384048"/>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somewhere to land the tables</a:t>
            </a:r>
            <a:endParaRPr lang="en-US" sz="850" dirty="0"/>
          </a:p>
        </p:txBody>
      </p:sp>
      <p:sp>
        <p:nvSpPr>
          <p:cNvPr id="30" name="Shape 28"/>
          <p:cNvSpPr/>
          <p:nvPr/>
        </p:nvSpPr>
        <p:spPr>
          <a:xfrm>
            <a:off x="5084064" y="4608576"/>
            <a:ext cx="2103120" cy="1042416"/>
          </a:xfrm>
          <a:prstGeom prst="roundRect">
            <a:avLst>
              <a:gd name="adj" fmla="val 7018"/>
            </a:avLst>
          </a:prstGeom>
          <a:solidFill>
            <a:srgbClr val="0A3E6B"/>
          </a:solidFill>
          <a:ln w="12700">
            <a:solidFill>
              <a:srgbClr val="17517F"/>
            </a:solidFill>
            <a:prstDash val="solid"/>
          </a:ln>
        </p:spPr>
      </p:sp>
      <p:sp>
        <p:nvSpPr>
          <p:cNvPr id="31" name="Text 29"/>
          <p:cNvSpPr/>
          <p:nvPr/>
        </p:nvSpPr>
        <p:spPr>
          <a:xfrm>
            <a:off x="5266944" y="4736592"/>
            <a:ext cx="365760" cy="237744"/>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3</a:t>
            </a:r>
            <a:endParaRPr lang="en-US" sz="1250" dirty="0"/>
          </a:p>
        </p:txBody>
      </p:sp>
      <p:sp>
        <p:nvSpPr>
          <p:cNvPr id="32" name="Text 30"/>
          <p:cNvSpPr/>
          <p:nvPr/>
        </p:nvSpPr>
        <p:spPr>
          <a:xfrm>
            <a:off x="5266944" y="4974336"/>
            <a:ext cx="1737360" cy="237744"/>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Role privileges</a:t>
            </a:r>
            <a:endParaRPr lang="en-US" sz="1050" dirty="0"/>
          </a:p>
        </p:txBody>
      </p:sp>
      <p:sp>
        <p:nvSpPr>
          <p:cNvPr id="33" name="Text 31"/>
          <p:cNvSpPr/>
          <p:nvPr/>
        </p:nvSpPr>
        <p:spPr>
          <a:xfrm>
            <a:off x="5266944" y="5212080"/>
            <a:ext cx="1737360" cy="384048"/>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create Streamlit apps, tables, semantic views</a:t>
            </a:r>
            <a:endParaRPr lang="en-US" sz="850" dirty="0"/>
          </a:p>
        </p:txBody>
      </p:sp>
      <p:sp>
        <p:nvSpPr>
          <p:cNvPr id="34" name="Shape 32"/>
          <p:cNvSpPr/>
          <p:nvPr/>
        </p:nvSpPr>
        <p:spPr>
          <a:xfrm>
            <a:off x="7351776" y="4608576"/>
            <a:ext cx="2103120" cy="1042416"/>
          </a:xfrm>
          <a:prstGeom prst="roundRect">
            <a:avLst>
              <a:gd name="adj" fmla="val 7018"/>
            </a:avLst>
          </a:prstGeom>
          <a:solidFill>
            <a:srgbClr val="0A3E6B"/>
          </a:solidFill>
          <a:ln w="12700">
            <a:solidFill>
              <a:srgbClr val="17517F"/>
            </a:solidFill>
            <a:prstDash val="solid"/>
          </a:ln>
        </p:spPr>
      </p:sp>
      <p:sp>
        <p:nvSpPr>
          <p:cNvPr id="35" name="Text 33"/>
          <p:cNvSpPr/>
          <p:nvPr/>
        </p:nvSpPr>
        <p:spPr>
          <a:xfrm>
            <a:off x="7534656" y="4736592"/>
            <a:ext cx="365760" cy="237744"/>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4</a:t>
            </a:r>
            <a:endParaRPr lang="en-US" sz="1250" dirty="0"/>
          </a:p>
        </p:txBody>
      </p:sp>
      <p:sp>
        <p:nvSpPr>
          <p:cNvPr id="36" name="Text 34"/>
          <p:cNvSpPr/>
          <p:nvPr/>
        </p:nvSpPr>
        <p:spPr>
          <a:xfrm>
            <a:off x="7534656" y="4974336"/>
            <a:ext cx="1737360" cy="237744"/>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Cortex enabled</a:t>
            </a:r>
            <a:endParaRPr lang="en-US" sz="1050" dirty="0"/>
          </a:p>
        </p:txBody>
      </p:sp>
      <p:sp>
        <p:nvSpPr>
          <p:cNvPr id="37" name="Text 35"/>
          <p:cNvSpPr/>
          <p:nvPr/>
        </p:nvSpPr>
        <p:spPr>
          <a:xfrm>
            <a:off x="7534656" y="5212080"/>
            <a:ext cx="1737360" cy="384048"/>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in-account Claude models in the region</a:t>
            </a:r>
            <a:endParaRPr lang="en-US" sz="850" dirty="0"/>
          </a:p>
        </p:txBody>
      </p:sp>
      <p:sp>
        <p:nvSpPr>
          <p:cNvPr id="38" name="Shape 36"/>
          <p:cNvSpPr/>
          <p:nvPr/>
        </p:nvSpPr>
        <p:spPr>
          <a:xfrm>
            <a:off x="9619488" y="4608576"/>
            <a:ext cx="2103120" cy="1042416"/>
          </a:xfrm>
          <a:prstGeom prst="roundRect">
            <a:avLst>
              <a:gd name="adj" fmla="val 7018"/>
            </a:avLst>
          </a:prstGeom>
          <a:solidFill>
            <a:srgbClr val="0A3E6B"/>
          </a:solidFill>
          <a:ln w="12700">
            <a:solidFill>
              <a:srgbClr val="17517F"/>
            </a:solidFill>
            <a:prstDash val="solid"/>
          </a:ln>
        </p:spPr>
      </p:sp>
      <p:sp>
        <p:nvSpPr>
          <p:cNvPr id="39" name="Text 37"/>
          <p:cNvSpPr/>
          <p:nvPr/>
        </p:nvSpPr>
        <p:spPr>
          <a:xfrm>
            <a:off x="9802368" y="4736592"/>
            <a:ext cx="365760" cy="237744"/>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5</a:t>
            </a:r>
            <a:endParaRPr lang="en-US" sz="1250" dirty="0"/>
          </a:p>
        </p:txBody>
      </p:sp>
      <p:sp>
        <p:nvSpPr>
          <p:cNvPr id="40" name="Text 38"/>
          <p:cNvSpPr/>
          <p:nvPr/>
        </p:nvSpPr>
        <p:spPr>
          <a:xfrm>
            <a:off x="9802368" y="4974336"/>
            <a:ext cx="1737360" cy="237744"/>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Tableau workbooks</a:t>
            </a:r>
            <a:endParaRPr lang="en-US" sz="1050" dirty="0"/>
          </a:p>
        </p:txBody>
      </p:sp>
      <p:sp>
        <p:nvSpPr>
          <p:cNvPr id="41" name="Text 39"/>
          <p:cNvSpPr/>
          <p:nvPr/>
        </p:nvSpPr>
        <p:spPr>
          <a:xfrm>
            <a:off x="9802368" y="5212080"/>
            <a:ext cx="1737360" cy="384048"/>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.twb / .twbx files to migrate</a:t>
            </a:r>
            <a:endParaRPr lang="en-US" sz="850" dirty="0"/>
          </a:p>
        </p:txBody>
      </p:sp>
      <p:sp>
        <p:nvSpPr>
          <p:cNvPr id="42" name="Shape 40"/>
          <p:cNvSpPr/>
          <p:nvPr/>
        </p:nvSpPr>
        <p:spPr>
          <a:xfrm>
            <a:off x="548640" y="5888736"/>
            <a:ext cx="11091672" cy="420624"/>
          </a:xfrm>
          <a:prstGeom prst="roundRect">
            <a:avLst>
              <a:gd name="adj" fmla="val 13043"/>
            </a:avLst>
          </a:prstGeom>
          <a:solidFill>
            <a:srgbClr val="0A3E6B"/>
          </a:solidFill>
          <a:ln w="12700">
            <a:solidFill>
              <a:srgbClr val="17517F"/>
            </a:solidFill>
            <a:prstDash val="solid"/>
          </a:ln>
        </p:spPr>
      </p:sp>
      <p:sp>
        <p:nvSpPr>
          <p:cNvPr id="43" name="Text 41"/>
          <p:cNvSpPr/>
          <p:nvPr/>
        </p:nvSpPr>
        <p:spPr>
          <a:xfrm>
            <a:off x="548640" y="5888736"/>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cp:lastModifiedBy>
  <cp:revision>1</cp:revision>
  <dcterms:created xsi:type="dcterms:W3CDTF">2026-07-22T15:19:35Z</dcterms:created>
  <dcterms:modified xsi:type="dcterms:W3CDTF">2026-07-22T15:19:35Z</dcterms:modified>
</cp:coreProperties>
</file>