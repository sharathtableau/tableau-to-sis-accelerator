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on consolidation: the customer already pays for Snowflake, and Streamlit and Cortex come with it. Tableau is a duplicated presentation layer — a licence line plus a scarce specialist skill — sitting on top of data Snowflake already stores and queries. The only reason it stays is the cost of rebuilding the existing dashboards, and that is what this automates.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Middle column matters most with this audience: the traditional answer to a Tableau problem is another BI tool, which changes the vendor but keeps the licence line and the specialist dependency. The accelerator is the only column where the layer disappears instead of moving.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Cyan-bordered stages are where Cortex is doing the work. Human-in-the-loop is deliberately presented as an enterprise control, because that is what an executive buyer wants to hear: the AI proposes, it is proven against real data, and a person signs it off — with an audit trail.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worked example makes Cortex's contribution tangible rather than abstract: a genuinely hard Tableau construct, the SQL Cortex produced, and the fact it was executed and checked against an independent ground truth before anyone accepted it. This is the slide to slow down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consumption slide. Every row is Snowflake surface the migration lights up — compute, storage, semantic views and Cortex — and the prerequisites are deliberately short, because the customer already has almost all of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this from the Snowsight-hosted app so every stage is physically executing on Snowflake compute. If anyone questions whether it is real, open Query History alongside and show the Cortex calls and CREATE SEMANTIC VIEW landing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53057"/>
        </a:solidFill>
      </p:bgPr>
    </p:bg>
    <p:spTree>
      <p:nvGrpSpPr>
        <p:cNvPr id="1" name=""/>
        <p:cNvGrpSpPr/>
        <p:nvPr/>
      </p:nvGrpSpPr>
      <p:grpSpPr>
        <a:xfrm>
          <a:off x="0" y="0"/>
          <a:ext cx="0" cy="0"/>
          <a:chOff x="0" y="0"/>
          <a:chExt cx="0" cy="0"/>
        </a:xfrm>
      </p:grpSpPr>
      <p:sp>
        <p:nvSpPr>
          <p:cNvPr id="2" name="Shape 0"/>
          <p:cNvSpPr/>
          <p:nvPr/>
        </p:nvSpPr>
        <p:spPr>
          <a:xfrm>
            <a:off x="9189720" y="-1051560"/>
            <a:ext cx="4206240" cy="4206240"/>
          </a:xfrm>
          <a:prstGeom prst="ellipse">
            <a:avLst/>
          </a:prstGeom>
          <a:solidFill>
            <a:srgbClr val="053057"/>
          </a:solidFill>
          <a:ln w="15875">
            <a:solidFill>
              <a:srgbClr val="00EDED"/>
            </a:solidFill>
            <a:prstDash val="solid"/>
          </a:ln>
        </p:spPr>
      </p:sp>
      <p:sp>
        <p:nvSpPr>
          <p:cNvPr id="3" name="Shape 1"/>
          <p:cNvSpPr/>
          <p:nvPr/>
        </p:nvSpPr>
        <p:spPr>
          <a:xfrm>
            <a:off x="10012680" y="-228600"/>
            <a:ext cx="2560320" cy="2560320"/>
          </a:xfrm>
          <a:prstGeom prst="ellipse">
            <a:avLst/>
          </a:prstGeom>
          <a:solidFill>
            <a:srgbClr val="053057"/>
          </a:solidFill>
          <a:ln w="9525">
            <a:solidFill>
              <a:srgbClr val="A2F3F3"/>
            </a:solidFill>
            <a:prstDash val="solid"/>
          </a:ln>
        </p:spPr>
      </p:sp>
      <p:sp>
        <p:nvSpPr>
          <p:cNvPr id="4" name="Shape 2"/>
          <p:cNvSpPr/>
          <p:nvPr/>
        </p:nvSpPr>
        <p:spPr>
          <a:xfrm>
            <a:off x="10698480" y="457200"/>
            <a:ext cx="1188720" cy="1188720"/>
          </a:xfrm>
          <a:prstGeom prst="ellipse">
            <a:avLst/>
          </a:prstGeom>
          <a:solidFill>
            <a:srgbClr val="00EDED"/>
          </a:solidFill>
          <a:ln/>
        </p:spPr>
      </p:sp>
      <p:sp>
        <p:nvSpPr>
          <p:cNvPr id="5" name="Text 3"/>
          <p:cNvSpPr/>
          <p:nvPr/>
        </p:nvSpPr>
        <p:spPr>
          <a:xfrm>
            <a:off x="777240" y="1828800"/>
            <a:ext cx="7315200" cy="274320"/>
          </a:xfrm>
          <a:prstGeom prst="rect">
            <a:avLst/>
          </a:prstGeom>
          <a:noFill/>
          <a:ln/>
        </p:spPr>
        <p:txBody>
          <a:bodyPr wrap="square" lIns="0" tIns="0" rIns="0" bIns="0" rtlCol="0" anchor="ctr"/>
          <a:lstStyle/>
          <a:p>
            <a:pPr indent="0" marL="0">
              <a:buNone/>
            </a:pPr>
            <a:r>
              <a:rPr lang="en-US" sz="1300" b="1" spc="300" kern="0" dirty="0">
                <a:solidFill>
                  <a:srgbClr val="00EDED"/>
                </a:solidFill>
                <a:latin typeface="Montserrat" pitchFamily="34" charset="0"/>
                <a:ea typeface="Montserrat" pitchFamily="34" charset="-122"/>
                <a:cs typeface="Montserrat" pitchFamily="34" charset="-120"/>
              </a:rPr>
              <a:t>ACCELERATOR</a:t>
            </a:r>
            <a:endParaRPr lang="en-US" sz="1300" dirty="0"/>
          </a:p>
        </p:txBody>
      </p:sp>
      <p:sp>
        <p:nvSpPr>
          <p:cNvPr id="6" name="Text 4"/>
          <p:cNvSpPr/>
          <p:nvPr/>
        </p:nvSpPr>
        <p:spPr>
          <a:xfrm>
            <a:off x="777240" y="2212848"/>
            <a:ext cx="9509760" cy="749808"/>
          </a:xfrm>
          <a:prstGeom prst="rect">
            <a:avLst/>
          </a:prstGeom>
          <a:noFill/>
          <a:ln/>
        </p:spPr>
        <p:txBody>
          <a:bodyPr wrap="square" lIns="0" tIns="0" rIns="0" bIns="0" rtlCol="0" anchor="ctr"/>
          <a:lstStyle/>
          <a:p>
            <a:pPr indent="0" marL="0">
              <a:buNone/>
            </a:pPr>
            <a:r>
              <a:rPr lang="en-US" sz="4200" b="1" dirty="0">
                <a:solidFill>
                  <a:srgbClr val="FFFFFF"/>
                </a:solidFill>
                <a:latin typeface="Montserrat" pitchFamily="34" charset="0"/>
                <a:ea typeface="Montserrat" pitchFamily="34" charset="-122"/>
                <a:cs typeface="Montserrat" pitchFamily="34" charset="-120"/>
              </a:rPr>
              <a:t>All We Want Is Our Dashboards</a:t>
            </a:r>
            <a:endParaRPr lang="en-US" sz="4200" dirty="0"/>
          </a:p>
        </p:txBody>
      </p:sp>
      <p:sp>
        <p:nvSpPr>
          <p:cNvPr id="7" name="Text 5"/>
          <p:cNvSpPr/>
          <p:nvPr/>
        </p:nvSpPr>
        <p:spPr>
          <a:xfrm>
            <a:off x="777240" y="3054096"/>
            <a:ext cx="9509760" cy="457200"/>
          </a:xfrm>
          <a:prstGeom prst="rect">
            <a:avLst/>
          </a:prstGeom>
          <a:noFill/>
          <a:ln/>
        </p:spPr>
        <p:txBody>
          <a:bodyPr wrap="square" lIns="0" tIns="0" rIns="0" bIns="0" rtlCol="0" anchor="ctr"/>
          <a:lstStyle/>
          <a:p>
            <a:pPr indent="0" marL="0">
              <a:buNone/>
            </a:pPr>
            <a:r>
              <a:rPr lang="en-US" sz="1900" dirty="0">
                <a:solidFill>
                  <a:srgbClr val="A2F3F3"/>
                </a:solidFill>
                <a:latin typeface="Montserrat" pitchFamily="34" charset="0"/>
                <a:ea typeface="Montserrat" pitchFamily="34" charset="-122"/>
                <a:cs typeface="Montserrat" pitchFamily="34" charset="-120"/>
              </a:rPr>
              <a:t>From a separate BI tool to Snowflake-native intelligence</a:t>
            </a:r>
            <a:endParaRPr lang="en-US" sz="1900" dirty="0"/>
          </a:p>
        </p:txBody>
      </p:sp>
      <p:sp>
        <p:nvSpPr>
          <p:cNvPr id="8" name="Shape 6"/>
          <p:cNvSpPr/>
          <p:nvPr/>
        </p:nvSpPr>
        <p:spPr>
          <a:xfrm>
            <a:off x="795528" y="3968496"/>
            <a:ext cx="2011680" cy="0"/>
          </a:xfrm>
          <a:prstGeom prst="line">
            <a:avLst/>
          </a:prstGeom>
          <a:noFill/>
          <a:ln w="28575">
            <a:solidFill>
              <a:srgbClr val="00EDED"/>
            </a:solidFill>
            <a:prstDash val="solid"/>
          </a:ln>
        </p:spPr>
      </p:sp>
      <p:sp>
        <p:nvSpPr>
          <p:cNvPr id="9" name="Text 7"/>
          <p:cNvSpPr/>
          <p:nvPr/>
        </p:nvSpPr>
        <p:spPr>
          <a:xfrm>
            <a:off x="777240" y="4169664"/>
            <a:ext cx="8229600" cy="310896"/>
          </a:xfrm>
          <a:prstGeom prst="rect">
            <a:avLst/>
          </a:prstGeom>
          <a:noFill/>
          <a:ln/>
        </p:spPr>
        <p:txBody>
          <a:bodyPr wrap="square" lIns="0" tIns="0" rIns="0" bIns="0" rtlCol="0" anchor="ctr"/>
          <a:lstStyle/>
          <a:p>
            <a:pPr indent="0" marL="0">
              <a:buNone/>
            </a:pPr>
            <a:r>
              <a:rPr lang="en-US" sz="1350" b="1" dirty="0">
                <a:solidFill>
                  <a:srgbClr val="FFFFFF"/>
                </a:solidFill>
                <a:latin typeface="Montserrat" pitchFamily="34" charset="0"/>
                <a:ea typeface="Montserrat" pitchFamily="34" charset="-122"/>
                <a:cs typeface="Montserrat" pitchFamily="34" charset="-120"/>
              </a:rPr>
              <a:t>Tableau → Streamlit-in-Snowflake Accelerator</a:t>
            </a:r>
            <a:endParaRPr lang="en-US" sz="1350" dirty="0"/>
          </a:p>
        </p:txBody>
      </p:sp>
      <p:sp>
        <p:nvSpPr>
          <p:cNvPr id="10" name="Text 8"/>
          <p:cNvSpPr/>
          <p:nvPr/>
        </p:nvSpPr>
        <p:spPr>
          <a:xfrm>
            <a:off x="777240" y="4517136"/>
            <a:ext cx="8229600" cy="292608"/>
          </a:xfrm>
          <a:prstGeom prst="rect">
            <a:avLst/>
          </a:prstGeom>
          <a:noFill/>
          <a:ln/>
        </p:spPr>
        <p:txBody>
          <a:bodyPr wrap="square" lIns="0" tIns="0" rIns="0" bIns="0" rtlCol="0" anchor="ctr"/>
          <a:lstStyle/>
          <a:p>
            <a:pPr indent="0" marL="0">
              <a:buNone/>
            </a:pPr>
            <a:r>
              <a:rPr lang="en-US" sz="1150" dirty="0">
                <a:solidFill>
                  <a:srgbClr val="6B7C88"/>
                </a:solidFill>
                <a:latin typeface="Montserrat" pitchFamily="34" charset="0"/>
                <a:ea typeface="Montserrat" pitchFamily="34" charset="-122"/>
                <a:cs typeface="Montserrat" pitchFamily="34" charset="-120"/>
              </a:rPr>
              <a:t>Prepared for Snowflake   ·   22 Jul 2026   ·   Sharath Kumar</a:t>
            </a:r>
            <a:endParaRPr lang="en-US" sz="1150" dirty="0"/>
          </a:p>
        </p:txBody>
      </p:sp>
      <p:sp>
        <p:nvSpPr>
          <p:cNvPr id="11" name="Shape 9"/>
          <p:cNvSpPr/>
          <p:nvPr/>
        </p:nvSpPr>
        <p:spPr>
          <a:xfrm>
            <a:off x="548640" y="5760720"/>
            <a:ext cx="11091672" cy="457200"/>
          </a:xfrm>
          <a:prstGeom prst="roundRect">
            <a:avLst>
              <a:gd name="adj" fmla="val 12000"/>
            </a:avLst>
          </a:prstGeom>
          <a:solidFill>
            <a:srgbClr val="0A3E6B"/>
          </a:solidFill>
          <a:ln w="12700">
            <a:solidFill>
              <a:srgbClr val="17517F"/>
            </a:solidFill>
            <a:prstDash val="solid"/>
          </a:ln>
        </p:spPr>
      </p:sp>
      <p:sp>
        <p:nvSpPr>
          <p:cNvPr id="12" name="Text 10"/>
          <p:cNvSpPr/>
          <p:nvPr/>
        </p:nvSpPr>
        <p:spPr>
          <a:xfrm>
            <a:off x="548640" y="5760720"/>
            <a:ext cx="11091672" cy="457200"/>
          </a:xfrm>
          <a:prstGeom prst="rect">
            <a:avLst/>
          </a:prstGeom>
          <a:noFill/>
          <a:ln/>
        </p:spPr>
        <p:txBody>
          <a:bodyPr wrap="square" lIns="0" tIns="0" rIns="0" bIns="0" rtlCol="0" anchor="ctr"/>
          <a:lstStyle/>
          <a:p>
            <a:pPr algn="ctr" indent="0" marL="0">
              <a:buNone/>
            </a:pPr>
            <a:r>
              <a:rPr lang="en-US" sz="1150" b="1" spc="60" kern="0" dirty="0">
                <a:solidFill>
                  <a:srgbClr val="00EDED"/>
                </a:solidFill>
                <a:latin typeface="Montserrat" pitchFamily="34" charset="0"/>
                <a:ea typeface="Montserrat" pitchFamily="34" charset="-122"/>
                <a:cs typeface="Montserrat" pitchFamily="34" charset="-120"/>
              </a:rPr>
              <a:t>Streamlit in Snowflake   |   Cortex AI (Claude Opus 4.8)   |   Cortex Analyst   |   Native Semantic Views   |   Snowpark</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3F0"/>
        </a:solidFill>
      </p:bgPr>
    </p:bg>
    <p:spTree>
      <p:nvGrpSpPr>
        <p:cNvPr id="1" name=""/>
        <p:cNvGrpSpPr/>
        <p:nvPr/>
      </p:nvGrpSpPr>
      <p:grpSpPr>
        <a:xfrm>
          <a:off x="0" y="0"/>
          <a:ext cx="0" cy="0"/>
          <a:chOff x="0" y="0"/>
          <a:chExt cx="0" cy="0"/>
        </a:xfrm>
      </p:grpSpPr>
      <p:sp>
        <p:nvSpPr>
          <p:cNvPr id="2" name="Text 0"/>
          <p:cNvSpPr/>
          <p:nvPr/>
        </p:nvSpPr>
        <p:spPr>
          <a:xfrm>
            <a:off x="548640" y="365760"/>
            <a:ext cx="11064240" cy="530352"/>
          </a:xfrm>
          <a:prstGeom prst="rect">
            <a:avLst/>
          </a:prstGeom>
          <a:noFill/>
          <a:ln/>
        </p:spPr>
        <p:txBody>
          <a:bodyPr wrap="square" lIns="0" tIns="0" rIns="0" bIns="0" rtlCol="0" anchor="ctr"/>
          <a:lstStyle/>
          <a:p>
            <a:pPr indent="0" marL="0">
              <a:buNone/>
            </a:pPr>
            <a:r>
              <a:rPr lang="en-US" sz="3300" b="1" dirty="0">
                <a:solidFill>
                  <a:srgbClr val="053057"/>
                </a:solidFill>
                <a:latin typeface="Montserrat" pitchFamily="34" charset="0"/>
                <a:ea typeface="Montserrat" pitchFamily="34" charset="-122"/>
                <a:cs typeface="Montserrat" pitchFamily="34" charset="-120"/>
              </a:rPr>
              <a:t>Why Move the Dashboards Into Snowflake</a:t>
            </a:r>
            <a:endParaRPr lang="en-US" sz="3300" dirty="0"/>
          </a:p>
        </p:txBody>
      </p:sp>
      <p:sp>
        <p:nvSpPr>
          <p:cNvPr id="3" name="Text 1"/>
          <p:cNvSpPr/>
          <p:nvPr/>
        </p:nvSpPr>
        <p:spPr>
          <a:xfrm>
            <a:off x="548640" y="914400"/>
            <a:ext cx="11064240" cy="292608"/>
          </a:xfrm>
          <a:prstGeom prst="rect">
            <a:avLst/>
          </a:prstGeom>
          <a:noFill/>
          <a:ln/>
        </p:spPr>
        <p:txBody>
          <a:bodyPr wrap="square" lIns="0" tIns="0" rIns="0" bIns="0" rtlCol="0" anchor="ctr"/>
          <a:lstStyle/>
          <a:p>
            <a:pPr indent="0" marL="0">
              <a:buNone/>
            </a:pPr>
            <a:r>
              <a:rPr lang="en-US" sz="1300" dirty="0">
                <a:solidFill>
                  <a:srgbClr val="6B7C88"/>
                </a:solidFill>
                <a:latin typeface="Montserrat" pitchFamily="34" charset="0"/>
                <a:ea typeface="Montserrat" pitchFamily="34" charset="-122"/>
                <a:cs typeface="Montserrat" pitchFamily="34" charset="-120"/>
              </a:rPr>
              <a:t>The estate already runs on Snowflake data — only the presentation layer sits outside</a:t>
            </a:r>
            <a:endParaRPr lang="en-US" sz="1300" dirty="0"/>
          </a:p>
        </p:txBody>
      </p:sp>
      <p:sp>
        <p:nvSpPr>
          <p:cNvPr id="4" name="Text 2"/>
          <p:cNvSpPr/>
          <p:nvPr/>
        </p:nvSpPr>
        <p:spPr>
          <a:xfrm>
            <a:off x="548640" y="1371600"/>
            <a:ext cx="3575304" cy="274320"/>
          </a:xfrm>
          <a:prstGeom prst="rect">
            <a:avLst/>
          </a:prstGeom>
          <a:noFill/>
          <a:ln/>
        </p:spPr>
        <p:txBody>
          <a:bodyPr wrap="square" lIns="0" tIns="0" rIns="0" bIns="0" rtlCol="0" anchor="ctr"/>
          <a:lstStyle/>
          <a:p>
            <a:pPr indent="0" marL="0">
              <a:buNone/>
            </a:pPr>
            <a:r>
              <a:rPr lang="en-US" sz="1100" b="1" spc="160" kern="0" dirty="0">
                <a:solidFill>
                  <a:srgbClr val="6B7C88"/>
                </a:solidFill>
                <a:latin typeface="Montserrat" pitchFamily="34" charset="0"/>
                <a:ea typeface="Montserrat" pitchFamily="34" charset="-122"/>
                <a:cs typeface="Montserrat" pitchFamily="34" charset="-120"/>
              </a:rPr>
              <a:t>THE CHALLENGE</a:t>
            </a:r>
            <a:endParaRPr lang="en-US" sz="1100" dirty="0"/>
          </a:p>
        </p:txBody>
      </p:sp>
      <p:sp>
        <p:nvSpPr>
          <p:cNvPr id="5" name="Text 3"/>
          <p:cNvSpPr/>
          <p:nvPr/>
        </p:nvSpPr>
        <p:spPr>
          <a:xfrm>
            <a:off x="4306824" y="1371600"/>
            <a:ext cx="3575304" cy="274320"/>
          </a:xfrm>
          <a:prstGeom prst="rect">
            <a:avLst/>
          </a:prstGeom>
          <a:noFill/>
          <a:ln/>
        </p:spPr>
        <p:txBody>
          <a:bodyPr wrap="square" lIns="0" tIns="0" rIns="0" bIns="0" rtlCol="0" anchor="ctr"/>
          <a:lstStyle/>
          <a:p>
            <a:pPr indent="0" marL="0">
              <a:buNone/>
            </a:pPr>
            <a:r>
              <a:rPr lang="en-US" sz="1100" b="1" spc="160" kern="0" dirty="0">
                <a:solidFill>
                  <a:srgbClr val="6B7C88"/>
                </a:solidFill>
                <a:latin typeface="Montserrat" pitchFamily="34" charset="0"/>
                <a:ea typeface="Montserrat" pitchFamily="34" charset="-122"/>
                <a:cs typeface="Montserrat" pitchFamily="34" charset="-120"/>
              </a:rPr>
              <a:t>TRADITIONAL SOLUTION</a:t>
            </a:r>
            <a:endParaRPr lang="en-US" sz="1100" dirty="0"/>
          </a:p>
        </p:txBody>
      </p:sp>
      <p:sp>
        <p:nvSpPr>
          <p:cNvPr id="6" name="Text 4"/>
          <p:cNvSpPr/>
          <p:nvPr/>
        </p:nvSpPr>
        <p:spPr>
          <a:xfrm>
            <a:off x="8065008" y="1371600"/>
            <a:ext cx="3575304" cy="274320"/>
          </a:xfrm>
          <a:prstGeom prst="rect">
            <a:avLst/>
          </a:prstGeom>
          <a:noFill/>
          <a:ln/>
        </p:spPr>
        <p:txBody>
          <a:bodyPr wrap="square" lIns="0" tIns="0" rIns="0" bIns="0" rtlCol="0" anchor="ctr"/>
          <a:lstStyle/>
          <a:p>
            <a:pPr indent="0" marL="0">
              <a:buNone/>
            </a:pPr>
            <a:r>
              <a:rPr lang="en-US" sz="1100" b="1" spc="160" kern="0" dirty="0">
                <a:solidFill>
                  <a:srgbClr val="053057"/>
                </a:solidFill>
                <a:latin typeface="Montserrat" pitchFamily="34" charset="0"/>
                <a:ea typeface="Montserrat" pitchFamily="34" charset="-122"/>
                <a:cs typeface="Montserrat" pitchFamily="34" charset="-120"/>
              </a:rPr>
              <a:t>THE ACCELERATOR</a:t>
            </a:r>
            <a:endParaRPr lang="en-US" sz="1100" dirty="0"/>
          </a:p>
        </p:txBody>
      </p:sp>
      <p:sp>
        <p:nvSpPr>
          <p:cNvPr id="7" name="Shape 5"/>
          <p:cNvSpPr/>
          <p:nvPr/>
        </p:nvSpPr>
        <p:spPr>
          <a:xfrm>
            <a:off x="548640" y="1719072"/>
            <a:ext cx="3575304" cy="1298448"/>
          </a:xfrm>
          <a:prstGeom prst="roundRect">
            <a:avLst>
              <a:gd name="adj" fmla="val 5634"/>
            </a:avLst>
          </a:prstGeom>
          <a:solidFill>
            <a:srgbClr val="FFFFFF"/>
          </a:solidFill>
          <a:ln w="12700">
            <a:solidFill>
              <a:srgbClr val="DFE3E6"/>
            </a:solidFill>
            <a:prstDash val="solid"/>
          </a:ln>
        </p:spPr>
      </p:sp>
      <p:sp>
        <p:nvSpPr>
          <p:cNvPr id="8" name="Text 6"/>
          <p:cNvSpPr/>
          <p:nvPr/>
        </p:nvSpPr>
        <p:spPr>
          <a:xfrm>
            <a:off x="786384" y="1883664"/>
            <a:ext cx="3099816" cy="365760"/>
          </a:xfrm>
          <a:prstGeom prst="rect">
            <a:avLst/>
          </a:prstGeom>
          <a:noFill/>
          <a:ln/>
        </p:spPr>
        <p:txBody>
          <a:bodyPr wrap="square" lIns="0" tIns="0" rIns="0" bIns="0" rtlCol="0" anchor="ctr"/>
          <a:lstStyle/>
          <a:p>
            <a:pPr indent="0" marL="0">
              <a:buNone/>
            </a:pPr>
            <a:r>
              <a:rPr lang="en-US" sz="1250" b="1" dirty="0">
                <a:solidFill>
                  <a:srgbClr val="314550"/>
                </a:solidFill>
                <a:latin typeface="Montserrat" pitchFamily="34" charset="0"/>
                <a:ea typeface="Montserrat" pitchFamily="34" charset="-122"/>
                <a:cs typeface="Montserrat" pitchFamily="34" charset="-120"/>
              </a:rPr>
              <a:t>Hundreds of dashboards</a:t>
            </a:r>
            <a:endParaRPr lang="en-US" sz="1250" dirty="0"/>
          </a:p>
        </p:txBody>
      </p:sp>
      <p:sp>
        <p:nvSpPr>
          <p:cNvPr id="9" name="Text 7"/>
          <p:cNvSpPr/>
          <p:nvPr/>
        </p:nvSpPr>
        <p:spPr>
          <a:xfrm>
            <a:off x="786384" y="2304288"/>
            <a:ext cx="3099816" cy="621792"/>
          </a:xfrm>
          <a:prstGeom prst="rect">
            <a:avLst/>
          </a:prstGeom>
          <a:noFill/>
          <a:ln/>
        </p:spPr>
        <p:txBody>
          <a:bodyPr wrap="square" lIns="0" tIns="0" rIns="0" bIns="0" rtlCol="0" anchor="ctr"/>
          <a:lstStyle/>
          <a:p>
            <a:pPr indent="0" marL="0">
              <a:buNone/>
            </a:pPr>
            <a:r>
              <a:rPr lang="en-US" sz="950" dirty="0">
                <a:solidFill>
                  <a:srgbClr val="6B7C88"/>
                </a:solidFill>
                <a:latin typeface="Montserrat" pitchFamily="34" charset="0"/>
                <a:ea typeface="Montserrat" pitchFamily="34" charset="-122"/>
                <a:cs typeface="Montserrat" pitchFamily="34" charset="-120"/>
              </a:rPr>
              <a:t>Years of agreed business logic — every calc, filter and layout — locked inside workbooks.</a:t>
            </a:r>
            <a:endParaRPr lang="en-US" sz="950" dirty="0"/>
          </a:p>
        </p:txBody>
      </p:sp>
      <p:sp>
        <p:nvSpPr>
          <p:cNvPr id="10" name="Shape 8"/>
          <p:cNvSpPr/>
          <p:nvPr/>
        </p:nvSpPr>
        <p:spPr>
          <a:xfrm>
            <a:off x="4306824" y="1719072"/>
            <a:ext cx="3575304" cy="1298448"/>
          </a:xfrm>
          <a:prstGeom prst="roundRect">
            <a:avLst>
              <a:gd name="adj" fmla="val 5634"/>
            </a:avLst>
          </a:prstGeom>
          <a:solidFill>
            <a:srgbClr val="FFFFFF"/>
          </a:solidFill>
          <a:ln w="12700">
            <a:solidFill>
              <a:srgbClr val="DFE3E6"/>
            </a:solidFill>
            <a:prstDash val="solid"/>
          </a:ln>
        </p:spPr>
      </p:sp>
      <p:sp>
        <p:nvSpPr>
          <p:cNvPr id="11" name="Text 9"/>
          <p:cNvSpPr/>
          <p:nvPr/>
        </p:nvSpPr>
        <p:spPr>
          <a:xfrm>
            <a:off x="4544568" y="1883664"/>
            <a:ext cx="3099816" cy="365760"/>
          </a:xfrm>
          <a:prstGeom prst="rect">
            <a:avLst/>
          </a:prstGeom>
          <a:noFill/>
          <a:ln/>
        </p:spPr>
        <p:txBody>
          <a:bodyPr wrap="square" lIns="0" tIns="0" rIns="0" bIns="0" rtlCol="0" anchor="ctr"/>
          <a:lstStyle/>
          <a:p>
            <a:pPr indent="0" marL="0">
              <a:buNone/>
            </a:pPr>
            <a:r>
              <a:rPr lang="en-US" sz="1250" b="1" dirty="0">
                <a:solidFill>
                  <a:srgbClr val="314550"/>
                </a:solidFill>
                <a:latin typeface="Montserrat" pitchFamily="34" charset="0"/>
                <a:ea typeface="Montserrat" pitchFamily="34" charset="-122"/>
                <a:cs typeface="Montserrat" pitchFamily="34" charset="-120"/>
              </a:rPr>
              <a:t>Rebuild by hand, one at a time</a:t>
            </a:r>
            <a:endParaRPr lang="en-US" sz="1250" dirty="0"/>
          </a:p>
        </p:txBody>
      </p:sp>
      <p:sp>
        <p:nvSpPr>
          <p:cNvPr id="12" name="Text 10"/>
          <p:cNvSpPr/>
          <p:nvPr/>
        </p:nvSpPr>
        <p:spPr>
          <a:xfrm>
            <a:off x="4544568" y="2304288"/>
            <a:ext cx="3099816" cy="621792"/>
          </a:xfrm>
          <a:prstGeom prst="rect">
            <a:avLst/>
          </a:prstGeom>
          <a:noFill/>
          <a:ln/>
        </p:spPr>
        <p:txBody>
          <a:bodyPr wrap="square" lIns="0" tIns="0" rIns="0" bIns="0" rtlCol="0" anchor="ctr"/>
          <a:lstStyle/>
          <a:p>
            <a:pPr indent="0" marL="0">
              <a:buNone/>
            </a:pPr>
            <a:r>
              <a:rPr lang="en-US" sz="950" dirty="0">
                <a:solidFill>
                  <a:srgbClr val="6B7C88"/>
                </a:solidFill>
                <a:latin typeface="Montserrat" pitchFamily="34" charset="0"/>
                <a:ea typeface="Montserrat" pitchFamily="34" charset="-122"/>
                <a:cs typeface="Montserrat" pitchFamily="34" charset="-120"/>
              </a:rPr>
              <a:t>BI specialists re-create each dashboard manually. Months of effort, and it starts again next estate.</a:t>
            </a:r>
            <a:endParaRPr lang="en-US" sz="950" dirty="0"/>
          </a:p>
        </p:txBody>
      </p:sp>
      <p:sp>
        <p:nvSpPr>
          <p:cNvPr id="13" name="Shape 11"/>
          <p:cNvSpPr/>
          <p:nvPr/>
        </p:nvSpPr>
        <p:spPr>
          <a:xfrm>
            <a:off x="8065008" y="1719072"/>
            <a:ext cx="3575304" cy="1298448"/>
          </a:xfrm>
          <a:prstGeom prst="roundRect">
            <a:avLst>
              <a:gd name="adj" fmla="val 5634"/>
            </a:avLst>
          </a:prstGeom>
          <a:solidFill>
            <a:srgbClr val="053057"/>
          </a:solidFill>
          <a:ln w="12700">
            <a:solidFill>
              <a:srgbClr val="053057"/>
            </a:solidFill>
            <a:prstDash val="solid"/>
          </a:ln>
        </p:spPr>
      </p:sp>
      <p:sp>
        <p:nvSpPr>
          <p:cNvPr id="14" name="Shape 12"/>
          <p:cNvSpPr/>
          <p:nvPr/>
        </p:nvSpPr>
        <p:spPr>
          <a:xfrm>
            <a:off x="8302752" y="1938528"/>
            <a:ext cx="237744" cy="237744"/>
          </a:xfrm>
          <a:prstGeom prst="ellipse">
            <a:avLst/>
          </a:prstGeom>
          <a:solidFill>
            <a:srgbClr val="00EDED"/>
          </a:solidFill>
          <a:ln/>
        </p:spPr>
      </p:sp>
      <p:sp>
        <p:nvSpPr>
          <p:cNvPr id="15" name="Text 13"/>
          <p:cNvSpPr/>
          <p:nvPr/>
        </p:nvSpPr>
        <p:spPr>
          <a:xfrm>
            <a:off x="8631936" y="1883664"/>
            <a:ext cx="2770632" cy="365760"/>
          </a:xfrm>
          <a:prstGeom prst="rect">
            <a:avLst/>
          </a:prstGeom>
          <a:noFill/>
          <a:ln/>
        </p:spPr>
        <p:txBody>
          <a:bodyPr wrap="square" lIns="0" tIns="0" rIns="0" bIns="0" rtlCol="0" anchor="ctr"/>
          <a:lstStyle/>
          <a:p>
            <a:pPr indent="0" marL="0">
              <a:buNone/>
            </a:pPr>
            <a:r>
              <a:rPr lang="en-US" sz="1250" b="1" dirty="0">
                <a:solidFill>
                  <a:srgbClr val="FFFFFF"/>
                </a:solidFill>
                <a:latin typeface="Montserrat" pitchFamily="34" charset="0"/>
                <a:ea typeface="Montserrat" pitchFamily="34" charset="-122"/>
                <a:cs typeface="Montserrat" pitchFamily="34" charset="-120"/>
              </a:rPr>
              <a:t>Cortex reads the workbook</a:t>
            </a:r>
            <a:endParaRPr lang="en-US" sz="1250" dirty="0"/>
          </a:p>
        </p:txBody>
      </p:sp>
      <p:sp>
        <p:nvSpPr>
          <p:cNvPr id="16" name="Text 14"/>
          <p:cNvSpPr/>
          <p:nvPr/>
        </p:nvSpPr>
        <p:spPr>
          <a:xfrm>
            <a:off x="8302752" y="2304288"/>
            <a:ext cx="3099816" cy="621792"/>
          </a:xfrm>
          <a:prstGeom prst="rect">
            <a:avLst/>
          </a:prstGeom>
          <a:noFill/>
          <a:ln/>
        </p:spPr>
        <p:txBody>
          <a:bodyPr wrap="square" lIns="0" tIns="0" rIns="0" bIns="0" rtlCol="0" anchor="ctr"/>
          <a:lstStyle/>
          <a:p>
            <a:pPr indent="0" marL="0">
              <a:buNone/>
            </a:pPr>
            <a:r>
              <a:rPr lang="en-US" sz="950" dirty="0">
                <a:solidFill>
                  <a:srgbClr val="A2F3F3"/>
                </a:solidFill>
                <a:latin typeface="Montserrat" pitchFamily="34" charset="0"/>
                <a:ea typeface="Montserrat" pitchFamily="34" charset="-122"/>
                <a:cs typeface="Montserrat" pitchFamily="34" charset="-120"/>
              </a:rPr>
              <a:t>The workbook's own semantic intent is extracted and converted automatically, not retyped.</a:t>
            </a:r>
            <a:endParaRPr lang="en-US" sz="950" dirty="0"/>
          </a:p>
        </p:txBody>
      </p:sp>
      <p:sp>
        <p:nvSpPr>
          <p:cNvPr id="17" name="Shape 15"/>
          <p:cNvSpPr/>
          <p:nvPr/>
        </p:nvSpPr>
        <p:spPr>
          <a:xfrm>
            <a:off x="548640" y="3145536"/>
            <a:ext cx="3575304" cy="1298448"/>
          </a:xfrm>
          <a:prstGeom prst="roundRect">
            <a:avLst>
              <a:gd name="adj" fmla="val 5634"/>
            </a:avLst>
          </a:prstGeom>
          <a:solidFill>
            <a:srgbClr val="FFFFFF"/>
          </a:solidFill>
          <a:ln w="12700">
            <a:solidFill>
              <a:srgbClr val="DFE3E6"/>
            </a:solidFill>
            <a:prstDash val="solid"/>
          </a:ln>
        </p:spPr>
      </p:sp>
      <p:sp>
        <p:nvSpPr>
          <p:cNvPr id="18" name="Text 16"/>
          <p:cNvSpPr/>
          <p:nvPr/>
        </p:nvSpPr>
        <p:spPr>
          <a:xfrm>
            <a:off x="786384" y="3310128"/>
            <a:ext cx="3099816" cy="365760"/>
          </a:xfrm>
          <a:prstGeom prst="rect">
            <a:avLst/>
          </a:prstGeom>
          <a:noFill/>
          <a:ln/>
        </p:spPr>
        <p:txBody>
          <a:bodyPr wrap="square" lIns="0" tIns="0" rIns="0" bIns="0" rtlCol="0" anchor="ctr"/>
          <a:lstStyle/>
          <a:p>
            <a:pPr indent="0" marL="0">
              <a:buNone/>
            </a:pPr>
            <a:r>
              <a:rPr lang="en-US" sz="1250" b="1" dirty="0">
                <a:solidFill>
                  <a:srgbClr val="314550"/>
                </a:solidFill>
                <a:latin typeface="Montserrat" pitchFamily="34" charset="0"/>
                <a:ea typeface="Montserrat" pitchFamily="34" charset="-122"/>
                <a:cs typeface="Montserrat" pitchFamily="34" charset="-120"/>
              </a:rPr>
              <a:t>A separate licence and skill set</a:t>
            </a:r>
            <a:endParaRPr lang="en-US" sz="1250" dirty="0"/>
          </a:p>
        </p:txBody>
      </p:sp>
      <p:sp>
        <p:nvSpPr>
          <p:cNvPr id="19" name="Text 17"/>
          <p:cNvSpPr/>
          <p:nvPr/>
        </p:nvSpPr>
        <p:spPr>
          <a:xfrm>
            <a:off x="786384" y="3730752"/>
            <a:ext cx="3099816" cy="621792"/>
          </a:xfrm>
          <a:prstGeom prst="rect">
            <a:avLst/>
          </a:prstGeom>
          <a:noFill/>
          <a:ln/>
        </p:spPr>
        <p:txBody>
          <a:bodyPr wrap="square" lIns="0" tIns="0" rIns="0" bIns="0" rtlCol="0" anchor="ctr"/>
          <a:lstStyle/>
          <a:p>
            <a:pPr indent="0" marL="0">
              <a:buNone/>
            </a:pPr>
            <a:r>
              <a:rPr lang="en-US" sz="950" dirty="0">
                <a:solidFill>
                  <a:srgbClr val="6B7C88"/>
                </a:solidFill>
                <a:latin typeface="Montserrat" pitchFamily="34" charset="0"/>
                <a:ea typeface="Montserrat" pitchFamily="34" charset="-122"/>
                <a:cs typeface="Montserrat" pitchFamily="34" charset="-120"/>
              </a:rPr>
              <a:t>Per-creator and per-viewer licences, plus a scarce Tableau specialism and a handoff on every change.</a:t>
            </a:r>
            <a:endParaRPr lang="en-US" sz="950" dirty="0"/>
          </a:p>
        </p:txBody>
      </p:sp>
      <p:sp>
        <p:nvSpPr>
          <p:cNvPr id="20" name="Shape 18"/>
          <p:cNvSpPr/>
          <p:nvPr/>
        </p:nvSpPr>
        <p:spPr>
          <a:xfrm>
            <a:off x="4306824" y="3145536"/>
            <a:ext cx="3575304" cy="1298448"/>
          </a:xfrm>
          <a:prstGeom prst="roundRect">
            <a:avLst>
              <a:gd name="adj" fmla="val 5634"/>
            </a:avLst>
          </a:prstGeom>
          <a:solidFill>
            <a:srgbClr val="FFFFFF"/>
          </a:solidFill>
          <a:ln w="12700">
            <a:solidFill>
              <a:srgbClr val="DFE3E6"/>
            </a:solidFill>
            <a:prstDash val="solid"/>
          </a:ln>
        </p:spPr>
      </p:sp>
      <p:sp>
        <p:nvSpPr>
          <p:cNvPr id="21" name="Text 19"/>
          <p:cNvSpPr/>
          <p:nvPr/>
        </p:nvSpPr>
        <p:spPr>
          <a:xfrm>
            <a:off x="4544568" y="3310128"/>
            <a:ext cx="3099816" cy="365760"/>
          </a:xfrm>
          <a:prstGeom prst="rect">
            <a:avLst/>
          </a:prstGeom>
          <a:noFill/>
          <a:ln/>
        </p:spPr>
        <p:txBody>
          <a:bodyPr wrap="square" lIns="0" tIns="0" rIns="0" bIns="0" rtlCol="0" anchor="ctr"/>
          <a:lstStyle/>
          <a:p>
            <a:pPr indent="0" marL="0">
              <a:buNone/>
            </a:pPr>
            <a:r>
              <a:rPr lang="en-US" sz="1250" b="1" dirty="0">
                <a:solidFill>
                  <a:srgbClr val="314550"/>
                </a:solidFill>
                <a:latin typeface="Montserrat" pitchFamily="34" charset="0"/>
                <a:ea typeface="Montserrat" pitchFamily="34" charset="-122"/>
                <a:cs typeface="Montserrat" pitchFamily="34" charset="-120"/>
              </a:rPr>
              <a:t>Swap one BI tool for another</a:t>
            </a:r>
            <a:endParaRPr lang="en-US" sz="1250" dirty="0"/>
          </a:p>
        </p:txBody>
      </p:sp>
      <p:sp>
        <p:nvSpPr>
          <p:cNvPr id="22" name="Text 20"/>
          <p:cNvSpPr/>
          <p:nvPr/>
        </p:nvSpPr>
        <p:spPr>
          <a:xfrm>
            <a:off x="4544568" y="3730752"/>
            <a:ext cx="3099816" cy="621792"/>
          </a:xfrm>
          <a:prstGeom prst="rect">
            <a:avLst/>
          </a:prstGeom>
          <a:noFill/>
          <a:ln/>
        </p:spPr>
        <p:txBody>
          <a:bodyPr wrap="square" lIns="0" tIns="0" rIns="0" bIns="0" rtlCol="0" anchor="ctr"/>
          <a:lstStyle/>
          <a:p>
            <a:pPr indent="0" marL="0">
              <a:buNone/>
            </a:pPr>
            <a:r>
              <a:rPr lang="en-US" sz="950" dirty="0">
                <a:solidFill>
                  <a:srgbClr val="6B7C88"/>
                </a:solidFill>
                <a:latin typeface="Montserrat" pitchFamily="34" charset="0"/>
                <a:ea typeface="Montserrat" pitchFamily="34" charset="-122"/>
                <a:cs typeface="Montserrat" pitchFamily="34" charset="-120"/>
              </a:rPr>
              <a:t>A different vendor, the same licence line and the same specialist dependency. Nothing consolidates.</a:t>
            </a:r>
            <a:endParaRPr lang="en-US" sz="950" dirty="0"/>
          </a:p>
        </p:txBody>
      </p:sp>
      <p:sp>
        <p:nvSpPr>
          <p:cNvPr id="23" name="Shape 21"/>
          <p:cNvSpPr/>
          <p:nvPr/>
        </p:nvSpPr>
        <p:spPr>
          <a:xfrm>
            <a:off x="8065008" y="3145536"/>
            <a:ext cx="3575304" cy="1298448"/>
          </a:xfrm>
          <a:prstGeom prst="roundRect">
            <a:avLst>
              <a:gd name="adj" fmla="val 5634"/>
            </a:avLst>
          </a:prstGeom>
          <a:solidFill>
            <a:srgbClr val="053057"/>
          </a:solidFill>
          <a:ln w="12700">
            <a:solidFill>
              <a:srgbClr val="053057"/>
            </a:solidFill>
            <a:prstDash val="solid"/>
          </a:ln>
        </p:spPr>
      </p:sp>
      <p:sp>
        <p:nvSpPr>
          <p:cNvPr id="24" name="Shape 22"/>
          <p:cNvSpPr/>
          <p:nvPr/>
        </p:nvSpPr>
        <p:spPr>
          <a:xfrm>
            <a:off x="8302752" y="3364992"/>
            <a:ext cx="237744" cy="237744"/>
          </a:xfrm>
          <a:prstGeom prst="ellipse">
            <a:avLst/>
          </a:prstGeom>
          <a:solidFill>
            <a:srgbClr val="00EDED"/>
          </a:solidFill>
          <a:ln/>
        </p:spPr>
      </p:sp>
      <p:sp>
        <p:nvSpPr>
          <p:cNvPr id="25" name="Text 23"/>
          <p:cNvSpPr/>
          <p:nvPr/>
        </p:nvSpPr>
        <p:spPr>
          <a:xfrm>
            <a:off x="8631936" y="3310128"/>
            <a:ext cx="2770632" cy="365760"/>
          </a:xfrm>
          <a:prstGeom prst="rect">
            <a:avLst/>
          </a:prstGeom>
          <a:noFill/>
          <a:ln/>
        </p:spPr>
        <p:txBody>
          <a:bodyPr wrap="square" lIns="0" tIns="0" rIns="0" bIns="0" rtlCol="0" anchor="ctr"/>
          <a:lstStyle/>
          <a:p>
            <a:pPr indent="0" marL="0">
              <a:buNone/>
            </a:pPr>
            <a:r>
              <a:rPr lang="en-US" sz="1250" b="1" dirty="0">
                <a:solidFill>
                  <a:srgbClr val="FFFFFF"/>
                </a:solidFill>
                <a:latin typeface="Montserrat" pitchFamily="34" charset="0"/>
                <a:ea typeface="Montserrat" pitchFamily="34" charset="-122"/>
                <a:cs typeface="Montserrat" pitchFamily="34" charset="-120"/>
              </a:rPr>
              <a:t>Native on the platform you own</a:t>
            </a:r>
            <a:endParaRPr lang="en-US" sz="1250" dirty="0"/>
          </a:p>
        </p:txBody>
      </p:sp>
      <p:sp>
        <p:nvSpPr>
          <p:cNvPr id="26" name="Text 24"/>
          <p:cNvSpPr/>
          <p:nvPr/>
        </p:nvSpPr>
        <p:spPr>
          <a:xfrm>
            <a:off x="8302752" y="3730752"/>
            <a:ext cx="3099816" cy="621792"/>
          </a:xfrm>
          <a:prstGeom prst="rect">
            <a:avLst/>
          </a:prstGeom>
          <a:noFill/>
          <a:ln/>
        </p:spPr>
        <p:txBody>
          <a:bodyPr wrap="square" lIns="0" tIns="0" rIns="0" bIns="0" rtlCol="0" anchor="ctr"/>
          <a:lstStyle/>
          <a:p>
            <a:pPr indent="0" marL="0">
              <a:buNone/>
            </a:pPr>
            <a:r>
              <a:rPr lang="en-US" sz="950" dirty="0">
                <a:solidFill>
                  <a:srgbClr val="A2F3F3"/>
                </a:solidFill>
                <a:latin typeface="Montserrat" pitchFamily="34" charset="0"/>
                <a:ea typeface="Montserrat" pitchFamily="34" charset="-122"/>
                <a:cs typeface="Montserrat" pitchFamily="34" charset="-120"/>
              </a:rPr>
              <a:t>Streamlit and Cortex are already in Snowflake. The data team owns table to dashboard, end to end.</a:t>
            </a:r>
            <a:endParaRPr lang="en-US" sz="950" dirty="0"/>
          </a:p>
        </p:txBody>
      </p:sp>
      <p:sp>
        <p:nvSpPr>
          <p:cNvPr id="27" name="Shape 25"/>
          <p:cNvSpPr/>
          <p:nvPr/>
        </p:nvSpPr>
        <p:spPr>
          <a:xfrm>
            <a:off x="548640" y="4572000"/>
            <a:ext cx="3575304" cy="1298448"/>
          </a:xfrm>
          <a:prstGeom prst="roundRect">
            <a:avLst>
              <a:gd name="adj" fmla="val 5634"/>
            </a:avLst>
          </a:prstGeom>
          <a:solidFill>
            <a:srgbClr val="FFFFFF"/>
          </a:solidFill>
          <a:ln w="12700">
            <a:solidFill>
              <a:srgbClr val="DFE3E6"/>
            </a:solidFill>
            <a:prstDash val="solid"/>
          </a:ln>
        </p:spPr>
      </p:sp>
      <p:sp>
        <p:nvSpPr>
          <p:cNvPr id="28" name="Text 26"/>
          <p:cNvSpPr/>
          <p:nvPr/>
        </p:nvSpPr>
        <p:spPr>
          <a:xfrm>
            <a:off x="786384" y="4736592"/>
            <a:ext cx="3099816" cy="365760"/>
          </a:xfrm>
          <a:prstGeom prst="rect">
            <a:avLst/>
          </a:prstGeom>
          <a:noFill/>
          <a:ln/>
        </p:spPr>
        <p:txBody>
          <a:bodyPr wrap="square" lIns="0" tIns="0" rIns="0" bIns="0" rtlCol="0" anchor="ctr"/>
          <a:lstStyle/>
          <a:p>
            <a:pPr indent="0" marL="0">
              <a:buNone/>
            </a:pPr>
            <a:r>
              <a:rPr lang="en-US" sz="1250" b="1" dirty="0">
                <a:solidFill>
                  <a:srgbClr val="314550"/>
                </a:solidFill>
                <a:latin typeface="Montserrat" pitchFamily="34" charset="0"/>
                <a:ea typeface="Montserrat" pitchFamily="34" charset="-122"/>
                <a:cs typeface="Montserrat" pitchFamily="34" charset="-120"/>
              </a:rPr>
              <a:t>Validation is slow and manual</a:t>
            </a:r>
            <a:endParaRPr lang="en-US" sz="1250" dirty="0"/>
          </a:p>
        </p:txBody>
      </p:sp>
      <p:sp>
        <p:nvSpPr>
          <p:cNvPr id="29" name="Text 27"/>
          <p:cNvSpPr/>
          <p:nvPr/>
        </p:nvSpPr>
        <p:spPr>
          <a:xfrm>
            <a:off x="786384" y="5157216"/>
            <a:ext cx="3099816" cy="621792"/>
          </a:xfrm>
          <a:prstGeom prst="rect">
            <a:avLst/>
          </a:prstGeom>
          <a:noFill/>
          <a:ln/>
        </p:spPr>
        <p:txBody>
          <a:bodyPr wrap="square" lIns="0" tIns="0" rIns="0" bIns="0" rtlCol="0" anchor="ctr"/>
          <a:lstStyle/>
          <a:p>
            <a:pPr indent="0" marL="0">
              <a:buNone/>
            </a:pPr>
            <a:r>
              <a:rPr lang="en-US" sz="950" dirty="0">
                <a:solidFill>
                  <a:srgbClr val="6B7C88"/>
                </a:solidFill>
                <a:latin typeface="Montserrat" pitchFamily="34" charset="0"/>
                <a:ea typeface="Montserrat" pitchFamily="34" charset="-122"/>
                <a:cs typeface="Montserrat" pitchFamily="34" charset="-120"/>
              </a:rPr>
              <a:t>Numbers are checked by eye, late, with no repeatable evidence that the migration is faithful.</a:t>
            </a:r>
            <a:endParaRPr lang="en-US" sz="950" dirty="0"/>
          </a:p>
        </p:txBody>
      </p:sp>
      <p:sp>
        <p:nvSpPr>
          <p:cNvPr id="30" name="Shape 28"/>
          <p:cNvSpPr/>
          <p:nvPr/>
        </p:nvSpPr>
        <p:spPr>
          <a:xfrm>
            <a:off x="4306824" y="4572000"/>
            <a:ext cx="3575304" cy="1298448"/>
          </a:xfrm>
          <a:prstGeom prst="roundRect">
            <a:avLst>
              <a:gd name="adj" fmla="val 5634"/>
            </a:avLst>
          </a:prstGeom>
          <a:solidFill>
            <a:srgbClr val="FFFFFF"/>
          </a:solidFill>
          <a:ln w="12700">
            <a:solidFill>
              <a:srgbClr val="DFE3E6"/>
            </a:solidFill>
            <a:prstDash val="solid"/>
          </a:ln>
        </p:spPr>
      </p:sp>
      <p:sp>
        <p:nvSpPr>
          <p:cNvPr id="31" name="Text 29"/>
          <p:cNvSpPr/>
          <p:nvPr/>
        </p:nvSpPr>
        <p:spPr>
          <a:xfrm>
            <a:off x="4544568" y="4736592"/>
            <a:ext cx="3099816" cy="365760"/>
          </a:xfrm>
          <a:prstGeom prst="rect">
            <a:avLst/>
          </a:prstGeom>
          <a:noFill/>
          <a:ln/>
        </p:spPr>
        <p:txBody>
          <a:bodyPr wrap="square" lIns="0" tIns="0" rIns="0" bIns="0" rtlCol="0" anchor="ctr"/>
          <a:lstStyle/>
          <a:p>
            <a:pPr indent="0" marL="0">
              <a:buNone/>
            </a:pPr>
            <a:r>
              <a:rPr lang="en-US" sz="1250" b="1" dirty="0">
                <a:solidFill>
                  <a:srgbClr val="314550"/>
                </a:solidFill>
                <a:latin typeface="Montserrat" pitchFamily="34" charset="0"/>
                <a:ea typeface="Montserrat" pitchFamily="34" charset="-122"/>
                <a:cs typeface="Montserrat" pitchFamily="34" charset="-120"/>
              </a:rPr>
              <a:t>Eyeball every dashboard</a:t>
            </a:r>
            <a:endParaRPr lang="en-US" sz="1250" dirty="0"/>
          </a:p>
        </p:txBody>
      </p:sp>
      <p:sp>
        <p:nvSpPr>
          <p:cNvPr id="32" name="Text 30"/>
          <p:cNvSpPr/>
          <p:nvPr/>
        </p:nvSpPr>
        <p:spPr>
          <a:xfrm>
            <a:off x="4544568" y="5157216"/>
            <a:ext cx="3099816" cy="621792"/>
          </a:xfrm>
          <a:prstGeom prst="rect">
            <a:avLst/>
          </a:prstGeom>
          <a:noFill/>
          <a:ln/>
        </p:spPr>
        <p:txBody>
          <a:bodyPr wrap="square" lIns="0" tIns="0" rIns="0" bIns="0" rtlCol="0" anchor="ctr"/>
          <a:lstStyle/>
          <a:p>
            <a:pPr indent="0" marL="0">
              <a:buNone/>
            </a:pPr>
            <a:r>
              <a:rPr lang="en-US" sz="950" dirty="0">
                <a:solidFill>
                  <a:srgbClr val="6B7C88"/>
                </a:solidFill>
                <a:latin typeface="Montserrat" pitchFamily="34" charset="0"/>
                <a:ea typeface="Montserrat" pitchFamily="34" charset="-122"/>
                <a:cs typeface="Montserrat" pitchFamily="34" charset="-120"/>
              </a:rPr>
              <a:t>Manual QA per sheet. Errors surface after go-live, and trust is argued rather than demonstrated.</a:t>
            </a:r>
            <a:endParaRPr lang="en-US" sz="950" dirty="0"/>
          </a:p>
        </p:txBody>
      </p:sp>
      <p:sp>
        <p:nvSpPr>
          <p:cNvPr id="33" name="Shape 31"/>
          <p:cNvSpPr/>
          <p:nvPr/>
        </p:nvSpPr>
        <p:spPr>
          <a:xfrm>
            <a:off x="8065008" y="4572000"/>
            <a:ext cx="3575304" cy="1298448"/>
          </a:xfrm>
          <a:prstGeom prst="roundRect">
            <a:avLst>
              <a:gd name="adj" fmla="val 5634"/>
            </a:avLst>
          </a:prstGeom>
          <a:solidFill>
            <a:srgbClr val="053057"/>
          </a:solidFill>
          <a:ln w="12700">
            <a:solidFill>
              <a:srgbClr val="053057"/>
            </a:solidFill>
            <a:prstDash val="solid"/>
          </a:ln>
        </p:spPr>
      </p:sp>
      <p:sp>
        <p:nvSpPr>
          <p:cNvPr id="34" name="Shape 32"/>
          <p:cNvSpPr/>
          <p:nvPr/>
        </p:nvSpPr>
        <p:spPr>
          <a:xfrm>
            <a:off x="8302752" y="4791456"/>
            <a:ext cx="237744" cy="237744"/>
          </a:xfrm>
          <a:prstGeom prst="ellipse">
            <a:avLst/>
          </a:prstGeom>
          <a:solidFill>
            <a:srgbClr val="00EDED"/>
          </a:solidFill>
          <a:ln/>
        </p:spPr>
      </p:sp>
      <p:sp>
        <p:nvSpPr>
          <p:cNvPr id="35" name="Text 33"/>
          <p:cNvSpPr/>
          <p:nvPr/>
        </p:nvSpPr>
        <p:spPr>
          <a:xfrm>
            <a:off x="8631936" y="4736592"/>
            <a:ext cx="2770632" cy="365760"/>
          </a:xfrm>
          <a:prstGeom prst="rect">
            <a:avLst/>
          </a:prstGeom>
          <a:noFill/>
          <a:ln/>
        </p:spPr>
        <p:txBody>
          <a:bodyPr wrap="square" lIns="0" tIns="0" rIns="0" bIns="0" rtlCol="0" anchor="ctr"/>
          <a:lstStyle/>
          <a:p>
            <a:pPr indent="0" marL="0">
              <a:buNone/>
            </a:pPr>
            <a:r>
              <a:rPr lang="en-US" sz="1250" b="1" dirty="0">
                <a:solidFill>
                  <a:srgbClr val="FFFFFF"/>
                </a:solidFill>
                <a:latin typeface="Montserrat" pitchFamily="34" charset="0"/>
                <a:ea typeface="Montserrat" pitchFamily="34" charset="-122"/>
                <a:cs typeface="Montserrat" pitchFamily="34" charset="-120"/>
              </a:rPr>
              <a:t>Cortex validates, and a model falls out</a:t>
            </a:r>
            <a:endParaRPr lang="en-US" sz="1250" dirty="0"/>
          </a:p>
        </p:txBody>
      </p:sp>
      <p:sp>
        <p:nvSpPr>
          <p:cNvPr id="36" name="Text 34"/>
          <p:cNvSpPr/>
          <p:nvPr/>
        </p:nvSpPr>
        <p:spPr>
          <a:xfrm>
            <a:off x="8302752" y="5157216"/>
            <a:ext cx="3099816" cy="621792"/>
          </a:xfrm>
          <a:prstGeom prst="rect">
            <a:avLst/>
          </a:prstGeom>
          <a:noFill/>
          <a:ln/>
        </p:spPr>
        <p:txBody>
          <a:bodyPr wrap="square" lIns="0" tIns="0" rIns="0" bIns="0" rtlCol="0" anchor="ctr"/>
          <a:lstStyle/>
          <a:p>
            <a:pPr indent="0" marL="0">
              <a:buNone/>
            </a:pPr>
            <a:r>
              <a:rPr lang="en-US" sz="950" dirty="0">
                <a:solidFill>
                  <a:srgbClr val="A2F3F3"/>
                </a:solidFill>
                <a:latin typeface="Montserrat" pitchFamily="34" charset="0"/>
                <a:ea typeface="Montserrat" pitchFamily="34" charset="-122"/>
                <a:cs typeface="Montserrat" pitchFamily="34" charset="-120"/>
              </a:rPr>
              <a:t>Migration emits a governed semantic view, and Cortex checks the numbers section by section.</a:t>
            </a:r>
            <a:endParaRPr lang="en-US" sz="950" dirty="0"/>
          </a:p>
        </p:txBody>
      </p:sp>
      <p:sp>
        <p:nvSpPr>
          <p:cNvPr id="37" name="Shape 35"/>
          <p:cNvSpPr/>
          <p:nvPr/>
        </p:nvSpPr>
        <p:spPr>
          <a:xfrm>
            <a:off x="548640" y="5669280"/>
            <a:ext cx="11091672" cy="786384"/>
          </a:xfrm>
          <a:prstGeom prst="roundRect">
            <a:avLst>
              <a:gd name="adj" fmla="val 9302"/>
            </a:avLst>
          </a:prstGeom>
          <a:solidFill>
            <a:srgbClr val="053057"/>
          </a:solidFill>
          <a:ln w="15875">
            <a:solidFill>
              <a:srgbClr val="00EDED"/>
            </a:solidFill>
            <a:prstDash val="solid"/>
          </a:ln>
        </p:spPr>
      </p:sp>
      <p:sp>
        <p:nvSpPr>
          <p:cNvPr id="38" name="Text 36"/>
          <p:cNvSpPr/>
          <p:nvPr/>
        </p:nvSpPr>
        <p:spPr>
          <a:xfrm>
            <a:off x="841248" y="5797296"/>
            <a:ext cx="10515600" cy="548640"/>
          </a:xfrm>
          <a:prstGeom prst="rect">
            <a:avLst/>
          </a:prstGeom>
          <a:noFill/>
          <a:ln/>
        </p:spPr>
        <p:txBody>
          <a:bodyPr wrap="square" lIns="0" tIns="0" rIns="0" bIns="0" rtlCol="0" anchor="ctr"/>
          <a:lstStyle/>
          <a:p>
            <a:pPr indent="0" marL="0">
              <a:buNone/>
            </a:pPr>
            <a:r>
              <a:rPr lang="en-US" sz="1050" b="1" dirty="0">
                <a:solidFill>
                  <a:srgbClr val="00EDED"/>
                </a:solidFill>
                <a:latin typeface="Montserrat" pitchFamily="34" charset="0"/>
                <a:ea typeface="Montserrat" pitchFamily="34" charset="-122"/>
                <a:cs typeface="Montserrat" pitchFamily="34" charset="-120"/>
              </a:rPr>
              <a:t>The blocker was never willingness — it was rebuild cost.  </a:t>
            </a:r>
            <a:pPr indent="0" marL="0">
              <a:buNone/>
            </a:pPr>
            <a:r>
              <a:rPr lang="en-US" sz="1050" dirty="0">
                <a:solidFill>
                  <a:srgbClr val="D6E6F0"/>
                </a:solidFill>
                <a:latin typeface="Montserrat" pitchFamily="34" charset="0"/>
                <a:ea typeface="Montserrat" pitchFamily="34" charset="-122"/>
                <a:cs typeface="Montserrat" pitchFamily="34" charset="-120"/>
              </a:rPr>
              <a:t>Hundreds of dashboards encode years of business logic, so the separate BI tool stays by default rather than by decision. Remove that cost and the presentation layer, its governance and its AI surface all move onto Snowflake.</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53057"/>
        </a:solidFill>
      </p:bgPr>
    </p:bg>
    <p:spTree>
      <p:nvGrpSpPr>
        <p:cNvPr id="1" name=""/>
        <p:cNvGrpSpPr/>
        <p:nvPr/>
      </p:nvGrpSpPr>
      <p:grpSpPr>
        <a:xfrm>
          <a:off x="0" y="0"/>
          <a:ext cx="0" cy="0"/>
          <a:chOff x="0" y="0"/>
          <a:chExt cx="0" cy="0"/>
        </a:xfrm>
      </p:grpSpPr>
      <p:sp>
        <p:nvSpPr>
          <p:cNvPr id="2" name="Text 0"/>
          <p:cNvSpPr/>
          <p:nvPr/>
        </p:nvSpPr>
        <p:spPr>
          <a:xfrm>
            <a:off x="548640" y="365760"/>
            <a:ext cx="11064240" cy="530352"/>
          </a:xfrm>
          <a:prstGeom prst="rect">
            <a:avLst/>
          </a:prstGeom>
          <a:noFill/>
          <a:ln/>
        </p:spPr>
        <p:txBody>
          <a:bodyPr wrap="square" lIns="0" tIns="0" rIns="0" bIns="0" rtlCol="0" anchor="ctr"/>
          <a:lstStyle/>
          <a:p>
            <a:pPr indent="0" marL="0">
              <a:buNone/>
            </a:pPr>
            <a:r>
              <a:rPr lang="en-US" sz="3300" b="1" dirty="0">
                <a:solidFill>
                  <a:srgbClr val="FFFFFF"/>
                </a:solidFill>
                <a:latin typeface="Montserrat" pitchFamily="34" charset="0"/>
                <a:ea typeface="Montserrat" pitchFamily="34" charset="-122"/>
                <a:cs typeface="Montserrat" pitchFamily="34" charset="-120"/>
              </a:rPr>
              <a:t>AI-Accelerated Migration, With Human Oversight</a:t>
            </a:r>
            <a:endParaRPr lang="en-US" sz="3300" dirty="0"/>
          </a:p>
        </p:txBody>
      </p:sp>
      <p:sp>
        <p:nvSpPr>
          <p:cNvPr id="3" name="Text 1"/>
          <p:cNvSpPr/>
          <p:nvPr/>
        </p:nvSpPr>
        <p:spPr>
          <a:xfrm>
            <a:off x="548640" y="914400"/>
            <a:ext cx="11064240" cy="292608"/>
          </a:xfrm>
          <a:prstGeom prst="rect">
            <a:avLst/>
          </a:prstGeom>
          <a:noFill/>
          <a:ln/>
        </p:spPr>
        <p:txBody>
          <a:bodyPr wrap="square" lIns="0" tIns="0" rIns="0" bIns="0" rtlCol="0" anchor="ctr"/>
          <a:lstStyle/>
          <a:p>
            <a:pPr indent="0" marL="0">
              <a:buNone/>
            </a:pPr>
            <a:r>
              <a:rPr lang="en-US" sz="1300" dirty="0">
                <a:solidFill>
                  <a:srgbClr val="A2F3F3"/>
                </a:solidFill>
                <a:latin typeface="Montserrat" pitchFamily="34" charset="0"/>
                <a:ea typeface="Montserrat" pitchFamily="34" charset="-122"/>
                <a:cs typeface="Montserrat" pitchFamily="34" charset="-120"/>
              </a:rPr>
              <a:t>Five stages, executing inside the customer's Snowflake account</a:t>
            </a:r>
            <a:endParaRPr lang="en-US" sz="1300" dirty="0"/>
          </a:p>
        </p:txBody>
      </p:sp>
      <p:sp>
        <p:nvSpPr>
          <p:cNvPr id="4" name="Shape 2"/>
          <p:cNvSpPr/>
          <p:nvPr/>
        </p:nvSpPr>
        <p:spPr>
          <a:xfrm>
            <a:off x="548640" y="1426464"/>
            <a:ext cx="2103120" cy="2286000"/>
          </a:xfrm>
          <a:prstGeom prst="roundRect">
            <a:avLst>
              <a:gd name="adj" fmla="val 3478"/>
            </a:avLst>
          </a:prstGeom>
          <a:solidFill>
            <a:srgbClr val="0A3E6B"/>
          </a:solidFill>
          <a:ln w="12700">
            <a:solidFill>
              <a:srgbClr val="17517F"/>
            </a:solidFill>
            <a:prstDash val="solid"/>
          </a:ln>
        </p:spPr>
      </p:sp>
      <p:sp>
        <p:nvSpPr>
          <p:cNvPr id="5" name="Text 3"/>
          <p:cNvSpPr/>
          <p:nvPr/>
        </p:nvSpPr>
        <p:spPr>
          <a:xfrm>
            <a:off x="749808" y="1591056"/>
            <a:ext cx="1700784" cy="237744"/>
          </a:xfrm>
          <a:prstGeom prst="rect">
            <a:avLst/>
          </a:prstGeom>
          <a:noFill/>
          <a:ln/>
        </p:spPr>
        <p:txBody>
          <a:bodyPr wrap="square" lIns="0" tIns="0" rIns="0" bIns="0" rtlCol="0" anchor="ctr"/>
          <a:lstStyle/>
          <a:p>
            <a:pPr indent="0" marL="0">
              <a:buNone/>
            </a:pPr>
            <a:r>
              <a:rPr lang="en-US" sz="950" b="1" spc="100" kern="0" dirty="0">
                <a:solidFill>
                  <a:srgbClr val="6B7C88"/>
                </a:solidFill>
                <a:latin typeface="Montserrat" pitchFamily="34" charset="0"/>
                <a:ea typeface="Montserrat" pitchFamily="34" charset="-122"/>
                <a:cs typeface="Montserrat" pitchFamily="34" charset="-120"/>
              </a:rPr>
              <a:t>Stage 1</a:t>
            </a:r>
            <a:endParaRPr lang="en-US" sz="950" dirty="0"/>
          </a:p>
        </p:txBody>
      </p:sp>
      <p:sp>
        <p:nvSpPr>
          <p:cNvPr id="6" name="Text 4"/>
          <p:cNvSpPr/>
          <p:nvPr/>
        </p:nvSpPr>
        <p:spPr>
          <a:xfrm>
            <a:off x="749808" y="1847088"/>
            <a:ext cx="1700784" cy="512064"/>
          </a:xfrm>
          <a:prstGeom prst="rect">
            <a:avLst/>
          </a:prstGeom>
          <a:noFill/>
          <a:ln/>
        </p:spPr>
        <p:txBody>
          <a:bodyPr wrap="square" lIns="0" tIns="0" rIns="0" bIns="0" rtlCol="0" anchor="ctr"/>
          <a:lstStyle/>
          <a:p>
            <a:pPr indent="0" marL="0">
              <a:buNone/>
            </a:pPr>
            <a:r>
              <a:rPr lang="en-US" sz="1350" b="1" dirty="0">
                <a:solidFill>
                  <a:srgbClr val="FFFFFF"/>
                </a:solidFill>
                <a:latin typeface="Montserrat" pitchFamily="34" charset="0"/>
                <a:ea typeface="Montserrat" pitchFamily="34" charset="-122"/>
                <a:cs typeface="Montserrat" pitchFamily="34" charset="-120"/>
              </a:rPr>
              <a:t>Discovery</a:t>
            </a:r>
            <a:endParaRPr lang="en-US" sz="1350" dirty="0"/>
          </a:p>
        </p:txBody>
      </p:sp>
      <p:sp>
        <p:nvSpPr>
          <p:cNvPr id="7" name="Text 5"/>
          <p:cNvSpPr/>
          <p:nvPr/>
        </p:nvSpPr>
        <p:spPr>
          <a:xfrm>
            <a:off x="749808" y="2395728"/>
            <a:ext cx="1700784" cy="1188720"/>
          </a:xfrm>
          <a:prstGeom prst="rect">
            <a:avLst/>
          </a:prstGeom>
          <a:noFill/>
          <a:ln/>
        </p:spPr>
        <p:txBody>
          <a:bodyPr wrap="square" lIns="0" tIns="0" rIns="0" bIns="0" rtlCol="0" anchor="ctr"/>
          <a:lstStyle/>
          <a:p>
            <a:pPr indent="0" marL="0">
              <a:lnSpc>
                <a:spcPct val="104000"/>
              </a:lnSpc>
              <a:buNone/>
            </a:pPr>
            <a:r>
              <a:rPr lang="en-US" sz="900" dirty="0">
                <a:solidFill>
                  <a:srgbClr val="D6E6F0"/>
                </a:solidFill>
                <a:latin typeface="Montserrat" pitchFamily="34" charset="0"/>
                <a:ea typeface="Montserrat" pitchFamily="34" charset="-122"/>
                <a:cs typeface="Montserrat" pitchFamily="34" charset="-120"/>
              </a:rPr>
              <a:t>Datasources resolved, data extracted, tables created and loaded in Snowflake</a:t>
            </a:r>
            <a:endParaRPr lang="en-US" sz="900" dirty="0"/>
          </a:p>
        </p:txBody>
      </p:sp>
      <p:sp>
        <p:nvSpPr>
          <p:cNvPr id="8" name="Shape 6"/>
          <p:cNvSpPr/>
          <p:nvPr/>
        </p:nvSpPr>
        <p:spPr>
          <a:xfrm>
            <a:off x="2816352" y="1426464"/>
            <a:ext cx="2103120" cy="2286000"/>
          </a:xfrm>
          <a:prstGeom prst="roundRect">
            <a:avLst>
              <a:gd name="adj" fmla="val 3478"/>
            </a:avLst>
          </a:prstGeom>
          <a:solidFill>
            <a:srgbClr val="0A3E6B"/>
          </a:solidFill>
          <a:ln w="12700">
            <a:solidFill>
              <a:srgbClr val="17517F"/>
            </a:solidFill>
            <a:prstDash val="solid"/>
          </a:ln>
        </p:spPr>
      </p:sp>
      <p:sp>
        <p:nvSpPr>
          <p:cNvPr id="9" name="Text 7"/>
          <p:cNvSpPr/>
          <p:nvPr/>
        </p:nvSpPr>
        <p:spPr>
          <a:xfrm>
            <a:off x="3017520" y="1591056"/>
            <a:ext cx="1700784" cy="237744"/>
          </a:xfrm>
          <a:prstGeom prst="rect">
            <a:avLst/>
          </a:prstGeom>
          <a:noFill/>
          <a:ln/>
        </p:spPr>
        <p:txBody>
          <a:bodyPr wrap="square" lIns="0" tIns="0" rIns="0" bIns="0" rtlCol="0" anchor="ctr"/>
          <a:lstStyle/>
          <a:p>
            <a:pPr indent="0" marL="0">
              <a:buNone/>
            </a:pPr>
            <a:r>
              <a:rPr lang="en-US" sz="950" b="1" spc="100" kern="0" dirty="0">
                <a:solidFill>
                  <a:srgbClr val="6B7C88"/>
                </a:solidFill>
                <a:latin typeface="Montserrat" pitchFamily="34" charset="0"/>
                <a:ea typeface="Montserrat" pitchFamily="34" charset="-122"/>
                <a:cs typeface="Montserrat" pitchFamily="34" charset="-120"/>
              </a:rPr>
              <a:t>Stage 2</a:t>
            </a:r>
            <a:endParaRPr lang="en-US" sz="950" dirty="0"/>
          </a:p>
        </p:txBody>
      </p:sp>
      <p:sp>
        <p:nvSpPr>
          <p:cNvPr id="10" name="Text 8"/>
          <p:cNvSpPr/>
          <p:nvPr/>
        </p:nvSpPr>
        <p:spPr>
          <a:xfrm>
            <a:off x="3017520" y="1847088"/>
            <a:ext cx="1700784" cy="512064"/>
          </a:xfrm>
          <a:prstGeom prst="rect">
            <a:avLst/>
          </a:prstGeom>
          <a:noFill/>
          <a:ln/>
        </p:spPr>
        <p:txBody>
          <a:bodyPr wrap="square" lIns="0" tIns="0" rIns="0" bIns="0" rtlCol="0" anchor="ctr"/>
          <a:lstStyle/>
          <a:p>
            <a:pPr indent="0" marL="0">
              <a:buNone/>
            </a:pPr>
            <a:r>
              <a:rPr lang="en-US" sz="1350" b="1" dirty="0">
                <a:solidFill>
                  <a:srgbClr val="FFFFFF"/>
                </a:solidFill>
                <a:latin typeface="Montserrat" pitchFamily="34" charset="0"/>
                <a:ea typeface="Montserrat" pitchFamily="34" charset="-122"/>
                <a:cs typeface="Montserrat" pitchFamily="34" charset="-120"/>
              </a:rPr>
              <a:t>Model Extraction</a:t>
            </a:r>
            <a:endParaRPr lang="en-US" sz="1350" dirty="0"/>
          </a:p>
        </p:txBody>
      </p:sp>
      <p:sp>
        <p:nvSpPr>
          <p:cNvPr id="11" name="Text 9"/>
          <p:cNvSpPr/>
          <p:nvPr/>
        </p:nvSpPr>
        <p:spPr>
          <a:xfrm>
            <a:off x="3017520" y="2395728"/>
            <a:ext cx="1700784" cy="1188720"/>
          </a:xfrm>
          <a:prstGeom prst="rect">
            <a:avLst/>
          </a:prstGeom>
          <a:noFill/>
          <a:ln/>
        </p:spPr>
        <p:txBody>
          <a:bodyPr wrap="square" lIns="0" tIns="0" rIns="0" bIns="0" rtlCol="0" anchor="ctr"/>
          <a:lstStyle/>
          <a:p>
            <a:pPr indent="0" marL="0">
              <a:lnSpc>
                <a:spcPct val="104000"/>
              </a:lnSpc>
              <a:buNone/>
            </a:pPr>
            <a:r>
              <a:rPr lang="en-US" sz="900" dirty="0">
                <a:solidFill>
                  <a:srgbClr val="D6E6F0"/>
                </a:solidFill>
                <a:latin typeface="Montserrat" pitchFamily="34" charset="0"/>
                <a:ea typeface="Montserrat" pitchFamily="34" charset="-122"/>
                <a:cs typeface="Montserrat" pitchFamily="34" charset="-120"/>
              </a:rPr>
              <a:t>The workbook's semantic and presentation model is lifted out of the source</a:t>
            </a:r>
            <a:endParaRPr lang="en-US" sz="900" dirty="0"/>
          </a:p>
        </p:txBody>
      </p:sp>
      <p:sp>
        <p:nvSpPr>
          <p:cNvPr id="12" name="Shape 10"/>
          <p:cNvSpPr/>
          <p:nvPr/>
        </p:nvSpPr>
        <p:spPr>
          <a:xfrm>
            <a:off x="5084064" y="1426464"/>
            <a:ext cx="2103120" cy="2286000"/>
          </a:xfrm>
          <a:prstGeom prst="roundRect">
            <a:avLst>
              <a:gd name="adj" fmla="val 3478"/>
            </a:avLst>
          </a:prstGeom>
          <a:solidFill>
            <a:srgbClr val="0A3E6B"/>
          </a:solidFill>
          <a:ln w="19050">
            <a:solidFill>
              <a:srgbClr val="00EDED"/>
            </a:solidFill>
            <a:prstDash val="solid"/>
          </a:ln>
        </p:spPr>
      </p:sp>
      <p:sp>
        <p:nvSpPr>
          <p:cNvPr id="13" name="Text 11"/>
          <p:cNvSpPr/>
          <p:nvPr/>
        </p:nvSpPr>
        <p:spPr>
          <a:xfrm>
            <a:off x="5285232" y="1591056"/>
            <a:ext cx="1700784" cy="237744"/>
          </a:xfrm>
          <a:prstGeom prst="rect">
            <a:avLst/>
          </a:prstGeom>
          <a:noFill/>
          <a:ln/>
        </p:spPr>
        <p:txBody>
          <a:bodyPr wrap="square" lIns="0" tIns="0" rIns="0" bIns="0" rtlCol="0" anchor="ctr"/>
          <a:lstStyle/>
          <a:p>
            <a:pPr indent="0" marL="0">
              <a:buNone/>
            </a:pPr>
            <a:r>
              <a:rPr lang="en-US" sz="950" b="1" spc="100" kern="0" dirty="0">
                <a:solidFill>
                  <a:srgbClr val="00EDED"/>
                </a:solidFill>
                <a:latin typeface="Montserrat" pitchFamily="34" charset="0"/>
                <a:ea typeface="Montserrat" pitchFamily="34" charset="-122"/>
                <a:cs typeface="Montserrat" pitchFamily="34" charset="-120"/>
              </a:rPr>
              <a:t>Stage 3</a:t>
            </a:r>
            <a:endParaRPr lang="en-US" sz="950" dirty="0"/>
          </a:p>
        </p:txBody>
      </p:sp>
      <p:sp>
        <p:nvSpPr>
          <p:cNvPr id="14" name="Text 12"/>
          <p:cNvSpPr/>
          <p:nvPr/>
        </p:nvSpPr>
        <p:spPr>
          <a:xfrm>
            <a:off x="5285232" y="1847088"/>
            <a:ext cx="1700784" cy="512064"/>
          </a:xfrm>
          <a:prstGeom prst="rect">
            <a:avLst/>
          </a:prstGeom>
          <a:noFill/>
          <a:ln/>
        </p:spPr>
        <p:txBody>
          <a:bodyPr wrap="square" lIns="0" tIns="0" rIns="0" bIns="0" rtlCol="0" anchor="ctr"/>
          <a:lstStyle/>
          <a:p>
            <a:pPr indent="0" marL="0">
              <a:buNone/>
            </a:pPr>
            <a:r>
              <a:rPr lang="en-US" sz="1350" b="1" dirty="0">
                <a:solidFill>
                  <a:srgbClr val="FFFFFF"/>
                </a:solidFill>
                <a:latin typeface="Montserrat" pitchFamily="34" charset="0"/>
                <a:ea typeface="Montserrat" pitchFamily="34" charset="-122"/>
                <a:cs typeface="Montserrat" pitchFamily="34" charset="-120"/>
              </a:rPr>
              <a:t>Cortex Translation</a:t>
            </a:r>
            <a:endParaRPr lang="en-US" sz="1350" dirty="0"/>
          </a:p>
        </p:txBody>
      </p:sp>
      <p:sp>
        <p:nvSpPr>
          <p:cNvPr id="15" name="Text 13"/>
          <p:cNvSpPr/>
          <p:nvPr/>
        </p:nvSpPr>
        <p:spPr>
          <a:xfrm>
            <a:off x="5285232" y="2395728"/>
            <a:ext cx="1700784" cy="1188720"/>
          </a:xfrm>
          <a:prstGeom prst="rect">
            <a:avLst/>
          </a:prstGeom>
          <a:noFill/>
          <a:ln/>
        </p:spPr>
        <p:txBody>
          <a:bodyPr wrap="square" lIns="0" tIns="0" rIns="0" bIns="0" rtlCol="0" anchor="ctr"/>
          <a:lstStyle/>
          <a:p>
            <a:pPr indent="0" marL="0">
              <a:lnSpc>
                <a:spcPct val="104000"/>
              </a:lnSpc>
              <a:buNone/>
            </a:pPr>
            <a:r>
              <a:rPr lang="en-US" sz="900" dirty="0">
                <a:solidFill>
                  <a:srgbClr val="D6E6F0"/>
                </a:solidFill>
                <a:latin typeface="Montserrat" pitchFamily="34" charset="0"/>
                <a:ea typeface="Montserrat" pitchFamily="34" charset="-122"/>
                <a:cs typeface="Montserrat" pitchFamily="34" charset="-120"/>
              </a:rPr>
              <a:t>Cortex AI converts the complex calculations — nested LODs, blended measures — into Snowflake SQL</a:t>
            </a:r>
            <a:endParaRPr lang="en-US" sz="900" dirty="0"/>
          </a:p>
        </p:txBody>
      </p:sp>
      <p:sp>
        <p:nvSpPr>
          <p:cNvPr id="16" name="Shape 14"/>
          <p:cNvSpPr/>
          <p:nvPr/>
        </p:nvSpPr>
        <p:spPr>
          <a:xfrm>
            <a:off x="7351776" y="1426464"/>
            <a:ext cx="2103120" cy="2286000"/>
          </a:xfrm>
          <a:prstGeom prst="roundRect">
            <a:avLst>
              <a:gd name="adj" fmla="val 3478"/>
            </a:avLst>
          </a:prstGeom>
          <a:solidFill>
            <a:srgbClr val="0A3E6B"/>
          </a:solidFill>
          <a:ln w="19050">
            <a:solidFill>
              <a:srgbClr val="00EDED"/>
            </a:solidFill>
            <a:prstDash val="solid"/>
          </a:ln>
        </p:spPr>
      </p:sp>
      <p:sp>
        <p:nvSpPr>
          <p:cNvPr id="17" name="Text 15"/>
          <p:cNvSpPr/>
          <p:nvPr/>
        </p:nvSpPr>
        <p:spPr>
          <a:xfrm>
            <a:off x="7552944" y="1591056"/>
            <a:ext cx="1700784" cy="237744"/>
          </a:xfrm>
          <a:prstGeom prst="rect">
            <a:avLst/>
          </a:prstGeom>
          <a:noFill/>
          <a:ln/>
        </p:spPr>
        <p:txBody>
          <a:bodyPr wrap="square" lIns="0" tIns="0" rIns="0" bIns="0" rtlCol="0" anchor="ctr"/>
          <a:lstStyle/>
          <a:p>
            <a:pPr indent="0" marL="0">
              <a:buNone/>
            </a:pPr>
            <a:r>
              <a:rPr lang="en-US" sz="950" b="1" spc="100" kern="0" dirty="0">
                <a:solidFill>
                  <a:srgbClr val="00EDED"/>
                </a:solidFill>
                <a:latin typeface="Montserrat" pitchFamily="34" charset="0"/>
                <a:ea typeface="Montserrat" pitchFamily="34" charset="-122"/>
                <a:cs typeface="Montserrat" pitchFamily="34" charset="-120"/>
              </a:rPr>
              <a:t>Stage 4</a:t>
            </a:r>
            <a:endParaRPr lang="en-US" sz="950" dirty="0"/>
          </a:p>
        </p:txBody>
      </p:sp>
      <p:sp>
        <p:nvSpPr>
          <p:cNvPr id="18" name="Text 16"/>
          <p:cNvSpPr/>
          <p:nvPr/>
        </p:nvSpPr>
        <p:spPr>
          <a:xfrm>
            <a:off x="7552944" y="1847088"/>
            <a:ext cx="1700784" cy="512064"/>
          </a:xfrm>
          <a:prstGeom prst="rect">
            <a:avLst/>
          </a:prstGeom>
          <a:noFill/>
          <a:ln/>
        </p:spPr>
        <p:txBody>
          <a:bodyPr wrap="square" lIns="0" tIns="0" rIns="0" bIns="0" rtlCol="0" anchor="ctr"/>
          <a:lstStyle/>
          <a:p>
            <a:pPr indent="0" marL="0">
              <a:buNone/>
            </a:pPr>
            <a:r>
              <a:rPr lang="en-US" sz="1350" b="1" dirty="0">
                <a:solidFill>
                  <a:srgbClr val="FFFFFF"/>
                </a:solidFill>
                <a:latin typeface="Montserrat" pitchFamily="34" charset="0"/>
                <a:ea typeface="Montserrat" pitchFamily="34" charset="-122"/>
                <a:cs typeface="Montserrat" pitchFamily="34" charset="-120"/>
              </a:rPr>
              <a:t>Semantic + App</a:t>
            </a:r>
            <a:endParaRPr lang="en-US" sz="1350" dirty="0"/>
          </a:p>
        </p:txBody>
      </p:sp>
      <p:sp>
        <p:nvSpPr>
          <p:cNvPr id="19" name="Text 17"/>
          <p:cNvSpPr/>
          <p:nvPr/>
        </p:nvSpPr>
        <p:spPr>
          <a:xfrm>
            <a:off x="7552944" y="2395728"/>
            <a:ext cx="1700784" cy="1188720"/>
          </a:xfrm>
          <a:prstGeom prst="rect">
            <a:avLst/>
          </a:prstGeom>
          <a:noFill/>
          <a:ln/>
        </p:spPr>
        <p:txBody>
          <a:bodyPr wrap="square" lIns="0" tIns="0" rIns="0" bIns="0" rtlCol="0" anchor="ctr"/>
          <a:lstStyle/>
          <a:p>
            <a:pPr indent="0" marL="0">
              <a:lnSpc>
                <a:spcPct val="104000"/>
              </a:lnSpc>
              <a:buNone/>
            </a:pPr>
            <a:r>
              <a:rPr lang="en-US" sz="900" dirty="0">
                <a:solidFill>
                  <a:srgbClr val="D6E6F0"/>
                </a:solidFill>
                <a:latin typeface="Montserrat" pitchFamily="34" charset="0"/>
                <a:ea typeface="Montserrat" pitchFamily="34" charset="-122"/>
                <a:cs typeface="Montserrat" pitchFamily="34" charset="-120"/>
              </a:rPr>
              <a:t>A native semantic view is created, and the dashboard is generated as a Streamlit app</a:t>
            </a:r>
            <a:endParaRPr lang="en-US" sz="900" dirty="0"/>
          </a:p>
        </p:txBody>
      </p:sp>
      <p:sp>
        <p:nvSpPr>
          <p:cNvPr id="20" name="Shape 18"/>
          <p:cNvSpPr/>
          <p:nvPr/>
        </p:nvSpPr>
        <p:spPr>
          <a:xfrm>
            <a:off x="9619488" y="1426464"/>
            <a:ext cx="2103120" cy="2286000"/>
          </a:xfrm>
          <a:prstGeom prst="roundRect">
            <a:avLst>
              <a:gd name="adj" fmla="val 3478"/>
            </a:avLst>
          </a:prstGeom>
          <a:solidFill>
            <a:srgbClr val="0A3E6B"/>
          </a:solidFill>
          <a:ln w="19050">
            <a:solidFill>
              <a:srgbClr val="00EDED"/>
            </a:solidFill>
            <a:prstDash val="solid"/>
          </a:ln>
        </p:spPr>
      </p:sp>
      <p:sp>
        <p:nvSpPr>
          <p:cNvPr id="21" name="Text 19"/>
          <p:cNvSpPr/>
          <p:nvPr/>
        </p:nvSpPr>
        <p:spPr>
          <a:xfrm>
            <a:off x="9820656" y="1591056"/>
            <a:ext cx="1700784" cy="237744"/>
          </a:xfrm>
          <a:prstGeom prst="rect">
            <a:avLst/>
          </a:prstGeom>
          <a:noFill/>
          <a:ln/>
        </p:spPr>
        <p:txBody>
          <a:bodyPr wrap="square" lIns="0" tIns="0" rIns="0" bIns="0" rtlCol="0" anchor="ctr"/>
          <a:lstStyle/>
          <a:p>
            <a:pPr indent="0" marL="0">
              <a:buNone/>
            </a:pPr>
            <a:r>
              <a:rPr lang="en-US" sz="950" b="1" spc="100" kern="0" dirty="0">
                <a:solidFill>
                  <a:srgbClr val="00EDED"/>
                </a:solidFill>
                <a:latin typeface="Montserrat" pitchFamily="34" charset="0"/>
                <a:ea typeface="Montserrat" pitchFamily="34" charset="-122"/>
                <a:cs typeface="Montserrat" pitchFamily="34" charset="-120"/>
              </a:rPr>
              <a:t>Stage 5</a:t>
            </a:r>
            <a:endParaRPr lang="en-US" sz="950" dirty="0"/>
          </a:p>
        </p:txBody>
      </p:sp>
      <p:sp>
        <p:nvSpPr>
          <p:cNvPr id="22" name="Text 20"/>
          <p:cNvSpPr/>
          <p:nvPr/>
        </p:nvSpPr>
        <p:spPr>
          <a:xfrm>
            <a:off x="9820656" y="1847088"/>
            <a:ext cx="1700784" cy="512064"/>
          </a:xfrm>
          <a:prstGeom prst="rect">
            <a:avLst/>
          </a:prstGeom>
          <a:noFill/>
          <a:ln/>
        </p:spPr>
        <p:txBody>
          <a:bodyPr wrap="square" lIns="0" tIns="0" rIns="0" bIns="0" rtlCol="0" anchor="ctr"/>
          <a:lstStyle/>
          <a:p>
            <a:pPr indent="0" marL="0">
              <a:buNone/>
            </a:pPr>
            <a:r>
              <a:rPr lang="en-US" sz="1350" b="1" dirty="0">
                <a:solidFill>
                  <a:srgbClr val="FFFFFF"/>
                </a:solidFill>
                <a:latin typeface="Montserrat" pitchFamily="34" charset="0"/>
                <a:ea typeface="Montserrat" pitchFamily="34" charset="-122"/>
                <a:cs typeface="Montserrat" pitchFamily="34" charset="-120"/>
              </a:rPr>
              <a:t>Cortex Validation</a:t>
            </a:r>
            <a:endParaRPr lang="en-US" sz="1350" dirty="0"/>
          </a:p>
        </p:txBody>
      </p:sp>
      <p:sp>
        <p:nvSpPr>
          <p:cNvPr id="23" name="Text 21"/>
          <p:cNvSpPr/>
          <p:nvPr/>
        </p:nvSpPr>
        <p:spPr>
          <a:xfrm>
            <a:off x="9820656" y="2395728"/>
            <a:ext cx="1700784" cy="1188720"/>
          </a:xfrm>
          <a:prstGeom prst="rect">
            <a:avLst/>
          </a:prstGeom>
          <a:noFill/>
          <a:ln/>
        </p:spPr>
        <p:txBody>
          <a:bodyPr wrap="square" lIns="0" tIns="0" rIns="0" bIns="0" rtlCol="0" anchor="ctr"/>
          <a:lstStyle/>
          <a:p>
            <a:pPr indent="0" marL="0">
              <a:lnSpc>
                <a:spcPct val="104000"/>
              </a:lnSpc>
              <a:buNone/>
            </a:pPr>
            <a:r>
              <a:rPr lang="en-US" sz="900" dirty="0">
                <a:solidFill>
                  <a:srgbClr val="D6E6F0"/>
                </a:solidFill>
                <a:latin typeface="Montserrat" pitchFamily="34" charset="0"/>
                <a:ea typeface="Montserrat" pitchFamily="34" charset="-122"/>
                <a:cs typeface="Montserrat" pitchFamily="34" charset="-120"/>
              </a:rPr>
              <a:t>Tableau and Streamlit outputs are compared measure by measure, and the evidence is emitted</a:t>
            </a:r>
            <a:endParaRPr lang="en-US" sz="900" dirty="0"/>
          </a:p>
        </p:txBody>
      </p:sp>
      <p:sp>
        <p:nvSpPr>
          <p:cNvPr id="24" name="Shape 22"/>
          <p:cNvSpPr/>
          <p:nvPr/>
        </p:nvSpPr>
        <p:spPr>
          <a:xfrm>
            <a:off x="548640" y="3877056"/>
            <a:ext cx="11091672" cy="457200"/>
          </a:xfrm>
          <a:prstGeom prst="roundRect">
            <a:avLst>
              <a:gd name="adj" fmla="val 12000"/>
            </a:avLst>
          </a:prstGeom>
          <a:solidFill>
            <a:srgbClr val="0A3E6B"/>
          </a:solidFill>
          <a:ln w="12700">
            <a:solidFill>
              <a:srgbClr val="17517F"/>
            </a:solidFill>
            <a:prstDash val="solid"/>
          </a:ln>
        </p:spPr>
      </p:sp>
      <p:sp>
        <p:nvSpPr>
          <p:cNvPr id="25" name="Text 23"/>
          <p:cNvSpPr/>
          <p:nvPr/>
        </p:nvSpPr>
        <p:spPr>
          <a:xfrm>
            <a:off x="548640" y="3877056"/>
            <a:ext cx="11091672" cy="457200"/>
          </a:xfrm>
          <a:prstGeom prst="rect">
            <a:avLst/>
          </a:prstGeom>
          <a:noFill/>
          <a:ln/>
        </p:spPr>
        <p:txBody>
          <a:bodyPr wrap="square" lIns="0" tIns="0" rIns="0" bIns="0" rtlCol="0" anchor="ctr"/>
          <a:lstStyle/>
          <a:p>
            <a:pPr algn="ctr" indent="0" marL="0">
              <a:buNone/>
            </a:pPr>
            <a:r>
              <a:rPr lang="en-US" sz="1150" b="1" spc="60" kern="0" dirty="0">
                <a:solidFill>
                  <a:srgbClr val="00EDED"/>
                </a:solidFill>
                <a:latin typeface="Montserrat" pitchFamily="34" charset="0"/>
                <a:ea typeface="Montserrat" pitchFamily="34" charset="-122"/>
                <a:cs typeface="Montserrat" pitchFamily="34" charset="-120"/>
              </a:rPr>
              <a:t>Streamlit in Snowflake   |   Cortex AI (Claude Opus 4.8)   |   Cortex Analyst   |   Native Semantic Views   |   Snowpark</a:t>
            </a:r>
            <a:endParaRPr lang="en-US" sz="1150" dirty="0"/>
          </a:p>
        </p:txBody>
      </p:sp>
      <p:sp>
        <p:nvSpPr>
          <p:cNvPr id="26" name="Shape 24"/>
          <p:cNvSpPr/>
          <p:nvPr/>
        </p:nvSpPr>
        <p:spPr>
          <a:xfrm>
            <a:off x="548640" y="4535424"/>
            <a:ext cx="5431536" cy="1243584"/>
          </a:xfrm>
          <a:prstGeom prst="roundRect">
            <a:avLst>
              <a:gd name="adj" fmla="val 5882"/>
            </a:avLst>
          </a:prstGeom>
          <a:solidFill>
            <a:srgbClr val="0A3E6B"/>
          </a:solidFill>
          <a:ln w="15875">
            <a:solidFill>
              <a:srgbClr val="00EDED"/>
            </a:solidFill>
            <a:prstDash val="solid"/>
          </a:ln>
        </p:spPr>
      </p:sp>
      <p:sp>
        <p:nvSpPr>
          <p:cNvPr id="27" name="Text 25"/>
          <p:cNvSpPr/>
          <p:nvPr/>
        </p:nvSpPr>
        <p:spPr>
          <a:xfrm>
            <a:off x="841248" y="4700016"/>
            <a:ext cx="4846320" cy="274320"/>
          </a:xfrm>
          <a:prstGeom prst="rect">
            <a:avLst/>
          </a:prstGeom>
          <a:noFill/>
          <a:ln/>
        </p:spPr>
        <p:txBody>
          <a:bodyPr wrap="square" lIns="0" tIns="0" rIns="0" bIns="0" rtlCol="0" anchor="ctr"/>
          <a:lstStyle/>
          <a:p>
            <a:pPr indent="0" marL="0">
              <a:buNone/>
            </a:pPr>
            <a:r>
              <a:rPr lang="en-US" sz="1250" b="1" dirty="0">
                <a:solidFill>
                  <a:srgbClr val="00EDED"/>
                </a:solidFill>
                <a:latin typeface="Montserrat" pitchFamily="34" charset="0"/>
                <a:ea typeface="Montserrat" pitchFamily="34" charset="-122"/>
                <a:cs typeface="Montserrat" pitchFamily="34" charset="-120"/>
              </a:rPr>
              <a:t>Human-in-the-Loop</a:t>
            </a:r>
            <a:endParaRPr lang="en-US" sz="1250" dirty="0"/>
          </a:p>
        </p:txBody>
      </p:sp>
      <p:sp>
        <p:nvSpPr>
          <p:cNvPr id="28" name="Text 26"/>
          <p:cNvSpPr/>
          <p:nvPr/>
        </p:nvSpPr>
        <p:spPr>
          <a:xfrm>
            <a:off x="841248" y="5010912"/>
            <a:ext cx="4846320" cy="694944"/>
          </a:xfrm>
          <a:prstGeom prst="rect">
            <a:avLst/>
          </a:prstGeom>
          <a:noFill/>
          <a:ln/>
        </p:spPr>
        <p:txBody>
          <a:bodyPr wrap="square" lIns="0" tIns="0" rIns="0" bIns="0" rtlCol="0" anchor="ctr"/>
          <a:lstStyle/>
          <a:p>
            <a:pPr indent="0" marL="0">
              <a:buNone/>
            </a:pPr>
            <a:r>
              <a:rPr lang="en-US" sz="950" dirty="0">
                <a:solidFill>
                  <a:srgbClr val="D6E6F0"/>
                </a:solidFill>
                <a:latin typeface="Montserrat" pitchFamily="34" charset="0"/>
                <a:ea typeface="Montserrat" pitchFamily="34" charset="-122"/>
                <a:cs typeface="Montserrat" pitchFamily="34" charset="-120"/>
              </a:rPr>
              <a:t>Every Cortex-proposed translation is executed against the real table first, then enters a reviewer's queue — accept, amend or reject. Every decision is recorded and auditable.</a:t>
            </a:r>
            <a:endParaRPr lang="en-US" sz="950" dirty="0"/>
          </a:p>
        </p:txBody>
      </p:sp>
      <p:sp>
        <p:nvSpPr>
          <p:cNvPr id="29" name="Shape 27"/>
          <p:cNvSpPr/>
          <p:nvPr/>
        </p:nvSpPr>
        <p:spPr>
          <a:xfrm>
            <a:off x="6208776" y="4535424"/>
            <a:ext cx="5431536" cy="1243584"/>
          </a:xfrm>
          <a:prstGeom prst="roundRect">
            <a:avLst>
              <a:gd name="adj" fmla="val 5882"/>
            </a:avLst>
          </a:prstGeom>
          <a:solidFill>
            <a:srgbClr val="0A3E6B"/>
          </a:solidFill>
          <a:ln w="15875">
            <a:solidFill>
              <a:srgbClr val="00EDED"/>
            </a:solidFill>
            <a:prstDash val="solid"/>
          </a:ln>
        </p:spPr>
      </p:sp>
      <p:sp>
        <p:nvSpPr>
          <p:cNvPr id="30" name="Text 28"/>
          <p:cNvSpPr/>
          <p:nvPr/>
        </p:nvSpPr>
        <p:spPr>
          <a:xfrm>
            <a:off x="6501384" y="4700016"/>
            <a:ext cx="4846320" cy="274320"/>
          </a:xfrm>
          <a:prstGeom prst="rect">
            <a:avLst/>
          </a:prstGeom>
          <a:noFill/>
          <a:ln/>
        </p:spPr>
        <p:txBody>
          <a:bodyPr wrap="square" lIns="0" tIns="0" rIns="0" bIns="0" rtlCol="0" anchor="ctr"/>
          <a:lstStyle/>
          <a:p>
            <a:pPr indent="0" marL="0">
              <a:buNone/>
            </a:pPr>
            <a:r>
              <a:rPr lang="en-US" sz="1250" b="1" dirty="0">
                <a:solidFill>
                  <a:srgbClr val="00EDED"/>
                </a:solidFill>
                <a:latin typeface="Montserrat" pitchFamily="34" charset="0"/>
                <a:ea typeface="Montserrat" pitchFamily="34" charset="-122"/>
                <a:cs typeface="Montserrat" pitchFamily="34" charset="-120"/>
              </a:rPr>
              <a:t>Everything Runs In-Account</a:t>
            </a:r>
            <a:endParaRPr lang="en-US" sz="1250" dirty="0"/>
          </a:p>
        </p:txBody>
      </p:sp>
      <p:sp>
        <p:nvSpPr>
          <p:cNvPr id="31" name="Text 29"/>
          <p:cNvSpPr/>
          <p:nvPr/>
        </p:nvSpPr>
        <p:spPr>
          <a:xfrm>
            <a:off x="6501384" y="5010912"/>
            <a:ext cx="4846320" cy="694944"/>
          </a:xfrm>
          <a:prstGeom prst="rect">
            <a:avLst/>
          </a:prstGeom>
          <a:noFill/>
          <a:ln/>
        </p:spPr>
        <p:txBody>
          <a:bodyPr wrap="square" lIns="0" tIns="0" rIns="0" bIns="0" rtlCol="0" anchor="ctr"/>
          <a:lstStyle/>
          <a:p>
            <a:pPr indent="0" marL="0">
              <a:buNone/>
            </a:pPr>
            <a:r>
              <a:rPr lang="en-US" sz="950" dirty="0">
                <a:solidFill>
                  <a:srgbClr val="D6E6F0"/>
                </a:solidFill>
                <a:latin typeface="Montserrat" pitchFamily="34" charset="0"/>
                <a:ea typeface="Montserrat" pitchFamily="34" charset="-122"/>
                <a:cs typeface="Montserrat" pitchFamily="34" charset="-120"/>
              </a:rPr>
              <a:t>Cortex calls, semantic view creation, table loads and the finished dashboard all execute on Snowflake compute, under the customer's own roles. No data leaves the account.</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3F0"/>
        </a:solidFill>
      </p:bgPr>
    </p:bg>
    <p:spTree>
      <p:nvGrpSpPr>
        <p:cNvPr id="1" name=""/>
        <p:cNvGrpSpPr/>
        <p:nvPr/>
      </p:nvGrpSpPr>
      <p:grpSpPr>
        <a:xfrm>
          <a:off x="0" y="0"/>
          <a:ext cx="0" cy="0"/>
          <a:chOff x="0" y="0"/>
          <a:chExt cx="0" cy="0"/>
        </a:xfrm>
      </p:grpSpPr>
      <p:sp>
        <p:nvSpPr>
          <p:cNvPr id="2" name="Text 0"/>
          <p:cNvSpPr/>
          <p:nvPr/>
        </p:nvSpPr>
        <p:spPr>
          <a:xfrm>
            <a:off x="548640" y="365760"/>
            <a:ext cx="11064240" cy="530352"/>
          </a:xfrm>
          <a:prstGeom prst="rect">
            <a:avLst/>
          </a:prstGeom>
          <a:noFill/>
          <a:ln/>
        </p:spPr>
        <p:txBody>
          <a:bodyPr wrap="square" lIns="0" tIns="0" rIns="0" bIns="0" rtlCol="0" anchor="ctr"/>
          <a:lstStyle/>
          <a:p>
            <a:pPr indent="0" marL="0">
              <a:buNone/>
            </a:pPr>
            <a:r>
              <a:rPr lang="en-US" sz="3300" b="1" dirty="0">
                <a:solidFill>
                  <a:srgbClr val="053057"/>
                </a:solidFill>
                <a:latin typeface="Montserrat" pitchFamily="34" charset="0"/>
                <a:ea typeface="Montserrat" pitchFamily="34" charset="-122"/>
                <a:cs typeface="Montserrat" pitchFamily="34" charset="-120"/>
              </a:rPr>
              <a:t>What Cortex Does</a:t>
            </a:r>
            <a:endParaRPr lang="en-US" sz="3300" dirty="0"/>
          </a:p>
        </p:txBody>
      </p:sp>
      <p:sp>
        <p:nvSpPr>
          <p:cNvPr id="3" name="Text 1"/>
          <p:cNvSpPr/>
          <p:nvPr/>
        </p:nvSpPr>
        <p:spPr>
          <a:xfrm>
            <a:off x="548640" y="914400"/>
            <a:ext cx="11064240" cy="292608"/>
          </a:xfrm>
          <a:prstGeom prst="rect">
            <a:avLst/>
          </a:prstGeom>
          <a:noFill/>
          <a:ln/>
        </p:spPr>
        <p:txBody>
          <a:bodyPr wrap="square" lIns="0" tIns="0" rIns="0" bIns="0" rtlCol="0" anchor="ctr"/>
          <a:lstStyle/>
          <a:p>
            <a:pPr indent="0" marL="0">
              <a:buNone/>
            </a:pPr>
            <a:r>
              <a:rPr lang="en-US" sz="1300" dirty="0">
                <a:solidFill>
                  <a:srgbClr val="6B7C88"/>
                </a:solidFill>
                <a:latin typeface="Montserrat" pitchFamily="34" charset="0"/>
                <a:ea typeface="Montserrat" pitchFamily="34" charset="-122"/>
                <a:cs typeface="Montserrat" pitchFamily="34" charset="-120"/>
              </a:rPr>
              <a:t>Claude models running inside the customer's Snowflake account</a:t>
            </a:r>
            <a:endParaRPr lang="en-US" sz="1300" dirty="0"/>
          </a:p>
        </p:txBody>
      </p:sp>
      <p:sp>
        <p:nvSpPr>
          <p:cNvPr id="4" name="Shape 2"/>
          <p:cNvSpPr/>
          <p:nvPr/>
        </p:nvSpPr>
        <p:spPr>
          <a:xfrm>
            <a:off x="548640" y="1371600"/>
            <a:ext cx="2724912" cy="2395728"/>
          </a:xfrm>
          <a:prstGeom prst="roundRect">
            <a:avLst>
              <a:gd name="adj" fmla="val 3053"/>
            </a:avLst>
          </a:prstGeom>
          <a:solidFill>
            <a:srgbClr val="FFFFFF"/>
          </a:solidFill>
          <a:ln w="12700">
            <a:solidFill>
              <a:srgbClr val="DFE3E6"/>
            </a:solidFill>
            <a:prstDash val="solid"/>
          </a:ln>
        </p:spPr>
      </p:sp>
      <p:sp>
        <p:nvSpPr>
          <p:cNvPr id="5" name="Shape 3"/>
          <p:cNvSpPr/>
          <p:nvPr/>
        </p:nvSpPr>
        <p:spPr>
          <a:xfrm>
            <a:off x="768096" y="1591056"/>
            <a:ext cx="402336" cy="402336"/>
          </a:xfrm>
          <a:prstGeom prst="ellipse">
            <a:avLst/>
          </a:prstGeom>
          <a:solidFill>
            <a:srgbClr val="00EDED"/>
          </a:solidFill>
          <a:ln/>
        </p:spPr>
      </p:sp>
      <p:sp>
        <p:nvSpPr>
          <p:cNvPr id="6" name="Text 4"/>
          <p:cNvSpPr/>
          <p:nvPr/>
        </p:nvSpPr>
        <p:spPr>
          <a:xfrm>
            <a:off x="768096" y="1650492"/>
            <a:ext cx="402336" cy="292608"/>
          </a:xfrm>
          <a:prstGeom prst="rect">
            <a:avLst/>
          </a:prstGeom>
          <a:noFill/>
          <a:ln/>
        </p:spPr>
        <p:txBody>
          <a:bodyPr wrap="square" lIns="0" tIns="0" rIns="0" bIns="0" rtlCol="0" anchor="ctr"/>
          <a:lstStyle/>
          <a:p>
            <a:pPr algn="ctr" indent="0" marL="0">
              <a:buNone/>
            </a:pPr>
            <a:r>
              <a:rPr lang="en-US" sz="1300" b="1" dirty="0">
                <a:solidFill>
                  <a:srgbClr val="053057"/>
                </a:solidFill>
                <a:latin typeface="Montserrat" pitchFamily="34" charset="0"/>
                <a:ea typeface="Montserrat" pitchFamily="34" charset="-122"/>
                <a:cs typeface="Montserrat" pitchFamily="34" charset="-120"/>
              </a:rPr>
              <a:t>1</a:t>
            </a:r>
            <a:endParaRPr lang="en-US" sz="1300" dirty="0"/>
          </a:p>
        </p:txBody>
      </p:sp>
      <p:sp>
        <p:nvSpPr>
          <p:cNvPr id="7" name="Text 5"/>
          <p:cNvSpPr/>
          <p:nvPr/>
        </p:nvSpPr>
        <p:spPr>
          <a:xfrm>
            <a:off x="768096" y="2121408"/>
            <a:ext cx="2286000" cy="548640"/>
          </a:xfrm>
          <a:prstGeom prst="rect">
            <a:avLst/>
          </a:prstGeom>
          <a:noFill/>
          <a:ln/>
        </p:spPr>
        <p:txBody>
          <a:bodyPr wrap="square" lIns="0" tIns="0" rIns="0" bIns="0" rtlCol="0" anchor="ctr"/>
          <a:lstStyle/>
          <a:p>
            <a:pPr indent="0" marL="0">
              <a:buNone/>
            </a:pPr>
            <a:r>
              <a:rPr lang="en-US" sz="1250" b="1" dirty="0">
                <a:solidFill>
                  <a:srgbClr val="053057"/>
                </a:solidFill>
                <a:latin typeface="Montserrat" pitchFamily="34" charset="0"/>
                <a:ea typeface="Montserrat" pitchFamily="34" charset="-122"/>
                <a:cs typeface="Montserrat" pitchFamily="34" charset="-120"/>
              </a:rPr>
              <a:t>Translates the complex calculations</a:t>
            </a:r>
            <a:endParaRPr lang="en-US" sz="1250" dirty="0"/>
          </a:p>
        </p:txBody>
      </p:sp>
      <p:sp>
        <p:nvSpPr>
          <p:cNvPr id="8" name="Text 6"/>
          <p:cNvSpPr/>
          <p:nvPr/>
        </p:nvSpPr>
        <p:spPr>
          <a:xfrm>
            <a:off x="768096" y="2688336"/>
            <a:ext cx="2286000" cy="1005840"/>
          </a:xfrm>
          <a:prstGeom prst="rect">
            <a:avLst/>
          </a:prstGeom>
          <a:noFill/>
          <a:ln/>
        </p:spPr>
        <p:txBody>
          <a:bodyPr wrap="square" lIns="0" tIns="0" rIns="0" bIns="0" rtlCol="0" anchor="ctr"/>
          <a:lstStyle/>
          <a:p>
            <a:pPr indent="0" marL="0">
              <a:lnSpc>
                <a:spcPct val="104000"/>
              </a:lnSpc>
              <a:buNone/>
            </a:pPr>
            <a:r>
              <a:rPr lang="en-US" sz="900" dirty="0">
                <a:solidFill>
                  <a:srgbClr val="6B7C88"/>
                </a:solidFill>
                <a:latin typeface="Montserrat" pitchFamily="34" charset="0"/>
                <a:ea typeface="Montserrat" pitchFamily="34" charset="-122"/>
                <a:cs typeface="Montserrat" pitchFamily="34" charset="-120"/>
              </a:rPr>
              <a:t>Nested level-of-detail expressions and blended, cross-source measures are converted into Snowflake SQL — then executed against the real table to confirm they run and return the right values.</a:t>
            </a:r>
            <a:endParaRPr lang="en-US" sz="900" dirty="0"/>
          </a:p>
        </p:txBody>
      </p:sp>
      <p:sp>
        <p:nvSpPr>
          <p:cNvPr id="9" name="Shape 7"/>
          <p:cNvSpPr/>
          <p:nvPr/>
        </p:nvSpPr>
        <p:spPr>
          <a:xfrm>
            <a:off x="3502152" y="1371600"/>
            <a:ext cx="2724912" cy="2395728"/>
          </a:xfrm>
          <a:prstGeom prst="roundRect">
            <a:avLst>
              <a:gd name="adj" fmla="val 3053"/>
            </a:avLst>
          </a:prstGeom>
          <a:solidFill>
            <a:srgbClr val="FFFFFF"/>
          </a:solidFill>
          <a:ln w="12700">
            <a:solidFill>
              <a:srgbClr val="DFE3E6"/>
            </a:solidFill>
            <a:prstDash val="solid"/>
          </a:ln>
        </p:spPr>
      </p:sp>
      <p:sp>
        <p:nvSpPr>
          <p:cNvPr id="10" name="Shape 8"/>
          <p:cNvSpPr/>
          <p:nvPr/>
        </p:nvSpPr>
        <p:spPr>
          <a:xfrm>
            <a:off x="3721608" y="1591056"/>
            <a:ext cx="402336" cy="402336"/>
          </a:xfrm>
          <a:prstGeom prst="ellipse">
            <a:avLst/>
          </a:prstGeom>
          <a:solidFill>
            <a:srgbClr val="00EDED"/>
          </a:solidFill>
          <a:ln/>
        </p:spPr>
      </p:sp>
      <p:sp>
        <p:nvSpPr>
          <p:cNvPr id="11" name="Text 9"/>
          <p:cNvSpPr/>
          <p:nvPr/>
        </p:nvSpPr>
        <p:spPr>
          <a:xfrm>
            <a:off x="3721608" y="1650492"/>
            <a:ext cx="402336" cy="292608"/>
          </a:xfrm>
          <a:prstGeom prst="rect">
            <a:avLst/>
          </a:prstGeom>
          <a:noFill/>
          <a:ln/>
        </p:spPr>
        <p:txBody>
          <a:bodyPr wrap="square" lIns="0" tIns="0" rIns="0" bIns="0" rtlCol="0" anchor="ctr"/>
          <a:lstStyle/>
          <a:p>
            <a:pPr algn="ctr" indent="0" marL="0">
              <a:buNone/>
            </a:pPr>
            <a:r>
              <a:rPr lang="en-US" sz="1300" b="1" dirty="0">
                <a:solidFill>
                  <a:srgbClr val="053057"/>
                </a:solidFill>
                <a:latin typeface="Montserrat" pitchFamily="34" charset="0"/>
                <a:ea typeface="Montserrat" pitchFamily="34" charset="-122"/>
                <a:cs typeface="Montserrat" pitchFamily="34" charset="-120"/>
              </a:rPr>
              <a:t>2</a:t>
            </a:r>
            <a:endParaRPr lang="en-US" sz="1300" dirty="0"/>
          </a:p>
        </p:txBody>
      </p:sp>
      <p:sp>
        <p:nvSpPr>
          <p:cNvPr id="12" name="Text 10"/>
          <p:cNvSpPr/>
          <p:nvPr/>
        </p:nvSpPr>
        <p:spPr>
          <a:xfrm>
            <a:off x="3721608" y="2121408"/>
            <a:ext cx="2286000" cy="548640"/>
          </a:xfrm>
          <a:prstGeom prst="rect">
            <a:avLst/>
          </a:prstGeom>
          <a:noFill/>
          <a:ln/>
        </p:spPr>
        <p:txBody>
          <a:bodyPr wrap="square" lIns="0" tIns="0" rIns="0" bIns="0" rtlCol="0" anchor="ctr"/>
          <a:lstStyle/>
          <a:p>
            <a:pPr indent="0" marL="0">
              <a:buNone/>
            </a:pPr>
            <a:r>
              <a:rPr lang="en-US" sz="1250" b="1" dirty="0">
                <a:solidFill>
                  <a:srgbClr val="053057"/>
                </a:solidFill>
                <a:latin typeface="Montserrat" pitchFamily="34" charset="0"/>
                <a:ea typeface="Montserrat" pitchFamily="34" charset="-122"/>
                <a:cs typeface="Montserrat" pitchFamily="34" charset="-120"/>
              </a:rPr>
              <a:t>Builds the governed semantic model</a:t>
            </a:r>
            <a:endParaRPr lang="en-US" sz="1250" dirty="0"/>
          </a:p>
        </p:txBody>
      </p:sp>
      <p:sp>
        <p:nvSpPr>
          <p:cNvPr id="13" name="Text 11"/>
          <p:cNvSpPr/>
          <p:nvPr/>
        </p:nvSpPr>
        <p:spPr>
          <a:xfrm>
            <a:off x="3721608" y="2688336"/>
            <a:ext cx="2286000" cy="1005840"/>
          </a:xfrm>
          <a:prstGeom prst="rect">
            <a:avLst/>
          </a:prstGeom>
          <a:noFill/>
          <a:ln/>
        </p:spPr>
        <p:txBody>
          <a:bodyPr wrap="square" lIns="0" tIns="0" rIns="0" bIns="0" rtlCol="0" anchor="ctr"/>
          <a:lstStyle/>
          <a:p>
            <a:pPr indent="0" marL="0">
              <a:lnSpc>
                <a:spcPct val="104000"/>
              </a:lnSpc>
              <a:buNone/>
            </a:pPr>
            <a:r>
              <a:rPr lang="en-US" sz="900" dirty="0">
                <a:solidFill>
                  <a:srgbClr val="6B7C88"/>
                </a:solidFill>
                <a:latin typeface="Montserrat" pitchFamily="34" charset="0"/>
                <a:ea typeface="Montserrat" pitchFamily="34" charset="-122"/>
                <a:cs typeface="Montserrat" pitchFamily="34" charset="-120"/>
              </a:rPr>
              <a:t>The workbook's verified measures become a native semantic view: Tableau measures as Snowflake metrics, business captions as synonyms, identifiers introspected from the live tables.</a:t>
            </a:r>
            <a:endParaRPr lang="en-US" sz="900" dirty="0"/>
          </a:p>
        </p:txBody>
      </p:sp>
      <p:sp>
        <p:nvSpPr>
          <p:cNvPr id="14" name="Shape 12"/>
          <p:cNvSpPr/>
          <p:nvPr/>
        </p:nvSpPr>
        <p:spPr>
          <a:xfrm>
            <a:off x="6455664" y="1371600"/>
            <a:ext cx="2724912" cy="2395728"/>
          </a:xfrm>
          <a:prstGeom prst="roundRect">
            <a:avLst>
              <a:gd name="adj" fmla="val 3053"/>
            </a:avLst>
          </a:prstGeom>
          <a:solidFill>
            <a:srgbClr val="FFFFFF"/>
          </a:solidFill>
          <a:ln w="12700">
            <a:solidFill>
              <a:srgbClr val="DFE3E6"/>
            </a:solidFill>
            <a:prstDash val="solid"/>
          </a:ln>
        </p:spPr>
      </p:sp>
      <p:sp>
        <p:nvSpPr>
          <p:cNvPr id="15" name="Shape 13"/>
          <p:cNvSpPr/>
          <p:nvPr/>
        </p:nvSpPr>
        <p:spPr>
          <a:xfrm>
            <a:off x="6675120" y="1591056"/>
            <a:ext cx="402336" cy="402336"/>
          </a:xfrm>
          <a:prstGeom prst="ellipse">
            <a:avLst/>
          </a:prstGeom>
          <a:solidFill>
            <a:srgbClr val="00EDED"/>
          </a:solidFill>
          <a:ln/>
        </p:spPr>
      </p:sp>
      <p:sp>
        <p:nvSpPr>
          <p:cNvPr id="16" name="Text 14"/>
          <p:cNvSpPr/>
          <p:nvPr/>
        </p:nvSpPr>
        <p:spPr>
          <a:xfrm>
            <a:off x="6675120" y="1650492"/>
            <a:ext cx="402336" cy="292608"/>
          </a:xfrm>
          <a:prstGeom prst="rect">
            <a:avLst/>
          </a:prstGeom>
          <a:noFill/>
          <a:ln/>
        </p:spPr>
        <p:txBody>
          <a:bodyPr wrap="square" lIns="0" tIns="0" rIns="0" bIns="0" rtlCol="0" anchor="ctr"/>
          <a:lstStyle/>
          <a:p>
            <a:pPr algn="ctr" indent="0" marL="0">
              <a:buNone/>
            </a:pPr>
            <a:r>
              <a:rPr lang="en-US" sz="1300" b="1" dirty="0">
                <a:solidFill>
                  <a:srgbClr val="053057"/>
                </a:solidFill>
                <a:latin typeface="Montserrat" pitchFamily="34" charset="0"/>
                <a:ea typeface="Montserrat" pitchFamily="34" charset="-122"/>
                <a:cs typeface="Montserrat" pitchFamily="34" charset="-120"/>
              </a:rPr>
              <a:t>3</a:t>
            </a:r>
            <a:endParaRPr lang="en-US" sz="1300" dirty="0"/>
          </a:p>
        </p:txBody>
      </p:sp>
      <p:sp>
        <p:nvSpPr>
          <p:cNvPr id="17" name="Text 15"/>
          <p:cNvSpPr/>
          <p:nvPr/>
        </p:nvSpPr>
        <p:spPr>
          <a:xfrm>
            <a:off x="6675120" y="2121408"/>
            <a:ext cx="2286000" cy="548640"/>
          </a:xfrm>
          <a:prstGeom prst="rect">
            <a:avLst/>
          </a:prstGeom>
          <a:noFill/>
          <a:ln/>
        </p:spPr>
        <p:txBody>
          <a:bodyPr wrap="square" lIns="0" tIns="0" rIns="0" bIns="0" rtlCol="0" anchor="ctr"/>
          <a:lstStyle/>
          <a:p>
            <a:pPr indent="0" marL="0">
              <a:buNone/>
            </a:pPr>
            <a:r>
              <a:rPr lang="en-US" sz="1250" b="1" dirty="0">
                <a:solidFill>
                  <a:srgbClr val="053057"/>
                </a:solidFill>
                <a:latin typeface="Montserrat" pitchFamily="34" charset="0"/>
                <a:ea typeface="Montserrat" pitchFamily="34" charset="-122"/>
                <a:cs typeface="Montserrat" pitchFamily="34" charset="-120"/>
              </a:rPr>
              <a:t>Serves natural-language questions</a:t>
            </a:r>
            <a:endParaRPr lang="en-US" sz="1250" dirty="0"/>
          </a:p>
        </p:txBody>
      </p:sp>
      <p:sp>
        <p:nvSpPr>
          <p:cNvPr id="18" name="Text 16"/>
          <p:cNvSpPr/>
          <p:nvPr/>
        </p:nvSpPr>
        <p:spPr>
          <a:xfrm>
            <a:off x="6675120" y="2688336"/>
            <a:ext cx="2286000" cy="1005840"/>
          </a:xfrm>
          <a:prstGeom prst="rect">
            <a:avLst/>
          </a:prstGeom>
          <a:noFill/>
          <a:ln/>
        </p:spPr>
        <p:txBody>
          <a:bodyPr wrap="square" lIns="0" tIns="0" rIns="0" bIns="0" rtlCol="0" anchor="ctr"/>
          <a:lstStyle/>
          <a:p>
            <a:pPr indent="0" marL="0">
              <a:lnSpc>
                <a:spcPct val="104000"/>
              </a:lnSpc>
              <a:buNone/>
            </a:pPr>
            <a:r>
              <a:rPr lang="en-US" sz="900" dirty="0">
                <a:solidFill>
                  <a:srgbClr val="6B7C88"/>
                </a:solidFill>
                <a:latin typeface="Montserrat" pitchFamily="34" charset="0"/>
                <a:ea typeface="Montserrat" pitchFamily="34" charset="-122"/>
                <a:cs typeface="Montserrat" pitchFamily="34" charset="-120"/>
              </a:rPr>
              <a:t>Cortex Analyst answers business questions over that same governed model, so exploration keeps the definitions the migrated dashboards use.</a:t>
            </a:r>
            <a:endParaRPr lang="en-US" sz="900" dirty="0"/>
          </a:p>
        </p:txBody>
      </p:sp>
      <p:sp>
        <p:nvSpPr>
          <p:cNvPr id="19" name="Shape 17"/>
          <p:cNvSpPr/>
          <p:nvPr/>
        </p:nvSpPr>
        <p:spPr>
          <a:xfrm>
            <a:off x="9409176" y="1371600"/>
            <a:ext cx="2724912" cy="2395728"/>
          </a:xfrm>
          <a:prstGeom prst="roundRect">
            <a:avLst>
              <a:gd name="adj" fmla="val 3053"/>
            </a:avLst>
          </a:prstGeom>
          <a:solidFill>
            <a:srgbClr val="FFFFFF"/>
          </a:solidFill>
          <a:ln w="12700">
            <a:solidFill>
              <a:srgbClr val="DFE3E6"/>
            </a:solidFill>
            <a:prstDash val="solid"/>
          </a:ln>
        </p:spPr>
      </p:sp>
      <p:sp>
        <p:nvSpPr>
          <p:cNvPr id="20" name="Shape 18"/>
          <p:cNvSpPr/>
          <p:nvPr/>
        </p:nvSpPr>
        <p:spPr>
          <a:xfrm>
            <a:off x="9628632" y="1591056"/>
            <a:ext cx="402336" cy="402336"/>
          </a:xfrm>
          <a:prstGeom prst="ellipse">
            <a:avLst/>
          </a:prstGeom>
          <a:solidFill>
            <a:srgbClr val="00EDED"/>
          </a:solidFill>
          <a:ln/>
        </p:spPr>
      </p:sp>
      <p:sp>
        <p:nvSpPr>
          <p:cNvPr id="21" name="Text 19"/>
          <p:cNvSpPr/>
          <p:nvPr/>
        </p:nvSpPr>
        <p:spPr>
          <a:xfrm>
            <a:off x="9628632" y="1650492"/>
            <a:ext cx="402336" cy="292608"/>
          </a:xfrm>
          <a:prstGeom prst="rect">
            <a:avLst/>
          </a:prstGeom>
          <a:noFill/>
          <a:ln/>
        </p:spPr>
        <p:txBody>
          <a:bodyPr wrap="square" lIns="0" tIns="0" rIns="0" bIns="0" rtlCol="0" anchor="ctr"/>
          <a:lstStyle/>
          <a:p>
            <a:pPr algn="ctr" indent="0" marL="0">
              <a:buNone/>
            </a:pPr>
            <a:r>
              <a:rPr lang="en-US" sz="1300" b="1" dirty="0">
                <a:solidFill>
                  <a:srgbClr val="053057"/>
                </a:solidFill>
                <a:latin typeface="Montserrat" pitchFamily="34" charset="0"/>
                <a:ea typeface="Montserrat" pitchFamily="34" charset="-122"/>
                <a:cs typeface="Montserrat" pitchFamily="34" charset="-120"/>
              </a:rPr>
              <a:t>4</a:t>
            </a:r>
            <a:endParaRPr lang="en-US" sz="1300" dirty="0"/>
          </a:p>
        </p:txBody>
      </p:sp>
      <p:sp>
        <p:nvSpPr>
          <p:cNvPr id="22" name="Text 20"/>
          <p:cNvSpPr/>
          <p:nvPr/>
        </p:nvSpPr>
        <p:spPr>
          <a:xfrm>
            <a:off x="9628632" y="2121408"/>
            <a:ext cx="2286000" cy="548640"/>
          </a:xfrm>
          <a:prstGeom prst="rect">
            <a:avLst/>
          </a:prstGeom>
          <a:noFill/>
          <a:ln/>
        </p:spPr>
        <p:txBody>
          <a:bodyPr wrap="square" lIns="0" tIns="0" rIns="0" bIns="0" rtlCol="0" anchor="ctr"/>
          <a:lstStyle/>
          <a:p>
            <a:pPr indent="0" marL="0">
              <a:buNone/>
            </a:pPr>
            <a:r>
              <a:rPr lang="en-US" sz="1250" b="1" dirty="0">
                <a:solidFill>
                  <a:srgbClr val="053057"/>
                </a:solidFill>
                <a:latin typeface="Montserrat" pitchFamily="34" charset="0"/>
                <a:ea typeface="Montserrat" pitchFamily="34" charset="-122"/>
                <a:cs typeface="Montserrat" pitchFamily="34" charset="-120"/>
              </a:rPr>
              <a:t>Validates the migration</a:t>
            </a:r>
            <a:endParaRPr lang="en-US" sz="1250" dirty="0"/>
          </a:p>
        </p:txBody>
      </p:sp>
      <p:sp>
        <p:nvSpPr>
          <p:cNvPr id="23" name="Text 21"/>
          <p:cNvSpPr/>
          <p:nvPr/>
        </p:nvSpPr>
        <p:spPr>
          <a:xfrm>
            <a:off x="9628632" y="2688336"/>
            <a:ext cx="2286000" cy="1005840"/>
          </a:xfrm>
          <a:prstGeom prst="rect">
            <a:avLst/>
          </a:prstGeom>
          <a:noFill/>
          <a:ln/>
        </p:spPr>
        <p:txBody>
          <a:bodyPr wrap="square" lIns="0" tIns="0" rIns="0" bIns="0" rtlCol="0" anchor="ctr"/>
          <a:lstStyle/>
          <a:p>
            <a:pPr indent="0" marL="0">
              <a:lnSpc>
                <a:spcPct val="104000"/>
              </a:lnSpc>
              <a:buNone/>
            </a:pPr>
            <a:r>
              <a:rPr lang="en-US" sz="900" dirty="0">
                <a:solidFill>
                  <a:srgbClr val="6B7C88"/>
                </a:solidFill>
                <a:latin typeface="Montserrat" pitchFamily="34" charset="0"/>
                <a:ea typeface="Montserrat" pitchFamily="34" charset="-122"/>
                <a:cs typeface="Montserrat" pitchFamily="34" charset="-120"/>
              </a:rPr>
              <a:t>Cortex reads the source workbook and compares it against the generated app section by section, producing the evidence pack that closes the migration.</a:t>
            </a:r>
            <a:endParaRPr lang="en-US" sz="900" dirty="0"/>
          </a:p>
        </p:txBody>
      </p:sp>
      <p:sp>
        <p:nvSpPr>
          <p:cNvPr id="24" name="Text 22"/>
          <p:cNvSpPr/>
          <p:nvPr/>
        </p:nvSpPr>
        <p:spPr>
          <a:xfrm>
            <a:off x="548640" y="3950208"/>
            <a:ext cx="11091672" cy="292608"/>
          </a:xfrm>
          <a:prstGeom prst="rect">
            <a:avLst/>
          </a:prstGeom>
          <a:noFill/>
          <a:ln/>
        </p:spPr>
        <p:txBody>
          <a:bodyPr wrap="square" lIns="0" tIns="0" rIns="0" bIns="0" rtlCol="0" anchor="ctr"/>
          <a:lstStyle/>
          <a:p>
            <a:pPr indent="0" marL="0">
              <a:buNone/>
            </a:pPr>
            <a:r>
              <a:rPr lang="en-US" sz="1250" b="1" dirty="0">
                <a:solidFill>
                  <a:srgbClr val="053057"/>
                </a:solidFill>
                <a:latin typeface="Montserrat" pitchFamily="34" charset="0"/>
                <a:ea typeface="Montserrat" pitchFamily="34" charset="-122"/>
                <a:cs typeface="Montserrat" pitchFamily="34" charset="-120"/>
              </a:rPr>
              <a:t>Worked example — a calculation Cortex converted and proved</a:t>
            </a:r>
            <a:endParaRPr lang="en-US" sz="1250" dirty="0"/>
          </a:p>
        </p:txBody>
      </p:sp>
      <p:sp>
        <p:nvSpPr>
          <p:cNvPr id="25" name="Shape 23"/>
          <p:cNvSpPr/>
          <p:nvPr/>
        </p:nvSpPr>
        <p:spPr>
          <a:xfrm>
            <a:off x="548640" y="4315968"/>
            <a:ext cx="3575304" cy="1572768"/>
          </a:xfrm>
          <a:prstGeom prst="roundRect">
            <a:avLst>
              <a:gd name="adj" fmla="val 4651"/>
            </a:avLst>
          </a:prstGeom>
          <a:solidFill>
            <a:srgbClr val="FFFFFF"/>
          </a:solidFill>
          <a:ln w="12700">
            <a:solidFill>
              <a:srgbClr val="DFE3E6"/>
            </a:solidFill>
            <a:prstDash val="solid"/>
          </a:ln>
        </p:spPr>
      </p:sp>
      <p:sp>
        <p:nvSpPr>
          <p:cNvPr id="26" name="Text 24"/>
          <p:cNvSpPr/>
          <p:nvPr/>
        </p:nvSpPr>
        <p:spPr>
          <a:xfrm>
            <a:off x="786384" y="4480560"/>
            <a:ext cx="3099816" cy="237744"/>
          </a:xfrm>
          <a:prstGeom prst="rect">
            <a:avLst/>
          </a:prstGeom>
          <a:noFill/>
          <a:ln/>
        </p:spPr>
        <p:txBody>
          <a:bodyPr wrap="square" lIns="0" tIns="0" rIns="0" bIns="0" rtlCol="0" anchor="ctr"/>
          <a:lstStyle/>
          <a:p>
            <a:pPr indent="0" marL="0">
              <a:buNone/>
            </a:pPr>
            <a:r>
              <a:rPr lang="en-US" sz="900" b="1" spc="140" kern="0" dirty="0">
                <a:solidFill>
                  <a:srgbClr val="6B7C88"/>
                </a:solidFill>
                <a:latin typeface="Montserrat" pitchFamily="34" charset="0"/>
                <a:ea typeface="Montserrat" pitchFamily="34" charset="-122"/>
                <a:cs typeface="Montserrat" pitchFamily="34" charset="-120"/>
              </a:rPr>
              <a:t>TABLEAU SOURCE</a:t>
            </a:r>
            <a:endParaRPr lang="en-US" sz="900" dirty="0"/>
          </a:p>
        </p:txBody>
      </p:sp>
      <p:sp>
        <p:nvSpPr>
          <p:cNvPr id="27" name="Text 25"/>
          <p:cNvSpPr/>
          <p:nvPr/>
        </p:nvSpPr>
        <p:spPr>
          <a:xfrm>
            <a:off x="786384" y="4754880"/>
            <a:ext cx="3099816" cy="603504"/>
          </a:xfrm>
          <a:prstGeom prst="rect">
            <a:avLst/>
          </a:prstGeom>
          <a:noFill/>
          <a:ln/>
        </p:spPr>
        <p:txBody>
          <a:bodyPr wrap="square" lIns="0" tIns="0" rIns="0" bIns="0" rtlCol="0" anchor="ctr"/>
          <a:lstStyle/>
          <a:p>
            <a:pPr indent="0" marL="0">
              <a:buNone/>
            </a:pPr>
            <a:r>
              <a:rPr lang="en-US" sz="900" dirty="0">
                <a:solidFill>
                  <a:srgbClr val="314550"/>
                </a:solidFill>
                <a:latin typeface="Montserrat" pitchFamily="34" charset="0"/>
                <a:ea typeface="Montserrat" pitchFamily="34" charset="-122"/>
                <a:cs typeface="Montserrat" pitchFamily="34" charset="-120"/>
              </a:rPr>
              <a:t>{ FIXED [Region] : AVG( { FIXED [Region],[Sub-Category] : SUM([Sales]) } ) }</a:t>
            </a:r>
            <a:endParaRPr lang="en-US" sz="900" dirty="0"/>
          </a:p>
        </p:txBody>
      </p:sp>
      <p:sp>
        <p:nvSpPr>
          <p:cNvPr id="28" name="Text 26"/>
          <p:cNvSpPr/>
          <p:nvPr/>
        </p:nvSpPr>
        <p:spPr>
          <a:xfrm>
            <a:off x="786384" y="5394960"/>
            <a:ext cx="3099816" cy="402336"/>
          </a:xfrm>
          <a:prstGeom prst="rect">
            <a:avLst/>
          </a:prstGeom>
          <a:noFill/>
          <a:ln/>
        </p:spPr>
        <p:txBody>
          <a:bodyPr wrap="square" lIns="0" tIns="0" rIns="0" bIns="0" rtlCol="0" anchor="ctr"/>
          <a:lstStyle/>
          <a:p>
            <a:pPr indent="0" marL="0">
              <a:buNone/>
            </a:pPr>
            <a:r>
              <a:rPr lang="en-US" sz="850" dirty="0">
                <a:solidFill>
                  <a:srgbClr val="6B7C88"/>
                </a:solidFill>
                <a:latin typeface="Montserrat" pitchFamily="34" charset="0"/>
                <a:ea typeface="Montserrat" pitchFamily="34" charset="-122"/>
                <a:cs typeface="Montserrat" pitchFamily="34" charset="-120"/>
              </a:rPr>
              <a:t>A nested level-of-detail expression — an average of an average, at two different grains.</a:t>
            </a:r>
            <a:endParaRPr lang="en-US" sz="850" dirty="0"/>
          </a:p>
        </p:txBody>
      </p:sp>
      <p:sp>
        <p:nvSpPr>
          <p:cNvPr id="29" name="Shape 27"/>
          <p:cNvSpPr/>
          <p:nvPr/>
        </p:nvSpPr>
        <p:spPr>
          <a:xfrm>
            <a:off x="4306824" y="4315968"/>
            <a:ext cx="3575304" cy="1572768"/>
          </a:xfrm>
          <a:prstGeom prst="roundRect">
            <a:avLst>
              <a:gd name="adj" fmla="val 4651"/>
            </a:avLst>
          </a:prstGeom>
          <a:solidFill>
            <a:srgbClr val="FFFFFF"/>
          </a:solidFill>
          <a:ln w="12700">
            <a:solidFill>
              <a:srgbClr val="DFE3E6"/>
            </a:solidFill>
            <a:prstDash val="solid"/>
          </a:ln>
        </p:spPr>
      </p:sp>
      <p:sp>
        <p:nvSpPr>
          <p:cNvPr id="30" name="Text 28"/>
          <p:cNvSpPr/>
          <p:nvPr/>
        </p:nvSpPr>
        <p:spPr>
          <a:xfrm>
            <a:off x="4544568" y="4480560"/>
            <a:ext cx="3099816" cy="237744"/>
          </a:xfrm>
          <a:prstGeom prst="rect">
            <a:avLst/>
          </a:prstGeom>
          <a:noFill/>
          <a:ln/>
        </p:spPr>
        <p:txBody>
          <a:bodyPr wrap="square" lIns="0" tIns="0" rIns="0" bIns="0" rtlCol="0" anchor="ctr"/>
          <a:lstStyle/>
          <a:p>
            <a:pPr indent="0" marL="0">
              <a:buNone/>
            </a:pPr>
            <a:r>
              <a:rPr lang="en-US" sz="900" b="1" spc="140" kern="0" dirty="0">
                <a:solidFill>
                  <a:srgbClr val="6B7C88"/>
                </a:solidFill>
                <a:latin typeface="Montserrat" pitchFamily="34" charset="0"/>
                <a:ea typeface="Montserrat" pitchFamily="34" charset="-122"/>
                <a:cs typeface="Montserrat" pitchFamily="34" charset="-120"/>
              </a:rPr>
              <a:t>CORTEX OUTPUT</a:t>
            </a:r>
            <a:endParaRPr lang="en-US" sz="900" dirty="0"/>
          </a:p>
        </p:txBody>
      </p:sp>
      <p:sp>
        <p:nvSpPr>
          <p:cNvPr id="31" name="Text 29"/>
          <p:cNvSpPr/>
          <p:nvPr/>
        </p:nvSpPr>
        <p:spPr>
          <a:xfrm>
            <a:off x="4544568" y="4754880"/>
            <a:ext cx="3099816" cy="603504"/>
          </a:xfrm>
          <a:prstGeom prst="rect">
            <a:avLst/>
          </a:prstGeom>
          <a:noFill/>
          <a:ln/>
        </p:spPr>
        <p:txBody>
          <a:bodyPr wrap="square" lIns="0" tIns="0" rIns="0" bIns="0" rtlCol="0" anchor="ctr"/>
          <a:lstStyle/>
          <a:p>
            <a:pPr indent="0" marL="0">
              <a:buNone/>
            </a:pPr>
            <a:r>
              <a:rPr lang="en-US" sz="900" dirty="0">
                <a:solidFill>
                  <a:srgbClr val="314550"/>
                </a:solidFill>
                <a:latin typeface="Montserrat" pitchFamily="34" charset="0"/>
                <a:ea typeface="Montserrat" pitchFamily="34" charset="-122"/>
                <a:cs typeface="Montserrat" pitchFamily="34" charset="-120"/>
              </a:rPr>
              <a:t>WITH inner AS (SELECT region, sub_category, SUM(sales) …)  SELECT region, AVG(v) …</a:t>
            </a:r>
            <a:endParaRPr lang="en-US" sz="900" dirty="0"/>
          </a:p>
        </p:txBody>
      </p:sp>
      <p:sp>
        <p:nvSpPr>
          <p:cNvPr id="32" name="Text 30"/>
          <p:cNvSpPr/>
          <p:nvPr/>
        </p:nvSpPr>
        <p:spPr>
          <a:xfrm>
            <a:off x="4544568" y="5394960"/>
            <a:ext cx="3099816" cy="402336"/>
          </a:xfrm>
          <a:prstGeom prst="rect">
            <a:avLst/>
          </a:prstGeom>
          <a:noFill/>
          <a:ln/>
        </p:spPr>
        <p:txBody>
          <a:bodyPr wrap="square" lIns="0" tIns="0" rIns="0" bIns="0" rtlCol="0" anchor="ctr"/>
          <a:lstStyle/>
          <a:p>
            <a:pPr indent="0" marL="0">
              <a:buNone/>
            </a:pPr>
            <a:r>
              <a:rPr lang="en-US" sz="850" dirty="0">
                <a:solidFill>
                  <a:srgbClr val="6B7C88"/>
                </a:solidFill>
                <a:latin typeface="Montserrat" pitchFamily="34" charset="0"/>
                <a:ea typeface="Montserrat" pitchFamily="34" charset="-122"/>
                <a:cs typeface="Montserrat" pitchFamily="34" charset="-120"/>
              </a:rPr>
              <a:t>Rewritten as layered CTEs that Snowflake can execute directly.</a:t>
            </a:r>
            <a:endParaRPr lang="en-US" sz="850" dirty="0"/>
          </a:p>
        </p:txBody>
      </p:sp>
      <p:sp>
        <p:nvSpPr>
          <p:cNvPr id="33" name="Shape 31"/>
          <p:cNvSpPr/>
          <p:nvPr/>
        </p:nvSpPr>
        <p:spPr>
          <a:xfrm>
            <a:off x="8065008" y="4315968"/>
            <a:ext cx="3575304" cy="1572768"/>
          </a:xfrm>
          <a:prstGeom prst="roundRect">
            <a:avLst>
              <a:gd name="adj" fmla="val 4651"/>
            </a:avLst>
          </a:prstGeom>
          <a:solidFill>
            <a:srgbClr val="053057"/>
          </a:solidFill>
          <a:ln w="12700">
            <a:solidFill>
              <a:srgbClr val="053057"/>
            </a:solidFill>
            <a:prstDash val="solid"/>
          </a:ln>
        </p:spPr>
      </p:sp>
      <p:sp>
        <p:nvSpPr>
          <p:cNvPr id="34" name="Text 32"/>
          <p:cNvSpPr/>
          <p:nvPr/>
        </p:nvSpPr>
        <p:spPr>
          <a:xfrm>
            <a:off x="8302752" y="4480560"/>
            <a:ext cx="3099816" cy="237744"/>
          </a:xfrm>
          <a:prstGeom prst="rect">
            <a:avLst/>
          </a:prstGeom>
          <a:noFill/>
          <a:ln/>
        </p:spPr>
        <p:txBody>
          <a:bodyPr wrap="square" lIns="0" tIns="0" rIns="0" bIns="0" rtlCol="0" anchor="ctr"/>
          <a:lstStyle/>
          <a:p>
            <a:pPr indent="0" marL="0">
              <a:buNone/>
            </a:pPr>
            <a:r>
              <a:rPr lang="en-US" sz="900" b="1" spc="140" kern="0" dirty="0">
                <a:solidFill>
                  <a:srgbClr val="00EDED"/>
                </a:solidFill>
                <a:latin typeface="Montserrat" pitchFamily="34" charset="0"/>
                <a:ea typeface="Montserrat" pitchFamily="34" charset="-122"/>
                <a:cs typeface="Montserrat" pitchFamily="34" charset="-120"/>
              </a:rPr>
              <a:t>VERIFIED</a:t>
            </a:r>
            <a:endParaRPr lang="en-US" sz="900" dirty="0"/>
          </a:p>
        </p:txBody>
      </p:sp>
      <p:sp>
        <p:nvSpPr>
          <p:cNvPr id="35" name="Text 33"/>
          <p:cNvSpPr/>
          <p:nvPr/>
        </p:nvSpPr>
        <p:spPr>
          <a:xfrm>
            <a:off x="8302752" y="4754880"/>
            <a:ext cx="3099816" cy="603504"/>
          </a:xfrm>
          <a:prstGeom prst="rect">
            <a:avLst/>
          </a:prstGeom>
          <a:noFill/>
          <a:ln/>
        </p:spPr>
        <p:txBody>
          <a:bodyPr wrap="square" lIns="0" tIns="0" rIns="0" bIns="0" rtlCol="0" anchor="ctr"/>
          <a:lstStyle/>
          <a:p>
            <a:pPr indent="0" marL="0">
              <a:buNone/>
            </a:pPr>
            <a:r>
              <a:rPr lang="en-US" sz="1300" b="1" dirty="0">
                <a:solidFill>
                  <a:srgbClr val="FFFFFF"/>
                </a:solidFill>
                <a:latin typeface="Montserrat" pitchFamily="34" charset="0"/>
                <a:ea typeface="Montserrat" pitchFamily="34" charset="-122"/>
                <a:cs typeface="Montserrat" pitchFamily="34" charset="-120"/>
              </a:rPr>
              <a:t>4 of 4 region values exact</a:t>
            </a:r>
            <a:endParaRPr lang="en-US" sz="1300" dirty="0"/>
          </a:p>
        </p:txBody>
      </p:sp>
      <p:sp>
        <p:nvSpPr>
          <p:cNvPr id="36" name="Text 34"/>
          <p:cNvSpPr/>
          <p:nvPr/>
        </p:nvSpPr>
        <p:spPr>
          <a:xfrm>
            <a:off x="8302752" y="5394960"/>
            <a:ext cx="3099816" cy="402336"/>
          </a:xfrm>
          <a:prstGeom prst="rect">
            <a:avLst/>
          </a:prstGeom>
          <a:noFill/>
          <a:ln/>
        </p:spPr>
        <p:txBody>
          <a:bodyPr wrap="square" lIns="0" tIns="0" rIns="0" bIns="0" rtlCol="0" anchor="ctr"/>
          <a:lstStyle/>
          <a:p>
            <a:pPr indent="0" marL="0">
              <a:buNone/>
            </a:pPr>
            <a:r>
              <a:rPr lang="en-US" sz="850" dirty="0">
                <a:solidFill>
                  <a:srgbClr val="A2F3F3"/>
                </a:solidFill>
                <a:latin typeface="Montserrat" pitchFamily="34" charset="0"/>
                <a:ea typeface="Montserrat" pitchFamily="34" charset="-122"/>
                <a:cs typeface="Montserrat" pitchFamily="34" charset="-120"/>
              </a:rPr>
              <a:t>Executed against the real table and checked against an independent ground truth before acceptance.</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3F0"/>
        </a:solidFill>
      </p:bgPr>
    </p:bg>
    <p:spTree>
      <p:nvGrpSpPr>
        <p:cNvPr id="1" name=""/>
        <p:cNvGrpSpPr/>
        <p:nvPr/>
      </p:nvGrpSpPr>
      <p:grpSpPr>
        <a:xfrm>
          <a:off x="0" y="0"/>
          <a:ext cx="0" cy="0"/>
          <a:chOff x="0" y="0"/>
          <a:chExt cx="0" cy="0"/>
        </a:xfrm>
      </p:grpSpPr>
      <p:sp>
        <p:nvSpPr>
          <p:cNvPr id="2" name="Text 0"/>
          <p:cNvSpPr/>
          <p:nvPr/>
        </p:nvSpPr>
        <p:spPr>
          <a:xfrm>
            <a:off x="548640" y="365760"/>
            <a:ext cx="11064240" cy="530352"/>
          </a:xfrm>
          <a:prstGeom prst="rect">
            <a:avLst/>
          </a:prstGeom>
          <a:noFill/>
          <a:ln/>
        </p:spPr>
        <p:txBody>
          <a:bodyPr wrap="square" lIns="0" tIns="0" rIns="0" bIns="0" rtlCol="0" anchor="ctr"/>
          <a:lstStyle/>
          <a:p>
            <a:pPr indent="0" marL="0">
              <a:buNone/>
            </a:pPr>
            <a:r>
              <a:rPr lang="en-US" sz="3300" b="1" dirty="0">
                <a:solidFill>
                  <a:srgbClr val="053057"/>
                </a:solidFill>
                <a:latin typeface="Montserrat" pitchFamily="34" charset="0"/>
                <a:ea typeface="Montserrat" pitchFamily="34" charset="-122"/>
                <a:cs typeface="Montserrat" pitchFamily="34" charset="-120"/>
              </a:rPr>
              <a:t>What Lands in Snowflake</a:t>
            </a:r>
            <a:endParaRPr lang="en-US" sz="3300" dirty="0"/>
          </a:p>
        </p:txBody>
      </p:sp>
      <p:sp>
        <p:nvSpPr>
          <p:cNvPr id="3" name="Text 1"/>
          <p:cNvSpPr/>
          <p:nvPr/>
        </p:nvSpPr>
        <p:spPr>
          <a:xfrm>
            <a:off x="548640" y="914400"/>
            <a:ext cx="11064240" cy="292608"/>
          </a:xfrm>
          <a:prstGeom prst="rect">
            <a:avLst/>
          </a:prstGeom>
          <a:noFill/>
          <a:ln/>
        </p:spPr>
        <p:txBody>
          <a:bodyPr wrap="square" lIns="0" tIns="0" rIns="0" bIns="0" rtlCol="0" anchor="ctr"/>
          <a:lstStyle/>
          <a:p>
            <a:pPr indent="0" marL="0">
              <a:buNone/>
            </a:pPr>
            <a:r>
              <a:rPr lang="en-US" sz="1300" dirty="0">
                <a:solidFill>
                  <a:srgbClr val="6B7C88"/>
                </a:solidFill>
                <a:latin typeface="Montserrat" pitchFamily="34" charset="0"/>
                <a:ea typeface="Montserrat" pitchFamily="34" charset="-122"/>
                <a:cs typeface="Montserrat" pitchFamily="34" charset="-120"/>
              </a:rPr>
              <a:t>The migrated estate both runs on, and consumes, the platform</a:t>
            </a:r>
            <a:endParaRPr lang="en-US" sz="1300" dirty="0"/>
          </a:p>
        </p:txBody>
      </p:sp>
      <p:sp>
        <p:nvSpPr>
          <p:cNvPr id="4" name="Shape 2"/>
          <p:cNvSpPr/>
          <p:nvPr/>
        </p:nvSpPr>
        <p:spPr>
          <a:xfrm>
            <a:off x="548640" y="1371600"/>
            <a:ext cx="2724912" cy="1975104"/>
          </a:xfrm>
          <a:prstGeom prst="roundRect">
            <a:avLst>
              <a:gd name="adj" fmla="val 3704"/>
            </a:avLst>
          </a:prstGeom>
          <a:solidFill>
            <a:srgbClr val="FFFFFF"/>
          </a:solidFill>
          <a:ln w="12700">
            <a:solidFill>
              <a:srgbClr val="DFE3E6"/>
            </a:solidFill>
            <a:prstDash val="solid"/>
          </a:ln>
        </p:spPr>
      </p:sp>
      <p:sp>
        <p:nvSpPr>
          <p:cNvPr id="5" name="Shape 3"/>
          <p:cNvSpPr/>
          <p:nvPr/>
        </p:nvSpPr>
        <p:spPr>
          <a:xfrm>
            <a:off x="768096" y="1572768"/>
            <a:ext cx="365760" cy="365760"/>
          </a:xfrm>
          <a:prstGeom prst="ellipse">
            <a:avLst/>
          </a:prstGeom>
          <a:solidFill>
            <a:srgbClr val="00EDED"/>
          </a:solidFill>
          <a:ln/>
        </p:spPr>
      </p:sp>
      <p:sp>
        <p:nvSpPr>
          <p:cNvPr id="6" name="Text 4"/>
          <p:cNvSpPr/>
          <p:nvPr/>
        </p:nvSpPr>
        <p:spPr>
          <a:xfrm>
            <a:off x="768096" y="1627632"/>
            <a:ext cx="365760" cy="274320"/>
          </a:xfrm>
          <a:prstGeom prst="rect">
            <a:avLst/>
          </a:prstGeom>
          <a:noFill/>
          <a:ln/>
        </p:spPr>
        <p:txBody>
          <a:bodyPr wrap="square" lIns="0" tIns="0" rIns="0" bIns="0" rtlCol="0" anchor="ctr"/>
          <a:lstStyle/>
          <a:p>
            <a:pPr algn="ctr" indent="0" marL="0">
              <a:buNone/>
            </a:pPr>
            <a:r>
              <a:rPr lang="en-US" sz="1200" b="1" dirty="0">
                <a:solidFill>
                  <a:srgbClr val="053057"/>
                </a:solidFill>
                <a:latin typeface="Montserrat" pitchFamily="34" charset="0"/>
                <a:ea typeface="Montserrat" pitchFamily="34" charset="-122"/>
                <a:cs typeface="Montserrat" pitchFamily="34" charset="-120"/>
              </a:rPr>
              <a:t>1</a:t>
            </a:r>
            <a:endParaRPr lang="en-US" sz="1200" dirty="0"/>
          </a:p>
        </p:txBody>
      </p:sp>
      <p:sp>
        <p:nvSpPr>
          <p:cNvPr id="7" name="Text 5"/>
          <p:cNvSpPr/>
          <p:nvPr/>
        </p:nvSpPr>
        <p:spPr>
          <a:xfrm>
            <a:off x="768096" y="2048256"/>
            <a:ext cx="2286000" cy="329184"/>
          </a:xfrm>
          <a:prstGeom prst="rect">
            <a:avLst/>
          </a:prstGeom>
          <a:noFill/>
          <a:ln/>
        </p:spPr>
        <p:txBody>
          <a:bodyPr wrap="square" lIns="0" tIns="0" rIns="0" bIns="0" rtlCol="0" anchor="ctr"/>
          <a:lstStyle/>
          <a:p>
            <a:pPr indent="0" marL="0">
              <a:buNone/>
            </a:pPr>
            <a:r>
              <a:rPr lang="en-US" sz="1250" b="1" dirty="0">
                <a:solidFill>
                  <a:srgbClr val="053057"/>
                </a:solidFill>
                <a:latin typeface="Montserrat" pitchFamily="34" charset="0"/>
                <a:ea typeface="Montserrat" pitchFamily="34" charset="-122"/>
                <a:cs typeface="Montserrat" pitchFamily="34" charset="-120"/>
              </a:rPr>
              <a:t>Streamlit in Snowflake</a:t>
            </a:r>
            <a:endParaRPr lang="en-US" sz="1250" dirty="0"/>
          </a:p>
        </p:txBody>
      </p:sp>
      <p:sp>
        <p:nvSpPr>
          <p:cNvPr id="8" name="Text 6"/>
          <p:cNvSpPr/>
          <p:nvPr/>
        </p:nvSpPr>
        <p:spPr>
          <a:xfrm>
            <a:off x="768096" y="2414016"/>
            <a:ext cx="2286000" cy="822960"/>
          </a:xfrm>
          <a:prstGeom prst="rect">
            <a:avLst/>
          </a:prstGeom>
          <a:noFill/>
          <a:ln/>
        </p:spPr>
        <p:txBody>
          <a:bodyPr wrap="square" lIns="0" tIns="0" rIns="0" bIns="0" rtlCol="0" anchor="ctr"/>
          <a:lstStyle/>
          <a:p>
            <a:pPr indent="0" marL="0">
              <a:buNone/>
            </a:pPr>
            <a:r>
              <a:rPr lang="en-US" sz="900" dirty="0">
                <a:solidFill>
                  <a:srgbClr val="6B7C88"/>
                </a:solidFill>
                <a:latin typeface="Montserrat" pitchFamily="34" charset="0"/>
                <a:ea typeface="Montserrat" pitchFamily="34" charset="-122"/>
                <a:cs typeface="Montserrat" pitchFamily="34" charset="-120"/>
              </a:rPr>
              <a:t>Each dashboard becomes a native SiS app — serverless, on Snowflake compute, inside the customer's account.</a:t>
            </a:r>
            <a:endParaRPr lang="en-US" sz="900" dirty="0"/>
          </a:p>
        </p:txBody>
      </p:sp>
      <p:sp>
        <p:nvSpPr>
          <p:cNvPr id="9" name="Shape 7"/>
          <p:cNvSpPr/>
          <p:nvPr/>
        </p:nvSpPr>
        <p:spPr>
          <a:xfrm>
            <a:off x="3502152" y="1371600"/>
            <a:ext cx="2724912" cy="1975104"/>
          </a:xfrm>
          <a:prstGeom prst="roundRect">
            <a:avLst>
              <a:gd name="adj" fmla="val 3704"/>
            </a:avLst>
          </a:prstGeom>
          <a:solidFill>
            <a:srgbClr val="FFFFFF"/>
          </a:solidFill>
          <a:ln w="12700">
            <a:solidFill>
              <a:srgbClr val="DFE3E6"/>
            </a:solidFill>
            <a:prstDash val="solid"/>
          </a:ln>
        </p:spPr>
      </p:sp>
      <p:sp>
        <p:nvSpPr>
          <p:cNvPr id="10" name="Shape 8"/>
          <p:cNvSpPr/>
          <p:nvPr/>
        </p:nvSpPr>
        <p:spPr>
          <a:xfrm>
            <a:off x="3721608" y="1572768"/>
            <a:ext cx="365760" cy="365760"/>
          </a:xfrm>
          <a:prstGeom prst="ellipse">
            <a:avLst/>
          </a:prstGeom>
          <a:solidFill>
            <a:srgbClr val="00EDED"/>
          </a:solidFill>
          <a:ln/>
        </p:spPr>
      </p:sp>
      <p:sp>
        <p:nvSpPr>
          <p:cNvPr id="11" name="Text 9"/>
          <p:cNvSpPr/>
          <p:nvPr/>
        </p:nvSpPr>
        <p:spPr>
          <a:xfrm>
            <a:off x="3721608" y="1627632"/>
            <a:ext cx="365760" cy="274320"/>
          </a:xfrm>
          <a:prstGeom prst="rect">
            <a:avLst/>
          </a:prstGeom>
          <a:noFill/>
          <a:ln/>
        </p:spPr>
        <p:txBody>
          <a:bodyPr wrap="square" lIns="0" tIns="0" rIns="0" bIns="0" rtlCol="0" anchor="ctr"/>
          <a:lstStyle/>
          <a:p>
            <a:pPr algn="ctr" indent="0" marL="0">
              <a:buNone/>
            </a:pPr>
            <a:r>
              <a:rPr lang="en-US" sz="1200" b="1" dirty="0">
                <a:solidFill>
                  <a:srgbClr val="053057"/>
                </a:solidFill>
                <a:latin typeface="Montserrat" pitchFamily="34" charset="0"/>
                <a:ea typeface="Montserrat" pitchFamily="34" charset="-122"/>
                <a:cs typeface="Montserrat" pitchFamily="34" charset="-120"/>
              </a:rPr>
              <a:t>2</a:t>
            </a:r>
            <a:endParaRPr lang="en-US" sz="1200" dirty="0"/>
          </a:p>
        </p:txBody>
      </p:sp>
      <p:sp>
        <p:nvSpPr>
          <p:cNvPr id="12" name="Text 10"/>
          <p:cNvSpPr/>
          <p:nvPr/>
        </p:nvSpPr>
        <p:spPr>
          <a:xfrm>
            <a:off x="3721608" y="2048256"/>
            <a:ext cx="2286000" cy="329184"/>
          </a:xfrm>
          <a:prstGeom prst="rect">
            <a:avLst/>
          </a:prstGeom>
          <a:noFill/>
          <a:ln/>
        </p:spPr>
        <p:txBody>
          <a:bodyPr wrap="square" lIns="0" tIns="0" rIns="0" bIns="0" rtlCol="0" anchor="ctr"/>
          <a:lstStyle/>
          <a:p>
            <a:pPr indent="0" marL="0">
              <a:buNone/>
            </a:pPr>
            <a:r>
              <a:rPr lang="en-US" sz="1250" b="1" dirty="0">
                <a:solidFill>
                  <a:srgbClr val="053057"/>
                </a:solidFill>
                <a:latin typeface="Montserrat" pitchFamily="34" charset="0"/>
                <a:ea typeface="Montserrat" pitchFamily="34" charset="-122"/>
                <a:cs typeface="Montserrat" pitchFamily="34" charset="-120"/>
              </a:rPr>
              <a:t>Native semantic views</a:t>
            </a:r>
            <a:endParaRPr lang="en-US" sz="1250" dirty="0"/>
          </a:p>
        </p:txBody>
      </p:sp>
      <p:sp>
        <p:nvSpPr>
          <p:cNvPr id="13" name="Text 11"/>
          <p:cNvSpPr/>
          <p:nvPr/>
        </p:nvSpPr>
        <p:spPr>
          <a:xfrm>
            <a:off x="3721608" y="2414016"/>
            <a:ext cx="2286000" cy="822960"/>
          </a:xfrm>
          <a:prstGeom prst="rect">
            <a:avLst/>
          </a:prstGeom>
          <a:noFill/>
          <a:ln/>
        </p:spPr>
        <p:txBody>
          <a:bodyPr wrap="square" lIns="0" tIns="0" rIns="0" bIns="0" rtlCol="0" anchor="ctr"/>
          <a:lstStyle/>
          <a:p>
            <a:pPr indent="0" marL="0">
              <a:buNone/>
            </a:pPr>
            <a:r>
              <a:rPr lang="en-US" sz="900" dirty="0">
                <a:solidFill>
                  <a:srgbClr val="6B7C88"/>
                </a:solidFill>
                <a:latin typeface="Montserrat" pitchFamily="34" charset="0"/>
                <a:ea typeface="Montserrat" pitchFamily="34" charset="-122"/>
                <a:cs typeface="Montserrat" pitchFamily="34" charset="-120"/>
              </a:rPr>
              <a:t>A governed model per workbook, with metrics and synonyms — and exportable back to Tableau format if needed.</a:t>
            </a:r>
            <a:endParaRPr lang="en-US" sz="900" dirty="0"/>
          </a:p>
        </p:txBody>
      </p:sp>
      <p:sp>
        <p:nvSpPr>
          <p:cNvPr id="14" name="Shape 12"/>
          <p:cNvSpPr/>
          <p:nvPr/>
        </p:nvSpPr>
        <p:spPr>
          <a:xfrm>
            <a:off x="6455664" y="1371600"/>
            <a:ext cx="2724912" cy="1975104"/>
          </a:xfrm>
          <a:prstGeom prst="roundRect">
            <a:avLst>
              <a:gd name="adj" fmla="val 3704"/>
            </a:avLst>
          </a:prstGeom>
          <a:solidFill>
            <a:srgbClr val="FFFFFF"/>
          </a:solidFill>
          <a:ln w="12700">
            <a:solidFill>
              <a:srgbClr val="DFE3E6"/>
            </a:solidFill>
            <a:prstDash val="solid"/>
          </a:ln>
        </p:spPr>
      </p:sp>
      <p:sp>
        <p:nvSpPr>
          <p:cNvPr id="15" name="Shape 13"/>
          <p:cNvSpPr/>
          <p:nvPr/>
        </p:nvSpPr>
        <p:spPr>
          <a:xfrm>
            <a:off x="6675120" y="1572768"/>
            <a:ext cx="365760" cy="365760"/>
          </a:xfrm>
          <a:prstGeom prst="ellipse">
            <a:avLst/>
          </a:prstGeom>
          <a:solidFill>
            <a:srgbClr val="00EDED"/>
          </a:solidFill>
          <a:ln/>
        </p:spPr>
      </p:sp>
      <p:sp>
        <p:nvSpPr>
          <p:cNvPr id="16" name="Text 14"/>
          <p:cNvSpPr/>
          <p:nvPr/>
        </p:nvSpPr>
        <p:spPr>
          <a:xfrm>
            <a:off x="6675120" y="1627632"/>
            <a:ext cx="365760" cy="274320"/>
          </a:xfrm>
          <a:prstGeom prst="rect">
            <a:avLst/>
          </a:prstGeom>
          <a:noFill/>
          <a:ln/>
        </p:spPr>
        <p:txBody>
          <a:bodyPr wrap="square" lIns="0" tIns="0" rIns="0" bIns="0" rtlCol="0" anchor="ctr"/>
          <a:lstStyle/>
          <a:p>
            <a:pPr algn="ctr" indent="0" marL="0">
              <a:buNone/>
            </a:pPr>
            <a:r>
              <a:rPr lang="en-US" sz="1200" b="1" dirty="0">
                <a:solidFill>
                  <a:srgbClr val="053057"/>
                </a:solidFill>
                <a:latin typeface="Montserrat" pitchFamily="34" charset="0"/>
                <a:ea typeface="Montserrat" pitchFamily="34" charset="-122"/>
                <a:cs typeface="Montserrat" pitchFamily="34" charset="-120"/>
              </a:rPr>
              <a:t>3</a:t>
            </a:r>
            <a:endParaRPr lang="en-US" sz="1200" dirty="0"/>
          </a:p>
        </p:txBody>
      </p:sp>
      <p:sp>
        <p:nvSpPr>
          <p:cNvPr id="17" name="Text 15"/>
          <p:cNvSpPr/>
          <p:nvPr/>
        </p:nvSpPr>
        <p:spPr>
          <a:xfrm>
            <a:off x="6675120" y="2048256"/>
            <a:ext cx="2286000" cy="329184"/>
          </a:xfrm>
          <a:prstGeom prst="rect">
            <a:avLst/>
          </a:prstGeom>
          <a:noFill/>
          <a:ln/>
        </p:spPr>
        <p:txBody>
          <a:bodyPr wrap="square" lIns="0" tIns="0" rIns="0" bIns="0" rtlCol="0" anchor="ctr"/>
          <a:lstStyle/>
          <a:p>
            <a:pPr indent="0" marL="0">
              <a:buNone/>
            </a:pPr>
            <a:r>
              <a:rPr lang="en-US" sz="1250" b="1" dirty="0">
                <a:solidFill>
                  <a:srgbClr val="053057"/>
                </a:solidFill>
                <a:latin typeface="Montserrat" pitchFamily="34" charset="0"/>
                <a:ea typeface="Montserrat" pitchFamily="34" charset="-122"/>
                <a:cs typeface="Montserrat" pitchFamily="34" charset="-120"/>
              </a:rPr>
              <a:t>Cortex AI + Analyst</a:t>
            </a:r>
            <a:endParaRPr lang="en-US" sz="1250" dirty="0"/>
          </a:p>
        </p:txBody>
      </p:sp>
      <p:sp>
        <p:nvSpPr>
          <p:cNvPr id="18" name="Text 16"/>
          <p:cNvSpPr/>
          <p:nvPr/>
        </p:nvSpPr>
        <p:spPr>
          <a:xfrm>
            <a:off x="6675120" y="2414016"/>
            <a:ext cx="2286000" cy="822960"/>
          </a:xfrm>
          <a:prstGeom prst="rect">
            <a:avLst/>
          </a:prstGeom>
          <a:noFill/>
          <a:ln/>
        </p:spPr>
        <p:txBody>
          <a:bodyPr wrap="square" lIns="0" tIns="0" rIns="0" bIns="0" rtlCol="0" anchor="ctr"/>
          <a:lstStyle/>
          <a:p>
            <a:pPr indent="0" marL="0">
              <a:buNone/>
            </a:pPr>
            <a:r>
              <a:rPr lang="en-US" sz="900" dirty="0">
                <a:solidFill>
                  <a:srgbClr val="6B7C88"/>
                </a:solidFill>
                <a:latin typeface="Montserrat" pitchFamily="34" charset="0"/>
                <a:ea typeface="Montserrat" pitchFamily="34" charset="-122"/>
                <a:cs typeface="Montserrat" pitchFamily="34" charset="-120"/>
              </a:rPr>
              <a:t>In-account Claude models for translation and validation, and Analyst for natural-language exploration.</a:t>
            </a:r>
            <a:endParaRPr lang="en-US" sz="900" dirty="0"/>
          </a:p>
        </p:txBody>
      </p:sp>
      <p:sp>
        <p:nvSpPr>
          <p:cNvPr id="19" name="Shape 17"/>
          <p:cNvSpPr/>
          <p:nvPr/>
        </p:nvSpPr>
        <p:spPr>
          <a:xfrm>
            <a:off x="9409176" y="1371600"/>
            <a:ext cx="2724912" cy="1975104"/>
          </a:xfrm>
          <a:prstGeom prst="roundRect">
            <a:avLst>
              <a:gd name="adj" fmla="val 3704"/>
            </a:avLst>
          </a:prstGeom>
          <a:solidFill>
            <a:srgbClr val="FFFFFF"/>
          </a:solidFill>
          <a:ln w="12700">
            <a:solidFill>
              <a:srgbClr val="DFE3E6"/>
            </a:solidFill>
            <a:prstDash val="solid"/>
          </a:ln>
        </p:spPr>
      </p:sp>
      <p:sp>
        <p:nvSpPr>
          <p:cNvPr id="20" name="Shape 18"/>
          <p:cNvSpPr/>
          <p:nvPr/>
        </p:nvSpPr>
        <p:spPr>
          <a:xfrm>
            <a:off x="9628632" y="1572768"/>
            <a:ext cx="365760" cy="365760"/>
          </a:xfrm>
          <a:prstGeom prst="ellipse">
            <a:avLst/>
          </a:prstGeom>
          <a:solidFill>
            <a:srgbClr val="00EDED"/>
          </a:solidFill>
          <a:ln/>
        </p:spPr>
      </p:sp>
      <p:sp>
        <p:nvSpPr>
          <p:cNvPr id="21" name="Text 19"/>
          <p:cNvSpPr/>
          <p:nvPr/>
        </p:nvSpPr>
        <p:spPr>
          <a:xfrm>
            <a:off x="9628632" y="1627632"/>
            <a:ext cx="365760" cy="274320"/>
          </a:xfrm>
          <a:prstGeom prst="rect">
            <a:avLst/>
          </a:prstGeom>
          <a:noFill/>
          <a:ln/>
        </p:spPr>
        <p:txBody>
          <a:bodyPr wrap="square" lIns="0" tIns="0" rIns="0" bIns="0" rtlCol="0" anchor="ctr"/>
          <a:lstStyle/>
          <a:p>
            <a:pPr algn="ctr" indent="0" marL="0">
              <a:buNone/>
            </a:pPr>
            <a:r>
              <a:rPr lang="en-US" sz="1200" b="1" dirty="0">
                <a:solidFill>
                  <a:srgbClr val="053057"/>
                </a:solidFill>
                <a:latin typeface="Montserrat" pitchFamily="34" charset="0"/>
                <a:ea typeface="Montserrat" pitchFamily="34" charset="-122"/>
                <a:cs typeface="Montserrat" pitchFamily="34" charset="-120"/>
              </a:rPr>
              <a:t>4</a:t>
            </a:r>
            <a:endParaRPr lang="en-US" sz="1200" dirty="0"/>
          </a:p>
        </p:txBody>
      </p:sp>
      <p:sp>
        <p:nvSpPr>
          <p:cNvPr id="22" name="Text 20"/>
          <p:cNvSpPr/>
          <p:nvPr/>
        </p:nvSpPr>
        <p:spPr>
          <a:xfrm>
            <a:off x="9628632" y="2048256"/>
            <a:ext cx="2286000" cy="329184"/>
          </a:xfrm>
          <a:prstGeom prst="rect">
            <a:avLst/>
          </a:prstGeom>
          <a:noFill/>
          <a:ln/>
        </p:spPr>
        <p:txBody>
          <a:bodyPr wrap="square" lIns="0" tIns="0" rIns="0" bIns="0" rtlCol="0" anchor="ctr"/>
          <a:lstStyle/>
          <a:p>
            <a:pPr indent="0" marL="0">
              <a:buNone/>
            </a:pPr>
            <a:r>
              <a:rPr lang="en-US" sz="1250" b="1" dirty="0">
                <a:solidFill>
                  <a:srgbClr val="053057"/>
                </a:solidFill>
                <a:latin typeface="Montserrat" pitchFamily="34" charset="0"/>
                <a:ea typeface="Montserrat" pitchFamily="34" charset="-122"/>
                <a:cs typeface="Montserrat" pitchFamily="34" charset="-120"/>
              </a:rPr>
              <a:t>Snowpark</a:t>
            </a:r>
            <a:endParaRPr lang="en-US" sz="1250" dirty="0"/>
          </a:p>
        </p:txBody>
      </p:sp>
      <p:sp>
        <p:nvSpPr>
          <p:cNvPr id="23" name="Text 21"/>
          <p:cNvSpPr/>
          <p:nvPr/>
        </p:nvSpPr>
        <p:spPr>
          <a:xfrm>
            <a:off x="9628632" y="2414016"/>
            <a:ext cx="2286000" cy="822960"/>
          </a:xfrm>
          <a:prstGeom prst="rect">
            <a:avLst/>
          </a:prstGeom>
          <a:noFill/>
          <a:ln/>
        </p:spPr>
        <p:txBody>
          <a:bodyPr wrap="square" lIns="0" tIns="0" rIns="0" bIns="0" rtlCol="0" anchor="ctr"/>
          <a:lstStyle/>
          <a:p>
            <a:pPr indent="0" marL="0">
              <a:buNone/>
            </a:pPr>
            <a:r>
              <a:rPr lang="en-US" sz="900" dirty="0">
                <a:solidFill>
                  <a:srgbClr val="6B7C88"/>
                </a:solidFill>
                <a:latin typeface="Montserrat" pitchFamily="34" charset="0"/>
                <a:ea typeface="Montserrat" pitchFamily="34" charset="-122"/>
                <a:cs typeface="Montserrat" pitchFamily="34" charset="-120"/>
              </a:rPr>
              <a:t>Every dashboard query executes through the app's own Snowpark session against Snowflake tables.</a:t>
            </a:r>
            <a:endParaRPr lang="en-US" sz="900" dirty="0"/>
          </a:p>
        </p:txBody>
      </p:sp>
      <p:sp>
        <p:nvSpPr>
          <p:cNvPr id="24" name="Text 22"/>
          <p:cNvSpPr/>
          <p:nvPr/>
        </p:nvSpPr>
        <p:spPr>
          <a:xfrm>
            <a:off x="548640" y="3529584"/>
            <a:ext cx="7315200" cy="310896"/>
          </a:xfrm>
          <a:prstGeom prst="rect">
            <a:avLst/>
          </a:prstGeom>
          <a:noFill/>
          <a:ln/>
        </p:spPr>
        <p:txBody>
          <a:bodyPr wrap="square" lIns="0" tIns="0" rIns="0" bIns="0" rtlCol="0" anchor="ctr"/>
          <a:lstStyle/>
          <a:p>
            <a:pPr indent="0" marL="0">
              <a:buNone/>
            </a:pPr>
            <a:r>
              <a:rPr lang="en-US" sz="1700" b="1" dirty="0">
                <a:solidFill>
                  <a:srgbClr val="053057"/>
                </a:solidFill>
                <a:latin typeface="Montserrat" pitchFamily="34" charset="0"/>
                <a:ea typeface="Montserrat" pitchFamily="34" charset="-122"/>
                <a:cs typeface="Montserrat" pitchFamily="34" charset="-120"/>
              </a:rPr>
              <a:t>What You Need to Get Started</a:t>
            </a:r>
            <a:endParaRPr lang="en-US" sz="1700" dirty="0"/>
          </a:p>
        </p:txBody>
      </p:sp>
      <p:sp>
        <p:nvSpPr>
          <p:cNvPr id="25" name="Shape 23"/>
          <p:cNvSpPr/>
          <p:nvPr/>
        </p:nvSpPr>
        <p:spPr>
          <a:xfrm>
            <a:off x="548640" y="3931920"/>
            <a:ext cx="2103120" cy="1152144"/>
          </a:xfrm>
          <a:prstGeom prst="roundRect">
            <a:avLst>
              <a:gd name="adj" fmla="val 6349"/>
            </a:avLst>
          </a:prstGeom>
          <a:solidFill>
            <a:srgbClr val="053057"/>
          </a:solidFill>
          <a:ln w="12700">
            <a:solidFill>
              <a:srgbClr val="053057"/>
            </a:solidFill>
            <a:prstDash val="solid"/>
          </a:ln>
        </p:spPr>
      </p:sp>
      <p:sp>
        <p:nvSpPr>
          <p:cNvPr id="26" name="Text 24"/>
          <p:cNvSpPr/>
          <p:nvPr/>
        </p:nvSpPr>
        <p:spPr>
          <a:xfrm>
            <a:off x="749808" y="4078224"/>
            <a:ext cx="365760" cy="256032"/>
          </a:xfrm>
          <a:prstGeom prst="rect">
            <a:avLst/>
          </a:prstGeom>
          <a:noFill/>
          <a:ln/>
        </p:spPr>
        <p:txBody>
          <a:bodyPr wrap="square" lIns="0" tIns="0" rIns="0" bIns="0" rtlCol="0" anchor="ctr"/>
          <a:lstStyle/>
          <a:p>
            <a:pPr indent="0" marL="0">
              <a:buNone/>
            </a:pPr>
            <a:r>
              <a:rPr lang="en-US" sz="1300" b="1" dirty="0">
                <a:solidFill>
                  <a:srgbClr val="00EDED"/>
                </a:solidFill>
                <a:latin typeface="Montserrat" pitchFamily="34" charset="0"/>
                <a:ea typeface="Montserrat" pitchFamily="34" charset="-122"/>
                <a:cs typeface="Montserrat" pitchFamily="34" charset="-120"/>
              </a:rPr>
              <a:t>1</a:t>
            </a:r>
            <a:endParaRPr lang="en-US" sz="1300" dirty="0"/>
          </a:p>
        </p:txBody>
      </p:sp>
      <p:sp>
        <p:nvSpPr>
          <p:cNvPr id="27" name="Text 25"/>
          <p:cNvSpPr/>
          <p:nvPr/>
        </p:nvSpPr>
        <p:spPr>
          <a:xfrm>
            <a:off x="749808" y="4334256"/>
            <a:ext cx="1700784" cy="256032"/>
          </a:xfrm>
          <a:prstGeom prst="rect">
            <a:avLst/>
          </a:prstGeom>
          <a:noFill/>
          <a:ln/>
        </p:spPr>
        <p:txBody>
          <a:bodyPr wrap="square" lIns="0" tIns="0" rIns="0" bIns="0" rtlCol="0" anchor="ctr"/>
          <a:lstStyle/>
          <a:p>
            <a:pPr indent="0" marL="0">
              <a:buNone/>
            </a:pPr>
            <a:r>
              <a:rPr lang="en-US" sz="1100" b="1" dirty="0">
                <a:solidFill>
                  <a:srgbClr val="FFFFFF"/>
                </a:solidFill>
                <a:latin typeface="Montserrat" pitchFamily="34" charset="0"/>
                <a:ea typeface="Montserrat" pitchFamily="34" charset="-122"/>
                <a:cs typeface="Montserrat" pitchFamily="34" charset="-120"/>
              </a:rPr>
              <a:t>Snowflake account</a:t>
            </a:r>
            <a:endParaRPr lang="en-US" sz="1100" dirty="0"/>
          </a:p>
        </p:txBody>
      </p:sp>
      <p:sp>
        <p:nvSpPr>
          <p:cNvPr id="28" name="Text 26"/>
          <p:cNvSpPr/>
          <p:nvPr/>
        </p:nvSpPr>
        <p:spPr>
          <a:xfrm>
            <a:off x="749808" y="4590288"/>
            <a:ext cx="1700784" cy="420624"/>
          </a:xfrm>
          <a:prstGeom prst="rect">
            <a:avLst/>
          </a:prstGeom>
          <a:noFill/>
          <a:ln/>
        </p:spPr>
        <p:txBody>
          <a:bodyPr wrap="square" lIns="0" tIns="0" rIns="0" bIns="0" rtlCol="0" anchor="ctr"/>
          <a:lstStyle/>
          <a:p>
            <a:pPr indent="0" marL="0">
              <a:buNone/>
            </a:pPr>
            <a:r>
              <a:rPr lang="en-US" sz="900" dirty="0">
                <a:solidFill>
                  <a:srgbClr val="A2F3F3"/>
                </a:solidFill>
                <a:latin typeface="Montserrat" pitchFamily="34" charset="0"/>
                <a:ea typeface="Montserrat" pitchFamily="34" charset="-122"/>
                <a:cs typeface="Montserrat" pitchFamily="34" charset="-120"/>
              </a:rPr>
              <a:t>with Streamlit-in-Snowflake enabled</a:t>
            </a:r>
            <a:endParaRPr lang="en-US" sz="900" dirty="0"/>
          </a:p>
        </p:txBody>
      </p:sp>
      <p:sp>
        <p:nvSpPr>
          <p:cNvPr id="29" name="Shape 27"/>
          <p:cNvSpPr/>
          <p:nvPr/>
        </p:nvSpPr>
        <p:spPr>
          <a:xfrm>
            <a:off x="2816352" y="3931920"/>
            <a:ext cx="2103120" cy="1152144"/>
          </a:xfrm>
          <a:prstGeom prst="roundRect">
            <a:avLst>
              <a:gd name="adj" fmla="val 6349"/>
            </a:avLst>
          </a:prstGeom>
          <a:solidFill>
            <a:srgbClr val="053057"/>
          </a:solidFill>
          <a:ln w="12700">
            <a:solidFill>
              <a:srgbClr val="053057"/>
            </a:solidFill>
            <a:prstDash val="solid"/>
          </a:ln>
        </p:spPr>
      </p:sp>
      <p:sp>
        <p:nvSpPr>
          <p:cNvPr id="30" name="Text 28"/>
          <p:cNvSpPr/>
          <p:nvPr/>
        </p:nvSpPr>
        <p:spPr>
          <a:xfrm>
            <a:off x="3017520" y="4078224"/>
            <a:ext cx="365760" cy="256032"/>
          </a:xfrm>
          <a:prstGeom prst="rect">
            <a:avLst/>
          </a:prstGeom>
          <a:noFill/>
          <a:ln/>
        </p:spPr>
        <p:txBody>
          <a:bodyPr wrap="square" lIns="0" tIns="0" rIns="0" bIns="0" rtlCol="0" anchor="ctr"/>
          <a:lstStyle/>
          <a:p>
            <a:pPr indent="0" marL="0">
              <a:buNone/>
            </a:pPr>
            <a:r>
              <a:rPr lang="en-US" sz="1300" b="1" dirty="0">
                <a:solidFill>
                  <a:srgbClr val="00EDED"/>
                </a:solidFill>
                <a:latin typeface="Montserrat" pitchFamily="34" charset="0"/>
                <a:ea typeface="Montserrat" pitchFamily="34" charset="-122"/>
                <a:cs typeface="Montserrat" pitchFamily="34" charset="-120"/>
              </a:rPr>
              <a:t>2</a:t>
            </a:r>
            <a:endParaRPr lang="en-US" sz="1300" dirty="0"/>
          </a:p>
        </p:txBody>
      </p:sp>
      <p:sp>
        <p:nvSpPr>
          <p:cNvPr id="31" name="Text 29"/>
          <p:cNvSpPr/>
          <p:nvPr/>
        </p:nvSpPr>
        <p:spPr>
          <a:xfrm>
            <a:off x="3017520" y="4334256"/>
            <a:ext cx="1700784" cy="256032"/>
          </a:xfrm>
          <a:prstGeom prst="rect">
            <a:avLst/>
          </a:prstGeom>
          <a:noFill/>
          <a:ln/>
        </p:spPr>
        <p:txBody>
          <a:bodyPr wrap="square" lIns="0" tIns="0" rIns="0" bIns="0" rtlCol="0" anchor="ctr"/>
          <a:lstStyle/>
          <a:p>
            <a:pPr indent="0" marL="0">
              <a:buNone/>
            </a:pPr>
            <a:r>
              <a:rPr lang="en-US" sz="1100" b="1" dirty="0">
                <a:solidFill>
                  <a:srgbClr val="FFFFFF"/>
                </a:solidFill>
                <a:latin typeface="Montserrat" pitchFamily="34" charset="0"/>
                <a:ea typeface="Montserrat" pitchFamily="34" charset="-122"/>
                <a:cs typeface="Montserrat" pitchFamily="34" charset="-120"/>
              </a:rPr>
              <a:t>Warehouse + schema</a:t>
            </a:r>
            <a:endParaRPr lang="en-US" sz="1100" dirty="0"/>
          </a:p>
        </p:txBody>
      </p:sp>
      <p:sp>
        <p:nvSpPr>
          <p:cNvPr id="32" name="Text 30"/>
          <p:cNvSpPr/>
          <p:nvPr/>
        </p:nvSpPr>
        <p:spPr>
          <a:xfrm>
            <a:off x="3017520" y="4590288"/>
            <a:ext cx="1700784" cy="420624"/>
          </a:xfrm>
          <a:prstGeom prst="rect">
            <a:avLst/>
          </a:prstGeom>
          <a:noFill/>
          <a:ln/>
        </p:spPr>
        <p:txBody>
          <a:bodyPr wrap="square" lIns="0" tIns="0" rIns="0" bIns="0" rtlCol="0" anchor="ctr"/>
          <a:lstStyle/>
          <a:p>
            <a:pPr indent="0" marL="0">
              <a:buNone/>
            </a:pPr>
            <a:r>
              <a:rPr lang="en-US" sz="900" dirty="0">
                <a:solidFill>
                  <a:srgbClr val="A2F3F3"/>
                </a:solidFill>
                <a:latin typeface="Montserrat" pitchFamily="34" charset="0"/>
                <a:ea typeface="Montserrat" pitchFamily="34" charset="-122"/>
                <a:cs typeface="Montserrat" pitchFamily="34" charset="-120"/>
              </a:rPr>
              <a:t>somewhere to land the tables</a:t>
            </a:r>
            <a:endParaRPr lang="en-US" sz="900" dirty="0"/>
          </a:p>
        </p:txBody>
      </p:sp>
      <p:sp>
        <p:nvSpPr>
          <p:cNvPr id="33" name="Shape 31"/>
          <p:cNvSpPr/>
          <p:nvPr/>
        </p:nvSpPr>
        <p:spPr>
          <a:xfrm>
            <a:off x="5084064" y="3931920"/>
            <a:ext cx="2103120" cy="1152144"/>
          </a:xfrm>
          <a:prstGeom prst="roundRect">
            <a:avLst>
              <a:gd name="adj" fmla="val 6349"/>
            </a:avLst>
          </a:prstGeom>
          <a:solidFill>
            <a:srgbClr val="053057"/>
          </a:solidFill>
          <a:ln w="12700">
            <a:solidFill>
              <a:srgbClr val="053057"/>
            </a:solidFill>
            <a:prstDash val="solid"/>
          </a:ln>
        </p:spPr>
      </p:sp>
      <p:sp>
        <p:nvSpPr>
          <p:cNvPr id="34" name="Text 32"/>
          <p:cNvSpPr/>
          <p:nvPr/>
        </p:nvSpPr>
        <p:spPr>
          <a:xfrm>
            <a:off x="5285232" y="4078224"/>
            <a:ext cx="365760" cy="256032"/>
          </a:xfrm>
          <a:prstGeom prst="rect">
            <a:avLst/>
          </a:prstGeom>
          <a:noFill/>
          <a:ln/>
        </p:spPr>
        <p:txBody>
          <a:bodyPr wrap="square" lIns="0" tIns="0" rIns="0" bIns="0" rtlCol="0" anchor="ctr"/>
          <a:lstStyle/>
          <a:p>
            <a:pPr indent="0" marL="0">
              <a:buNone/>
            </a:pPr>
            <a:r>
              <a:rPr lang="en-US" sz="1300" b="1" dirty="0">
                <a:solidFill>
                  <a:srgbClr val="00EDED"/>
                </a:solidFill>
                <a:latin typeface="Montserrat" pitchFamily="34" charset="0"/>
                <a:ea typeface="Montserrat" pitchFamily="34" charset="-122"/>
                <a:cs typeface="Montserrat" pitchFamily="34" charset="-120"/>
              </a:rPr>
              <a:t>3</a:t>
            </a:r>
            <a:endParaRPr lang="en-US" sz="1300" dirty="0"/>
          </a:p>
        </p:txBody>
      </p:sp>
      <p:sp>
        <p:nvSpPr>
          <p:cNvPr id="35" name="Text 33"/>
          <p:cNvSpPr/>
          <p:nvPr/>
        </p:nvSpPr>
        <p:spPr>
          <a:xfrm>
            <a:off x="5285232" y="4334256"/>
            <a:ext cx="1700784" cy="256032"/>
          </a:xfrm>
          <a:prstGeom prst="rect">
            <a:avLst/>
          </a:prstGeom>
          <a:noFill/>
          <a:ln/>
        </p:spPr>
        <p:txBody>
          <a:bodyPr wrap="square" lIns="0" tIns="0" rIns="0" bIns="0" rtlCol="0" anchor="ctr"/>
          <a:lstStyle/>
          <a:p>
            <a:pPr indent="0" marL="0">
              <a:buNone/>
            </a:pPr>
            <a:r>
              <a:rPr lang="en-US" sz="1100" b="1" dirty="0">
                <a:solidFill>
                  <a:srgbClr val="FFFFFF"/>
                </a:solidFill>
                <a:latin typeface="Montserrat" pitchFamily="34" charset="0"/>
                <a:ea typeface="Montserrat" pitchFamily="34" charset="-122"/>
                <a:cs typeface="Montserrat" pitchFamily="34" charset="-120"/>
              </a:rPr>
              <a:t>Role privileges</a:t>
            </a:r>
            <a:endParaRPr lang="en-US" sz="1100" dirty="0"/>
          </a:p>
        </p:txBody>
      </p:sp>
      <p:sp>
        <p:nvSpPr>
          <p:cNvPr id="36" name="Text 34"/>
          <p:cNvSpPr/>
          <p:nvPr/>
        </p:nvSpPr>
        <p:spPr>
          <a:xfrm>
            <a:off x="5285232" y="4590288"/>
            <a:ext cx="1700784" cy="420624"/>
          </a:xfrm>
          <a:prstGeom prst="rect">
            <a:avLst/>
          </a:prstGeom>
          <a:noFill/>
          <a:ln/>
        </p:spPr>
        <p:txBody>
          <a:bodyPr wrap="square" lIns="0" tIns="0" rIns="0" bIns="0" rtlCol="0" anchor="ctr"/>
          <a:lstStyle/>
          <a:p>
            <a:pPr indent="0" marL="0">
              <a:buNone/>
            </a:pPr>
            <a:r>
              <a:rPr lang="en-US" sz="900" dirty="0">
                <a:solidFill>
                  <a:srgbClr val="A2F3F3"/>
                </a:solidFill>
                <a:latin typeface="Montserrat" pitchFamily="34" charset="0"/>
                <a:ea typeface="Montserrat" pitchFamily="34" charset="-122"/>
                <a:cs typeface="Montserrat" pitchFamily="34" charset="-120"/>
              </a:rPr>
              <a:t>create Streamlit apps, tables, semantic views</a:t>
            </a:r>
            <a:endParaRPr lang="en-US" sz="900" dirty="0"/>
          </a:p>
        </p:txBody>
      </p:sp>
      <p:sp>
        <p:nvSpPr>
          <p:cNvPr id="37" name="Shape 35"/>
          <p:cNvSpPr/>
          <p:nvPr/>
        </p:nvSpPr>
        <p:spPr>
          <a:xfrm>
            <a:off x="7351776" y="3931920"/>
            <a:ext cx="2103120" cy="1152144"/>
          </a:xfrm>
          <a:prstGeom prst="roundRect">
            <a:avLst>
              <a:gd name="adj" fmla="val 6349"/>
            </a:avLst>
          </a:prstGeom>
          <a:solidFill>
            <a:srgbClr val="053057"/>
          </a:solidFill>
          <a:ln w="12700">
            <a:solidFill>
              <a:srgbClr val="053057"/>
            </a:solidFill>
            <a:prstDash val="solid"/>
          </a:ln>
        </p:spPr>
      </p:sp>
      <p:sp>
        <p:nvSpPr>
          <p:cNvPr id="38" name="Text 36"/>
          <p:cNvSpPr/>
          <p:nvPr/>
        </p:nvSpPr>
        <p:spPr>
          <a:xfrm>
            <a:off x="7552944" y="4078224"/>
            <a:ext cx="365760" cy="256032"/>
          </a:xfrm>
          <a:prstGeom prst="rect">
            <a:avLst/>
          </a:prstGeom>
          <a:noFill/>
          <a:ln/>
        </p:spPr>
        <p:txBody>
          <a:bodyPr wrap="square" lIns="0" tIns="0" rIns="0" bIns="0" rtlCol="0" anchor="ctr"/>
          <a:lstStyle/>
          <a:p>
            <a:pPr indent="0" marL="0">
              <a:buNone/>
            </a:pPr>
            <a:r>
              <a:rPr lang="en-US" sz="1300" b="1" dirty="0">
                <a:solidFill>
                  <a:srgbClr val="00EDED"/>
                </a:solidFill>
                <a:latin typeface="Montserrat" pitchFamily="34" charset="0"/>
                <a:ea typeface="Montserrat" pitchFamily="34" charset="-122"/>
                <a:cs typeface="Montserrat" pitchFamily="34" charset="-120"/>
              </a:rPr>
              <a:t>4</a:t>
            </a:r>
            <a:endParaRPr lang="en-US" sz="1300" dirty="0"/>
          </a:p>
        </p:txBody>
      </p:sp>
      <p:sp>
        <p:nvSpPr>
          <p:cNvPr id="39" name="Text 37"/>
          <p:cNvSpPr/>
          <p:nvPr/>
        </p:nvSpPr>
        <p:spPr>
          <a:xfrm>
            <a:off x="7552944" y="4334256"/>
            <a:ext cx="1700784" cy="256032"/>
          </a:xfrm>
          <a:prstGeom prst="rect">
            <a:avLst/>
          </a:prstGeom>
          <a:noFill/>
          <a:ln/>
        </p:spPr>
        <p:txBody>
          <a:bodyPr wrap="square" lIns="0" tIns="0" rIns="0" bIns="0" rtlCol="0" anchor="ctr"/>
          <a:lstStyle/>
          <a:p>
            <a:pPr indent="0" marL="0">
              <a:buNone/>
            </a:pPr>
            <a:r>
              <a:rPr lang="en-US" sz="1100" b="1" dirty="0">
                <a:solidFill>
                  <a:srgbClr val="FFFFFF"/>
                </a:solidFill>
                <a:latin typeface="Montserrat" pitchFamily="34" charset="0"/>
                <a:ea typeface="Montserrat" pitchFamily="34" charset="-122"/>
                <a:cs typeface="Montserrat" pitchFamily="34" charset="-120"/>
              </a:rPr>
              <a:t>Cortex enabled</a:t>
            </a:r>
            <a:endParaRPr lang="en-US" sz="1100" dirty="0"/>
          </a:p>
        </p:txBody>
      </p:sp>
      <p:sp>
        <p:nvSpPr>
          <p:cNvPr id="40" name="Text 38"/>
          <p:cNvSpPr/>
          <p:nvPr/>
        </p:nvSpPr>
        <p:spPr>
          <a:xfrm>
            <a:off x="7552944" y="4590288"/>
            <a:ext cx="1700784" cy="420624"/>
          </a:xfrm>
          <a:prstGeom prst="rect">
            <a:avLst/>
          </a:prstGeom>
          <a:noFill/>
          <a:ln/>
        </p:spPr>
        <p:txBody>
          <a:bodyPr wrap="square" lIns="0" tIns="0" rIns="0" bIns="0" rtlCol="0" anchor="ctr"/>
          <a:lstStyle/>
          <a:p>
            <a:pPr indent="0" marL="0">
              <a:buNone/>
            </a:pPr>
            <a:r>
              <a:rPr lang="en-US" sz="900" dirty="0">
                <a:solidFill>
                  <a:srgbClr val="A2F3F3"/>
                </a:solidFill>
                <a:latin typeface="Montserrat" pitchFamily="34" charset="0"/>
                <a:ea typeface="Montserrat" pitchFamily="34" charset="-122"/>
                <a:cs typeface="Montserrat" pitchFamily="34" charset="-120"/>
              </a:rPr>
              <a:t>in-account Claude models in the region</a:t>
            </a:r>
            <a:endParaRPr lang="en-US" sz="900" dirty="0"/>
          </a:p>
        </p:txBody>
      </p:sp>
      <p:sp>
        <p:nvSpPr>
          <p:cNvPr id="41" name="Shape 39"/>
          <p:cNvSpPr/>
          <p:nvPr/>
        </p:nvSpPr>
        <p:spPr>
          <a:xfrm>
            <a:off x="9619488" y="3931920"/>
            <a:ext cx="2103120" cy="1152144"/>
          </a:xfrm>
          <a:prstGeom prst="roundRect">
            <a:avLst>
              <a:gd name="adj" fmla="val 6349"/>
            </a:avLst>
          </a:prstGeom>
          <a:solidFill>
            <a:srgbClr val="053057"/>
          </a:solidFill>
          <a:ln w="12700">
            <a:solidFill>
              <a:srgbClr val="053057"/>
            </a:solidFill>
            <a:prstDash val="solid"/>
          </a:ln>
        </p:spPr>
      </p:sp>
      <p:sp>
        <p:nvSpPr>
          <p:cNvPr id="42" name="Text 40"/>
          <p:cNvSpPr/>
          <p:nvPr/>
        </p:nvSpPr>
        <p:spPr>
          <a:xfrm>
            <a:off x="9820656" y="4078224"/>
            <a:ext cx="365760" cy="256032"/>
          </a:xfrm>
          <a:prstGeom prst="rect">
            <a:avLst/>
          </a:prstGeom>
          <a:noFill/>
          <a:ln/>
        </p:spPr>
        <p:txBody>
          <a:bodyPr wrap="square" lIns="0" tIns="0" rIns="0" bIns="0" rtlCol="0" anchor="ctr"/>
          <a:lstStyle/>
          <a:p>
            <a:pPr indent="0" marL="0">
              <a:buNone/>
            </a:pPr>
            <a:r>
              <a:rPr lang="en-US" sz="1300" b="1" dirty="0">
                <a:solidFill>
                  <a:srgbClr val="00EDED"/>
                </a:solidFill>
                <a:latin typeface="Montserrat" pitchFamily="34" charset="0"/>
                <a:ea typeface="Montserrat" pitchFamily="34" charset="-122"/>
                <a:cs typeface="Montserrat" pitchFamily="34" charset="-120"/>
              </a:rPr>
              <a:t>5</a:t>
            </a:r>
            <a:endParaRPr lang="en-US" sz="1300" dirty="0"/>
          </a:p>
        </p:txBody>
      </p:sp>
      <p:sp>
        <p:nvSpPr>
          <p:cNvPr id="43" name="Text 41"/>
          <p:cNvSpPr/>
          <p:nvPr/>
        </p:nvSpPr>
        <p:spPr>
          <a:xfrm>
            <a:off x="9820656" y="4334256"/>
            <a:ext cx="1700784" cy="256032"/>
          </a:xfrm>
          <a:prstGeom prst="rect">
            <a:avLst/>
          </a:prstGeom>
          <a:noFill/>
          <a:ln/>
        </p:spPr>
        <p:txBody>
          <a:bodyPr wrap="square" lIns="0" tIns="0" rIns="0" bIns="0" rtlCol="0" anchor="ctr"/>
          <a:lstStyle/>
          <a:p>
            <a:pPr indent="0" marL="0">
              <a:buNone/>
            </a:pPr>
            <a:r>
              <a:rPr lang="en-US" sz="1100" b="1" dirty="0">
                <a:solidFill>
                  <a:srgbClr val="FFFFFF"/>
                </a:solidFill>
                <a:latin typeface="Montserrat" pitchFamily="34" charset="0"/>
                <a:ea typeface="Montserrat" pitchFamily="34" charset="-122"/>
                <a:cs typeface="Montserrat" pitchFamily="34" charset="-120"/>
              </a:rPr>
              <a:t>Tableau workbooks</a:t>
            </a:r>
            <a:endParaRPr lang="en-US" sz="1100" dirty="0"/>
          </a:p>
        </p:txBody>
      </p:sp>
      <p:sp>
        <p:nvSpPr>
          <p:cNvPr id="44" name="Text 42"/>
          <p:cNvSpPr/>
          <p:nvPr/>
        </p:nvSpPr>
        <p:spPr>
          <a:xfrm>
            <a:off x="9820656" y="4590288"/>
            <a:ext cx="1700784" cy="420624"/>
          </a:xfrm>
          <a:prstGeom prst="rect">
            <a:avLst/>
          </a:prstGeom>
          <a:noFill/>
          <a:ln/>
        </p:spPr>
        <p:txBody>
          <a:bodyPr wrap="square" lIns="0" tIns="0" rIns="0" bIns="0" rtlCol="0" anchor="ctr"/>
          <a:lstStyle/>
          <a:p>
            <a:pPr indent="0" marL="0">
              <a:buNone/>
            </a:pPr>
            <a:r>
              <a:rPr lang="en-US" sz="900" dirty="0">
                <a:solidFill>
                  <a:srgbClr val="A2F3F3"/>
                </a:solidFill>
                <a:latin typeface="Montserrat" pitchFamily="34" charset="0"/>
                <a:ea typeface="Montserrat" pitchFamily="34" charset="-122"/>
                <a:cs typeface="Montserrat" pitchFamily="34" charset="-120"/>
              </a:rPr>
              <a:t>.twb / .twbx files to migrate</a:t>
            </a:r>
            <a:endParaRPr lang="en-US" sz="900" dirty="0"/>
          </a:p>
        </p:txBody>
      </p:sp>
      <p:sp>
        <p:nvSpPr>
          <p:cNvPr id="45" name="Shape 43"/>
          <p:cNvSpPr/>
          <p:nvPr/>
        </p:nvSpPr>
        <p:spPr>
          <a:xfrm>
            <a:off x="548640" y="5321808"/>
            <a:ext cx="11091672" cy="457200"/>
          </a:xfrm>
          <a:prstGeom prst="roundRect">
            <a:avLst>
              <a:gd name="adj" fmla="val 12000"/>
            </a:avLst>
          </a:prstGeom>
          <a:solidFill>
            <a:srgbClr val="053057"/>
          </a:solidFill>
          <a:ln w="12700">
            <a:solidFill>
              <a:srgbClr val="053057"/>
            </a:solidFill>
            <a:prstDash val="solid"/>
          </a:ln>
        </p:spPr>
      </p:sp>
      <p:sp>
        <p:nvSpPr>
          <p:cNvPr id="46" name="Text 44"/>
          <p:cNvSpPr/>
          <p:nvPr/>
        </p:nvSpPr>
        <p:spPr>
          <a:xfrm>
            <a:off x="548640" y="5321808"/>
            <a:ext cx="11091672" cy="457200"/>
          </a:xfrm>
          <a:prstGeom prst="rect">
            <a:avLst/>
          </a:prstGeom>
          <a:noFill/>
          <a:ln/>
        </p:spPr>
        <p:txBody>
          <a:bodyPr wrap="square" lIns="0" tIns="0" rIns="0" bIns="0" rtlCol="0" anchor="ctr"/>
          <a:lstStyle/>
          <a:p>
            <a:pPr algn="ctr" indent="0" marL="0">
              <a:buNone/>
            </a:pPr>
            <a:r>
              <a:rPr lang="en-US" sz="1150" b="1" spc="60" kern="0" dirty="0">
                <a:solidFill>
                  <a:srgbClr val="00EDED"/>
                </a:solidFill>
                <a:latin typeface="Montserrat" pitchFamily="34" charset="0"/>
                <a:ea typeface="Montserrat" pitchFamily="34" charset="-122"/>
                <a:cs typeface="Montserrat" pitchFamily="34" charset="-120"/>
              </a:rPr>
              <a:t>Streamlit in Snowflake   |   Cortex AI (Claude Opus 4.8)   |   Cortex Analyst   |   Native Semantic Views   |   Snowpark</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53057"/>
        </a:solidFill>
      </p:bgPr>
    </p:bg>
    <p:spTree>
      <p:nvGrpSpPr>
        <p:cNvPr id="1" name=""/>
        <p:cNvGrpSpPr/>
        <p:nvPr/>
      </p:nvGrpSpPr>
      <p:grpSpPr>
        <a:xfrm>
          <a:off x="0" y="0"/>
          <a:ext cx="0" cy="0"/>
          <a:chOff x="0" y="0"/>
          <a:chExt cx="0" cy="0"/>
        </a:xfrm>
      </p:grpSpPr>
      <p:sp>
        <p:nvSpPr>
          <p:cNvPr id="2" name="Shape 0"/>
          <p:cNvSpPr/>
          <p:nvPr/>
        </p:nvSpPr>
        <p:spPr>
          <a:xfrm>
            <a:off x="9601200" y="3566160"/>
            <a:ext cx="4023360" cy="4023360"/>
          </a:xfrm>
          <a:prstGeom prst="ellipse">
            <a:avLst/>
          </a:prstGeom>
          <a:solidFill>
            <a:srgbClr val="053057"/>
          </a:solidFill>
          <a:ln w="15875">
            <a:solidFill>
              <a:srgbClr val="17517F"/>
            </a:solidFill>
            <a:prstDash val="solid"/>
          </a:ln>
        </p:spPr>
      </p:sp>
      <p:sp>
        <p:nvSpPr>
          <p:cNvPr id="3" name="Text 1"/>
          <p:cNvSpPr/>
          <p:nvPr/>
        </p:nvSpPr>
        <p:spPr>
          <a:xfrm>
            <a:off x="777240" y="1371600"/>
            <a:ext cx="5486400" cy="292608"/>
          </a:xfrm>
          <a:prstGeom prst="rect">
            <a:avLst/>
          </a:prstGeom>
          <a:noFill/>
          <a:ln/>
        </p:spPr>
        <p:txBody>
          <a:bodyPr wrap="square" lIns="0" tIns="0" rIns="0" bIns="0" rtlCol="0" anchor="ctr"/>
          <a:lstStyle/>
          <a:p>
            <a:pPr indent="0" marL="0">
              <a:buNone/>
            </a:pPr>
            <a:r>
              <a:rPr lang="en-US" sz="1300" b="1" spc="300" kern="0" dirty="0">
                <a:solidFill>
                  <a:srgbClr val="00EDED"/>
                </a:solidFill>
                <a:latin typeface="Montserrat" pitchFamily="34" charset="0"/>
                <a:ea typeface="Montserrat" pitchFamily="34" charset="-122"/>
                <a:cs typeface="Montserrat" pitchFamily="34" charset="-120"/>
              </a:rPr>
              <a:t>DEMO</a:t>
            </a:r>
            <a:endParaRPr lang="en-US" sz="1300" dirty="0"/>
          </a:p>
        </p:txBody>
      </p:sp>
      <p:sp>
        <p:nvSpPr>
          <p:cNvPr id="4" name="Text 2"/>
          <p:cNvSpPr/>
          <p:nvPr/>
        </p:nvSpPr>
        <p:spPr>
          <a:xfrm>
            <a:off x="777240" y="1773936"/>
            <a:ext cx="8595360" cy="731520"/>
          </a:xfrm>
          <a:prstGeom prst="rect">
            <a:avLst/>
          </a:prstGeom>
          <a:noFill/>
          <a:ln/>
        </p:spPr>
        <p:txBody>
          <a:bodyPr wrap="square" lIns="0" tIns="0" rIns="0" bIns="0" rtlCol="0" anchor="ctr"/>
          <a:lstStyle/>
          <a:p>
            <a:pPr indent="0" marL="0">
              <a:buNone/>
            </a:pPr>
            <a:r>
              <a:rPr lang="en-US" sz="3600" b="1" dirty="0">
                <a:solidFill>
                  <a:srgbClr val="FFFFFF"/>
                </a:solidFill>
                <a:latin typeface="Montserrat" pitchFamily="34" charset="0"/>
                <a:ea typeface="Montserrat" pitchFamily="34" charset="-122"/>
                <a:cs typeface="Montserrat" pitchFamily="34" charset="-120"/>
              </a:rPr>
              <a:t>See it run inside Snowflake</a:t>
            </a:r>
            <a:endParaRPr lang="en-US" sz="3600" dirty="0"/>
          </a:p>
        </p:txBody>
      </p:sp>
      <p:sp>
        <p:nvSpPr>
          <p:cNvPr id="5" name="Text 3"/>
          <p:cNvSpPr/>
          <p:nvPr/>
        </p:nvSpPr>
        <p:spPr>
          <a:xfrm>
            <a:off x="777240" y="2615184"/>
            <a:ext cx="8321040" cy="914400"/>
          </a:xfrm>
          <a:prstGeom prst="rect">
            <a:avLst/>
          </a:prstGeom>
          <a:noFill/>
          <a:ln/>
        </p:spPr>
        <p:txBody>
          <a:bodyPr wrap="square" lIns="0" tIns="0" rIns="0" bIns="0" rtlCol="0" anchor="ctr"/>
          <a:lstStyle/>
          <a:p>
            <a:pPr indent="0" marL="0">
              <a:buNone/>
            </a:pPr>
            <a:r>
              <a:rPr lang="en-US" sz="1350" dirty="0">
                <a:solidFill>
                  <a:srgbClr val="A2F3F3"/>
                </a:solidFill>
                <a:latin typeface="Montserrat" pitchFamily="34" charset="0"/>
                <a:ea typeface="Montserrat" pitchFamily="34" charset="-122"/>
                <a:cs typeface="Montserrat" pitchFamily="34" charset="-120"/>
              </a:rPr>
              <a:t>Upload a Tableau workbook and watch every stage execute in the account — tables created and loaded, Cortex translating the hard calculations, the semantic view deployed, the dashboard rendered, and the numbers checked measure by measure.</a:t>
            </a:r>
            <a:endParaRPr lang="en-US" sz="1350" dirty="0"/>
          </a:p>
        </p:txBody>
      </p:sp>
      <p:sp>
        <p:nvSpPr>
          <p:cNvPr id="6" name="Shape 4"/>
          <p:cNvSpPr/>
          <p:nvPr/>
        </p:nvSpPr>
        <p:spPr>
          <a:xfrm>
            <a:off x="777240" y="3712464"/>
            <a:ext cx="1847088" cy="603504"/>
          </a:xfrm>
          <a:prstGeom prst="roundRect">
            <a:avLst>
              <a:gd name="adj" fmla="val 12121"/>
            </a:avLst>
          </a:prstGeom>
          <a:solidFill>
            <a:srgbClr val="0A3E6B"/>
          </a:solidFill>
          <a:ln w="12700">
            <a:solidFill>
              <a:srgbClr val="17517F"/>
            </a:solidFill>
            <a:prstDash val="solid"/>
          </a:ln>
        </p:spPr>
      </p:sp>
      <p:sp>
        <p:nvSpPr>
          <p:cNvPr id="7" name="Text 5"/>
          <p:cNvSpPr/>
          <p:nvPr/>
        </p:nvSpPr>
        <p:spPr>
          <a:xfrm>
            <a:off x="777240" y="3712464"/>
            <a:ext cx="1847088" cy="603504"/>
          </a:xfrm>
          <a:prstGeom prst="rect">
            <a:avLst/>
          </a:prstGeom>
          <a:noFill/>
          <a:ln/>
        </p:spPr>
        <p:txBody>
          <a:bodyPr wrap="square" lIns="0" tIns="0" rIns="0" bIns="0" rtlCol="0" anchor="ctr"/>
          <a:lstStyle/>
          <a:p>
            <a:pPr algn="ctr" indent="0" marL="0">
              <a:buNone/>
            </a:pPr>
            <a:r>
              <a:rPr lang="en-US" sz="950" b="1" dirty="0">
                <a:solidFill>
                  <a:srgbClr val="FFFFFF"/>
                </a:solidFill>
                <a:latin typeface="Montserrat" pitchFamily="34" charset="0"/>
                <a:ea typeface="Montserrat" pitchFamily="34" charset="-122"/>
                <a:cs typeface="Montserrat" pitchFamily="34" charset="-120"/>
              </a:rPr>
              <a:t>Discovery</a:t>
            </a:r>
            <a:endParaRPr lang="en-US" sz="950" dirty="0"/>
          </a:p>
        </p:txBody>
      </p:sp>
      <p:sp>
        <p:nvSpPr>
          <p:cNvPr id="8" name="Text 6"/>
          <p:cNvSpPr/>
          <p:nvPr/>
        </p:nvSpPr>
        <p:spPr>
          <a:xfrm>
            <a:off x="2624328" y="3712464"/>
            <a:ext cx="292608" cy="603504"/>
          </a:xfrm>
          <a:prstGeom prst="rect">
            <a:avLst/>
          </a:prstGeom>
          <a:noFill/>
          <a:ln/>
        </p:spPr>
        <p:txBody>
          <a:bodyPr wrap="square" lIns="0" tIns="0" rIns="0" bIns="0" rtlCol="0" anchor="ctr"/>
          <a:lstStyle/>
          <a:p>
            <a:pPr algn="ctr" indent="0" marL="0">
              <a:buNone/>
            </a:pPr>
            <a:r>
              <a:rPr lang="en-US" sz="1600" b="1" dirty="0">
                <a:solidFill>
                  <a:srgbClr val="00EDED"/>
                </a:solidFill>
                <a:latin typeface="Montserrat" pitchFamily="34" charset="0"/>
                <a:ea typeface="Montserrat" pitchFamily="34" charset="-122"/>
                <a:cs typeface="Montserrat" pitchFamily="34" charset="-120"/>
              </a:rPr>
              <a:t>›</a:t>
            </a:r>
            <a:endParaRPr lang="en-US" sz="1600" dirty="0"/>
          </a:p>
        </p:txBody>
      </p:sp>
      <p:sp>
        <p:nvSpPr>
          <p:cNvPr id="9" name="Shape 7"/>
          <p:cNvSpPr/>
          <p:nvPr/>
        </p:nvSpPr>
        <p:spPr>
          <a:xfrm>
            <a:off x="2916936" y="3712464"/>
            <a:ext cx="1847088" cy="603504"/>
          </a:xfrm>
          <a:prstGeom prst="roundRect">
            <a:avLst>
              <a:gd name="adj" fmla="val 12121"/>
            </a:avLst>
          </a:prstGeom>
          <a:solidFill>
            <a:srgbClr val="0A3E6B"/>
          </a:solidFill>
          <a:ln w="12700">
            <a:solidFill>
              <a:srgbClr val="17517F"/>
            </a:solidFill>
            <a:prstDash val="solid"/>
          </a:ln>
        </p:spPr>
      </p:sp>
      <p:sp>
        <p:nvSpPr>
          <p:cNvPr id="10" name="Text 8"/>
          <p:cNvSpPr/>
          <p:nvPr/>
        </p:nvSpPr>
        <p:spPr>
          <a:xfrm>
            <a:off x="2916936" y="3712464"/>
            <a:ext cx="1847088" cy="603504"/>
          </a:xfrm>
          <a:prstGeom prst="rect">
            <a:avLst/>
          </a:prstGeom>
          <a:noFill/>
          <a:ln/>
        </p:spPr>
        <p:txBody>
          <a:bodyPr wrap="square" lIns="0" tIns="0" rIns="0" bIns="0" rtlCol="0" anchor="ctr"/>
          <a:lstStyle/>
          <a:p>
            <a:pPr algn="ctr" indent="0" marL="0">
              <a:buNone/>
            </a:pPr>
            <a:r>
              <a:rPr lang="en-US" sz="950" b="1" dirty="0">
                <a:solidFill>
                  <a:srgbClr val="FFFFFF"/>
                </a:solidFill>
                <a:latin typeface="Montserrat" pitchFamily="34" charset="0"/>
                <a:ea typeface="Montserrat" pitchFamily="34" charset="-122"/>
                <a:cs typeface="Montserrat" pitchFamily="34" charset="-120"/>
              </a:rPr>
              <a:t>Model Extraction</a:t>
            </a:r>
            <a:endParaRPr lang="en-US" sz="950" dirty="0"/>
          </a:p>
        </p:txBody>
      </p:sp>
      <p:sp>
        <p:nvSpPr>
          <p:cNvPr id="11" name="Text 9"/>
          <p:cNvSpPr/>
          <p:nvPr/>
        </p:nvSpPr>
        <p:spPr>
          <a:xfrm>
            <a:off x="4764024" y="3712464"/>
            <a:ext cx="292608" cy="603504"/>
          </a:xfrm>
          <a:prstGeom prst="rect">
            <a:avLst/>
          </a:prstGeom>
          <a:noFill/>
          <a:ln/>
        </p:spPr>
        <p:txBody>
          <a:bodyPr wrap="square" lIns="0" tIns="0" rIns="0" bIns="0" rtlCol="0" anchor="ctr"/>
          <a:lstStyle/>
          <a:p>
            <a:pPr algn="ctr" indent="0" marL="0">
              <a:buNone/>
            </a:pPr>
            <a:r>
              <a:rPr lang="en-US" sz="1600" b="1" dirty="0">
                <a:solidFill>
                  <a:srgbClr val="00EDED"/>
                </a:solidFill>
                <a:latin typeface="Montserrat" pitchFamily="34" charset="0"/>
                <a:ea typeface="Montserrat" pitchFamily="34" charset="-122"/>
                <a:cs typeface="Montserrat" pitchFamily="34" charset="-120"/>
              </a:rPr>
              <a:t>›</a:t>
            </a:r>
            <a:endParaRPr lang="en-US" sz="1600" dirty="0"/>
          </a:p>
        </p:txBody>
      </p:sp>
      <p:sp>
        <p:nvSpPr>
          <p:cNvPr id="12" name="Shape 10"/>
          <p:cNvSpPr/>
          <p:nvPr/>
        </p:nvSpPr>
        <p:spPr>
          <a:xfrm>
            <a:off x="5056632" y="3712464"/>
            <a:ext cx="1847088" cy="603504"/>
          </a:xfrm>
          <a:prstGeom prst="roundRect">
            <a:avLst>
              <a:gd name="adj" fmla="val 12121"/>
            </a:avLst>
          </a:prstGeom>
          <a:solidFill>
            <a:srgbClr val="0A3E6B"/>
          </a:solidFill>
          <a:ln w="19050">
            <a:solidFill>
              <a:srgbClr val="00EDED"/>
            </a:solidFill>
            <a:prstDash val="solid"/>
          </a:ln>
        </p:spPr>
      </p:sp>
      <p:sp>
        <p:nvSpPr>
          <p:cNvPr id="13" name="Text 11"/>
          <p:cNvSpPr/>
          <p:nvPr/>
        </p:nvSpPr>
        <p:spPr>
          <a:xfrm>
            <a:off x="5056632" y="3712464"/>
            <a:ext cx="1847088" cy="603504"/>
          </a:xfrm>
          <a:prstGeom prst="rect">
            <a:avLst/>
          </a:prstGeom>
          <a:noFill/>
          <a:ln/>
        </p:spPr>
        <p:txBody>
          <a:bodyPr wrap="square" lIns="0" tIns="0" rIns="0" bIns="0" rtlCol="0" anchor="ctr"/>
          <a:lstStyle/>
          <a:p>
            <a:pPr algn="ctr" indent="0" marL="0">
              <a:buNone/>
            </a:pPr>
            <a:r>
              <a:rPr lang="en-US" sz="950" b="1" dirty="0">
                <a:solidFill>
                  <a:srgbClr val="FFFFFF"/>
                </a:solidFill>
                <a:latin typeface="Montserrat" pitchFamily="34" charset="0"/>
                <a:ea typeface="Montserrat" pitchFamily="34" charset="-122"/>
                <a:cs typeface="Montserrat" pitchFamily="34" charset="-120"/>
              </a:rPr>
              <a:t>Cortex Translation</a:t>
            </a:r>
            <a:endParaRPr lang="en-US" sz="950" dirty="0"/>
          </a:p>
        </p:txBody>
      </p:sp>
      <p:sp>
        <p:nvSpPr>
          <p:cNvPr id="14" name="Text 12"/>
          <p:cNvSpPr/>
          <p:nvPr/>
        </p:nvSpPr>
        <p:spPr>
          <a:xfrm>
            <a:off x="6903720" y="3712464"/>
            <a:ext cx="292608" cy="603504"/>
          </a:xfrm>
          <a:prstGeom prst="rect">
            <a:avLst/>
          </a:prstGeom>
          <a:noFill/>
          <a:ln/>
        </p:spPr>
        <p:txBody>
          <a:bodyPr wrap="square" lIns="0" tIns="0" rIns="0" bIns="0" rtlCol="0" anchor="ctr"/>
          <a:lstStyle/>
          <a:p>
            <a:pPr algn="ctr" indent="0" marL="0">
              <a:buNone/>
            </a:pPr>
            <a:r>
              <a:rPr lang="en-US" sz="1600" b="1" dirty="0">
                <a:solidFill>
                  <a:srgbClr val="00EDED"/>
                </a:solidFill>
                <a:latin typeface="Montserrat" pitchFamily="34" charset="0"/>
                <a:ea typeface="Montserrat" pitchFamily="34" charset="-122"/>
                <a:cs typeface="Montserrat" pitchFamily="34" charset="-120"/>
              </a:rPr>
              <a:t>›</a:t>
            </a:r>
            <a:endParaRPr lang="en-US" sz="1600" dirty="0"/>
          </a:p>
        </p:txBody>
      </p:sp>
      <p:sp>
        <p:nvSpPr>
          <p:cNvPr id="15" name="Shape 13"/>
          <p:cNvSpPr/>
          <p:nvPr/>
        </p:nvSpPr>
        <p:spPr>
          <a:xfrm>
            <a:off x="7196328" y="3712464"/>
            <a:ext cx="1847088" cy="603504"/>
          </a:xfrm>
          <a:prstGeom prst="roundRect">
            <a:avLst>
              <a:gd name="adj" fmla="val 12121"/>
            </a:avLst>
          </a:prstGeom>
          <a:solidFill>
            <a:srgbClr val="0A3E6B"/>
          </a:solidFill>
          <a:ln w="19050">
            <a:solidFill>
              <a:srgbClr val="00EDED"/>
            </a:solidFill>
            <a:prstDash val="solid"/>
          </a:ln>
        </p:spPr>
      </p:sp>
      <p:sp>
        <p:nvSpPr>
          <p:cNvPr id="16" name="Text 14"/>
          <p:cNvSpPr/>
          <p:nvPr/>
        </p:nvSpPr>
        <p:spPr>
          <a:xfrm>
            <a:off x="7196328" y="3712464"/>
            <a:ext cx="1847088" cy="603504"/>
          </a:xfrm>
          <a:prstGeom prst="rect">
            <a:avLst/>
          </a:prstGeom>
          <a:noFill/>
          <a:ln/>
        </p:spPr>
        <p:txBody>
          <a:bodyPr wrap="square" lIns="0" tIns="0" rIns="0" bIns="0" rtlCol="0" anchor="ctr"/>
          <a:lstStyle/>
          <a:p>
            <a:pPr algn="ctr" indent="0" marL="0">
              <a:buNone/>
            </a:pPr>
            <a:r>
              <a:rPr lang="en-US" sz="950" b="1" dirty="0">
                <a:solidFill>
                  <a:srgbClr val="FFFFFF"/>
                </a:solidFill>
                <a:latin typeface="Montserrat" pitchFamily="34" charset="0"/>
                <a:ea typeface="Montserrat" pitchFamily="34" charset="-122"/>
                <a:cs typeface="Montserrat" pitchFamily="34" charset="-120"/>
              </a:rPr>
              <a:t>Semantic + App</a:t>
            </a:r>
            <a:endParaRPr lang="en-US" sz="950" dirty="0"/>
          </a:p>
        </p:txBody>
      </p:sp>
      <p:sp>
        <p:nvSpPr>
          <p:cNvPr id="17" name="Text 15"/>
          <p:cNvSpPr/>
          <p:nvPr/>
        </p:nvSpPr>
        <p:spPr>
          <a:xfrm>
            <a:off x="9043416" y="3712464"/>
            <a:ext cx="292608" cy="603504"/>
          </a:xfrm>
          <a:prstGeom prst="rect">
            <a:avLst/>
          </a:prstGeom>
          <a:noFill/>
          <a:ln/>
        </p:spPr>
        <p:txBody>
          <a:bodyPr wrap="square" lIns="0" tIns="0" rIns="0" bIns="0" rtlCol="0" anchor="ctr"/>
          <a:lstStyle/>
          <a:p>
            <a:pPr algn="ctr" indent="0" marL="0">
              <a:buNone/>
            </a:pPr>
            <a:r>
              <a:rPr lang="en-US" sz="1600" b="1" dirty="0">
                <a:solidFill>
                  <a:srgbClr val="00EDED"/>
                </a:solidFill>
                <a:latin typeface="Montserrat" pitchFamily="34" charset="0"/>
                <a:ea typeface="Montserrat" pitchFamily="34" charset="-122"/>
                <a:cs typeface="Montserrat" pitchFamily="34" charset="-120"/>
              </a:rPr>
              <a:t>›</a:t>
            </a:r>
            <a:endParaRPr lang="en-US" sz="1600" dirty="0"/>
          </a:p>
        </p:txBody>
      </p:sp>
      <p:sp>
        <p:nvSpPr>
          <p:cNvPr id="18" name="Shape 16"/>
          <p:cNvSpPr/>
          <p:nvPr/>
        </p:nvSpPr>
        <p:spPr>
          <a:xfrm>
            <a:off x="9336024" y="3712464"/>
            <a:ext cx="1847088" cy="603504"/>
          </a:xfrm>
          <a:prstGeom prst="roundRect">
            <a:avLst>
              <a:gd name="adj" fmla="val 12121"/>
            </a:avLst>
          </a:prstGeom>
          <a:solidFill>
            <a:srgbClr val="0A3E6B"/>
          </a:solidFill>
          <a:ln w="19050">
            <a:solidFill>
              <a:srgbClr val="00EDED"/>
            </a:solidFill>
            <a:prstDash val="solid"/>
          </a:ln>
        </p:spPr>
      </p:sp>
      <p:sp>
        <p:nvSpPr>
          <p:cNvPr id="19" name="Text 17"/>
          <p:cNvSpPr/>
          <p:nvPr/>
        </p:nvSpPr>
        <p:spPr>
          <a:xfrm>
            <a:off x="9336024" y="3712464"/>
            <a:ext cx="1847088" cy="603504"/>
          </a:xfrm>
          <a:prstGeom prst="rect">
            <a:avLst/>
          </a:prstGeom>
          <a:noFill/>
          <a:ln/>
        </p:spPr>
        <p:txBody>
          <a:bodyPr wrap="square" lIns="0" tIns="0" rIns="0" bIns="0" rtlCol="0" anchor="ctr"/>
          <a:lstStyle/>
          <a:p>
            <a:pPr algn="ctr" indent="0" marL="0">
              <a:buNone/>
            </a:pPr>
            <a:r>
              <a:rPr lang="en-US" sz="950" b="1" dirty="0">
                <a:solidFill>
                  <a:srgbClr val="FFFFFF"/>
                </a:solidFill>
                <a:latin typeface="Montserrat" pitchFamily="34" charset="0"/>
                <a:ea typeface="Montserrat" pitchFamily="34" charset="-122"/>
                <a:cs typeface="Montserrat" pitchFamily="34" charset="-120"/>
              </a:rPr>
              <a:t>Cortex Validation</a:t>
            </a:r>
            <a:endParaRPr lang="en-US" sz="950" dirty="0"/>
          </a:p>
        </p:txBody>
      </p:sp>
      <p:sp>
        <p:nvSpPr>
          <p:cNvPr id="20" name="Text 18"/>
          <p:cNvSpPr/>
          <p:nvPr/>
        </p:nvSpPr>
        <p:spPr>
          <a:xfrm>
            <a:off x="777240" y="4572000"/>
            <a:ext cx="9692640" cy="548640"/>
          </a:xfrm>
          <a:prstGeom prst="rect">
            <a:avLst/>
          </a:prstGeom>
          <a:noFill/>
          <a:ln/>
        </p:spPr>
        <p:txBody>
          <a:bodyPr wrap="square" lIns="0" tIns="0" rIns="0" bIns="0" rtlCol="0" anchor="ctr"/>
          <a:lstStyle/>
          <a:p>
            <a:pPr indent="0" marL="0">
              <a:buNone/>
            </a:pPr>
            <a:r>
              <a:rPr lang="en-US" sz="1150" dirty="0">
                <a:solidFill>
                  <a:srgbClr val="6B7C88"/>
                </a:solidFill>
                <a:latin typeface="Montserrat" pitchFamily="34" charset="0"/>
                <a:ea typeface="Montserrat" pitchFamily="34" charset="-122"/>
                <a:cs typeface="Montserrat" pitchFamily="34" charset="-120"/>
              </a:rPr>
              <a:t>Every statement is visible in Snowsight Query History — the Cortex calls, the semantic view creation and the dashboard queries, with live timestamps.</a:t>
            </a:r>
            <a:endParaRPr lang="en-US" sz="1150" dirty="0"/>
          </a:p>
        </p:txBody>
      </p:sp>
      <p:sp>
        <p:nvSpPr>
          <p:cNvPr id="21" name="Shape 19"/>
          <p:cNvSpPr/>
          <p:nvPr/>
        </p:nvSpPr>
        <p:spPr>
          <a:xfrm>
            <a:off x="548640" y="5760720"/>
            <a:ext cx="11091672" cy="457200"/>
          </a:xfrm>
          <a:prstGeom prst="roundRect">
            <a:avLst>
              <a:gd name="adj" fmla="val 12000"/>
            </a:avLst>
          </a:prstGeom>
          <a:solidFill>
            <a:srgbClr val="0A3E6B"/>
          </a:solidFill>
          <a:ln w="12700">
            <a:solidFill>
              <a:srgbClr val="17517F"/>
            </a:solidFill>
            <a:prstDash val="solid"/>
          </a:ln>
        </p:spPr>
      </p:sp>
      <p:sp>
        <p:nvSpPr>
          <p:cNvPr id="22" name="Text 20"/>
          <p:cNvSpPr/>
          <p:nvPr/>
        </p:nvSpPr>
        <p:spPr>
          <a:xfrm>
            <a:off x="548640" y="5760720"/>
            <a:ext cx="11091672" cy="457200"/>
          </a:xfrm>
          <a:prstGeom prst="rect">
            <a:avLst/>
          </a:prstGeom>
          <a:noFill/>
          <a:ln/>
        </p:spPr>
        <p:txBody>
          <a:bodyPr wrap="square" lIns="0" tIns="0" rIns="0" bIns="0" rtlCol="0" anchor="ctr"/>
          <a:lstStyle/>
          <a:p>
            <a:pPr algn="ctr" indent="0" marL="0">
              <a:buNone/>
            </a:pPr>
            <a:r>
              <a:rPr lang="en-US" sz="1150" b="1" spc="60" kern="0" dirty="0">
                <a:solidFill>
                  <a:srgbClr val="00EDED"/>
                </a:solidFill>
                <a:latin typeface="Montserrat" pitchFamily="34" charset="0"/>
                <a:ea typeface="Montserrat" pitchFamily="34" charset="-122"/>
                <a:cs typeface="Montserrat" pitchFamily="34" charset="-120"/>
              </a:rPr>
              <a:t>Streamlit in Snowflake   |   Cortex AI (Claude Opus 4.8)   |   Cortex Analyst   |   Native Semantic Views   |   Snowpark</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Tableau to Streamlit-in-Snowflake Accelerator</dc:title>
  <dc:subject>PptxGenJS Presentation</dc:subject>
  <dc:creator>Sharath Kumar</dc:creator>
  <cp:lastModifiedBy>Sharath Kumar</cp:lastModifiedBy>
  <cp:revision>1</cp:revision>
  <dcterms:created xsi:type="dcterms:W3CDTF">2026-07-22T14:58:01Z</dcterms:created>
  <dcterms:modified xsi:type="dcterms:W3CDTF">2026-07-22T14:58:01Z</dcterms:modified>
</cp:coreProperties>
</file>