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modernization, not tool replacement. The goal is to move suitable BI workloads onto a governed, extensible Snowflake application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the situation before mentioning the accelerator. Do not attack Tableau; describe the operational duplication created when the data platform and BI platform evolve separately. Replace generic cost language with client figures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Leadership should hear business outcomes; Snowflake should hear platform consolidation; BI developers should hear faster iteration and extensibility. License savings are potential until client-specific TCO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a primary modernization advantage, but say clearly this is where the roadmap is headed next, not a capability wired into the accelerator's current five stages. Say that CoCo lowers dependence on specialized coding skills; do not promise that production applications can be changed without engineering review. Every AI-assisted change returns through regression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replaces the conflicting three-stage and seven-stage descriptions in earlier material. During the live demo, narrate the same five labels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Visual similarity alone is not a pass. It is the first evidence layer. Point out that the chart colors can differ while data, hierarchy and interaction behavior still require independent checks. Replace the placeholder panes with the real Tableau vs Streamlit comparison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three displayed rows are representative slide evidence; the downloadable report retains the complete result set and every mismatch. Explain absolute and relative tolerance in the report and that currency tolerance must be expressed in currency, not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Close on a concrete ask to the Snowflake partner audience, not a generic next-step list. This is a co-sell motion: we need Snowflake to nominate the account and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Snowflake asks where Cortex adds value. The concise answer: Cortex enriches the governed semantic experience and can propose translations for unsupported calculations, but deterministic checks retain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audience asks what is inside the generated report. Stress that the HTML is the readable entry point while the notebook and row-level artifacts provide the complete proof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 Snowflake engineer asks how the pipeline actually works end to end. Walk left to right: ingestion/discovery, conversion into an IR, Cortex called from inside the account (proposes only, never final say), semantic and serving layer, then the three-lane QA gate (data / calc / visual) before anything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200" b="1" spc="300" kern="0" dirty="0">
                <a:solidFill>
                  <a:srgbClr val="00EDED"/>
                </a:solidFill>
                <a:latin typeface="Montserrat" pitchFamily="34" charset="0"/>
                <a:ea typeface="Montserrat" pitchFamily="34" charset="-122"/>
                <a:cs typeface="Montserrat" pitchFamily="34" charset="-120"/>
              </a:rPr>
              <a:t>BLEND360</a:t>
            </a:r>
            <a:endParaRPr lang="en-US" sz="1200" dirty="0"/>
          </a:p>
        </p:txBody>
      </p:sp>
      <p:sp>
        <p:nvSpPr>
          <p:cNvPr id="3" name="Text 1"/>
          <p:cNvSpPr/>
          <p:nvPr/>
        </p:nvSpPr>
        <p:spPr>
          <a:xfrm>
            <a:off x="4297680" y="502920"/>
            <a:ext cx="7315200" cy="320040"/>
          </a:xfrm>
          <a:prstGeom prst="rect">
            <a:avLst/>
          </a:prstGeom>
          <a:noFill/>
          <a:ln/>
        </p:spPr>
        <p:txBody>
          <a:bodyPr wrap="square" rtlCol="0" anchor="ctr"/>
          <a:lstStyle/>
          <a:p>
            <a:pPr algn="r" indent="0" marL="0">
              <a:buNone/>
            </a:pPr>
            <a:r>
              <a:rPr lang="en-US" sz="1100" dirty="0">
                <a:solidFill>
                  <a:srgbClr val="AFC2D6"/>
                </a:solidFill>
                <a:latin typeface="Montserrat" pitchFamily="34" charset="0"/>
                <a:ea typeface="Montserrat" pitchFamily="34" charset="-122"/>
                <a:cs typeface="Montserrat" pitchFamily="34" charset="-120"/>
              </a:rPr>
              <a:t>Data &amp; Analytics · Snowflake Modernization Demo</a:t>
            </a:r>
            <a:endParaRPr lang="en-US" sz="1100" dirty="0"/>
          </a:p>
        </p:txBody>
      </p:sp>
      <p:sp>
        <p:nvSpPr>
          <p:cNvPr id="4" name="Text 2"/>
          <p:cNvSpPr/>
          <p:nvPr/>
        </p:nvSpPr>
        <p:spPr>
          <a:xfrm>
            <a:off x="640080" y="2103120"/>
            <a:ext cx="10607040" cy="365760"/>
          </a:xfrm>
          <a:prstGeom prst="rect">
            <a:avLst/>
          </a:prstGeom>
          <a:noFill/>
          <a:ln/>
        </p:spPr>
        <p:txBody>
          <a:bodyPr wrap="square" rtlCol="0" anchor="ctr"/>
          <a:lstStyle/>
          <a:p>
            <a:pPr indent="0" marL="0">
              <a:buNone/>
            </a:pPr>
            <a:r>
              <a:rPr lang="en-US" sz="1400" b="1" spc="200" kern="0" dirty="0">
                <a:solidFill>
                  <a:srgbClr val="00EDED"/>
                </a:solidFill>
                <a:latin typeface="Montserrat" pitchFamily="34" charset="0"/>
                <a:ea typeface="Montserrat" pitchFamily="34" charset="-122"/>
                <a:cs typeface="Montserrat" pitchFamily="34" charset="-120"/>
              </a:rPr>
              <a:t>TABLEAU TO STREAMLIT-IN-SNOWFLAKE</a:t>
            </a:r>
            <a:endParaRPr lang="en-US" sz="1400" dirty="0"/>
          </a:p>
        </p:txBody>
      </p:sp>
      <p:sp>
        <p:nvSpPr>
          <p:cNvPr id="5" name="Text 3"/>
          <p:cNvSpPr/>
          <p:nvPr/>
        </p:nvSpPr>
        <p:spPr>
          <a:xfrm>
            <a:off x="640080" y="2514600"/>
            <a:ext cx="9601200" cy="1737360"/>
          </a:xfrm>
          <a:prstGeom prst="rect">
            <a:avLst/>
          </a:prstGeom>
          <a:noFill/>
          <a:ln/>
        </p:spPr>
        <p:txBody>
          <a:bodyPr wrap="square" rtlCol="0" anchor="ctr"/>
          <a:lstStyle/>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Modernizing BI</a:t>
            </a:r>
            <a:endParaRPr lang="en-US" sz="4200" dirty="0"/>
          </a:p>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on Snowflake</a:t>
            </a:r>
            <a:endParaRPr lang="en-US" sz="4200" dirty="0"/>
          </a:p>
        </p:txBody>
      </p:sp>
      <p:sp>
        <p:nvSpPr>
          <p:cNvPr id="6" name="Shape 4"/>
          <p:cNvSpPr/>
          <p:nvPr/>
        </p:nvSpPr>
        <p:spPr>
          <a:xfrm>
            <a:off x="640080" y="4617720"/>
            <a:ext cx="320040" cy="54864"/>
          </a:xfrm>
          <a:prstGeom prst="rect">
            <a:avLst/>
          </a:prstGeom>
          <a:solidFill>
            <a:srgbClr val="00EDED"/>
          </a:solidFill>
          <a:ln/>
        </p:spPr>
      </p:sp>
      <p:sp>
        <p:nvSpPr>
          <p:cNvPr id="7" name="Text 5"/>
          <p:cNvSpPr/>
          <p:nvPr/>
        </p:nvSpPr>
        <p:spPr>
          <a:xfrm>
            <a:off x="6400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SIMPLIFY</a:t>
            </a:r>
            <a:endParaRPr lang="en-US" sz="1400" dirty="0"/>
          </a:p>
        </p:txBody>
      </p:sp>
      <p:sp>
        <p:nvSpPr>
          <p:cNvPr id="8" name="Text 6"/>
          <p:cNvSpPr/>
          <p:nvPr/>
        </p:nvSpPr>
        <p:spPr>
          <a:xfrm>
            <a:off x="6400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Unified BI operating model</a:t>
            </a:r>
            <a:endParaRPr lang="en-US" sz="1100" dirty="0"/>
          </a:p>
        </p:txBody>
      </p:sp>
      <p:sp>
        <p:nvSpPr>
          <p:cNvPr id="9" name="Shape 7"/>
          <p:cNvSpPr/>
          <p:nvPr/>
        </p:nvSpPr>
        <p:spPr>
          <a:xfrm>
            <a:off x="3383280" y="4617720"/>
            <a:ext cx="320040" cy="54864"/>
          </a:xfrm>
          <a:prstGeom prst="rect">
            <a:avLst/>
          </a:prstGeom>
          <a:solidFill>
            <a:srgbClr val="00EDED"/>
          </a:solidFill>
          <a:ln/>
        </p:spPr>
      </p:sp>
      <p:sp>
        <p:nvSpPr>
          <p:cNvPr id="10" name="Text 8"/>
          <p:cNvSpPr/>
          <p:nvPr/>
        </p:nvSpPr>
        <p:spPr>
          <a:xfrm>
            <a:off x="33832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TRUST</a:t>
            </a:r>
            <a:endParaRPr lang="en-US" sz="1400" dirty="0"/>
          </a:p>
        </p:txBody>
      </p:sp>
      <p:sp>
        <p:nvSpPr>
          <p:cNvPr id="11" name="Text 9"/>
          <p:cNvSpPr/>
          <p:nvPr/>
        </p:nvSpPr>
        <p:spPr>
          <a:xfrm>
            <a:off x="33832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Automated migration validation</a:t>
            </a:r>
            <a:endParaRPr lang="en-US" sz="1100" dirty="0"/>
          </a:p>
        </p:txBody>
      </p:sp>
      <p:sp>
        <p:nvSpPr>
          <p:cNvPr id="12" name="Shape 10"/>
          <p:cNvSpPr/>
          <p:nvPr/>
        </p:nvSpPr>
        <p:spPr>
          <a:xfrm>
            <a:off x="6126480" y="4617720"/>
            <a:ext cx="320040" cy="54864"/>
          </a:xfrm>
          <a:prstGeom prst="rect">
            <a:avLst/>
          </a:prstGeom>
          <a:solidFill>
            <a:srgbClr val="00EDED"/>
          </a:solidFill>
          <a:ln/>
        </p:spPr>
      </p:sp>
      <p:sp>
        <p:nvSpPr>
          <p:cNvPr id="13" name="Text 11"/>
          <p:cNvSpPr/>
          <p:nvPr/>
        </p:nvSpPr>
        <p:spPr>
          <a:xfrm>
            <a:off x="61264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EVOLVE</a:t>
            </a:r>
            <a:endParaRPr lang="en-US" sz="1400" dirty="0"/>
          </a:p>
        </p:txBody>
      </p:sp>
      <p:sp>
        <p:nvSpPr>
          <p:cNvPr id="14" name="Text 12"/>
          <p:cNvSpPr/>
          <p:nvPr/>
        </p:nvSpPr>
        <p:spPr>
          <a:xfrm>
            <a:off x="61264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AI-assisted applications</a:t>
            </a:r>
            <a:endParaRPr lang="en-US" sz="1100" dirty="0"/>
          </a:p>
        </p:txBody>
      </p:sp>
      <p:sp>
        <p:nvSpPr>
          <p:cNvPr id="15" name="Text 13"/>
          <p:cNvSpPr/>
          <p:nvPr/>
        </p:nvSpPr>
        <p:spPr>
          <a:xfrm>
            <a:off x="640080" y="5715000"/>
            <a:ext cx="10607040" cy="685800"/>
          </a:xfrm>
          <a:prstGeom prst="rect">
            <a:avLst/>
          </a:prstGeom>
          <a:noFill/>
          <a:ln/>
        </p:spPr>
        <p:txBody>
          <a:bodyPr wrap="square" rtlCol="0" anchor="ctr"/>
          <a:lstStyle/>
          <a:p>
            <a:pPr indent="0" marL="0">
              <a:lnSpc>
                <a:spcPct val="125000"/>
              </a:lnSpc>
              <a:buNone/>
            </a:pPr>
            <a:r>
              <a:rPr lang="en-US" sz="1100" dirty="0">
                <a:solidFill>
                  <a:srgbClr val="AFC2D6"/>
                </a:solidFill>
                <a:latin typeface="Montserrat" pitchFamily="34" charset="0"/>
                <a:ea typeface="Montserrat" pitchFamily="34" charset="-122"/>
                <a:cs typeface="Montserrat" pitchFamily="34" charset="-120"/>
              </a:rPr>
              <a:t>OBJECTIVE  —  Modernize suitable Tableau workloads into governed, AI-ready Streamlit applications in Snowflake while reducing platform duplication and preserving trusted business outcomes.</a:t>
            </a:r>
            <a:endParaRPr lang="en-US" sz="1100" dirty="0"/>
          </a:p>
        </p:txBody>
      </p:sp>
      <p:sp>
        <p:nvSpPr>
          <p:cNvPr id="16" name="Text 14"/>
          <p:cNvSpPr/>
          <p:nvPr/>
        </p:nvSpPr>
        <p:spPr>
          <a:xfrm>
            <a:off x="640080" y="6355080"/>
            <a:ext cx="5486400" cy="274320"/>
          </a:xfrm>
          <a:prstGeom prst="rect">
            <a:avLst/>
          </a:prstGeom>
          <a:noFill/>
          <a:ln/>
        </p:spPr>
        <p:txBody>
          <a:bodyPr wrap="square" rtlCol="0" anchor="ctr"/>
          <a:lstStyle/>
          <a:p>
            <a:pPr indent="0" marL="0">
              <a:buNone/>
            </a:pPr>
            <a:r>
              <a:rPr lang="en-US" sz="950" dirty="0">
                <a:solidFill>
                  <a:srgbClr val="5D7391"/>
                </a:solidFill>
                <a:latin typeface="Montserrat" pitchFamily="34" charset="0"/>
                <a:ea typeface="Montserrat" pitchFamily="34" charset="-122"/>
                <a:cs typeface="Montserrat" pitchFamily="34" charset="-120"/>
              </a:rPr>
              <a:t>Sharath Kumar  |  Snowflake modernization demo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02</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The data platform modernized, but BI still operates separately</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Snowflake is the governed system of record; Tableau remains a second platform, control plane and cost base.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02 / 11</a:t>
            </a:r>
            <a:endParaRPr lang="en-US" sz="900" dirty="0"/>
          </a:p>
        </p:txBody>
      </p:sp>
      <p:sp>
        <p:nvSpPr>
          <p:cNvPr id="7" name="Shape 5"/>
          <p:cNvSpPr/>
          <p:nvPr/>
        </p:nvSpPr>
        <p:spPr>
          <a:xfrm>
            <a:off x="640080" y="1965960"/>
            <a:ext cx="5120640" cy="384048"/>
          </a:xfrm>
          <a:prstGeom prst="roundRect">
            <a:avLst>
              <a:gd name="adj" fmla="val 14286"/>
            </a:avLst>
          </a:prstGeom>
          <a:solidFill>
            <a:srgbClr val="F4F3F0"/>
          </a:solidFill>
          <a:ln/>
        </p:spPr>
      </p:sp>
      <p:sp>
        <p:nvSpPr>
          <p:cNvPr id="8" name="Text 6"/>
          <p:cNvSpPr/>
          <p:nvPr/>
        </p:nvSpPr>
        <p:spPr>
          <a:xfrm>
            <a:off x="640080" y="1965960"/>
            <a:ext cx="5120640" cy="384048"/>
          </a:xfrm>
          <a:prstGeom prst="rect">
            <a:avLst/>
          </a:prstGeom>
          <a:noFill/>
          <a:ln/>
        </p:spPr>
        <p:txBody>
          <a:bodyPr wrap="square" rtlCol="0" anchor="ctr"/>
          <a:lstStyle/>
          <a:p>
            <a:pPr algn="ctr" indent="0" marL="0">
              <a:buNone/>
            </a:pPr>
            <a:r>
              <a:rPr lang="en-US" sz="1100" b="1" spc="150" kern="0" dirty="0">
                <a:solidFill>
                  <a:srgbClr val="053057"/>
                </a:solidFill>
                <a:latin typeface="Montserrat" pitchFamily="34" charset="0"/>
                <a:ea typeface="Montserrat" pitchFamily="34" charset="-122"/>
                <a:cs typeface="Montserrat" pitchFamily="34" charset="-120"/>
              </a:rPr>
              <a:t>CURRENT OPERATING MODEL</a:t>
            </a:r>
            <a:endParaRPr lang="en-US" sz="1100" dirty="0"/>
          </a:p>
        </p:txBody>
      </p:sp>
      <p:sp>
        <p:nvSpPr>
          <p:cNvPr id="9" name="Shape 7"/>
          <p:cNvSpPr/>
          <p:nvPr/>
        </p:nvSpPr>
        <p:spPr>
          <a:xfrm>
            <a:off x="822960" y="2331720"/>
            <a:ext cx="1828800" cy="1234440"/>
          </a:xfrm>
          <a:prstGeom prst="roundRect">
            <a:avLst>
              <a:gd name="adj" fmla="val 5926"/>
            </a:avLst>
          </a:prstGeom>
          <a:solidFill>
            <a:srgbClr val="053057"/>
          </a:solidFill>
          <a:ln/>
        </p:spPr>
      </p:sp>
      <p:sp>
        <p:nvSpPr>
          <p:cNvPr id="10" name="Text 8"/>
          <p:cNvSpPr/>
          <p:nvPr/>
        </p:nvSpPr>
        <p:spPr>
          <a:xfrm>
            <a:off x="82296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Snowflake</a:t>
            </a:r>
            <a:endParaRPr lang="en-US" sz="1400" dirty="0"/>
          </a:p>
        </p:txBody>
      </p:sp>
      <p:sp>
        <p:nvSpPr>
          <p:cNvPr id="11" name="Text 9"/>
          <p:cNvSpPr/>
          <p:nvPr/>
        </p:nvSpPr>
        <p:spPr>
          <a:xfrm>
            <a:off x="82296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Data + governance</a:t>
            </a:r>
            <a:endParaRPr lang="en-US" sz="950" dirty="0"/>
          </a:p>
        </p:txBody>
      </p:sp>
      <p:sp>
        <p:nvSpPr>
          <p:cNvPr id="12" name="Text 10"/>
          <p:cNvSpPr/>
          <p:nvPr/>
        </p:nvSpPr>
        <p:spPr>
          <a:xfrm>
            <a:off x="2697480" y="2720340"/>
            <a:ext cx="457200" cy="457200"/>
          </a:xfrm>
          <a:prstGeom prst="rect">
            <a:avLst/>
          </a:prstGeom>
          <a:noFill/>
          <a:ln/>
        </p:spPr>
        <p:txBody>
          <a:bodyPr wrap="square" rtlCol="0" anchor="ctr"/>
          <a:lstStyle/>
          <a:p>
            <a:pPr algn="ctr" indent="0" marL="0">
              <a:buNone/>
            </a:pPr>
            <a:r>
              <a:rPr lang="en-US" sz="2200" b="1" dirty="0">
                <a:solidFill>
                  <a:srgbClr val="5B6B7A"/>
                </a:solidFill>
                <a:latin typeface="Montserrat" pitchFamily="34" charset="0"/>
                <a:ea typeface="Montserrat" pitchFamily="34" charset="-122"/>
                <a:cs typeface="Montserrat" pitchFamily="34" charset="-120"/>
              </a:rPr>
              <a:t>+</a:t>
            </a:r>
            <a:endParaRPr lang="en-US" sz="2200" dirty="0"/>
          </a:p>
        </p:txBody>
      </p:sp>
      <p:sp>
        <p:nvSpPr>
          <p:cNvPr id="13" name="Shape 11"/>
          <p:cNvSpPr/>
          <p:nvPr/>
        </p:nvSpPr>
        <p:spPr>
          <a:xfrm>
            <a:off x="3200400" y="2331720"/>
            <a:ext cx="1828800" cy="1234440"/>
          </a:xfrm>
          <a:prstGeom prst="roundRect">
            <a:avLst>
              <a:gd name="adj" fmla="val 5926"/>
            </a:avLst>
          </a:prstGeom>
          <a:solidFill>
            <a:srgbClr val="314550"/>
          </a:solidFill>
          <a:ln/>
        </p:spPr>
      </p:sp>
      <p:sp>
        <p:nvSpPr>
          <p:cNvPr id="14" name="Text 12"/>
          <p:cNvSpPr/>
          <p:nvPr/>
        </p:nvSpPr>
        <p:spPr>
          <a:xfrm>
            <a:off x="320040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Tableau</a:t>
            </a:r>
            <a:endParaRPr lang="en-US" sz="1400" dirty="0"/>
          </a:p>
        </p:txBody>
      </p:sp>
      <p:sp>
        <p:nvSpPr>
          <p:cNvPr id="15" name="Text 13"/>
          <p:cNvSpPr/>
          <p:nvPr/>
        </p:nvSpPr>
        <p:spPr>
          <a:xfrm>
            <a:off x="320040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BI consumption</a:t>
            </a:r>
            <a:endParaRPr lang="en-US" sz="950" dirty="0"/>
          </a:p>
        </p:txBody>
      </p:sp>
      <p:sp>
        <p:nvSpPr>
          <p:cNvPr id="16" name="Text 14"/>
          <p:cNvSpPr/>
          <p:nvPr/>
        </p:nvSpPr>
        <p:spPr>
          <a:xfrm>
            <a:off x="640080" y="3840480"/>
            <a:ext cx="5120640" cy="731520"/>
          </a:xfrm>
          <a:prstGeom prst="rect">
            <a:avLst/>
          </a:prstGeom>
          <a:noFill/>
          <a:ln/>
        </p:spPr>
        <p:txBody>
          <a:bodyPr wrap="square" rtlCol="0" anchor="ctr"/>
          <a:lstStyle/>
          <a:p>
            <a:pPr indent="0" marL="0">
              <a:lnSpc>
                <a:spcPct val="125000"/>
              </a:lnSpc>
              <a:buNone/>
            </a:pPr>
            <a:r>
              <a:rPr lang="en-US" sz="1150" i="1" dirty="0">
                <a:solidFill>
                  <a:srgbClr val="5B6B7A"/>
                </a:solidFill>
                <a:latin typeface="Montserrat" pitchFamily="34" charset="0"/>
                <a:ea typeface="Montserrat" pitchFamily="34" charset="-122"/>
                <a:cs typeface="Montserrat" pitchFamily="34" charset="-120"/>
              </a:rPr>
              <a:t>Two platforms to license, secure, administer, monitor and release.</a:t>
            </a:r>
            <a:endParaRPr lang="en-US" sz="1150" dirty="0"/>
          </a:p>
        </p:txBody>
      </p:sp>
      <p:sp>
        <p:nvSpPr>
          <p:cNvPr id="17" name="Shape 15"/>
          <p:cNvSpPr/>
          <p:nvPr/>
        </p:nvSpPr>
        <p:spPr>
          <a:xfrm>
            <a:off x="640080" y="5257800"/>
            <a:ext cx="5120640" cy="914400"/>
          </a:xfrm>
          <a:prstGeom prst="roundRect">
            <a:avLst>
              <a:gd name="adj" fmla="val 8000"/>
            </a:avLst>
          </a:prstGeom>
          <a:solidFill>
            <a:srgbClr val="F4F3F0"/>
          </a:solidFill>
          <a:ln/>
        </p:spPr>
      </p:sp>
      <p:sp>
        <p:nvSpPr>
          <p:cNvPr id="18" name="Text 16"/>
          <p:cNvSpPr/>
          <p:nvPr/>
        </p:nvSpPr>
        <p:spPr>
          <a:xfrm>
            <a:off x="868680" y="5257800"/>
            <a:ext cx="4663440" cy="914400"/>
          </a:xfrm>
          <a:prstGeom prst="rect">
            <a:avLst/>
          </a:prstGeom>
          <a:noFill/>
          <a:ln/>
        </p:spPr>
        <p:txBody>
          <a:bodyPr wrap="square" rtlCol="0" anchor="ctr"/>
          <a:lstStyle/>
          <a:p>
            <a:pPr indent="0" marL="0">
              <a:lnSpc>
                <a:spcPct val="120000"/>
              </a:lnSpc>
              <a:buNone/>
            </a:pPr>
            <a:r>
              <a:rPr lang="en-US" sz="1200" b="1" dirty="0">
                <a:solidFill>
                  <a:srgbClr val="053057"/>
                </a:solidFill>
                <a:latin typeface="Montserrat" pitchFamily="34" charset="0"/>
                <a:ea typeface="Montserrat" pitchFamily="34" charset="-122"/>
                <a:cs typeface="Montserrat" pitchFamily="34" charset="-120"/>
              </a:rPr>
              <a:t>This is the situation the modernization program is designed to change.</a:t>
            </a:r>
            <a:endParaRPr lang="en-US" sz="1200" dirty="0"/>
          </a:p>
        </p:txBody>
      </p:sp>
      <p:sp>
        <p:nvSpPr>
          <p:cNvPr id="19" name="Text 17"/>
          <p:cNvSpPr/>
          <p:nvPr/>
        </p:nvSpPr>
        <p:spPr>
          <a:xfrm>
            <a:off x="6263640" y="1965960"/>
            <a:ext cx="5303520" cy="292608"/>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THE RESULT</a:t>
            </a:r>
            <a:endParaRPr lang="en-US" sz="1100" dirty="0"/>
          </a:p>
        </p:txBody>
      </p:sp>
      <p:sp>
        <p:nvSpPr>
          <p:cNvPr id="20" name="Shape 18"/>
          <p:cNvSpPr/>
          <p:nvPr/>
        </p:nvSpPr>
        <p:spPr>
          <a:xfrm>
            <a:off x="6263640" y="2377440"/>
            <a:ext cx="475488" cy="475488"/>
          </a:xfrm>
          <a:prstGeom prst="ellipse">
            <a:avLst/>
          </a:prstGeom>
          <a:solidFill>
            <a:srgbClr val="053057"/>
          </a:solidFill>
          <a:ln/>
        </p:spPr>
      </p:sp>
      <p:sp>
        <p:nvSpPr>
          <p:cNvPr id="21" name="Text 19"/>
          <p:cNvSpPr/>
          <p:nvPr/>
        </p:nvSpPr>
        <p:spPr>
          <a:xfrm>
            <a:off x="6263640" y="235915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6903720" y="235000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Separate cost</a:t>
            </a:r>
            <a:endParaRPr lang="en-US" sz="1250" dirty="0"/>
          </a:p>
        </p:txBody>
      </p:sp>
      <p:sp>
        <p:nvSpPr>
          <p:cNvPr id="23" name="Text 21"/>
          <p:cNvSpPr/>
          <p:nvPr/>
        </p:nvSpPr>
        <p:spPr>
          <a:xfrm>
            <a:off x="6903720" y="262432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Tableau licenses, infrastructure or cloud subscription</a:t>
            </a:r>
            <a:endParaRPr lang="en-US" sz="950" dirty="0"/>
          </a:p>
        </p:txBody>
      </p:sp>
      <p:sp>
        <p:nvSpPr>
          <p:cNvPr id="24" name="Shape 22"/>
          <p:cNvSpPr/>
          <p:nvPr/>
        </p:nvSpPr>
        <p:spPr>
          <a:xfrm>
            <a:off x="6263640" y="3154680"/>
            <a:ext cx="475488" cy="475488"/>
          </a:xfrm>
          <a:prstGeom prst="ellipse">
            <a:avLst/>
          </a:prstGeom>
          <a:solidFill>
            <a:srgbClr val="053057"/>
          </a:solidFill>
          <a:ln/>
        </p:spPr>
      </p:sp>
      <p:sp>
        <p:nvSpPr>
          <p:cNvPr id="25" name="Text 23"/>
          <p:cNvSpPr/>
          <p:nvPr/>
        </p:nvSpPr>
        <p:spPr>
          <a:xfrm>
            <a:off x="6263640" y="313639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6" name="Text 24"/>
          <p:cNvSpPr/>
          <p:nvPr/>
        </p:nvSpPr>
        <p:spPr>
          <a:xfrm>
            <a:off x="6903720" y="312724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Duplicated operations</a:t>
            </a:r>
            <a:endParaRPr lang="en-US" sz="1250" dirty="0"/>
          </a:p>
        </p:txBody>
      </p:sp>
      <p:sp>
        <p:nvSpPr>
          <p:cNvPr id="27" name="Text 25"/>
          <p:cNvSpPr/>
          <p:nvPr/>
        </p:nvSpPr>
        <p:spPr>
          <a:xfrm>
            <a:off x="6903720" y="340156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Administration, access, monitoring and deployment</a:t>
            </a:r>
            <a:endParaRPr lang="en-US" sz="950" dirty="0"/>
          </a:p>
        </p:txBody>
      </p:sp>
      <p:sp>
        <p:nvSpPr>
          <p:cNvPr id="28" name="Shape 26"/>
          <p:cNvSpPr/>
          <p:nvPr/>
        </p:nvSpPr>
        <p:spPr>
          <a:xfrm>
            <a:off x="6263640" y="3931920"/>
            <a:ext cx="475488" cy="475488"/>
          </a:xfrm>
          <a:prstGeom prst="ellipse">
            <a:avLst/>
          </a:prstGeom>
          <a:solidFill>
            <a:srgbClr val="053057"/>
          </a:solidFill>
          <a:ln/>
        </p:spPr>
      </p:sp>
      <p:sp>
        <p:nvSpPr>
          <p:cNvPr id="29" name="Text 27"/>
          <p:cNvSpPr/>
          <p:nvPr/>
        </p:nvSpPr>
        <p:spPr>
          <a:xfrm>
            <a:off x="6263640" y="391363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0" name="Text 28"/>
          <p:cNvSpPr/>
          <p:nvPr/>
        </p:nvSpPr>
        <p:spPr>
          <a:xfrm>
            <a:off x="6903720" y="390448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Data movement</a:t>
            </a:r>
            <a:endParaRPr lang="en-US" sz="1250" dirty="0"/>
          </a:p>
        </p:txBody>
      </p:sp>
      <p:sp>
        <p:nvSpPr>
          <p:cNvPr id="31" name="Text 29"/>
          <p:cNvSpPr/>
          <p:nvPr/>
        </p:nvSpPr>
        <p:spPr>
          <a:xfrm>
            <a:off x="6903720" y="417880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Extract creation, refresh schedules and failure handling</a:t>
            </a:r>
            <a:endParaRPr lang="en-US" sz="950" dirty="0"/>
          </a:p>
        </p:txBody>
      </p:sp>
      <p:sp>
        <p:nvSpPr>
          <p:cNvPr id="32" name="Shape 30"/>
          <p:cNvSpPr/>
          <p:nvPr/>
        </p:nvSpPr>
        <p:spPr>
          <a:xfrm>
            <a:off x="6263640" y="4709160"/>
            <a:ext cx="475488" cy="475488"/>
          </a:xfrm>
          <a:prstGeom prst="ellipse">
            <a:avLst/>
          </a:prstGeom>
          <a:solidFill>
            <a:srgbClr val="053057"/>
          </a:solidFill>
          <a:ln/>
        </p:spPr>
      </p:sp>
      <p:sp>
        <p:nvSpPr>
          <p:cNvPr id="33" name="Text 31"/>
          <p:cNvSpPr/>
          <p:nvPr/>
        </p:nvSpPr>
        <p:spPr>
          <a:xfrm>
            <a:off x="6263640" y="469087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6903720" y="468172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Logic duplication</a:t>
            </a:r>
            <a:endParaRPr lang="en-US" sz="1250" dirty="0"/>
          </a:p>
        </p:txBody>
      </p:sp>
      <p:sp>
        <p:nvSpPr>
          <p:cNvPr id="35" name="Text 33"/>
          <p:cNvSpPr/>
          <p:nvPr/>
        </p:nvSpPr>
        <p:spPr>
          <a:xfrm>
            <a:off x="6903720" y="495604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Business calculations repeated across ELT and dashboards</a:t>
            </a:r>
            <a:endParaRPr lang="en-US" sz="950" dirty="0"/>
          </a:p>
        </p:txBody>
      </p:sp>
      <p:sp>
        <p:nvSpPr>
          <p:cNvPr id="36" name="Shape 34"/>
          <p:cNvSpPr/>
          <p:nvPr/>
        </p:nvSpPr>
        <p:spPr>
          <a:xfrm>
            <a:off x="6263640" y="5486400"/>
            <a:ext cx="475488" cy="475488"/>
          </a:xfrm>
          <a:prstGeom prst="ellipse">
            <a:avLst/>
          </a:prstGeom>
          <a:solidFill>
            <a:srgbClr val="053057"/>
          </a:solidFill>
          <a:ln/>
        </p:spPr>
      </p:sp>
      <p:sp>
        <p:nvSpPr>
          <p:cNvPr id="37" name="Text 35"/>
          <p:cNvSpPr/>
          <p:nvPr/>
        </p:nvSpPr>
        <p:spPr>
          <a:xfrm>
            <a:off x="6263640" y="546811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8" name="Text 36"/>
          <p:cNvSpPr/>
          <p:nvPr/>
        </p:nvSpPr>
        <p:spPr>
          <a:xfrm>
            <a:off x="6903720" y="545896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Limited extensibility</a:t>
            </a:r>
            <a:endParaRPr lang="en-US" sz="1250" dirty="0"/>
          </a:p>
        </p:txBody>
      </p:sp>
      <p:sp>
        <p:nvSpPr>
          <p:cNvPr id="39" name="Text 37"/>
          <p:cNvSpPr/>
          <p:nvPr/>
        </p:nvSpPr>
        <p:spPr>
          <a:xfrm>
            <a:off x="6903720" y="573328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Additional applications needed beyond dashboard interaction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03</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Modernization creates value beyond visualization</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opportunity is larger than replacing a visualization tool.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03 / 11</a:t>
            </a:r>
            <a:endParaRPr lang="en-US" sz="900" dirty="0"/>
          </a:p>
        </p:txBody>
      </p:sp>
      <p:sp>
        <p:nvSpPr>
          <p:cNvPr id="7" name="Shape 5"/>
          <p:cNvSpPr/>
          <p:nvPr/>
        </p:nvSpPr>
        <p:spPr>
          <a:xfrm>
            <a:off x="502920" y="2148840"/>
            <a:ext cx="2542032" cy="3246120"/>
          </a:xfrm>
          <a:prstGeom prst="roundRect">
            <a:avLst>
              <a:gd name="adj" fmla="val 2518"/>
            </a:avLst>
          </a:prstGeom>
          <a:solidFill>
            <a:srgbClr val="F4F3F0"/>
          </a:solidFill>
          <a:ln/>
        </p:spPr>
      </p:sp>
      <p:sp>
        <p:nvSpPr>
          <p:cNvPr id="8" name="Shape 6"/>
          <p:cNvSpPr/>
          <p:nvPr/>
        </p:nvSpPr>
        <p:spPr>
          <a:xfrm>
            <a:off x="758952" y="2441448"/>
            <a:ext cx="566928" cy="566928"/>
          </a:xfrm>
          <a:prstGeom prst="ellipse">
            <a:avLst/>
          </a:prstGeom>
          <a:solidFill>
            <a:srgbClr val="053057"/>
          </a:solidFill>
          <a:ln/>
        </p:spPr>
      </p:sp>
      <p:sp>
        <p:nvSpPr>
          <p:cNvPr id="9" name="Text 7"/>
          <p:cNvSpPr/>
          <p:nvPr/>
        </p:nvSpPr>
        <p:spPr>
          <a:xfrm>
            <a:off x="7589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0" name="Text 8"/>
          <p:cNvSpPr/>
          <p:nvPr/>
        </p:nvSpPr>
        <p:spPr>
          <a:xfrm>
            <a:off x="7589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Platform economics</a:t>
            </a:r>
            <a:endParaRPr lang="en-US" sz="1400" dirty="0"/>
          </a:p>
        </p:txBody>
      </p:sp>
      <p:sp>
        <p:nvSpPr>
          <p:cNvPr id="11" name="Text 9"/>
          <p:cNvSpPr/>
          <p:nvPr/>
        </p:nvSpPr>
        <p:spPr>
          <a:xfrm>
            <a:off x="7589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LOWER DUPLICATE COST</a:t>
            </a:r>
            <a:endParaRPr lang="en-US" sz="1000" dirty="0"/>
          </a:p>
        </p:txBody>
      </p:sp>
      <p:sp>
        <p:nvSpPr>
          <p:cNvPr id="12" name="Text 10"/>
          <p:cNvSpPr/>
          <p:nvPr/>
        </p:nvSpPr>
        <p:spPr>
          <a:xfrm>
            <a:off x="7589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Potentially reduce Tableau licenses and duplicated platform support for migrated users.</a:t>
            </a:r>
            <a:endParaRPr lang="en-US" sz="1000" dirty="0"/>
          </a:p>
        </p:txBody>
      </p:sp>
      <p:sp>
        <p:nvSpPr>
          <p:cNvPr id="13" name="Shape 11"/>
          <p:cNvSpPr/>
          <p:nvPr/>
        </p:nvSpPr>
        <p:spPr>
          <a:xfrm>
            <a:off x="3246120" y="2148840"/>
            <a:ext cx="2542032" cy="3246120"/>
          </a:xfrm>
          <a:prstGeom prst="roundRect">
            <a:avLst>
              <a:gd name="adj" fmla="val 2518"/>
            </a:avLst>
          </a:prstGeom>
          <a:solidFill>
            <a:srgbClr val="F4F3F0"/>
          </a:solidFill>
          <a:ln/>
        </p:spPr>
      </p:sp>
      <p:sp>
        <p:nvSpPr>
          <p:cNvPr id="14" name="Shape 12"/>
          <p:cNvSpPr/>
          <p:nvPr/>
        </p:nvSpPr>
        <p:spPr>
          <a:xfrm>
            <a:off x="3502152" y="2441448"/>
            <a:ext cx="566928" cy="566928"/>
          </a:xfrm>
          <a:prstGeom prst="ellipse">
            <a:avLst/>
          </a:prstGeom>
          <a:solidFill>
            <a:srgbClr val="053057"/>
          </a:solidFill>
          <a:ln/>
        </p:spPr>
      </p:sp>
      <p:sp>
        <p:nvSpPr>
          <p:cNvPr id="15" name="Text 13"/>
          <p:cNvSpPr/>
          <p:nvPr/>
        </p:nvSpPr>
        <p:spPr>
          <a:xfrm>
            <a:off x="35021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5021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Delivery speed</a:t>
            </a:r>
            <a:endParaRPr lang="en-US" sz="1400" dirty="0"/>
          </a:p>
        </p:txBody>
      </p:sp>
      <p:sp>
        <p:nvSpPr>
          <p:cNvPr id="17" name="Text 15"/>
          <p:cNvSpPr/>
          <p:nvPr/>
        </p:nvSpPr>
        <p:spPr>
          <a:xfrm>
            <a:off x="35021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SHORTER CHANGE CYCLES</a:t>
            </a:r>
            <a:endParaRPr lang="en-US" sz="1000" dirty="0"/>
          </a:p>
        </p:txBody>
      </p:sp>
      <p:sp>
        <p:nvSpPr>
          <p:cNvPr id="18" name="Text 16"/>
          <p:cNvSpPr/>
          <p:nvPr/>
        </p:nvSpPr>
        <p:spPr>
          <a:xfrm>
            <a:off x="35021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Build on governed Snowflake data using reusable Python and Streamlit components.</a:t>
            </a:r>
            <a:endParaRPr lang="en-US" sz="1000" dirty="0"/>
          </a:p>
        </p:txBody>
      </p:sp>
      <p:sp>
        <p:nvSpPr>
          <p:cNvPr id="19" name="Shape 17"/>
          <p:cNvSpPr/>
          <p:nvPr/>
        </p:nvSpPr>
        <p:spPr>
          <a:xfrm>
            <a:off x="5989320" y="2148840"/>
            <a:ext cx="2542032" cy="3246120"/>
          </a:xfrm>
          <a:prstGeom prst="roundRect">
            <a:avLst>
              <a:gd name="adj" fmla="val 2518"/>
            </a:avLst>
          </a:prstGeom>
          <a:solidFill>
            <a:srgbClr val="F4F3F0"/>
          </a:solidFill>
          <a:ln/>
        </p:spPr>
      </p:sp>
      <p:sp>
        <p:nvSpPr>
          <p:cNvPr id="20" name="Shape 18"/>
          <p:cNvSpPr/>
          <p:nvPr/>
        </p:nvSpPr>
        <p:spPr>
          <a:xfrm>
            <a:off x="6245352" y="2441448"/>
            <a:ext cx="566928" cy="566928"/>
          </a:xfrm>
          <a:prstGeom prst="ellipse">
            <a:avLst/>
          </a:prstGeom>
          <a:solidFill>
            <a:srgbClr val="053057"/>
          </a:solidFill>
          <a:ln/>
        </p:spPr>
      </p:sp>
      <p:sp>
        <p:nvSpPr>
          <p:cNvPr id="21" name="Text 19"/>
          <p:cNvSpPr/>
          <p:nvPr/>
        </p:nvSpPr>
        <p:spPr>
          <a:xfrm>
            <a:off x="62453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Text 20"/>
          <p:cNvSpPr/>
          <p:nvPr/>
        </p:nvSpPr>
        <p:spPr>
          <a:xfrm>
            <a:off x="62453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Governance</a:t>
            </a:r>
            <a:endParaRPr lang="en-US" sz="1400" dirty="0"/>
          </a:p>
        </p:txBody>
      </p:sp>
      <p:sp>
        <p:nvSpPr>
          <p:cNvPr id="23" name="Text 21"/>
          <p:cNvSpPr/>
          <p:nvPr/>
        </p:nvSpPr>
        <p:spPr>
          <a:xfrm>
            <a:off x="62453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FEWER CONTROL GAPS</a:t>
            </a:r>
            <a:endParaRPr lang="en-US" sz="1000" dirty="0"/>
          </a:p>
        </p:txBody>
      </p:sp>
      <p:sp>
        <p:nvSpPr>
          <p:cNvPr id="24" name="Text 22"/>
          <p:cNvSpPr/>
          <p:nvPr/>
        </p:nvSpPr>
        <p:spPr>
          <a:xfrm>
            <a:off x="62453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Reuse Snowflake RBAC, masking policies, semantic assets and controlled deployment.</a:t>
            </a:r>
            <a:endParaRPr lang="en-US" sz="1000" dirty="0"/>
          </a:p>
        </p:txBody>
      </p:sp>
      <p:sp>
        <p:nvSpPr>
          <p:cNvPr id="25" name="Shape 23"/>
          <p:cNvSpPr/>
          <p:nvPr/>
        </p:nvSpPr>
        <p:spPr>
          <a:xfrm>
            <a:off x="8732520" y="2148840"/>
            <a:ext cx="2542032" cy="3246120"/>
          </a:xfrm>
          <a:prstGeom prst="roundRect">
            <a:avLst>
              <a:gd name="adj" fmla="val 2518"/>
            </a:avLst>
          </a:prstGeom>
          <a:solidFill>
            <a:srgbClr val="F4F3F0"/>
          </a:solidFill>
          <a:ln/>
        </p:spPr>
      </p:sp>
      <p:sp>
        <p:nvSpPr>
          <p:cNvPr id="26" name="Shape 24"/>
          <p:cNvSpPr/>
          <p:nvPr/>
        </p:nvSpPr>
        <p:spPr>
          <a:xfrm>
            <a:off x="8988552" y="2441448"/>
            <a:ext cx="566928" cy="566928"/>
          </a:xfrm>
          <a:prstGeom prst="ellipse">
            <a:avLst/>
          </a:prstGeom>
          <a:solidFill>
            <a:srgbClr val="053057"/>
          </a:solidFill>
          <a:ln/>
        </p:spPr>
      </p:sp>
      <p:sp>
        <p:nvSpPr>
          <p:cNvPr id="27" name="Text 25"/>
          <p:cNvSpPr/>
          <p:nvPr/>
        </p:nvSpPr>
        <p:spPr>
          <a:xfrm>
            <a:off x="89885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8" name="Text 26"/>
          <p:cNvSpPr/>
          <p:nvPr/>
        </p:nvSpPr>
        <p:spPr>
          <a:xfrm>
            <a:off x="89885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AI-ready experiences</a:t>
            </a:r>
            <a:endParaRPr lang="en-US" sz="1400" dirty="0"/>
          </a:p>
        </p:txBody>
      </p:sp>
      <p:sp>
        <p:nvSpPr>
          <p:cNvPr id="29" name="Text 27"/>
          <p:cNvSpPr/>
          <p:nvPr/>
        </p:nvSpPr>
        <p:spPr>
          <a:xfrm>
            <a:off x="89885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NEW CLIENT EXPERIENCES</a:t>
            </a:r>
            <a:endParaRPr lang="en-US" sz="1000" dirty="0"/>
          </a:p>
        </p:txBody>
      </p:sp>
      <p:sp>
        <p:nvSpPr>
          <p:cNvPr id="30" name="Text 28"/>
          <p:cNvSpPr/>
          <p:nvPr/>
        </p:nvSpPr>
        <p:spPr>
          <a:xfrm>
            <a:off x="89885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Extend migrated apps with CoCo and add natural-language analytics through Cortex Analyst.</a:t>
            </a:r>
            <a:endParaRPr lang="en-US" sz="1000" dirty="0"/>
          </a:p>
        </p:txBody>
      </p:sp>
      <p:sp>
        <p:nvSpPr>
          <p:cNvPr id="31" name="Shape 29"/>
          <p:cNvSpPr/>
          <p:nvPr/>
        </p:nvSpPr>
        <p:spPr>
          <a:xfrm>
            <a:off x="502920" y="5623560"/>
            <a:ext cx="11201400" cy="685800"/>
          </a:xfrm>
          <a:prstGeom prst="roundRect">
            <a:avLst>
              <a:gd name="adj" fmla="val 10667"/>
            </a:avLst>
          </a:prstGeom>
          <a:solidFill>
            <a:srgbClr val="053057"/>
          </a:solidFill>
          <a:ln/>
        </p:spPr>
      </p:sp>
      <p:sp>
        <p:nvSpPr>
          <p:cNvPr id="32" name="Text 30"/>
          <p:cNvSpPr/>
          <p:nvPr/>
        </p:nvSpPr>
        <p:spPr>
          <a:xfrm>
            <a:off x="777240" y="5623560"/>
            <a:ext cx="10698480" cy="685800"/>
          </a:xfrm>
          <a:prstGeom prst="rect">
            <a:avLst/>
          </a:prstGeom>
          <a:noFill/>
          <a:ln/>
        </p:spPr>
        <p:txBody>
          <a:bodyPr wrap="square"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Measure the business case  —  baseline licenses, platform support, extract operations and dashboard change lead time before the pilot.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AI-ASSISTED BI LIFECYCLE · 04</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The migrated application becomes an AI-assisted product, not a static replica</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Natural-language enhancement changes the economics of maintaining and extending BI applications.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04 / 11</a:t>
            </a:r>
            <a:endParaRPr lang="en-US" sz="900" dirty="0"/>
          </a:p>
        </p:txBody>
      </p:sp>
      <p:sp>
        <p:nvSpPr>
          <p:cNvPr id="7" name="Shape 5"/>
          <p:cNvSpPr/>
          <p:nvPr/>
        </p:nvSpPr>
        <p:spPr>
          <a:xfrm>
            <a:off x="9692640" y="365760"/>
            <a:ext cx="1965960" cy="292608"/>
          </a:xfrm>
          <a:prstGeom prst="roundRect">
            <a:avLst>
              <a:gd name="adj" fmla="val 50000"/>
            </a:avLst>
          </a:prstGeom>
          <a:solidFill>
            <a:srgbClr val="314550"/>
          </a:solidFill>
          <a:ln w="9525">
            <a:solidFill>
              <a:srgbClr val="00EDED"/>
            </a:solidFill>
            <a:prstDash val="solid"/>
          </a:ln>
        </p:spPr>
      </p:sp>
      <p:sp>
        <p:nvSpPr>
          <p:cNvPr id="8" name="Text 6"/>
          <p:cNvSpPr/>
          <p:nvPr/>
        </p:nvSpPr>
        <p:spPr>
          <a:xfrm>
            <a:off x="9692640" y="365760"/>
            <a:ext cx="1965960" cy="292608"/>
          </a:xfrm>
          <a:prstGeom prst="rect">
            <a:avLst/>
          </a:prstGeom>
          <a:noFill/>
          <a:ln/>
        </p:spPr>
        <p:txBody>
          <a:bodyPr wrap="square" rtlCol="0" anchor="ctr"/>
          <a:lstStyle/>
          <a:p>
            <a:pPr algn="ctr" indent="0" marL="0">
              <a:buNone/>
            </a:pPr>
            <a:r>
              <a:rPr lang="en-US" sz="750" b="1" spc="50" kern="0" dirty="0">
                <a:solidFill>
                  <a:srgbClr val="00EDED"/>
                </a:solidFill>
                <a:latin typeface="Montserrat" pitchFamily="34" charset="0"/>
                <a:ea typeface="Montserrat" pitchFamily="34" charset="-122"/>
                <a:cs typeface="Montserrat" pitchFamily="34" charset="-120"/>
              </a:rPr>
              <a:t>VISION · SNOWFLAKE COCO</a:t>
            </a:r>
            <a:endParaRPr lang="en-US" sz="750" dirty="0"/>
          </a:p>
        </p:txBody>
      </p:sp>
      <p:sp>
        <p:nvSpPr>
          <p:cNvPr id="9" name="Shape 7"/>
          <p:cNvSpPr/>
          <p:nvPr/>
        </p:nvSpPr>
        <p:spPr>
          <a:xfrm>
            <a:off x="1197864" y="2569464"/>
            <a:ext cx="8851392" cy="0"/>
          </a:xfrm>
          <a:prstGeom prst="line">
            <a:avLst/>
          </a:prstGeom>
          <a:noFill/>
          <a:ln w="19050">
            <a:solidFill>
              <a:srgbClr val="2C4D71"/>
            </a:solidFill>
            <a:prstDash val="solid"/>
          </a:ln>
        </p:spPr>
      </p:sp>
      <p:sp>
        <p:nvSpPr>
          <p:cNvPr id="10" name="Shape 8"/>
          <p:cNvSpPr/>
          <p:nvPr/>
        </p:nvSpPr>
        <p:spPr>
          <a:xfrm>
            <a:off x="914400" y="2286000"/>
            <a:ext cx="566928" cy="566928"/>
          </a:xfrm>
          <a:prstGeom prst="ellipse">
            <a:avLst/>
          </a:prstGeom>
          <a:solidFill>
            <a:srgbClr val="1A3A5C"/>
          </a:solidFill>
          <a:ln/>
        </p:spPr>
      </p:sp>
      <p:sp>
        <p:nvSpPr>
          <p:cNvPr id="11" name="Text 9"/>
          <p:cNvSpPr/>
          <p:nvPr/>
        </p:nvSpPr>
        <p:spPr>
          <a:xfrm>
            <a:off x="91440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2" name="Text 10"/>
          <p:cNvSpPr/>
          <p:nvPr/>
        </p:nvSpPr>
        <p:spPr>
          <a:xfrm>
            <a:off x="41148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Migrate</a:t>
            </a:r>
            <a:endParaRPr lang="en-US" sz="1200" dirty="0"/>
          </a:p>
        </p:txBody>
      </p:sp>
      <p:sp>
        <p:nvSpPr>
          <p:cNvPr id="13" name="Text 11"/>
          <p:cNvSpPr/>
          <p:nvPr/>
        </p:nvSpPr>
        <p:spPr>
          <a:xfrm>
            <a:off x="41148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Tableau to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Streamlit</a:t>
            </a:r>
            <a:endParaRPr lang="en-US" sz="850" dirty="0"/>
          </a:p>
        </p:txBody>
      </p:sp>
      <p:sp>
        <p:nvSpPr>
          <p:cNvPr id="14" name="Shape 12"/>
          <p:cNvSpPr/>
          <p:nvPr/>
        </p:nvSpPr>
        <p:spPr>
          <a:xfrm>
            <a:off x="3268980" y="2286000"/>
            <a:ext cx="566928" cy="566928"/>
          </a:xfrm>
          <a:prstGeom prst="ellipse">
            <a:avLst/>
          </a:prstGeom>
          <a:solidFill>
            <a:srgbClr val="1A3A5C"/>
          </a:solidFill>
          <a:ln/>
        </p:spPr>
      </p:sp>
      <p:sp>
        <p:nvSpPr>
          <p:cNvPr id="15" name="Text 13"/>
          <p:cNvSpPr/>
          <p:nvPr/>
        </p:nvSpPr>
        <p:spPr>
          <a:xfrm>
            <a:off x="326898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276606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Validate</a:t>
            </a:r>
            <a:endParaRPr lang="en-US" sz="1200" dirty="0"/>
          </a:p>
        </p:txBody>
      </p:sp>
      <p:sp>
        <p:nvSpPr>
          <p:cNvPr id="17" name="Text 15"/>
          <p:cNvSpPr/>
          <p:nvPr/>
        </p:nvSpPr>
        <p:spPr>
          <a:xfrm>
            <a:off x="276606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Visual, data,</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formulas</a:t>
            </a:r>
            <a:endParaRPr lang="en-US" sz="850" dirty="0"/>
          </a:p>
        </p:txBody>
      </p:sp>
      <p:sp>
        <p:nvSpPr>
          <p:cNvPr id="18" name="Shape 16"/>
          <p:cNvSpPr/>
          <p:nvPr/>
        </p:nvSpPr>
        <p:spPr>
          <a:xfrm>
            <a:off x="5623560" y="2286000"/>
            <a:ext cx="566928" cy="566928"/>
          </a:xfrm>
          <a:prstGeom prst="ellipse">
            <a:avLst/>
          </a:prstGeom>
          <a:solidFill>
            <a:srgbClr val="1A3A5C"/>
          </a:solidFill>
          <a:ln/>
        </p:spPr>
      </p:sp>
      <p:sp>
        <p:nvSpPr>
          <p:cNvPr id="19" name="Text 17"/>
          <p:cNvSpPr/>
          <p:nvPr/>
        </p:nvSpPr>
        <p:spPr>
          <a:xfrm>
            <a:off x="562356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0" name="Text 18"/>
          <p:cNvSpPr/>
          <p:nvPr/>
        </p:nvSpPr>
        <p:spPr>
          <a:xfrm>
            <a:off x="512064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Deploy</a:t>
            </a:r>
            <a:endParaRPr lang="en-US" sz="1200" dirty="0"/>
          </a:p>
        </p:txBody>
      </p:sp>
      <p:sp>
        <p:nvSpPr>
          <p:cNvPr id="21" name="Text 19"/>
          <p:cNvSpPr/>
          <p:nvPr/>
        </p:nvSpPr>
        <p:spPr>
          <a:xfrm>
            <a:off x="512064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Governed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SiS app</a:t>
            </a:r>
            <a:endParaRPr lang="en-US" sz="850" dirty="0"/>
          </a:p>
        </p:txBody>
      </p:sp>
      <p:sp>
        <p:nvSpPr>
          <p:cNvPr id="22" name="Shape 20"/>
          <p:cNvSpPr/>
          <p:nvPr/>
        </p:nvSpPr>
        <p:spPr>
          <a:xfrm>
            <a:off x="7978140" y="2286000"/>
            <a:ext cx="566928" cy="566928"/>
          </a:xfrm>
          <a:prstGeom prst="ellipse">
            <a:avLst/>
          </a:prstGeom>
          <a:solidFill>
            <a:srgbClr val="00EDED"/>
          </a:solidFill>
          <a:ln/>
        </p:spPr>
      </p:sp>
      <p:sp>
        <p:nvSpPr>
          <p:cNvPr id="23" name="Text 21"/>
          <p:cNvSpPr/>
          <p:nvPr/>
        </p:nvSpPr>
        <p:spPr>
          <a:xfrm>
            <a:off x="7978140" y="2267712"/>
            <a:ext cx="566928" cy="566928"/>
          </a:xfrm>
          <a:prstGeom prst="rect">
            <a:avLst/>
          </a:prstGeom>
          <a:noFill/>
          <a:ln/>
        </p:spPr>
        <p:txBody>
          <a:bodyPr wrap="square" rtlCol="0" anchor="ctr"/>
          <a:lstStyle/>
          <a:p>
            <a:pPr algn="ctr" indent="0" marL="0">
              <a:buNone/>
            </a:pPr>
            <a:r>
              <a:rPr lang="en-US" sz="1800" b="1" dirty="0">
                <a:solidFill>
                  <a:srgbClr val="053057"/>
                </a:solidFill>
                <a:latin typeface="Montserrat" pitchFamily="34" charset="0"/>
                <a:ea typeface="Montserrat" pitchFamily="34" charset="-122"/>
                <a:cs typeface="Montserrat" pitchFamily="34" charset="-120"/>
              </a:rPr>
              <a:t>4</a:t>
            </a:r>
            <a:endParaRPr lang="en-US" sz="1800" dirty="0"/>
          </a:p>
        </p:txBody>
      </p:sp>
      <p:sp>
        <p:nvSpPr>
          <p:cNvPr id="24" name="Text 22"/>
          <p:cNvSpPr/>
          <p:nvPr/>
        </p:nvSpPr>
        <p:spPr>
          <a:xfrm>
            <a:off x="747522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Enhance</a:t>
            </a:r>
            <a:endParaRPr lang="en-US" sz="1200" dirty="0"/>
          </a:p>
        </p:txBody>
      </p:sp>
      <p:sp>
        <p:nvSpPr>
          <p:cNvPr id="25" name="Text 23"/>
          <p:cNvSpPr/>
          <p:nvPr/>
        </p:nvSpPr>
        <p:spPr>
          <a:xfrm>
            <a:off x="747522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CoCo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instructions</a:t>
            </a:r>
            <a:endParaRPr lang="en-US" sz="850" dirty="0"/>
          </a:p>
        </p:txBody>
      </p:sp>
      <p:sp>
        <p:nvSpPr>
          <p:cNvPr id="26" name="Shape 24"/>
          <p:cNvSpPr/>
          <p:nvPr/>
        </p:nvSpPr>
        <p:spPr>
          <a:xfrm>
            <a:off x="10332720" y="2286000"/>
            <a:ext cx="566928" cy="566928"/>
          </a:xfrm>
          <a:prstGeom prst="ellipse">
            <a:avLst/>
          </a:prstGeom>
          <a:solidFill>
            <a:srgbClr val="1A3A5C"/>
          </a:solidFill>
          <a:ln/>
        </p:spPr>
      </p:sp>
      <p:sp>
        <p:nvSpPr>
          <p:cNvPr id="27" name="Text 25"/>
          <p:cNvSpPr/>
          <p:nvPr/>
        </p:nvSpPr>
        <p:spPr>
          <a:xfrm>
            <a:off x="1033272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28" name="Text 26"/>
          <p:cNvSpPr/>
          <p:nvPr/>
        </p:nvSpPr>
        <p:spPr>
          <a:xfrm>
            <a:off x="982980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Revalidate</a:t>
            </a:r>
            <a:endParaRPr lang="en-US" sz="1200" dirty="0"/>
          </a:p>
        </p:txBody>
      </p:sp>
      <p:sp>
        <p:nvSpPr>
          <p:cNvPr id="29" name="Text 27"/>
          <p:cNvSpPr/>
          <p:nvPr/>
        </p:nvSpPr>
        <p:spPr>
          <a:xfrm>
            <a:off x="982980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Controlled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release</a:t>
            </a:r>
            <a:endParaRPr lang="en-US" sz="850" dirty="0"/>
          </a:p>
        </p:txBody>
      </p:sp>
      <p:sp>
        <p:nvSpPr>
          <p:cNvPr id="30" name="Shape 28"/>
          <p:cNvSpPr/>
          <p:nvPr/>
        </p:nvSpPr>
        <p:spPr>
          <a:xfrm>
            <a:off x="640080" y="4160520"/>
            <a:ext cx="5577840" cy="1965960"/>
          </a:xfrm>
          <a:prstGeom prst="roundRect">
            <a:avLst>
              <a:gd name="adj" fmla="val 3721"/>
            </a:avLst>
          </a:prstGeom>
          <a:solidFill>
            <a:srgbClr val="314550"/>
          </a:solidFill>
          <a:ln/>
        </p:spPr>
      </p:sp>
      <p:sp>
        <p:nvSpPr>
          <p:cNvPr id="31" name="Text 29"/>
          <p:cNvSpPr/>
          <p:nvPr/>
        </p:nvSpPr>
        <p:spPr>
          <a:xfrm>
            <a:off x="868680" y="4315968"/>
            <a:ext cx="512064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COCO / CORTEX CODE</a:t>
            </a:r>
            <a:endParaRPr lang="en-US" sz="1000" dirty="0"/>
          </a:p>
        </p:txBody>
      </p:sp>
      <p:sp>
        <p:nvSpPr>
          <p:cNvPr id="32" name="Text 30"/>
          <p:cNvSpPr/>
          <p:nvPr/>
        </p:nvSpPr>
        <p:spPr>
          <a:xfrm>
            <a:off x="868680" y="4572000"/>
            <a:ext cx="5120640" cy="41148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Generates reviewable application changes from natural-language requirements.</a:t>
            </a:r>
            <a:endParaRPr lang="en-US" sz="1050" dirty="0"/>
          </a:p>
        </p:txBody>
      </p:sp>
      <p:sp>
        <p:nvSpPr>
          <p:cNvPr id="33" name="Shape 31"/>
          <p:cNvSpPr/>
          <p:nvPr/>
        </p:nvSpPr>
        <p:spPr>
          <a:xfrm>
            <a:off x="868680" y="5029200"/>
            <a:ext cx="5120640" cy="960120"/>
          </a:xfrm>
          <a:prstGeom prst="roundRect">
            <a:avLst>
              <a:gd name="adj" fmla="val 5714"/>
            </a:avLst>
          </a:prstGeom>
          <a:solidFill>
            <a:srgbClr val="053057"/>
          </a:solidFill>
          <a:ln w="9525">
            <a:solidFill>
              <a:srgbClr val="2C4D71"/>
            </a:solidFill>
            <a:prstDash val="solid"/>
          </a:ln>
        </p:spPr>
      </p:sp>
      <p:sp>
        <p:nvSpPr>
          <p:cNvPr id="34" name="Text 32"/>
          <p:cNvSpPr/>
          <p:nvPr/>
        </p:nvSpPr>
        <p:spPr>
          <a:xfrm>
            <a:off x="1051560" y="5029200"/>
            <a:ext cx="4754880" cy="96012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“Add a region filter to every chart, preserve existing calculations, and create a customer-detail view on selection.”</a:t>
            </a:r>
            <a:endParaRPr lang="en-US" sz="1050" dirty="0"/>
          </a:p>
        </p:txBody>
      </p:sp>
      <p:sp>
        <p:nvSpPr>
          <p:cNvPr id="35" name="Shape 33"/>
          <p:cNvSpPr/>
          <p:nvPr/>
        </p:nvSpPr>
        <p:spPr>
          <a:xfrm>
            <a:off x="6446520" y="4160520"/>
            <a:ext cx="5074920" cy="1965960"/>
          </a:xfrm>
          <a:prstGeom prst="roundRect">
            <a:avLst>
              <a:gd name="adj" fmla="val 3721"/>
            </a:avLst>
          </a:prstGeom>
          <a:solidFill>
            <a:srgbClr val="314550"/>
          </a:solidFill>
          <a:ln/>
        </p:spPr>
      </p:sp>
      <p:sp>
        <p:nvSpPr>
          <p:cNvPr id="36" name="Text 34"/>
          <p:cNvSpPr/>
          <p:nvPr/>
        </p:nvSpPr>
        <p:spPr>
          <a:xfrm>
            <a:off x="6675120" y="4315968"/>
            <a:ext cx="461772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CORTEX ANALYST</a:t>
            </a:r>
            <a:endParaRPr lang="en-US" sz="1000" dirty="0"/>
          </a:p>
        </p:txBody>
      </p:sp>
      <p:sp>
        <p:nvSpPr>
          <p:cNvPr id="37" name="Text 35"/>
          <p:cNvSpPr/>
          <p:nvPr/>
        </p:nvSpPr>
        <p:spPr>
          <a:xfrm>
            <a:off x="6675120" y="4572000"/>
            <a:ext cx="4617720" cy="4572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Adds governed natural-language questions over semantic views.</a:t>
            </a:r>
            <a:endParaRPr lang="en-US" sz="1050" dirty="0"/>
          </a:p>
        </p:txBody>
      </p:sp>
      <p:sp>
        <p:nvSpPr>
          <p:cNvPr id="38" name="Text 36"/>
          <p:cNvSpPr/>
          <p:nvPr/>
        </p:nvSpPr>
        <p:spPr>
          <a:xfrm>
            <a:off x="6675120" y="5074920"/>
            <a:ext cx="4617720" cy="914400"/>
          </a:xfrm>
          <a:prstGeom prst="rect">
            <a:avLst/>
          </a:prstGeom>
          <a:noFill/>
          <a:ln/>
        </p:spPr>
        <p:txBody>
          <a:bodyPr wrap="square" rtlCol="0" anchor="ctr"/>
          <a:lstStyle/>
          <a:p>
            <a:pPr indent="0" marL="0">
              <a:lnSpc>
                <a:spcPct val="125000"/>
              </a:lnSpc>
              <a:buNone/>
            </a:pPr>
            <a:r>
              <a:rPr lang="en-US" sz="950" i="1" dirty="0">
                <a:solidFill>
                  <a:srgbClr val="AFC2D6"/>
                </a:solidFill>
                <a:latin typeface="Montserrat" pitchFamily="34" charset="0"/>
                <a:ea typeface="Montserrat" pitchFamily="34" charset="-122"/>
                <a:cs typeface="Montserrat" pitchFamily="34" charset="-120"/>
              </a:rPr>
              <a:t>Every AI-assisted change returns through regression and validation before release — CoCo lowers dependence on specialized coding skills, but production changes are never unreviewed.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05</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One workbook moves through five controlled stages</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Each stage leaves an inspectable artifact before the next stage proceeds.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05 / 11</a:t>
            </a:r>
            <a:endParaRPr lang="en-US" sz="900" dirty="0"/>
          </a:p>
        </p:txBody>
      </p:sp>
      <p:sp>
        <p:nvSpPr>
          <p:cNvPr id="7" name="Shape 5"/>
          <p:cNvSpPr/>
          <p:nvPr/>
        </p:nvSpPr>
        <p:spPr>
          <a:xfrm>
            <a:off x="594360" y="2286000"/>
            <a:ext cx="2011680" cy="2606040"/>
          </a:xfrm>
          <a:prstGeom prst="roundRect">
            <a:avLst>
              <a:gd name="adj" fmla="val 3636"/>
            </a:avLst>
          </a:prstGeom>
          <a:solidFill>
            <a:srgbClr val="314550"/>
          </a:solidFill>
          <a:ln/>
        </p:spPr>
      </p:sp>
      <p:sp>
        <p:nvSpPr>
          <p:cNvPr id="8" name="Text 6"/>
          <p:cNvSpPr/>
          <p:nvPr/>
        </p:nvSpPr>
        <p:spPr>
          <a:xfrm>
            <a:off x="758952"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01</a:t>
            </a:r>
            <a:endParaRPr lang="en-US" sz="2200" dirty="0"/>
          </a:p>
        </p:txBody>
      </p:sp>
      <p:sp>
        <p:nvSpPr>
          <p:cNvPr id="9" name="Text 7"/>
          <p:cNvSpPr/>
          <p:nvPr/>
        </p:nvSpPr>
        <p:spPr>
          <a:xfrm>
            <a:off x="758952"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Discovery</a:t>
            </a:r>
            <a:endParaRPr lang="en-US" sz="1400" dirty="0"/>
          </a:p>
        </p:txBody>
      </p:sp>
      <p:sp>
        <p:nvSpPr>
          <p:cNvPr id="10" name="Text 8"/>
          <p:cNvSpPr/>
          <p:nvPr/>
        </p:nvSpPr>
        <p:spPr>
          <a:xfrm>
            <a:off x="758952"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Sources, extracts</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and tables</a:t>
            </a:r>
            <a:endParaRPr lang="en-US" sz="950" dirty="0"/>
          </a:p>
        </p:txBody>
      </p:sp>
      <p:sp>
        <p:nvSpPr>
          <p:cNvPr id="11" name="Text 9"/>
          <p:cNvSpPr/>
          <p:nvPr/>
        </p:nvSpPr>
        <p:spPr>
          <a:xfrm>
            <a:off x="2587752"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2" name="Shape 10"/>
          <p:cNvSpPr/>
          <p:nvPr/>
        </p:nvSpPr>
        <p:spPr>
          <a:xfrm>
            <a:off x="2770632" y="2286000"/>
            <a:ext cx="2011680" cy="2606040"/>
          </a:xfrm>
          <a:prstGeom prst="roundRect">
            <a:avLst>
              <a:gd name="adj" fmla="val 3636"/>
            </a:avLst>
          </a:prstGeom>
          <a:solidFill>
            <a:srgbClr val="314550"/>
          </a:solidFill>
          <a:ln/>
        </p:spPr>
      </p:sp>
      <p:sp>
        <p:nvSpPr>
          <p:cNvPr id="13" name="Text 11"/>
          <p:cNvSpPr/>
          <p:nvPr/>
        </p:nvSpPr>
        <p:spPr>
          <a:xfrm>
            <a:off x="2935224"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935224"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Parsing</a:t>
            </a:r>
            <a:endParaRPr lang="en-US" sz="1400" dirty="0"/>
          </a:p>
        </p:txBody>
      </p:sp>
      <p:sp>
        <p:nvSpPr>
          <p:cNvPr id="15" name="Text 13"/>
          <p:cNvSpPr/>
          <p:nvPr/>
        </p:nvSpPr>
        <p:spPr>
          <a:xfrm>
            <a:off x="2935224"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Workbook to</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migration IR</a:t>
            </a:r>
            <a:endParaRPr lang="en-US" sz="950" dirty="0"/>
          </a:p>
        </p:txBody>
      </p:sp>
      <p:sp>
        <p:nvSpPr>
          <p:cNvPr id="16" name="Text 14"/>
          <p:cNvSpPr/>
          <p:nvPr/>
        </p:nvSpPr>
        <p:spPr>
          <a:xfrm>
            <a:off x="4764024"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7" name="Shape 15"/>
          <p:cNvSpPr/>
          <p:nvPr/>
        </p:nvSpPr>
        <p:spPr>
          <a:xfrm>
            <a:off x="4946904" y="2286000"/>
            <a:ext cx="2011680" cy="2606040"/>
          </a:xfrm>
          <a:prstGeom prst="roundRect">
            <a:avLst>
              <a:gd name="adj" fmla="val 3636"/>
            </a:avLst>
          </a:prstGeom>
          <a:solidFill>
            <a:srgbClr val="314550"/>
          </a:solidFill>
          <a:ln/>
        </p:spPr>
      </p:sp>
      <p:sp>
        <p:nvSpPr>
          <p:cNvPr id="18" name="Text 16"/>
          <p:cNvSpPr/>
          <p:nvPr/>
        </p:nvSpPr>
        <p:spPr>
          <a:xfrm>
            <a:off x="5111496"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03</a:t>
            </a:r>
            <a:endParaRPr lang="en-US" sz="2200" dirty="0"/>
          </a:p>
        </p:txBody>
      </p:sp>
      <p:sp>
        <p:nvSpPr>
          <p:cNvPr id="19" name="Text 17"/>
          <p:cNvSpPr/>
          <p:nvPr/>
        </p:nvSpPr>
        <p:spPr>
          <a:xfrm>
            <a:off x="5111496"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Data model</a:t>
            </a:r>
            <a:endParaRPr lang="en-US" sz="1400" dirty="0"/>
          </a:p>
        </p:txBody>
      </p:sp>
      <p:sp>
        <p:nvSpPr>
          <p:cNvPr id="20" name="Text 18"/>
          <p:cNvSpPr/>
          <p:nvPr/>
        </p:nvSpPr>
        <p:spPr>
          <a:xfrm>
            <a:off x="5111496"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Relations and optional</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semantic view</a:t>
            </a:r>
            <a:endParaRPr lang="en-US" sz="950" dirty="0"/>
          </a:p>
        </p:txBody>
      </p:sp>
      <p:sp>
        <p:nvSpPr>
          <p:cNvPr id="21" name="Text 19"/>
          <p:cNvSpPr/>
          <p:nvPr/>
        </p:nvSpPr>
        <p:spPr>
          <a:xfrm>
            <a:off x="6940296"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Shape 20"/>
          <p:cNvSpPr/>
          <p:nvPr/>
        </p:nvSpPr>
        <p:spPr>
          <a:xfrm>
            <a:off x="7123176" y="2286000"/>
            <a:ext cx="2011680" cy="2606040"/>
          </a:xfrm>
          <a:prstGeom prst="roundRect">
            <a:avLst>
              <a:gd name="adj" fmla="val 3636"/>
            </a:avLst>
          </a:prstGeom>
          <a:solidFill>
            <a:srgbClr val="314550"/>
          </a:solidFill>
          <a:ln/>
        </p:spPr>
      </p:sp>
      <p:sp>
        <p:nvSpPr>
          <p:cNvPr id="23" name="Text 21"/>
          <p:cNvSpPr/>
          <p:nvPr/>
        </p:nvSpPr>
        <p:spPr>
          <a:xfrm>
            <a:off x="7287768"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04</a:t>
            </a:r>
            <a:endParaRPr lang="en-US" sz="2200" dirty="0"/>
          </a:p>
        </p:txBody>
      </p:sp>
      <p:sp>
        <p:nvSpPr>
          <p:cNvPr id="24" name="Text 22"/>
          <p:cNvSpPr/>
          <p:nvPr/>
        </p:nvSpPr>
        <p:spPr>
          <a:xfrm>
            <a:off x="7287768"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App creation</a:t>
            </a:r>
            <a:endParaRPr lang="en-US" sz="1400" dirty="0"/>
          </a:p>
        </p:txBody>
      </p:sp>
      <p:sp>
        <p:nvSpPr>
          <p:cNvPr id="25" name="Text 23"/>
          <p:cNvSpPr/>
          <p:nvPr/>
        </p:nvSpPr>
        <p:spPr>
          <a:xfrm>
            <a:off x="7287768"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Generated Streamlit</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application</a:t>
            </a:r>
            <a:endParaRPr lang="en-US" sz="950" dirty="0"/>
          </a:p>
        </p:txBody>
      </p:sp>
      <p:sp>
        <p:nvSpPr>
          <p:cNvPr id="26" name="Text 24"/>
          <p:cNvSpPr/>
          <p:nvPr/>
        </p:nvSpPr>
        <p:spPr>
          <a:xfrm>
            <a:off x="9116568"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7" name="Shape 25"/>
          <p:cNvSpPr/>
          <p:nvPr/>
        </p:nvSpPr>
        <p:spPr>
          <a:xfrm>
            <a:off x="9299448" y="2286000"/>
            <a:ext cx="2011680" cy="2606040"/>
          </a:xfrm>
          <a:prstGeom prst="roundRect">
            <a:avLst>
              <a:gd name="adj" fmla="val 3636"/>
            </a:avLst>
          </a:prstGeom>
          <a:solidFill>
            <a:srgbClr val="00EDED"/>
          </a:solidFill>
          <a:ln/>
        </p:spPr>
      </p:sp>
      <p:sp>
        <p:nvSpPr>
          <p:cNvPr id="28" name="Text 26"/>
          <p:cNvSpPr/>
          <p:nvPr/>
        </p:nvSpPr>
        <p:spPr>
          <a:xfrm>
            <a:off x="9464040" y="2450592"/>
            <a:ext cx="1682496" cy="457200"/>
          </a:xfrm>
          <a:prstGeom prst="rect">
            <a:avLst/>
          </a:prstGeom>
          <a:noFill/>
          <a:ln/>
        </p:spPr>
        <p:txBody>
          <a:bodyPr wrap="square" rtlCol="0" anchor="ctr"/>
          <a:lstStyle/>
          <a:p>
            <a:pPr indent="0" marL="0">
              <a:buNone/>
            </a:pPr>
            <a:r>
              <a:rPr lang="en-US" sz="2200" b="1" dirty="0">
                <a:solidFill>
                  <a:srgbClr val="053057"/>
                </a:solidFill>
                <a:latin typeface="Montserrat" pitchFamily="34" charset="0"/>
                <a:ea typeface="Montserrat" pitchFamily="34" charset="-122"/>
                <a:cs typeface="Montserrat" pitchFamily="34" charset="-120"/>
              </a:rPr>
              <a:t>05</a:t>
            </a:r>
            <a:endParaRPr lang="en-US" sz="2200" dirty="0"/>
          </a:p>
        </p:txBody>
      </p:sp>
      <p:sp>
        <p:nvSpPr>
          <p:cNvPr id="29" name="Text 27"/>
          <p:cNvSpPr/>
          <p:nvPr/>
        </p:nvSpPr>
        <p:spPr>
          <a:xfrm>
            <a:off x="9464040" y="2971800"/>
            <a:ext cx="1682496" cy="36576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Validation</a:t>
            </a:r>
            <a:endParaRPr lang="en-US" sz="1400" dirty="0"/>
          </a:p>
        </p:txBody>
      </p:sp>
      <p:sp>
        <p:nvSpPr>
          <p:cNvPr id="30" name="Text 28"/>
          <p:cNvSpPr/>
          <p:nvPr/>
        </p:nvSpPr>
        <p:spPr>
          <a:xfrm>
            <a:off x="9464040" y="3383280"/>
            <a:ext cx="1682496" cy="777240"/>
          </a:xfrm>
          <a:prstGeom prst="rect">
            <a:avLst/>
          </a:prstGeom>
          <a:noFill/>
          <a:ln/>
        </p:spPr>
        <p:txBody>
          <a:bodyPr wrap="square" rtlCol="0" anchor="ctr"/>
          <a:lstStyle/>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Visual, data and</a:t>
            </a:r>
            <a:endParaRPr lang="en-US" sz="950" dirty="0"/>
          </a:p>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formula evidence</a:t>
            </a:r>
            <a:endParaRPr lang="en-US" sz="950" dirty="0"/>
          </a:p>
        </p:txBody>
      </p:sp>
      <p:sp>
        <p:nvSpPr>
          <p:cNvPr id="31" name="Shape 29"/>
          <p:cNvSpPr/>
          <p:nvPr/>
        </p:nvSpPr>
        <p:spPr>
          <a:xfrm>
            <a:off x="594360" y="5212080"/>
            <a:ext cx="11018520" cy="868680"/>
          </a:xfrm>
          <a:prstGeom prst="roundRect">
            <a:avLst>
              <a:gd name="adj" fmla="val 8421"/>
            </a:avLst>
          </a:prstGeom>
          <a:solidFill>
            <a:srgbClr val="314550"/>
          </a:solidFill>
          <a:ln w="12700">
            <a:solidFill>
              <a:srgbClr val="00EDED"/>
            </a:solidFill>
            <a:prstDash val="solid"/>
          </a:ln>
        </p:spPr>
      </p:sp>
      <p:sp>
        <p:nvSpPr>
          <p:cNvPr id="32" name="Text 30"/>
          <p:cNvSpPr/>
          <p:nvPr/>
        </p:nvSpPr>
        <p:spPr>
          <a:xfrm>
            <a:off x="868680" y="5212080"/>
            <a:ext cx="3108960" cy="868680"/>
          </a:xfrm>
          <a:prstGeom prst="rect">
            <a:avLst/>
          </a:prstGeom>
          <a:noFill/>
          <a:ln/>
        </p:spPr>
        <p:txBody>
          <a:bodyPr wrap="square"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  Human deployment gate</a:t>
            </a:r>
            <a:endParaRPr lang="en-US" sz="1250" dirty="0"/>
          </a:p>
        </p:txBody>
      </p:sp>
      <p:sp>
        <p:nvSpPr>
          <p:cNvPr id="33" name="Text 31"/>
          <p:cNvSpPr/>
          <p:nvPr/>
        </p:nvSpPr>
        <p:spPr>
          <a:xfrm>
            <a:off x="3931920" y="5212080"/>
            <a:ext cx="7498080" cy="868680"/>
          </a:xfrm>
          <a:prstGeom prst="rect">
            <a:avLst/>
          </a:prstGeom>
          <a:noFill/>
          <a:ln/>
        </p:spPr>
        <p:txBody>
          <a:bodyPr wrap="square" rtlCol="0" anchor="ctr"/>
          <a:lstStyle/>
          <a:p>
            <a:pPr indent="0" marL="0">
              <a:buNone/>
            </a:pPr>
            <a:r>
              <a:rPr lang="en-US" sz="1150" dirty="0">
                <a:solidFill>
                  <a:srgbClr val="FFFFFF"/>
                </a:solidFill>
                <a:latin typeface="Montserrat" pitchFamily="34" charset="0"/>
                <a:ea typeface="Montserrat" pitchFamily="34" charset="-122"/>
                <a:cs typeface="Montserrat" pitchFamily="34" charset="-120"/>
              </a:rPr>
              <a:t>The application is deployed only after findings and validation are visible.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06</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Visual parity is reviewed at dashboard level</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first check is immediate: does the migrated tab preserve the same analytical composition?</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06 / 11</a:t>
            </a:r>
            <a:endParaRPr lang="en-US" sz="900" dirty="0"/>
          </a:p>
        </p:txBody>
      </p:sp>
      <p:sp>
        <p:nvSpPr>
          <p:cNvPr id="7" name="Shape 5"/>
          <p:cNvSpPr/>
          <p:nvPr/>
        </p:nvSpPr>
        <p:spPr>
          <a:xfrm>
            <a:off x="640080" y="2286000"/>
            <a:ext cx="5074920" cy="2880360"/>
          </a:xfrm>
          <a:prstGeom prst="roundRect">
            <a:avLst>
              <a:gd name="adj" fmla="val 1905"/>
            </a:avLst>
          </a:prstGeom>
          <a:solidFill>
            <a:srgbClr val="F4F3F0"/>
          </a:solidFill>
          <a:ln w="12700">
            <a:solidFill>
              <a:srgbClr val="D8D6D0"/>
            </a:solidFill>
            <a:prstDash val="solid"/>
          </a:ln>
        </p:spPr>
      </p:sp>
      <p:sp>
        <p:nvSpPr>
          <p:cNvPr id="8" name="Text 6"/>
          <p:cNvSpPr/>
          <p:nvPr/>
        </p:nvSpPr>
        <p:spPr>
          <a:xfrm>
            <a:off x="64008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TABLEAU</a:t>
            </a:r>
            <a:endParaRPr lang="en-US" sz="1000" dirty="0"/>
          </a:p>
        </p:txBody>
      </p:sp>
      <p:sp>
        <p:nvSpPr>
          <p:cNvPr id="9" name="Text 7"/>
          <p:cNvSpPr/>
          <p:nvPr/>
        </p:nvSpPr>
        <p:spPr>
          <a:xfrm>
            <a:off x="64008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0" name="Shape 8"/>
          <p:cNvSpPr/>
          <p:nvPr/>
        </p:nvSpPr>
        <p:spPr>
          <a:xfrm>
            <a:off x="6492240" y="2286000"/>
            <a:ext cx="5074920" cy="2880360"/>
          </a:xfrm>
          <a:prstGeom prst="roundRect">
            <a:avLst>
              <a:gd name="adj" fmla="val 1905"/>
            </a:avLst>
          </a:prstGeom>
          <a:solidFill>
            <a:srgbClr val="F4F3F0"/>
          </a:solidFill>
          <a:ln w="12700">
            <a:solidFill>
              <a:srgbClr val="D8D6D0"/>
            </a:solidFill>
            <a:prstDash val="solid"/>
          </a:ln>
        </p:spPr>
      </p:sp>
      <p:sp>
        <p:nvSpPr>
          <p:cNvPr id="11" name="Text 9"/>
          <p:cNvSpPr/>
          <p:nvPr/>
        </p:nvSpPr>
        <p:spPr>
          <a:xfrm>
            <a:off x="649224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STREAMLIT IN SNOWFLAKE</a:t>
            </a:r>
            <a:endParaRPr lang="en-US" sz="1000" dirty="0"/>
          </a:p>
        </p:txBody>
      </p:sp>
      <p:sp>
        <p:nvSpPr>
          <p:cNvPr id="12" name="Text 10"/>
          <p:cNvSpPr/>
          <p:nvPr/>
        </p:nvSpPr>
        <p:spPr>
          <a:xfrm>
            <a:off x="649224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3" name="Shape 11"/>
          <p:cNvSpPr/>
          <p:nvPr/>
        </p:nvSpPr>
        <p:spPr>
          <a:xfrm>
            <a:off x="5794096" y="3424428"/>
            <a:ext cx="603504" cy="603504"/>
          </a:xfrm>
          <a:prstGeom prst="ellipse">
            <a:avLst/>
          </a:prstGeom>
          <a:solidFill>
            <a:srgbClr val="053057"/>
          </a:solidFill>
          <a:ln/>
        </p:spPr>
      </p:sp>
      <p:sp>
        <p:nvSpPr>
          <p:cNvPr id="14" name="Text 12"/>
          <p:cNvSpPr/>
          <p:nvPr/>
        </p:nvSpPr>
        <p:spPr>
          <a:xfrm>
            <a:off x="5794096" y="3406140"/>
            <a:ext cx="603504" cy="603504"/>
          </a:xfrm>
          <a:prstGeom prst="rect">
            <a:avLst/>
          </a:prstGeom>
          <a:noFill/>
          <a:ln/>
        </p:spPr>
        <p:txBody>
          <a:bodyPr wrap="square" rtlCol="0" anchor="ctr"/>
          <a:lstStyle/>
          <a:p>
            <a:pPr algn="ctr" indent="0" marL="0">
              <a:buNone/>
            </a:pPr>
            <a:r>
              <a:rPr lang="en-US" sz="2200" b="1" dirty="0">
                <a:solidFill>
                  <a:srgbClr val="00EDED"/>
                </a:solidFill>
                <a:latin typeface="Montserrat" pitchFamily="34" charset="0"/>
                <a:ea typeface="Montserrat" pitchFamily="34" charset="-122"/>
                <a:cs typeface="Montserrat" pitchFamily="34" charset="-120"/>
              </a:rPr>
              <a:t>=</a:t>
            </a:r>
            <a:endParaRPr lang="en-US" sz="2200" dirty="0"/>
          </a:p>
        </p:txBody>
      </p:sp>
      <p:sp>
        <p:nvSpPr>
          <p:cNvPr id="15" name="Shape 13"/>
          <p:cNvSpPr/>
          <p:nvPr/>
        </p:nvSpPr>
        <p:spPr>
          <a:xfrm>
            <a:off x="640080" y="5440680"/>
            <a:ext cx="1783080" cy="384048"/>
          </a:xfrm>
          <a:prstGeom prst="roundRect">
            <a:avLst>
              <a:gd name="adj" fmla="val 50000"/>
            </a:avLst>
          </a:prstGeom>
          <a:solidFill>
            <a:srgbClr val="F4F3F0"/>
          </a:solidFill>
          <a:ln w="9525">
            <a:solidFill>
              <a:srgbClr val="007676"/>
            </a:solidFill>
            <a:prstDash val="solid"/>
          </a:ln>
        </p:spPr>
      </p:sp>
      <p:sp>
        <p:nvSpPr>
          <p:cNvPr id="16" name="Text 14"/>
          <p:cNvSpPr/>
          <p:nvPr/>
        </p:nvSpPr>
        <p:spPr>
          <a:xfrm>
            <a:off x="640080" y="5440680"/>
            <a:ext cx="17830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layout hierarchy</a:t>
            </a:r>
            <a:endParaRPr lang="en-US" sz="950" dirty="0"/>
          </a:p>
        </p:txBody>
      </p:sp>
      <p:sp>
        <p:nvSpPr>
          <p:cNvPr id="17" name="Shape 15"/>
          <p:cNvSpPr/>
          <p:nvPr/>
        </p:nvSpPr>
        <p:spPr>
          <a:xfrm>
            <a:off x="2587752" y="5440680"/>
            <a:ext cx="1417320" cy="384048"/>
          </a:xfrm>
          <a:prstGeom prst="roundRect">
            <a:avLst>
              <a:gd name="adj" fmla="val 50000"/>
            </a:avLst>
          </a:prstGeom>
          <a:solidFill>
            <a:srgbClr val="F4F3F0"/>
          </a:solidFill>
          <a:ln w="9525">
            <a:solidFill>
              <a:srgbClr val="007676"/>
            </a:solidFill>
            <a:prstDash val="solid"/>
          </a:ln>
        </p:spPr>
      </p:sp>
      <p:sp>
        <p:nvSpPr>
          <p:cNvPr id="18" name="Text 16"/>
          <p:cNvSpPr/>
          <p:nvPr/>
        </p:nvSpPr>
        <p:spPr>
          <a:xfrm>
            <a:off x="2587752" y="5440680"/>
            <a:ext cx="14173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KPI presence</a:t>
            </a:r>
            <a:endParaRPr lang="en-US" sz="950" dirty="0"/>
          </a:p>
        </p:txBody>
      </p:sp>
      <p:sp>
        <p:nvSpPr>
          <p:cNvPr id="19" name="Shape 17"/>
          <p:cNvSpPr/>
          <p:nvPr/>
        </p:nvSpPr>
        <p:spPr>
          <a:xfrm>
            <a:off x="4169664" y="5440680"/>
            <a:ext cx="1234440" cy="384048"/>
          </a:xfrm>
          <a:prstGeom prst="roundRect">
            <a:avLst>
              <a:gd name="adj" fmla="val 50000"/>
            </a:avLst>
          </a:prstGeom>
          <a:solidFill>
            <a:srgbClr val="F4F3F0"/>
          </a:solidFill>
          <a:ln w="9525">
            <a:solidFill>
              <a:srgbClr val="007676"/>
            </a:solidFill>
            <a:prstDash val="solid"/>
          </a:ln>
        </p:spPr>
      </p:sp>
      <p:sp>
        <p:nvSpPr>
          <p:cNvPr id="20" name="Text 18"/>
          <p:cNvSpPr/>
          <p:nvPr/>
        </p:nvSpPr>
        <p:spPr>
          <a:xfrm>
            <a:off x="4169664" y="5440680"/>
            <a:ext cx="123444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chart type</a:t>
            </a:r>
            <a:endParaRPr lang="en-US" sz="950" dirty="0"/>
          </a:p>
        </p:txBody>
      </p:sp>
      <p:sp>
        <p:nvSpPr>
          <p:cNvPr id="21" name="Shape 19"/>
          <p:cNvSpPr/>
          <p:nvPr/>
        </p:nvSpPr>
        <p:spPr>
          <a:xfrm>
            <a:off x="5568696" y="5440680"/>
            <a:ext cx="960120" cy="384048"/>
          </a:xfrm>
          <a:prstGeom prst="roundRect">
            <a:avLst>
              <a:gd name="adj" fmla="val 50000"/>
            </a:avLst>
          </a:prstGeom>
          <a:solidFill>
            <a:srgbClr val="F4F3F0"/>
          </a:solidFill>
          <a:ln w="9525">
            <a:solidFill>
              <a:srgbClr val="007676"/>
            </a:solidFill>
            <a:prstDash val="solid"/>
          </a:ln>
        </p:spPr>
      </p:sp>
      <p:sp>
        <p:nvSpPr>
          <p:cNvPr id="22" name="Text 20"/>
          <p:cNvSpPr/>
          <p:nvPr/>
        </p:nvSpPr>
        <p:spPr>
          <a:xfrm>
            <a:off x="5568696" y="5440680"/>
            <a:ext cx="9601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filters</a:t>
            </a:r>
            <a:endParaRPr lang="en-US" sz="950" dirty="0"/>
          </a:p>
        </p:txBody>
      </p:sp>
      <p:sp>
        <p:nvSpPr>
          <p:cNvPr id="23" name="Shape 21"/>
          <p:cNvSpPr/>
          <p:nvPr/>
        </p:nvSpPr>
        <p:spPr>
          <a:xfrm>
            <a:off x="6693408" y="5440680"/>
            <a:ext cx="868680" cy="384048"/>
          </a:xfrm>
          <a:prstGeom prst="roundRect">
            <a:avLst>
              <a:gd name="adj" fmla="val 50000"/>
            </a:avLst>
          </a:prstGeom>
          <a:solidFill>
            <a:srgbClr val="F4F3F0"/>
          </a:solidFill>
          <a:ln w="9525">
            <a:solidFill>
              <a:srgbClr val="007676"/>
            </a:solidFill>
            <a:prstDash val="solid"/>
          </a:ln>
        </p:spPr>
      </p:sp>
      <p:sp>
        <p:nvSpPr>
          <p:cNvPr id="24" name="Text 22"/>
          <p:cNvSpPr/>
          <p:nvPr/>
        </p:nvSpPr>
        <p:spPr>
          <a:xfrm>
            <a:off x="6693408" y="5440680"/>
            <a:ext cx="8686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labels</a:t>
            </a:r>
            <a:endParaRPr lang="en-US" sz="950" dirty="0"/>
          </a:p>
        </p:txBody>
      </p:sp>
      <p:sp>
        <p:nvSpPr>
          <p:cNvPr id="25" name="Shape 23"/>
          <p:cNvSpPr/>
          <p:nvPr/>
        </p:nvSpPr>
        <p:spPr>
          <a:xfrm>
            <a:off x="7726680" y="5440680"/>
            <a:ext cx="1508760" cy="384048"/>
          </a:xfrm>
          <a:prstGeom prst="roundRect">
            <a:avLst>
              <a:gd name="adj" fmla="val 50000"/>
            </a:avLst>
          </a:prstGeom>
          <a:solidFill>
            <a:srgbClr val="F4F3F0"/>
          </a:solidFill>
          <a:ln w="9525">
            <a:solidFill>
              <a:srgbClr val="007676"/>
            </a:solidFill>
            <a:prstDash val="solid"/>
          </a:ln>
        </p:spPr>
      </p:sp>
      <p:sp>
        <p:nvSpPr>
          <p:cNvPr id="26" name="Text 24"/>
          <p:cNvSpPr/>
          <p:nvPr/>
        </p:nvSpPr>
        <p:spPr>
          <a:xfrm>
            <a:off x="7726680" y="5440680"/>
            <a:ext cx="150876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visible grain</a:t>
            </a:r>
            <a:endParaRPr lang="en-US" sz="950" dirty="0"/>
          </a:p>
        </p:txBody>
      </p:sp>
      <p:sp>
        <p:nvSpPr>
          <p:cNvPr id="27" name="Text 25"/>
          <p:cNvSpPr/>
          <p:nvPr/>
        </p:nvSpPr>
        <p:spPr>
          <a:xfrm>
            <a:off x="640080" y="6035040"/>
            <a:ext cx="10881360" cy="457200"/>
          </a:xfrm>
          <a:prstGeom prst="rect">
            <a:avLst/>
          </a:prstGeom>
          <a:noFill/>
          <a:ln/>
        </p:spPr>
        <p:txBody>
          <a:bodyPr wrap="square" rtlCol="0" anchor="ctr"/>
          <a:lstStyle/>
          <a:p>
            <a:pPr indent="0" marL="0">
              <a:buNone/>
            </a:pPr>
            <a:r>
              <a:rPr lang="en-US" sz="1100" i="1" dirty="0">
                <a:solidFill>
                  <a:srgbClr val="5B6B7A"/>
                </a:solidFill>
                <a:latin typeface="Montserrat" pitchFamily="34" charset="0"/>
                <a:ea typeface="Montserrat" pitchFamily="34" charset="-122"/>
                <a:cs typeface="Montserrat" pitchFamily="34" charset="-120"/>
              </a:rPr>
              <a:t>Review evidence  —  visual similarity alone is not a pass; it is the first evidence layer.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07</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 PASS is earned with chart-grain numbers and formulas</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displayed visual grain determines the evidence: product rows for a ranked product table, not a dashboard total.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07 / 11</a:t>
            </a:r>
            <a:endParaRPr lang="en-US" sz="900" dirty="0"/>
          </a:p>
        </p:txBody>
      </p:sp>
      <p:sp>
        <p:nvSpPr>
          <p:cNvPr id="7" name="Text 5"/>
          <p:cNvSpPr/>
          <p:nvPr/>
        </p:nvSpPr>
        <p:spPr>
          <a:xfrm>
            <a:off x="640080" y="2057400"/>
            <a:ext cx="548640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DATA PROOF</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675120" cy="1554480"/>
        </p:xfrm>
        <a:graphic>
          <a:graphicData uri="http://schemas.openxmlformats.org/drawingml/2006/table">
            <a:tbl>
              <a:tblPr/>
              <a:tblGrid>
                <a:gridCol w="2286000"/>
                <a:gridCol w="1051560"/>
                <a:gridCol w="1051560"/>
                <a:gridCol w="1051560"/>
                <a:gridCol w="640080"/>
                <a:gridCol w="777240"/>
              </a:tblGrid>
              <a:tr h="38862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Product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Tableau</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Streamlit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Backend</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Diff</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Result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Canon imageCLASS 2200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$61,600.00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$0.18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Fellowes PB500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$27,454.00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Cisco TelePresence</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4069080"/>
            <a:ext cx="6675120" cy="502920"/>
          </a:xfrm>
          <a:prstGeom prst="rect">
            <a:avLst/>
          </a:prstGeom>
          <a:noFill/>
          <a:ln/>
        </p:spPr>
        <p:txBody>
          <a:bodyPr wrap="square" rtlCol="0" anchor="ctr"/>
          <a:lstStyle/>
          <a:p>
            <a:pPr indent="0" marL="0">
              <a:lnSpc>
                <a:spcPct val="120000"/>
              </a:lnSpc>
              <a:buNone/>
            </a:pPr>
            <a:r>
              <a:rPr lang="en-US" sz="950" i="1" dirty="0">
                <a:solidFill>
                  <a:srgbClr val="5B6B7A"/>
                </a:solidFill>
                <a:latin typeface="Montserrat" pitchFamily="34" charset="0"/>
                <a:ea typeface="Montserrat" pitchFamily="34" charset="-122"/>
                <a:cs typeface="Montserrat" pitchFamily="34" charset="-120"/>
              </a:rPr>
              <a:t>The three displayed rows are representative slide evidence; the downloadable report retains the complete result set and every mismatch.</a:t>
            </a:r>
            <a:endParaRPr lang="en-US" sz="950" dirty="0"/>
          </a:p>
        </p:txBody>
      </p:sp>
      <p:sp>
        <p:nvSpPr>
          <p:cNvPr id="10" name="Text 7"/>
          <p:cNvSpPr/>
          <p:nvPr/>
        </p:nvSpPr>
        <p:spPr>
          <a:xfrm>
            <a:off x="7635240" y="2057400"/>
            <a:ext cx="393192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FORMULA PROOF</a:t>
            </a:r>
            <a:endParaRPr lang="en-US" sz="1100" dirty="0"/>
          </a:p>
        </p:txBody>
      </p:sp>
      <p:sp>
        <p:nvSpPr>
          <p:cNvPr id="11" name="Shape 8"/>
          <p:cNvSpPr/>
          <p:nvPr/>
        </p:nvSpPr>
        <p:spPr>
          <a:xfrm>
            <a:off x="7635240" y="2377440"/>
            <a:ext cx="3931920" cy="1828800"/>
          </a:xfrm>
          <a:prstGeom prst="roundRect">
            <a:avLst>
              <a:gd name="adj" fmla="val 3500"/>
            </a:avLst>
          </a:prstGeom>
          <a:solidFill>
            <a:srgbClr val="F4F3F0"/>
          </a:solidFill>
          <a:ln/>
        </p:spPr>
      </p:sp>
      <p:sp>
        <p:nvSpPr>
          <p:cNvPr id="12" name="Text 9"/>
          <p:cNvSpPr/>
          <p:nvPr/>
        </p:nvSpPr>
        <p:spPr>
          <a:xfrm>
            <a:off x="7863840" y="2514600"/>
            <a:ext cx="3474720" cy="292608"/>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Profit Ratio</a:t>
            </a:r>
            <a:endParaRPr lang="en-US" sz="1150" dirty="0"/>
          </a:p>
        </p:txBody>
      </p:sp>
      <p:sp>
        <p:nvSpPr>
          <p:cNvPr id="13" name="Text 10"/>
          <p:cNvSpPr/>
          <p:nvPr/>
        </p:nvSpPr>
        <p:spPr>
          <a:xfrm>
            <a:off x="7863840" y="2852928"/>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TABLEAU</a:t>
            </a:r>
            <a:endParaRPr lang="en-US" sz="850" dirty="0"/>
          </a:p>
        </p:txBody>
      </p:sp>
      <p:sp>
        <p:nvSpPr>
          <p:cNvPr id="14" name="Text 11"/>
          <p:cNvSpPr/>
          <p:nvPr/>
        </p:nvSpPr>
        <p:spPr>
          <a:xfrm>
            <a:off x="7863840" y="3063240"/>
            <a:ext cx="3474720" cy="320040"/>
          </a:xfrm>
          <a:prstGeom prst="rect">
            <a:avLst/>
          </a:prstGeom>
          <a:noFill/>
          <a:ln/>
        </p:spPr>
        <p:txBody>
          <a:bodyPr wrap="square" rtlCol="0" anchor="ctr"/>
          <a:lstStyle/>
          <a:p>
            <a:pPr indent="0" marL="0">
              <a:buNone/>
            </a:pPr>
            <a:r>
              <a:rPr lang="en-US" sz="1000" dirty="0">
                <a:solidFill>
                  <a:srgbClr val="053057"/>
                </a:solidFill>
                <a:latin typeface="Courier New" pitchFamily="34" charset="0"/>
                <a:ea typeface="Courier New" pitchFamily="34" charset="-122"/>
                <a:cs typeface="Courier New" pitchFamily="34" charset="-120"/>
              </a:rPr>
              <a:t>SUM([Profit]) / SUM([Sales])</a:t>
            </a:r>
            <a:endParaRPr lang="en-US" sz="1000" dirty="0"/>
          </a:p>
        </p:txBody>
      </p:sp>
      <p:sp>
        <p:nvSpPr>
          <p:cNvPr id="15" name="Text 12"/>
          <p:cNvSpPr/>
          <p:nvPr/>
        </p:nvSpPr>
        <p:spPr>
          <a:xfrm>
            <a:off x="7863840" y="3456432"/>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SNOWFLAKE SQL</a:t>
            </a:r>
            <a:endParaRPr lang="en-US" sz="850" dirty="0"/>
          </a:p>
        </p:txBody>
      </p:sp>
      <p:sp>
        <p:nvSpPr>
          <p:cNvPr id="16" name="Text 13"/>
          <p:cNvSpPr/>
          <p:nvPr/>
        </p:nvSpPr>
        <p:spPr>
          <a:xfrm>
            <a:off x="7863840" y="3657600"/>
            <a:ext cx="3474720" cy="320040"/>
          </a:xfrm>
          <a:prstGeom prst="rect">
            <a:avLst/>
          </a:prstGeom>
          <a:noFill/>
          <a:ln/>
        </p:spPr>
        <p:txBody>
          <a:bodyPr wrap="square" rtlCol="0" anchor="ctr"/>
          <a:lstStyle/>
          <a:p>
            <a:pPr indent="0" marL="0">
              <a:buNone/>
            </a:pPr>
            <a:r>
              <a:rPr lang="en-US" sz="950" dirty="0">
                <a:solidFill>
                  <a:srgbClr val="007676"/>
                </a:solidFill>
                <a:latin typeface="Courier New" pitchFamily="34" charset="0"/>
                <a:ea typeface="Courier New" pitchFamily="34" charset="-122"/>
                <a:cs typeface="Courier New" pitchFamily="34" charset="-120"/>
              </a:rPr>
              <a:t>SUM(PROFIT) / NULLIF(SUM(SALES), 0)</a:t>
            </a:r>
            <a:endParaRPr lang="en-US" sz="950" dirty="0"/>
          </a:p>
        </p:txBody>
      </p:sp>
      <p:sp>
        <p:nvSpPr>
          <p:cNvPr id="17" name="Shape 14"/>
          <p:cNvSpPr/>
          <p:nvPr/>
        </p:nvSpPr>
        <p:spPr>
          <a:xfrm>
            <a:off x="7863840" y="4023360"/>
            <a:ext cx="3474720" cy="292608"/>
          </a:xfrm>
          <a:prstGeom prst="roundRect">
            <a:avLst>
              <a:gd name="adj" fmla="val 50000"/>
            </a:avLst>
          </a:prstGeom>
          <a:solidFill>
            <a:srgbClr val="053057"/>
          </a:solidFill>
          <a:ln/>
        </p:spPr>
      </p:sp>
      <p:sp>
        <p:nvSpPr>
          <p:cNvPr id="18" name="Text 15"/>
          <p:cNvSpPr/>
          <p:nvPr/>
        </p:nvSpPr>
        <p:spPr>
          <a:xfrm>
            <a:off x="7863840" y="4023360"/>
            <a:ext cx="3474720" cy="292608"/>
          </a:xfrm>
          <a:prstGeom prst="rect">
            <a:avLst/>
          </a:prstGeom>
          <a:noFill/>
          <a:ln/>
        </p:spPr>
        <p:txBody>
          <a:bodyPr wrap="square" rtlCol="0" anchor="ctr"/>
          <a:lstStyle/>
          <a:p>
            <a:pPr algn="ctr" indent="0" marL="0">
              <a:buNone/>
            </a:pPr>
            <a:r>
              <a:rPr lang="en-US" sz="850" b="1" dirty="0">
                <a:solidFill>
                  <a:srgbClr val="00EDED"/>
                </a:solidFill>
                <a:latin typeface="Montserrat" pitchFamily="34" charset="0"/>
                <a:ea typeface="Montserrat" pitchFamily="34" charset="-122"/>
                <a:cs typeface="Montserrat" pitchFamily="34" charset="-120"/>
              </a:rPr>
              <a:t>Semantically equivalent + null-safe</a:t>
            </a:r>
            <a:endParaRPr lang="en-US" sz="850" dirty="0"/>
          </a:p>
        </p:txBody>
      </p:sp>
      <p:sp>
        <p:nvSpPr>
          <p:cNvPr id="19" name="Shape 16"/>
          <p:cNvSpPr/>
          <p:nvPr/>
        </p:nvSpPr>
        <p:spPr>
          <a:xfrm>
            <a:off x="640080" y="4892040"/>
            <a:ext cx="10927080" cy="1234440"/>
          </a:xfrm>
          <a:prstGeom prst="roundRect">
            <a:avLst>
              <a:gd name="adj" fmla="val 5926"/>
            </a:avLst>
          </a:prstGeom>
          <a:solidFill>
            <a:srgbClr val="053057"/>
          </a:solidFill>
          <a:ln/>
        </p:spPr>
      </p:sp>
      <p:sp>
        <p:nvSpPr>
          <p:cNvPr id="20" name="Text 17"/>
          <p:cNvSpPr/>
          <p:nvPr/>
        </p:nvSpPr>
        <p:spPr>
          <a:xfrm>
            <a:off x="914400" y="4892040"/>
            <a:ext cx="10378440" cy="1234440"/>
          </a:xfrm>
          <a:prstGeom prst="rect">
            <a:avLst/>
          </a:prstGeom>
          <a:noFill/>
          <a:ln/>
        </p:spPr>
        <p:txBody>
          <a:bodyPr wrap="square" rtlCol="0" anchor="ctr"/>
          <a:lstStyle/>
          <a:p>
            <a:pPr indent="0" marL="0">
              <a:lnSpc>
                <a:spcPct val="125000"/>
              </a:lnSpc>
              <a:buNone/>
            </a:pPr>
            <a:r>
              <a:rPr lang="en-US" sz="1200" i="1" dirty="0">
                <a:solidFill>
                  <a:srgbClr val="FFFFFF"/>
                </a:solidFill>
                <a:latin typeface="Montserrat" pitchFamily="34" charset="0"/>
                <a:ea typeface="Montserrat" pitchFamily="34" charset="-122"/>
                <a:cs typeface="Montserrat" pitchFamily="34" charset="-120"/>
              </a:rPr>
              <a:t>Absolute and relative tolerance are recorded in the downloadable report. Currency tolerance is expressed in currency, not points.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NEXT STEPS · 08  ·  CORE PRESENTATION ENDS HERE</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Let's find the right proof point together</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A proposed path from this demo to a joint customer win on Snowflake.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08 / 11</a:t>
            </a:r>
            <a:endParaRPr lang="en-US" sz="900" dirty="0"/>
          </a:p>
        </p:txBody>
      </p:sp>
      <p:sp>
        <p:nvSpPr>
          <p:cNvPr id="7" name="Shape 5"/>
          <p:cNvSpPr/>
          <p:nvPr/>
        </p:nvSpPr>
        <p:spPr>
          <a:xfrm>
            <a:off x="594360" y="2331720"/>
            <a:ext cx="3429000" cy="1920240"/>
          </a:xfrm>
          <a:prstGeom prst="roundRect">
            <a:avLst>
              <a:gd name="adj" fmla="val 3810"/>
            </a:avLst>
          </a:prstGeom>
          <a:solidFill>
            <a:srgbClr val="314550"/>
          </a:solidFill>
          <a:ln/>
        </p:spPr>
      </p:sp>
      <p:sp>
        <p:nvSpPr>
          <p:cNvPr id="8" name="Shape 6"/>
          <p:cNvSpPr/>
          <p:nvPr/>
        </p:nvSpPr>
        <p:spPr>
          <a:xfrm>
            <a:off x="822960" y="2560320"/>
            <a:ext cx="502920" cy="502920"/>
          </a:xfrm>
          <a:prstGeom prst="ellipse">
            <a:avLst/>
          </a:prstGeom>
          <a:solidFill>
            <a:srgbClr val="00EDED"/>
          </a:solidFill>
          <a:ln/>
        </p:spPr>
      </p:sp>
      <p:sp>
        <p:nvSpPr>
          <p:cNvPr id="9" name="Text 7"/>
          <p:cNvSpPr/>
          <p:nvPr/>
        </p:nvSpPr>
        <p:spPr>
          <a:xfrm>
            <a:off x="8229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01</a:t>
            </a:r>
            <a:endParaRPr lang="en-US" sz="1500" dirty="0"/>
          </a:p>
        </p:txBody>
      </p:sp>
      <p:sp>
        <p:nvSpPr>
          <p:cNvPr id="10" name="Text 8"/>
          <p:cNvSpPr/>
          <p:nvPr/>
        </p:nvSpPr>
        <p:spPr>
          <a:xfrm>
            <a:off x="8229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Identify a workload</a:t>
            </a:r>
            <a:endParaRPr lang="en-US" sz="1400" dirty="0"/>
          </a:p>
        </p:txBody>
      </p:sp>
      <p:sp>
        <p:nvSpPr>
          <p:cNvPr id="11" name="Text 9"/>
          <p:cNvSpPr/>
          <p:nvPr/>
        </p:nvSpPr>
        <p:spPr>
          <a:xfrm>
            <a:off x="8229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A Snowflake account team nominates one Tableau-on-Snowflake workload as the proof point.</a:t>
            </a:r>
            <a:endParaRPr lang="en-US" sz="1000" dirty="0"/>
          </a:p>
        </p:txBody>
      </p:sp>
      <p:sp>
        <p:nvSpPr>
          <p:cNvPr id="12" name="Text 10"/>
          <p:cNvSpPr/>
          <p:nvPr/>
        </p:nvSpPr>
        <p:spPr>
          <a:xfrm>
            <a:off x="40050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3" name="Shape 11"/>
          <p:cNvSpPr/>
          <p:nvPr/>
        </p:nvSpPr>
        <p:spPr>
          <a:xfrm>
            <a:off x="4251960" y="2331720"/>
            <a:ext cx="3429000" cy="1920240"/>
          </a:xfrm>
          <a:prstGeom prst="roundRect">
            <a:avLst>
              <a:gd name="adj" fmla="val 3810"/>
            </a:avLst>
          </a:prstGeom>
          <a:solidFill>
            <a:srgbClr val="314550"/>
          </a:solidFill>
          <a:ln/>
        </p:spPr>
      </p:sp>
      <p:sp>
        <p:nvSpPr>
          <p:cNvPr id="14" name="Shape 12"/>
          <p:cNvSpPr/>
          <p:nvPr/>
        </p:nvSpPr>
        <p:spPr>
          <a:xfrm>
            <a:off x="4480560" y="2560320"/>
            <a:ext cx="502920" cy="502920"/>
          </a:xfrm>
          <a:prstGeom prst="ellipse">
            <a:avLst/>
          </a:prstGeom>
          <a:solidFill>
            <a:srgbClr val="00EDED"/>
          </a:solidFill>
          <a:ln/>
        </p:spPr>
      </p:sp>
      <p:sp>
        <p:nvSpPr>
          <p:cNvPr id="15" name="Text 13"/>
          <p:cNvSpPr/>
          <p:nvPr/>
        </p:nvSpPr>
        <p:spPr>
          <a:xfrm>
            <a:off x="44805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02</a:t>
            </a:r>
            <a:endParaRPr lang="en-US" sz="1500" dirty="0"/>
          </a:p>
        </p:txBody>
      </p:sp>
      <p:sp>
        <p:nvSpPr>
          <p:cNvPr id="16" name="Text 14"/>
          <p:cNvSpPr/>
          <p:nvPr/>
        </p:nvSpPr>
        <p:spPr>
          <a:xfrm>
            <a:off x="44805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Run it live</a:t>
            </a:r>
            <a:endParaRPr lang="en-US" sz="1400" dirty="0"/>
          </a:p>
        </p:txBody>
      </p:sp>
      <p:sp>
        <p:nvSpPr>
          <p:cNvPr id="17" name="Text 15"/>
          <p:cNvSpPr/>
          <p:nvPr/>
        </p:nvSpPr>
        <p:spPr>
          <a:xfrm>
            <a:off x="44805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The migration executes inside that account, stage by stage, with the account team watching.</a:t>
            </a:r>
            <a:endParaRPr lang="en-US" sz="1000" dirty="0"/>
          </a:p>
        </p:txBody>
      </p:sp>
      <p:sp>
        <p:nvSpPr>
          <p:cNvPr id="18" name="Text 16"/>
          <p:cNvSpPr/>
          <p:nvPr/>
        </p:nvSpPr>
        <p:spPr>
          <a:xfrm>
            <a:off x="76626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9" name="Shape 17"/>
          <p:cNvSpPr/>
          <p:nvPr/>
        </p:nvSpPr>
        <p:spPr>
          <a:xfrm>
            <a:off x="7909560" y="2331720"/>
            <a:ext cx="3429000" cy="1920240"/>
          </a:xfrm>
          <a:prstGeom prst="roundRect">
            <a:avLst>
              <a:gd name="adj" fmla="val 3810"/>
            </a:avLst>
          </a:prstGeom>
          <a:solidFill>
            <a:srgbClr val="314550"/>
          </a:solidFill>
          <a:ln/>
        </p:spPr>
      </p:sp>
      <p:sp>
        <p:nvSpPr>
          <p:cNvPr id="20" name="Shape 18"/>
          <p:cNvSpPr/>
          <p:nvPr/>
        </p:nvSpPr>
        <p:spPr>
          <a:xfrm>
            <a:off x="8138160" y="2560320"/>
            <a:ext cx="502920" cy="502920"/>
          </a:xfrm>
          <a:prstGeom prst="ellipse">
            <a:avLst/>
          </a:prstGeom>
          <a:solidFill>
            <a:srgbClr val="00EDED"/>
          </a:solidFill>
          <a:ln/>
        </p:spPr>
      </p:sp>
      <p:sp>
        <p:nvSpPr>
          <p:cNvPr id="21" name="Text 19"/>
          <p:cNvSpPr/>
          <p:nvPr/>
        </p:nvSpPr>
        <p:spPr>
          <a:xfrm>
            <a:off x="81381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03</a:t>
            </a:r>
            <a:endParaRPr lang="en-US" sz="1500" dirty="0"/>
          </a:p>
        </p:txBody>
      </p:sp>
      <p:sp>
        <p:nvSpPr>
          <p:cNvPr id="22" name="Text 20"/>
          <p:cNvSpPr/>
          <p:nvPr/>
        </p:nvSpPr>
        <p:spPr>
          <a:xfrm>
            <a:off x="81381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Review together</a:t>
            </a:r>
            <a:endParaRPr lang="en-US" sz="1400" dirty="0"/>
          </a:p>
        </p:txBody>
      </p:sp>
      <p:sp>
        <p:nvSpPr>
          <p:cNvPr id="23" name="Text 21"/>
          <p:cNvSpPr/>
          <p:nvPr/>
        </p:nvSpPr>
        <p:spPr>
          <a:xfrm>
            <a:off x="81381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Visual, data and formula evidence reviewed jointly before anyone calls it a win.</a:t>
            </a:r>
            <a:endParaRPr lang="en-US" sz="1000" dirty="0"/>
          </a:p>
        </p:txBody>
      </p:sp>
      <p:sp>
        <p:nvSpPr>
          <p:cNvPr id="24" name="Shape 22"/>
          <p:cNvSpPr/>
          <p:nvPr/>
        </p:nvSpPr>
        <p:spPr>
          <a:xfrm>
            <a:off x="594360" y="4709160"/>
            <a:ext cx="11018520" cy="1097280"/>
          </a:xfrm>
          <a:prstGeom prst="roundRect">
            <a:avLst>
              <a:gd name="adj" fmla="val 6667"/>
            </a:avLst>
          </a:prstGeom>
          <a:solidFill>
            <a:srgbClr val="0A4360"/>
          </a:solidFill>
          <a:ln w="15875">
            <a:solidFill>
              <a:srgbClr val="00EDED"/>
            </a:solidFill>
            <a:prstDash val="solid"/>
          </a:ln>
        </p:spPr>
      </p:sp>
      <p:sp>
        <p:nvSpPr>
          <p:cNvPr id="25" name="Text 23"/>
          <p:cNvSpPr/>
          <p:nvPr/>
        </p:nvSpPr>
        <p:spPr>
          <a:xfrm>
            <a:off x="868680" y="4864608"/>
            <a:ext cx="10424160" cy="274320"/>
          </a:xfrm>
          <a:prstGeom prst="rect">
            <a:avLst/>
          </a:prstGeom>
          <a:noFill/>
          <a:ln/>
        </p:spPr>
        <p:txBody>
          <a:bodyPr wrap="square" rtlCol="0" anchor="ctr"/>
          <a:lstStyle/>
          <a:p>
            <a:pPr indent="0" marL="0">
              <a:buNone/>
            </a:pPr>
            <a:r>
              <a:rPr lang="en-US" sz="1100" b="1" spc="150" kern="0" dirty="0">
                <a:solidFill>
                  <a:srgbClr val="00EDED"/>
                </a:solidFill>
                <a:latin typeface="Montserrat" pitchFamily="34" charset="0"/>
                <a:ea typeface="Montserrat" pitchFamily="34" charset="-122"/>
                <a:cs typeface="Montserrat" pitchFamily="34" charset="-120"/>
              </a:rPr>
              <a:t>WHAT WE'RE ASKING OF SNOWFLAKE</a:t>
            </a:r>
            <a:endParaRPr lang="en-US" sz="1100" dirty="0"/>
          </a:p>
        </p:txBody>
      </p:sp>
      <p:sp>
        <p:nvSpPr>
          <p:cNvPr id="26" name="Text 24"/>
          <p:cNvSpPr/>
          <p:nvPr/>
        </p:nvSpPr>
        <p:spPr>
          <a:xfrm>
            <a:off x="868680" y="5138928"/>
            <a:ext cx="10424160" cy="54864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Help us identify one workload and one account team ready to run this live.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Cortex assists only where its output can be governed</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09 / 11</a:t>
            </a:r>
            <a:endParaRPr lang="en-US" sz="900" dirty="0"/>
          </a:p>
        </p:txBody>
      </p:sp>
      <p:sp>
        <p:nvSpPr>
          <p:cNvPr id="8" name="Shape 6"/>
          <p:cNvSpPr/>
          <p:nvPr/>
        </p:nvSpPr>
        <p:spPr>
          <a:xfrm>
            <a:off x="640080" y="2103120"/>
            <a:ext cx="5212080" cy="3566160"/>
          </a:xfrm>
          <a:prstGeom prst="roundRect">
            <a:avLst>
              <a:gd name="adj" fmla="val 2051"/>
            </a:avLst>
          </a:prstGeom>
          <a:solidFill>
            <a:srgbClr val="314550"/>
          </a:solidFill>
          <a:ln/>
        </p:spPr>
      </p:sp>
      <p:sp>
        <p:nvSpPr>
          <p:cNvPr id="9" name="Text 7"/>
          <p:cNvSpPr/>
          <p:nvPr/>
        </p:nvSpPr>
        <p:spPr>
          <a:xfrm>
            <a:off x="914400" y="2286000"/>
            <a:ext cx="4663440" cy="320040"/>
          </a:xfrm>
          <a:prstGeom prst="rect">
            <a:avLst/>
          </a:prstGeom>
          <a:noFill/>
          <a:ln/>
        </p:spPr>
        <p:txBody>
          <a:bodyPr wrap="square" rtlCol="0" anchor="ctr"/>
          <a:lstStyle/>
          <a:p>
            <a:pPr indent="0" marL="0">
              <a:buNone/>
            </a:pPr>
            <a:r>
              <a:rPr lang="en-US" sz="1200" b="1" spc="100" kern="0" dirty="0">
                <a:solidFill>
                  <a:srgbClr val="FFFFFF"/>
                </a:solidFill>
                <a:latin typeface="Montserrat" pitchFamily="34" charset="0"/>
                <a:ea typeface="Montserrat" pitchFamily="34" charset="-122"/>
                <a:cs typeface="Montserrat" pitchFamily="34" charset="-120"/>
              </a:rPr>
              <a:t>DETERMINISTIC CORE</a:t>
            </a:r>
            <a:endParaRPr lang="en-US" sz="1200" dirty="0"/>
          </a:p>
        </p:txBody>
      </p:sp>
      <p:sp>
        <p:nvSpPr>
          <p:cNvPr id="10" name="Shape 8"/>
          <p:cNvSpPr/>
          <p:nvPr/>
        </p:nvSpPr>
        <p:spPr>
          <a:xfrm>
            <a:off x="914400" y="2788920"/>
            <a:ext cx="365760" cy="365760"/>
          </a:xfrm>
          <a:prstGeom prst="ellipse">
            <a:avLst/>
          </a:prstGeom>
          <a:solidFill>
            <a:srgbClr val="053057"/>
          </a:solidFill>
          <a:ln/>
        </p:spPr>
      </p:sp>
      <p:sp>
        <p:nvSpPr>
          <p:cNvPr id="11" name="Text 9"/>
          <p:cNvSpPr/>
          <p:nvPr/>
        </p:nvSpPr>
        <p:spPr>
          <a:xfrm>
            <a:off x="914400" y="2770632"/>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12" name="Text 10"/>
          <p:cNvSpPr/>
          <p:nvPr/>
        </p:nvSpPr>
        <p:spPr>
          <a:xfrm>
            <a:off x="1417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Workbook parser</a:t>
            </a:r>
            <a:endParaRPr lang="en-US" sz="1200" dirty="0"/>
          </a:p>
        </p:txBody>
      </p:sp>
      <p:sp>
        <p:nvSpPr>
          <p:cNvPr id="13" name="Shape 11"/>
          <p:cNvSpPr/>
          <p:nvPr/>
        </p:nvSpPr>
        <p:spPr>
          <a:xfrm>
            <a:off x="914400" y="3319272"/>
            <a:ext cx="365760" cy="365760"/>
          </a:xfrm>
          <a:prstGeom prst="ellipse">
            <a:avLst/>
          </a:prstGeom>
          <a:solidFill>
            <a:srgbClr val="053057"/>
          </a:solidFill>
          <a:ln/>
        </p:spPr>
      </p:sp>
      <p:sp>
        <p:nvSpPr>
          <p:cNvPr id="14" name="Text 12"/>
          <p:cNvSpPr/>
          <p:nvPr/>
        </p:nvSpPr>
        <p:spPr>
          <a:xfrm>
            <a:off x="914400" y="3300984"/>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1417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Intermediate representation</a:t>
            </a:r>
            <a:endParaRPr lang="en-US" sz="1200" dirty="0"/>
          </a:p>
        </p:txBody>
      </p:sp>
      <p:sp>
        <p:nvSpPr>
          <p:cNvPr id="16" name="Shape 14"/>
          <p:cNvSpPr/>
          <p:nvPr/>
        </p:nvSpPr>
        <p:spPr>
          <a:xfrm>
            <a:off x="914400" y="3849624"/>
            <a:ext cx="365760" cy="365760"/>
          </a:xfrm>
          <a:prstGeom prst="ellipse">
            <a:avLst/>
          </a:prstGeom>
          <a:solidFill>
            <a:srgbClr val="053057"/>
          </a:solidFill>
          <a:ln/>
        </p:spPr>
      </p:sp>
      <p:sp>
        <p:nvSpPr>
          <p:cNvPr id="17" name="Text 15"/>
          <p:cNvSpPr/>
          <p:nvPr/>
        </p:nvSpPr>
        <p:spPr>
          <a:xfrm>
            <a:off x="914400" y="3831336"/>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18" name="Text 16"/>
          <p:cNvSpPr/>
          <p:nvPr/>
        </p:nvSpPr>
        <p:spPr>
          <a:xfrm>
            <a:off x="1417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Calculation rules</a:t>
            </a:r>
            <a:endParaRPr lang="en-US" sz="1200" dirty="0"/>
          </a:p>
        </p:txBody>
      </p:sp>
      <p:sp>
        <p:nvSpPr>
          <p:cNvPr id="19" name="Shape 17"/>
          <p:cNvSpPr/>
          <p:nvPr/>
        </p:nvSpPr>
        <p:spPr>
          <a:xfrm>
            <a:off x="914400" y="4379976"/>
            <a:ext cx="365760" cy="365760"/>
          </a:xfrm>
          <a:prstGeom prst="ellipse">
            <a:avLst/>
          </a:prstGeom>
          <a:solidFill>
            <a:srgbClr val="053057"/>
          </a:solidFill>
          <a:ln/>
        </p:spPr>
      </p:sp>
      <p:sp>
        <p:nvSpPr>
          <p:cNvPr id="20" name="Text 18"/>
          <p:cNvSpPr/>
          <p:nvPr/>
        </p:nvSpPr>
        <p:spPr>
          <a:xfrm>
            <a:off x="914400" y="4361688"/>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21" name="Text 19"/>
          <p:cNvSpPr/>
          <p:nvPr/>
        </p:nvSpPr>
        <p:spPr>
          <a:xfrm>
            <a:off x="1417320" y="4398264"/>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Code generation</a:t>
            </a:r>
            <a:endParaRPr lang="en-US" sz="1200" dirty="0"/>
          </a:p>
        </p:txBody>
      </p:sp>
      <p:sp>
        <p:nvSpPr>
          <p:cNvPr id="22" name="Shape 20"/>
          <p:cNvSpPr/>
          <p:nvPr/>
        </p:nvSpPr>
        <p:spPr>
          <a:xfrm>
            <a:off x="914400" y="4910328"/>
            <a:ext cx="365760" cy="365760"/>
          </a:xfrm>
          <a:prstGeom prst="ellipse">
            <a:avLst/>
          </a:prstGeom>
          <a:solidFill>
            <a:srgbClr val="053057"/>
          </a:solidFill>
          <a:ln/>
        </p:spPr>
      </p:sp>
      <p:sp>
        <p:nvSpPr>
          <p:cNvPr id="23" name="Text 21"/>
          <p:cNvSpPr/>
          <p:nvPr/>
        </p:nvSpPr>
        <p:spPr>
          <a:xfrm>
            <a:off x="914400" y="4892040"/>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24" name="Text 22"/>
          <p:cNvSpPr/>
          <p:nvPr/>
        </p:nvSpPr>
        <p:spPr>
          <a:xfrm>
            <a:off x="1417320" y="4928616"/>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Numeric validation</a:t>
            </a:r>
            <a:endParaRPr lang="en-US" sz="1200" dirty="0"/>
          </a:p>
        </p:txBody>
      </p:sp>
      <p:sp>
        <p:nvSpPr>
          <p:cNvPr id="25" name="Text 23"/>
          <p:cNvSpPr/>
          <p:nvPr/>
        </p:nvSpPr>
        <p:spPr>
          <a:xfrm>
            <a:off x="914400" y="5349240"/>
            <a:ext cx="4663440" cy="274320"/>
          </a:xfrm>
          <a:prstGeom prst="rect">
            <a:avLst/>
          </a:prstGeom>
          <a:noFill/>
          <a:ln/>
        </p:spPr>
        <p:txBody>
          <a:bodyPr wrap="square" rtlCol="0" anchor="ctr"/>
          <a:lstStyle/>
          <a:p>
            <a:pPr indent="0" marL="0">
              <a:buNone/>
            </a:pPr>
            <a:r>
              <a:rPr lang="en-US" sz="950" i="1" dirty="0">
                <a:solidFill>
                  <a:srgbClr val="AFC2D6"/>
                </a:solidFill>
                <a:latin typeface="Montserrat" pitchFamily="34" charset="0"/>
                <a:ea typeface="Montserrat" pitchFamily="34" charset="-122"/>
                <a:cs typeface="Montserrat" pitchFamily="34" charset="-120"/>
              </a:rPr>
              <a:t>No model decision is needed for the standard path.</a:t>
            </a:r>
            <a:endParaRPr lang="en-US" sz="950" dirty="0"/>
          </a:p>
        </p:txBody>
      </p:sp>
      <p:sp>
        <p:nvSpPr>
          <p:cNvPr id="26" name="Text 24"/>
          <p:cNvSpPr/>
          <p:nvPr/>
        </p:nvSpPr>
        <p:spPr>
          <a:xfrm>
            <a:off x="5897880" y="3566160"/>
            <a:ext cx="457200" cy="457200"/>
          </a:xfrm>
          <a:prstGeom prst="rect">
            <a:avLst/>
          </a:prstGeom>
          <a:noFill/>
          <a:ln/>
        </p:spPr>
        <p:txBody>
          <a:bodyPr wrap="square" rtlCol="0" anchor="ctr"/>
          <a:lstStyle/>
          <a:p>
            <a:pPr algn="ctr" indent="0" marL="0">
              <a:buNone/>
            </a:pPr>
            <a:r>
              <a:rPr lang="en-US" sz="2400" b="1" dirty="0">
                <a:solidFill>
                  <a:srgbClr val="00EDED"/>
                </a:solidFill>
                <a:latin typeface="Montserrat" pitchFamily="34" charset="0"/>
                <a:ea typeface="Montserrat" pitchFamily="34" charset="-122"/>
                <a:cs typeface="Montserrat" pitchFamily="34" charset="-120"/>
              </a:rPr>
              <a:t>+</a:t>
            </a:r>
            <a:endParaRPr lang="en-US" sz="2400" dirty="0"/>
          </a:p>
        </p:txBody>
      </p:sp>
      <p:sp>
        <p:nvSpPr>
          <p:cNvPr id="27" name="Shape 25"/>
          <p:cNvSpPr/>
          <p:nvPr/>
        </p:nvSpPr>
        <p:spPr>
          <a:xfrm>
            <a:off x="6355080" y="2103120"/>
            <a:ext cx="5212080" cy="3566160"/>
          </a:xfrm>
          <a:prstGeom prst="roundRect">
            <a:avLst>
              <a:gd name="adj" fmla="val 2051"/>
            </a:avLst>
          </a:prstGeom>
          <a:solidFill>
            <a:srgbClr val="0A4360"/>
          </a:solidFill>
          <a:ln w="12700">
            <a:solidFill>
              <a:srgbClr val="00EDED"/>
            </a:solidFill>
            <a:prstDash val="solid"/>
          </a:ln>
        </p:spPr>
      </p:sp>
      <p:sp>
        <p:nvSpPr>
          <p:cNvPr id="28" name="Text 26"/>
          <p:cNvSpPr/>
          <p:nvPr/>
        </p:nvSpPr>
        <p:spPr>
          <a:xfrm>
            <a:off x="6629400" y="2286000"/>
            <a:ext cx="4663440" cy="320040"/>
          </a:xfrm>
          <a:prstGeom prst="rect">
            <a:avLst/>
          </a:prstGeom>
          <a:noFill/>
          <a:ln/>
        </p:spPr>
        <p:txBody>
          <a:bodyPr wrap="square" rtlCol="0" anchor="ctr"/>
          <a:lstStyle/>
          <a:p>
            <a:pPr indent="0" marL="0">
              <a:buNone/>
            </a:pPr>
            <a:r>
              <a:rPr lang="en-US" sz="1200" b="1" spc="100" kern="0" dirty="0">
                <a:solidFill>
                  <a:srgbClr val="00EDED"/>
                </a:solidFill>
                <a:latin typeface="Montserrat" pitchFamily="34" charset="0"/>
                <a:ea typeface="Montserrat" pitchFamily="34" charset="-122"/>
                <a:cs typeface="Montserrat" pitchFamily="34" charset="-120"/>
              </a:rPr>
              <a:t>OPTIONAL CORTEX ASSISTANCE</a:t>
            </a:r>
            <a:endParaRPr lang="en-US" sz="1200" dirty="0"/>
          </a:p>
        </p:txBody>
      </p:sp>
      <p:sp>
        <p:nvSpPr>
          <p:cNvPr id="29" name="Shape 27"/>
          <p:cNvSpPr/>
          <p:nvPr/>
        </p:nvSpPr>
        <p:spPr>
          <a:xfrm>
            <a:off x="6629400" y="2788920"/>
            <a:ext cx="365760" cy="365760"/>
          </a:xfrm>
          <a:prstGeom prst="ellipse">
            <a:avLst/>
          </a:prstGeom>
          <a:solidFill>
            <a:srgbClr val="00EDED"/>
          </a:solidFill>
          <a:ln/>
        </p:spPr>
      </p:sp>
      <p:sp>
        <p:nvSpPr>
          <p:cNvPr id="30" name="Text 28"/>
          <p:cNvSpPr/>
          <p:nvPr/>
        </p:nvSpPr>
        <p:spPr>
          <a:xfrm>
            <a:off x="6629400" y="2770632"/>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7132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Semantic view generation</a:t>
            </a:r>
            <a:endParaRPr lang="en-US" sz="1200" dirty="0"/>
          </a:p>
        </p:txBody>
      </p:sp>
      <p:sp>
        <p:nvSpPr>
          <p:cNvPr id="32" name="Shape 30"/>
          <p:cNvSpPr/>
          <p:nvPr/>
        </p:nvSpPr>
        <p:spPr>
          <a:xfrm>
            <a:off x="6629400" y="3319272"/>
            <a:ext cx="365760" cy="365760"/>
          </a:xfrm>
          <a:prstGeom prst="ellipse">
            <a:avLst/>
          </a:prstGeom>
          <a:solidFill>
            <a:srgbClr val="00EDED"/>
          </a:solidFill>
          <a:ln/>
        </p:spPr>
      </p:sp>
      <p:sp>
        <p:nvSpPr>
          <p:cNvPr id="33" name="Text 31"/>
          <p:cNvSpPr/>
          <p:nvPr/>
        </p:nvSpPr>
        <p:spPr>
          <a:xfrm>
            <a:off x="6629400" y="3300984"/>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7132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Guarded calculation proposal</a:t>
            </a:r>
            <a:endParaRPr lang="en-US" sz="1200" dirty="0"/>
          </a:p>
        </p:txBody>
      </p:sp>
      <p:sp>
        <p:nvSpPr>
          <p:cNvPr id="35" name="Shape 33"/>
          <p:cNvSpPr/>
          <p:nvPr/>
        </p:nvSpPr>
        <p:spPr>
          <a:xfrm>
            <a:off x="6629400" y="3849624"/>
            <a:ext cx="365760" cy="365760"/>
          </a:xfrm>
          <a:prstGeom prst="ellipse">
            <a:avLst/>
          </a:prstGeom>
          <a:solidFill>
            <a:srgbClr val="00EDED"/>
          </a:solidFill>
          <a:ln/>
        </p:spPr>
      </p:sp>
      <p:sp>
        <p:nvSpPr>
          <p:cNvPr id="36" name="Text 34"/>
          <p:cNvSpPr/>
          <p:nvPr/>
        </p:nvSpPr>
        <p:spPr>
          <a:xfrm>
            <a:off x="6629400" y="3831336"/>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7132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Narrative validation summary</a:t>
            </a:r>
            <a:endParaRPr lang="en-US" sz="1200" dirty="0"/>
          </a:p>
        </p:txBody>
      </p:sp>
      <p:sp>
        <p:nvSpPr>
          <p:cNvPr id="38" name="Shape 36"/>
          <p:cNvSpPr/>
          <p:nvPr/>
        </p:nvSpPr>
        <p:spPr>
          <a:xfrm>
            <a:off x="6629400" y="4434840"/>
            <a:ext cx="1965960" cy="310896"/>
          </a:xfrm>
          <a:prstGeom prst="roundRect">
            <a:avLst>
              <a:gd name="adj" fmla="val 50000"/>
            </a:avLst>
          </a:prstGeom>
          <a:solidFill>
            <a:srgbClr val="053057"/>
          </a:solidFill>
          <a:ln/>
        </p:spPr>
      </p:sp>
      <p:sp>
        <p:nvSpPr>
          <p:cNvPr id="39" name="Text 37"/>
          <p:cNvSpPr/>
          <p:nvPr/>
        </p:nvSpPr>
        <p:spPr>
          <a:xfrm>
            <a:off x="6629400" y="4434840"/>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Execution-gated</a:t>
            </a:r>
            <a:endParaRPr lang="en-US" sz="900" dirty="0"/>
          </a:p>
        </p:txBody>
      </p:sp>
      <p:sp>
        <p:nvSpPr>
          <p:cNvPr id="40" name="Shape 38"/>
          <p:cNvSpPr/>
          <p:nvPr/>
        </p:nvSpPr>
        <p:spPr>
          <a:xfrm>
            <a:off x="6629400" y="4818888"/>
            <a:ext cx="1965960" cy="310896"/>
          </a:xfrm>
          <a:prstGeom prst="roundRect">
            <a:avLst>
              <a:gd name="adj" fmla="val 50000"/>
            </a:avLst>
          </a:prstGeom>
          <a:solidFill>
            <a:srgbClr val="053057"/>
          </a:solidFill>
          <a:ln/>
        </p:spPr>
      </p:sp>
      <p:sp>
        <p:nvSpPr>
          <p:cNvPr id="41" name="Text 39"/>
          <p:cNvSpPr/>
          <p:nvPr/>
        </p:nvSpPr>
        <p:spPr>
          <a:xfrm>
            <a:off x="6629400" y="4818888"/>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Human-reviewed</a:t>
            </a:r>
            <a:endParaRPr lang="en-US" sz="900" dirty="0"/>
          </a:p>
        </p:txBody>
      </p:sp>
      <p:sp>
        <p:nvSpPr>
          <p:cNvPr id="42" name="Text 40"/>
          <p:cNvSpPr/>
          <p:nvPr/>
        </p:nvSpPr>
        <p:spPr>
          <a:xfrm>
            <a:off x="6629400" y="5257800"/>
            <a:ext cx="4663440" cy="365760"/>
          </a:xfrm>
          <a:prstGeom prst="rect">
            <a:avLst/>
          </a:prstGeom>
          <a:noFill/>
          <a:ln/>
        </p:spPr>
        <p:txBody>
          <a:bodyPr wrap="square" rtlCol="0" anchor="ctr"/>
          <a:lstStyle/>
          <a:p>
            <a:pPr indent="0" marL="0">
              <a:lnSpc>
                <a:spcPct val="120000"/>
              </a:lnSpc>
              <a:buNone/>
            </a:pPr>
            <a:r>
              <a:rPr lang="en-US" sz="950" i="1" dirty="0">
                <a:solidFill>
                  <a:srgbClr val="AFC2D6"/>
                </a:solidFill>
                <a:latin typeface="Montserrat" pitchFamily="34" charset="0"/>
                <a:ea typeface="Montserrat" pitchFamily="34" charset="-122"/>
                <a:cs typeface="Montserrat" pitchFamily="34" charset="-120"/>
              </a:rPr>
              <a:t>Cortex cannot convert a deterministic mismatch into a PASS.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every dashboard tab receives the same evidence contract</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10 / 11</a:t>
            </a:r>
            <a:endParaRPr lang="en-US" sz="900" dirty="0"/>
          </a:p>
        </p:txBody>
      </p:sp>
      <p:sp>
        <p:nvSpPr>
          <p:cNvPr id="8" name="Shape 6"/>
          <p:cNvSpPr/>
          <p:nvPr/>
        </p:nvSpPr>
        <p:spPr>
          <a:xfrm>
            <a:off x="640080" y="2148840"/>
            <a:ext cx="3520440" cy="1737360"/>
          </a:xfrm>
          <a:prstGeom prst="roundRect">
            <a:avLst>
              <a:gd name="adj" fmla="val 3684"/>
            </a:avLst>
          </a:prstGeom>
          <a:solidFill>
            <a:srgbClr val="F4F3F0"/>
          </a:solidFill>
          <a:ln/>
        </p:spPr>
      </p:sp>
      <p:sp>
        <p:nvSpPr>
          <p:cNvPr id="9" name="Shape 7"/>
          <p:cNvSpPr/>
          <p:nvPr/>
        </p:nvSpPr>
        <p:spPr>
          <a:xfrm>
            <a:off x="868680" y="2377440"/>
            <a:ext cx="502920" cy="502920"/>
          </a:xfrm>
          <a:prstGeom prst="ellipse">
            <a:avLst/>
          </a:prstGeom>
          <a:solidFill>
            <a:srgbClr val="053057"/>
          </a:solidFill>
          <a:ln/>
        </p:spPr>
      </p:sp>
      <p:sp>
        <p:nvSpPr>
          <p:cNvPr id="10" name="Text 8"/>
          <p:cNvSpPr/>
          <p:nvPr/>
        </p:nvSpPr>
        <p:spPr>
          <a:xfrm>
            <a:off x="86868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150876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Summary</a:t>
            </a:r>
            <a:endParaRPr lang="en-US" sz="1400" dirty="0"/>
          </a:p>
        </p:txBody>
      </p:sp>
      <p:sp>
        <p:nvSpPr>
          <p:cNvPr id="12" name="Text 10"/>
          <p:cNvSpPr/>
          <p:nvPr/>
        </p:nvSpPr>
        <p:spPr>
          <a:xfrm>
            <a:off x="86868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Dashboard and sheet verdicts with reasons</a:t>
            </a:r>
            <a:endParaRPr lang="en-US" sz="1000" dirty="0"/>
          </a:p>
        </p:txBody>
      </p:sp>
      <p:sp>
        <p:nvSpPr>
          <p:cNvPr id="13" name="Shape 11"/>
          <p:cNvSpPr/>
          <p:nvPr/>
        </p:nvSpPr>
        <p:spPr>
          <a:xfrm>
            <a:off x="4343400" y="2148840"/>
            <a:ext cx="3520440" cy="1737360"/>
          </a:xfrm>
          <a:prstGeom prst="roundRect">
            <a:avLst>
              <a:gd name="adj" fmla="val 3684"/>
            </a:avLst>
          </a:prstGeom>
          <a:solidFill>
            <a:srgbClr val="F4F3F0"/>
          </a:solidFill>
          <a:ln/>
        </p:spPr>
      </p:sp>
      <p:sp>
        <p:nvSpPr>
          <p:cNvPr id="14" name="Shape 12"/>
          <p:cNvSpPr/>
          <p:nvPr/>
        </p:nvSpPr>
        <p:spPr>
          <a:xfrm>
            <a:off x="4572000" y="2377440"/>
            <a:ext cx="502920" cy="502920"/>
          </a:xfrm>
          <a:prstGeom prst="ellipse">
            <a:avLst/>
          </a:prstGeom>
          <a:solidFill>
            <a:srgbClr val="053057"/>
          </a:solidFill>
          <a:ln/>
        </p:spPr>
      </p:sp>
      <p:sp>
        <p:nvSpPr>
          <p:cNvPr id="15" name="Text 13"/>
          <p:cNvSpPr/>
          <p:nvPr/>
        </p:nvSpPr>
        <p:spPr>
          <a:xfrm>
            <a:off x="457200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521208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Visual</a:t>
            </a:r>
            <a:endParaRPr lang="en-US" sz="1400" dirty="0"/>
          </a:p>
        </p:txBody>
      </p:sp>
      <p:sp>
        <p:nvSpPr>
          <p:cNvPr id="17" name="Text 15"/>
          <p:cNvSpPr/>
          <p:nvPr/>
        </p:nvSpPr>
        <p:spPr>
          <a:xfrm>
            <a:off x="457200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and Streamlit tab comparison when source capture is available</a:t>
            </a:r>
            <a:endParaRPr lang="en-US" sz="1000" dirty="0"/>
          </a:p>
        </p:txBody>
      </p:sp>
      <p:sp>
        <p:nvSpPr>
          <p:cNvPr id="18" name="Shape 16"/>
          <p:cNvSpPr/>
          <p:nvPr/>
        </p:nvSpPr>
        <p:spPr>
          <a:xfrm>
            <a:off x="8046720" y="2148840"/>
            <a:ext cx="3520440" cy="1737360"/>
          </a:xfrm>
          <a:prstGeom prst="roundRect">
            <a:avLst>
              <a:gd name="adj" fmla="val 3684"/>
            </a:avLst>
          </a:prstGeom>
          <a:solidFill>
            <a:srgbClr val="F4F3F0"/>
          </a:solidFill>
          <a:ln/>
        </p:spPr>
      </p:sp>
      <p:sp>
        <p:nvSpPr>
          <p:cNvPr id="19" name="Shape 17"/>
          <p:cNvSpPr/>
          <p:nvPr/>
        </p:nvSpPr>
        <p:spPr>
          <a:xfrm>
            <a:off x="8275320" y="2377440"/>
            <a:ext cx="502920" cy="502920"/>
          </a:xfrm>
          <a:prstGeom prst="ellipse">
            <a:avLst/>
          </a:prstGeom>
          <a:solidFill>
            <a:srgbClr val="053057"/>
          </a:solidFill>
          <a:ln/>
        </p:spPr>
      </p:sp>
      <p:sp>
        <p:nvSpPr>
          <p:cNvPr id="20" name="Text 18"/>
          <p:cNvSpPr/>
          <p:nvPr/>
        </p:nvSpPr>
        <p:spPr>
          <a:xfrm>
            <a:off x="827532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1" name="Text 19"/>
          <p:cNvSpPr/>
          <p:nvPr/>
        </p:nvSpPr>
        <p:spPr>
          <a:xfrm>
            <a:off x="891540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Chart data</a:t>
            </a:r>
            <a:endParaRPr lang="en-US" sz="1400" dirty="0"/>
          </a:p>
        </p:txBody>
      </p:sp>
      <p:sp>
        <p:nvSpPr>
          <p:cNvPr id="22" name="Text 20"/>
          <p:cNvSpPr/>
          <p:nvPr/>
        </p:nvSpPr>
        <p:spPr>
          <a:xfrm>
            <a:off x="827532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Every displayed key compared across Tableau, Streamlit and backend</a:t>
            </a:r>
            <a:endParaRPr lang="en-US" sz="1000" dirty="0"/>
          </a:p>
        </p:txBody>
      </p:sp>
      <p:sp>
        <p:nvSpPr>
          <p:cNvPr id="23" name="Shape 21"/>
          <p:cNvSpPr/>
          <p:nvPr/>
        </p:nvSpPr>
        <p:spPr>
          <a:xfrm>
            <a:off x="640080" y="4114800"/>
            <a:ext cx="3520440" cy="1737360"/>
          </a:xfrm>
          <a:prstGeom prst="roundRect">
            <a:avLst>
              <a:gd name="adj" fmla="val 3684"/>
            </a:avLst>
          </a:prstGeom>
          <a:solidFill>
            <a:srgbClr val="F4F3F0"/>
          </a:solidFill>
          <a:ln/>
        </p:spPr>
      </p:sp>
      <p:sp>
        <p:nvSpPr>
          <p:cNvPr id="24" name="Shape 22"/>
          <p:cNvSpPr/>
          <p:nvPr/>
        </p:nvSpPr>
        <p:spPr>
          <a:xfrm>
            <a:off x="868680" y="4343400"/>
            <a:ext cx="502920" cy="502920"/>
          </a:xfrm>
          <a:prstGeom prst="ellipse">
            <a:avLst/>
          </a:prstGeom>
          <a:solidFill>
            <a:srgbClr val="053057"/>
          </a:solidFill>
          <a:ln/>
        </p:spPr>
      </p:sp>
      <p:sp>
        <p:nvSpPr>
          <p:cNvPr id="25" name="Text 23"/>
          <p:cNvSpPr/>
          <p:nvPr/>
        </p:nvSpPr>
        <p:spPr>
          <a:xfrm>
            <a:off x="86868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150876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Formulas</a:t>
            </a:r>
            <a:endParaRPr lang="en-US" sz="1400" dirty="0"/>
          </a:p>
        </p:txBody>
      </p:sp>
      <p:sp>
        <p:nvSpPr>
          <p:cNvPr id="27" name="Text 25"/>
          <p:cNvSpPr/>
          <p:nvPr/>
        </p:nvSpPr>
        <p:spPr>
          <a:xfrm>
            <a:off x="86868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calculation mapped to generated Snowflake SQL</a:t>
            </a:r>
            <a:endParaRPr lang="en-US" sz="1000" dirty="0"/>
          </a:p>
        </p:txBody>
      </p:sp>
      <p:sp>
        <p:nvSpPr>
          <p:cNvPr id="28" name="Shape 26"/>
          <p:cNvSpPr/>
          <p:nvPr/>
        </p:nvSpPr>
        <p:spPr>
          <a:xfrm>
            <a:off x="4343400" y="4114800"/>
            <a:ext cx="3520440" cy="1737360"/>
          </a:xfrm>
          <a:prstGeom prst="roundRect">
            <a:avLst>
              <a:gd name="adj" fmla="val 3684"/>
            </a:avLst>
          </a:prstGeom>
          <a:solidFill>
            <a:srgbClr val="F4F3F0"/>
          </a:solidFill>
          <a:ln/>
        </p:spPr>
      </p:sp>
      <p:sp>
        <p:nvSpPr>
          <p:cNvPr id="29" name="Shape 27"/>
          <p:cNvSpPr/>
          <p:nvPr/>
        </p:nvSpPr>
        <p:spPr>
          <a:xfrm>
            <a:off x="4572000" y="4343400"/>
            <a:ext cx="502920" cy="502920"/>
          </a:xfrm>
          <a:prstGeom prst="ellipse">
            <a:avLst/>
          </a:prstGeom>
          <a:solidFill>
            <a:srgbClr val="053057"/>
          </a:solidFill>
          <a:ln/>
        </p:spPr>
      </p:sp>
      <p:sp>
        <p:nvSpPr>
          <p:cNvPr id="30" name="Text 28"/>
          <p:cNvSpPr/>
          <p:nvPr/>
        </p:nvSpPr>
        <p:spPr>
          <a:xfrm>
            <a:off x="457200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31" name="Text 29"/>
          <p:cNvSpPr/>
          <p:nvPr/>
        </p:nvSpPr>
        <p:spPr>
          <a:xfrm>
            <a:off x="521208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Interactions</a:t>
            </a:r>
            <a:endParaRPr lang="en-US" sz="1400" dirty="0"/>
          </a:p>
        </p:txBody>
      </p:sp>
      <p:sp>
        <p:nvSpPr>
          <p:cNvPr id="32" name="Text 30"/>
          <p:cNvSpPr/>
          <p:nvPr/>
        </p:nvSpPr>
        <p:spPr>
          <a:xfrm>
            <a:off x="457200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Filters, parameters, sorting and tooltip behavior checked</a:t>
            </a:r>
            <a:endParaRPr lang="en-US" sz="1000" dirty="0"/>
          </a:p>
        </p:txBody>
      </p:sp>
      <p:sp>
        <p:nvSpPr>
          <p:cNvPr id="33" name="Shape 31"/>
          <p:cNvSpPr/>
          <p:nvPr/>
        </p:nvSpPr>
        <p:spPr>
          <a:xfrm>
            <a:off x="8046720" y="4114800"/>
            <a:ext cx="3520440" cy="1737360"/>
          </a:xfrm>
          <a:prstGeom prst="roundRect">
            <a:avLst>
              <a:gd name="adj" fmla="val 3684"/>
            </a:avLst>
          </a:prstGeom>
          <a:solidFill>
            <a:srgbClr val="F4F3F0"/>
          </a:solidFill>
          <a:ln/>
        </p:spPr>
      </p:sp>
      <p:sp>
        <p:nvSpPr>
          <p:cNvPr id="34" name="Shape 32"/>
          <p:cNvSpPr/>
          <p:nvPr/>
        </p:nvSpPr>
        <p:spPr>
          <a:xfrm>
            <a:off x="8275320" y="4343400"/>
            <a:ext cx="502920" cy="502920"/>
          </a:xfrm>
          <a:prstGeom prst="ellipse">
            <a:avLst/>
          </a:prstGeom>
          <a:solidFill>
            <a:srgbClr val="053057"/>
          </a:solidFill>
          <a:ln/>
        </p:spPr>
      </p:sp>
      <p:sp>
        <p:nvSpPr>
          <p:cNvPr id="35" name="Text 33"/>
          <p:cNvSpPr/>
          <p:nvPr/>
        </p:nvSpPr>
        <p:spPr>
          <a:xfrm>
            <a:off x="827532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6</a:t>
            </a:r>
            <a:endParaRPr lang="en-US" sz="1800" dirty="0"/>
          </a:p>
        </p:txBody>
      </p:sp>
      <p:sp>
        <p:nvSpPr>
          <p:cNvPr id="36" name="Text 34"/>
          <p:cNvSpPr/>
          <p:nvPr/>
        </p:nvSpPr>
        <p:spPr>
          <a:xfrm>
            <a:off x="891540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Artifacts</a:t>
            </a:r>
            <a:endParaRPr lang="en-US" sz="1400" dirty="0"/>
          </a:p>
        </p:txBody>
      </p:sp>
      <p:sp>
        <p:nvSpPr>
          <p:cNvPr id="37" name="Text 35"/>
          <p:cNvSpPr/>
          <p:nvPr/>
        </p:nvSpPr>
        <p:spPr>
          <a:xfrm>
            <a:off x="827532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Full rows, mismatches, queries and notebook retained for audit</a:t>
            </a:r>
            <a:endParaRPr lang="en-US" sz="1000" dirty="0"/>
          </a:p>
        </p:txBody>
      </p:sp>
      <p:sp>
        <p:nvSpPr>
          <p:cNvPr id="38" name="Text 36"/>
          <p:cNvSpPr/>
          <p:nvPr/>
        </p:nvSpPr>
        <p:spPr>
          <a:xfrm>
            <a:off x="640080" y="603504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The HTML report is the readable entry point; the notebook and row-level artifacts provide the complete proof set.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8"/>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Platform architecture</a:t>
            </a:r>
            <a:endParaRPr lang="en-US" sz="2600" dirty="0"/>
          </a:p>
        </p:txBody>
      </p:sp>
      <p:sp>
        <p:nvSpPr>
          <p:cNvPr id="6" name="Text 4"/>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One engine runs once per workbook across the estate; Cortex sits inside the account; three independent validations before anything is approved.</a:t>
            </a:r>
            <a:endParaRPr lang="en-US" sz="1300" dirty="0"/>
          </a:p>
        </p:txBody>
      </p:sp>
      <p:sp>
        <p:nvSpPr>
          <p:cNvPr id="7" name="Text 5"/>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8" name="Text 6"/>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11 / 11</a:t>
            </a:r>
            <a:endParaRPr lang="en-US" sz="900" dirty="0"/>
          </a:p>
        </p:txBody>
      </p:sp>
      <p:pic>
        <p:nvPicPr>
          <p:cNvPr id="9" name="Image 0" descr="architecture.png">    </p:cNvPr>
          <p:cNvPicPr>
            <a:picLocks noChangeAspect="1"/>
          </p:cNvPicPr>
          <p:nvPr/>
        </p:nvPicPr>
        <p:blipFill>
          <a:blip r:embed="rId1"/>
          <a:stretch>
            <a:fillRect/>
          </a:stretch>
        </p:blipFill>
        <p:spPr>
          <a:xfrm>
            <a:off x="2370482" y="1691640"/>
            <a:ext cx="7450730" cy="4617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Blend360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Blend360</dc:creator>
  <cp:lastModifiedBy>Blend360</cp:lastModifiedBy>
  <cp:revision>1</cp:revision>
  <dcterms:created xsi:type="dcterms:W3CDTF">2026-08-05T17:46:25Z</dcterms:created>
  <dcterms:modified xsi:type="dcterms:W3CDTF">2026-08-05T17:46:25Z</dcterms:modified>
</cp:coreProperties>
</file>