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05453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cost conversation. Three recurring costs: the licence, the specialist skill, and the second platform. The middle column is what most customers actually do — renew, hire more, and maintain both — which changes nothing. Only the third column removes the spend rather than moving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Cyan-bordered stages are where Cortex does the work — three of the five. Human-in-the-loop is an enterprise control, not a caveat: the AI proposes, it is proven against real data, a person signs it off, and the decision is audited. Mention assessment — a customer can see what a migration involves before committing to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on the worked example — it makes Cortex's contribution concrete: a genuinely hard Tableau construct, the SQL Cortex produced, and the fact it was executed and checked against an independent ground truth before anyone accepted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both columns deliberately. The left is the customer's business case — that is what wins the account. The right is what it means for Snowflake, and it is the reason to co-sell it. The closing bar is the strongest single fact in the deck: an extract-backed dashboard sends Snowflake no query workload whatsoever, because Tableau's engine serves it. Migration converts that to warehouse compute on every view.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close and it is the slide the rest of the deck exists to earn. Three reasons this is worth Snowflake's time — repeatable rather than bespoke, displacement of a competing stack, and pull-through of several products in one motion — then three specific asks. Do not leave the room without a response to the first ask: named accounts is the one that turns this into a pipeline.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F0"/>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marL="0" indent="0">
              <a:buNone/>
            </a:pPr>
            <a:r>
              <a:rPr lang="en-US" sz="3200" b="1" dirty="0">
                <a:solidFill>
                  <a:srgbClr val="053057"/>
                </a:solidFill>
                <a:latin typeface="Montserrat" pitchFamily="34" charset="0"/>
                <a:ea typeface="Montserrat" pitchFamily="34" charset="-122"/>
                <a:cs typeface="Montserrat" pitchFamily="34" charset="-120"/>
              </a:rPr>
              <a:t>All We Want Is Our Dashboards</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marL="0" indent="0">
              <a:buNone/>
            </a:pPr>
            <a:r>
              <a:rPr lang="en-US" sz="1400" dirty="0">
                <a:solidFill>
                  <a:srgbClr val="6B7C88"/>
                </a:solidFill>
                <a:latin typeface="Montserrat" pitchFamily="34" charset="0"/>
                <a:ea typeface="Montserrat" pitchFamily="34" charset="-122"/>
                <a:cs typeface="Montserrat" pitchFamily="34" charset="-120"/>
              </a:rPr>
              <a:t>The conversation in a Tableau-heavy account — paying a second platform to display data Snowflake already holds</a:t>
            </a:r>
            <a:endParaRPr lang="en-US" sz="1400" dirty="0"/>
          </a:p>
        </p:txBody>
      </p:sp>
      <p:sp>
        <p:nvSpPr>
          <p:cNvPr id="4" name="Text 2"/>
          <p:cNvSpPr/>
          <p:nvPr/>
        </p:nvSpPr>
        <p:spPr>
          <a:xfrm>
            <a:off x="548640" y="1243584"/>
            <a:ext cx="3575304" cy="256032"/>
          </a:xfrm>
          <a:prstGeom prst="rect">
            <a:avLst/>
          </a:prstGeom>
          <a:noFill/>
          <a:ln/>
        </p:spPr>
        <p:txBody>
          <a:bodyPr wrap="square" lIns="0" tIns="0" rIns="0" bIns="0" rtlCol="0" anchor="ctr"/>
          <a:lstStyle/>
          <a:p>
            <a:pPr marL="0" indent="0">
              <a:buNone/>
            </a:pPr>
            <a:r>
              <a:rPr lang="en-US" sz="1100" b="1" kern="0" spc="160" dirty="0">
                <a:solidFill>
                  <a:srgbClr val="6B7C88"/>
                </a:solidFill>
                <a:latin typeface="Montserrat" pitchFamily="34" charset="0"/>
                <a:ea typeface="Montserrat" pitchFamily="34" charset="-122"/>
                <a:cs typeface="Montserrat" pitchFamily="34" charset="-120"/>
              </a:rPr>
              <a:t>THE CHALLENGE</a:t>
            </a:r>
            <a:endParaRPr lang="en-US" sz="1100" dirty="0"/>
          </a:p>
        </p:txBody>
      </p:sp>
      <p:sp>
        <p:nvSpPr>
          <p:cNvPr id="5" name="Text 3"/>
          <p:cNvSpPr/>
          <p:nvPr/>
        </p:nvSpPr>
        <p:spPr>
          <a:xfrm>
            <a:off x="4306824" y="1243584"/>
            <a:ext cx="3575304" cy="256032"/>
          </a:xfrm>
          <a:prstGeom prst="rect">
            <a:avLst/>
          </a:prstGeom>
          <a:noFill/>
          <a:ln/>
        </p:spPr>
        <p:txBody>
          <a:bodyPr wrap="square" lIns="0" tIns="0" rIns="0" bIns="0" rtlCol="0" anchor="ctr"/>
          <a:lstStyle/>
          <a:p>
            <a:pPr marL="0" indent="0">
              <a:buNone/>
            </a:pPr>
            <a:r>
              <a:rPr lang="en-US" sz="1100" b="1" kern="0" spc="160" dirty="0">
                <a:solidFill>
                  <a:srgbClr val="6B7C88"/>
                </a:solidFill>
                <a:latin typeface="Montserrat" pitchFamily="34" charset="0"/>
                <a:ea typeface="Montserrat" pitchFamily="34" charset="-122"/>
                <a:cs typeface="Montserrat" pitchFamily="34" charset="-120"/>
              </a:rPr>
              <a:t>TRADITIONAL SOLUTION</a:t>
            </a:r>
            <a:endParaRPr lang="en-US" sz="1100" dirty="0"/>
          </a:p>
        </p:txBody>
      </p:sp>
      <p:sp>
        <p:nvSpPr>
          <p:cNvPr id="6" name="Text 4"/>
          <p:cNvSpPr/>
          <p:nvPr/>
        </p:nvSpPr>
        <p:spPr>
          <a:xfrm>
            <a:off x="8065008" y="1243584"/>
            <a:ext cx="3575304" cy="256032"/>
          </a:xfrm>
          <a:prstGeom prst="rect">
            <a:avLst/>
          </a:prstGeom>
          <a:noFill/>
          <a:ln/>
        </p:spPr>
        <p:txBody>
          <a:bodyPr wrap="square" lIns="0" tIns="0" rIns="0" bIns="0" rtlCol="0" anchor="ctr"/>
          <a:lstStyle/>
          <a:p>
            <a:pPr marL="0" indent="0">
              <a:buNone/>
            </a:pPr>
            <a:r>
              <a:rPr lang="en-US" sz="1100" b="1" kern="0" spc="160" dirty="0">
                <a:solidFill>
                  <a:srgbClr val="053057"/>
                </a:solidFill>
                <a:latin typeface="Montserrat" pitchFamily="34" charset="0"/>
                <a:ea typeface="Montserrat" pitchFamily="34" charset="-122"/>
                <a:cs typeface="Montserrat" pitchFamily="34" charset="-120"/>
              </a:rPr>
              <a:t>THE ACCELERATOR</a:t>
            </a:r>
            <a:endParaRPr lang="en-US" sz="1100" dirty="0"/>
          </a:p>
        </p:txBody>
      </p:sp>
      <p:sp>
        <p:nvSpPr>
          <p:cNvPr id="7" name="Shape 5"/>
          <p:cNvSpPr/>
          <p:nvPr/>
        </p:nvSpPr>
        <p:spPr>
          <a:xfrm>
            <a:off x="548640" y="1554480"/>
            <a:ext cx="3575304" cy="1316736"/>
          </a:xfrm>
          <a:prstGeom prst="roundRect">
            <a:avLst>
              <a:gd name="adj" fmla="val 5556"/>
            </a:avLst>
          </a:prstGeom>
          <a:solidFill>
            <a:srgbClr val="FFFFFF"/>
          </a:solidFill>
          <a:ln w="12700">
            <a:solidFill>
              <a:srgbClr val="DFE3E6"/>
            </a:solidFill>
            <a:prstDash val="solid"/>
          </a:ln>
        </p:spPr>
        <p:txBody>
          <a:bodyPr/>
          <a:lstStyle/>
          <a:p>
            <a:endParaRPr lang="en-IN"/>
          </a:p>
        </p:txBody>
      </p:sp>
      <p:sp>
        <p:nvSpPr>
          <p:cNvPr id="8" name="Text 6"/>
          <p:cNvSpPr/>
          <p:nvPr/>
        </p:nvSpPr>
        <p:spPr>
          <a:xfrm>
            <a:off x="786384" y="1719072"/>
            <a:ext cx="3099816" cy="347472"/>
          </a:xfrm>
          <a:prstGeom prst="rect">
            <a:avLst/>
          </a:prstGeom>
          <a:noFill/>
          <a:ln/>
        </p:spPr>
        <p:txBody>
          <a:bodyPr wrap="square" lIns="0" tIns="0" rIns="0" bIns="0" rtlCol="0" anchor="ctr"/>
          <a:lstStyle/>
          <a:p>
            <a:pPr marL="0" indent="0">
              <a:buNone/>
            </a:pPr>
            <a:r>
              <a:rPr lang="en-US" sz="1250" b="1" dirty="0">
                <a:solidFill>
                  <a:srgbClr val="314550"/>
                </a:solidFill>
                <a:latin typeface="Montserrat" pitchFamily="34" charset="0"/>
                <a:ea typeface="Montserrat" pitchFamily="34" charset="-122"/>
                <a:cs typeface="Montserrat" pitchFamily="34" charset="-120"/>
              </a:rPr>
              <a:t>Licences on top of Snowflake</a:t>
            </a:r>
            <a:endParaRPr lang="en-US" sz="1250" dirty="0"/>
          </a:p>
        </p:txBody>
      </p:sp>
      <p:sp>
        <p:nvSpPr>
          <p:cNvPr id="9" name="Text 7"/>
          <p:cNvSpPr/>
          <p:nvPr/>
        </p:nvSpPr>
        <p:spPr>
          <a:xfrm>
            <a:off x="786384" y="2121408"/>
            <a:ext cx="3099816" cy="658368"/>
          </a:xfrm>
          <a:prstGeom prst="rect">
            <a:avLst/>
          </a:prstGeom>
          <a:noFill/>
          <a:ln/>
        </p:spPr>
        <p:txBody>
          <a:bodyPr wrap="square" lIns="0" tIns="0" rIns="0" bIns="0" rtlCol="0" anchor="ctr"/>
          <a:lstStyle/>
          <a:p>
            <a:pPr marL="0" indent="0">
              <a:buNone/>
            </a:pPr>
            <a:r>
              <a:rPr lang="en-US" sz="950" dirty="0">
                <a:solidFill>
                  <a:srgbClr val="6B7C88"/>
                </a:solidFill>
                <a:latin typeface="Montserrat" pitchFamily="34" charset="0"/>
                <a:ea typeface="Montserrat" pitchFamily="34" charset="-122"/>
                <a:cs typeface="Montserrat" pitchFamily="34" charset="-120"/>
              </a:rPr>
              <a:t>Creator and viewer licences billed per user, every year, for a presentation layer sitting on data Snowflake already holds.</a:t>
            </a:r>
            <a:endParaRPr lang="en-US" sz="950" dirty="0"/>
          </a:p>
        </p:txBody>
      </p:sp>
      <p:sp>
        <p:nvSpPr>
          <p:cNvPr id="10" name="Shape 8"/>
          <p:cNvSpPr/>
          <p:nvPr/>
        </p:nvSpPr>
        <p:spPr>
          <a:xfrm>
            <a:off x="4306824" y="1554480"/>
            <a:ext cx="3575304" cy="1316736"/>
          </a:xfrm>
          <a:prstGeom prst="roundRect">
            <a:avLst>
              <a:gd name="adj" fmla="val 5556"/>
            </a:avLst>
          </a:prstGeom>
          <a:solidFill>
            <a:srgbClr val="FFFFFF"/>
          </a:solidFill>
          <a:ln w="12700">
            <a:solidFill>
              <a:srgbClr val="DFE3E6"/>
            </a:solidFill>
            <a:prstDash val="solid"/>
          </a:ln>
        </p:spPr>
        <p:txBody>
          <a:bodyPr/>
          <a:lstStyle/>
          <a:p>
            <a:endParaRPr lang="en-IN"/>
          </a:p>
        </p:txBody>
      </p:sp>
      <p:sp>
        <p:nvSpPr>
          <p:cNvPr id="11" name="Text 9"/>
          <p:cNvSpPr/>
          <p:nvPr/>
        </p:nvSpPr>
        <p:spPr>
          <a:xfrm>
            <a:off x="4544568" y="1719072"/>
            <a:ext cx="3099816" cy="347472"/>
          </a:xfrm>
          <a:prstGeom prst="rect">
            <a:avLst/>
          </a:prstGeom>
          <a:noFill/>
          <a:ln/>
        </p:spPr>
        <p:txBody>
          <a:bodyPr wrap="square" lIns="0" tIns="0" rIns="0" bIns="0" rtlCol="0" anchor="ctr"/>
          <a:lstStyle/>
          <a:p>
            <a:pPr marL="0" indent="0">
              <a:buNone/>
            </a:pPr>
            <a:r>
              <a:rPr lang="en-US" sz="1250" b="1" dirty="0">
                <a:solidFill>
                  <a:srgbClr val="314550"/>
                </a:solidFill>
                <a:latin typeface="Montserrat" pitchFamily="34" charset="0"/>
                <a:ea typeface="Montserrat" pitchFamily="34" charset="-122"/>
                <a:cs typeface="Montserrat" pitchFamily="34" charset="-120"/>
              </a:rPr>
              <a:t>Renew, and keep paying</a:t>
            </a:r>
            <a:endParaRPr lang="en-US" sz="1250" dirty="0"/>
          </a:p>
        </p:txBody>
      </p:sp>
      <p:sp>
        <p:nvSpPr>
          <p:cNvPr id="12" name="Text 10"/>
          <p:cNvSpPr/>
          <p:nvPr/>
        </p:nvSpPr>
        <p:spPr>
          <a:xfrm>
            <a:off x="4544568" y="2121408"/>
            <a:ext cx="3099816" cy="658368"/>
          </a:xfrm>
          <a:prstGeom prst="rect">
            <a:avLst/>
          </a:prstGeom>
          <a:noFill/>
          <a:ln/>
        </p:spPr>
        <p:txBody>
          <a:bodyPr wrap="square" lIns="0" tIns="0" rIns="0" bIns="0" rtlCol="0" anchor="ctr"/>
          <a:lstStyle/>
          <a:p>
            <a:pPr marL="0" indent="0">
              <a:buNone/>
            </a:pPr>
            <a:r>
              <a:rPr lang="en-US" sz="950" dirty="0">
                <a:solidFill>
                  <a:srgbClr val="6B7C88"/>
                </a:solidFill>
                <a:latin typeface="Montserrat" pitchFamily="34" charset="0"/>
                <a:ea typeface="Montserrat" pitchFamily="34" charset="-122"/>
                <a:cs typeface="Montserrat" pitchFamily="34" charset="-120"/>
              </a:rPr>
              <a:t>The licence renews because the dashboards live there. Cost grows with every viewer added.</a:t>
            </a:r>
            <a:endParaRPr lang="en-US" sz="950" dirty="0"/>
          </a:p>
        </p:txBody>
      </p:sp>
      <p:sp>
        <p:nvSpPr>
          <p:cNvPr id="13" name="Shape 11"/>
          <p:cNvSpPr/>
          <p:nvPr/>
        </p:nvSpPr>
        <p:spPr>
          <a:xfrm>
            <a:off x="8065008" y="1554480"/>
            <a:ext cx="3575304" cy="1316736"/>
          </a:xfrm>
          <a:prstGeom prst="roundRect">
            <a:avLst>
              <a:gd name="adj" fmla="val 5556"/>
            </a:avLst>
          </a:prstGeom>
          <a:solidFill>
            <a:srgbClr val="053057"/>
          </a:solidFill>
          <a:ln w="12700">
            <a:solidFill>
              <a:srgbClr val="053057"/>
            </a:solidFill>
            <a:prstDash val="solid"/>
          </a:ln>
        </p:spPr>
        <p:txBody>
          <a:bodyPr/>
          <a:lstStyle/>
          <a:p>
            <a:endParaRPr lang="en-IN"/>
          </a:p>
        </p:txBody>
      </p:sp>
      <p:sp>
        <p:nvSpPr>
          <p:cNvPr id="14" name="Shape 12"/>
          <p:cNvSpPr/>
          <p:nvPr/>
        </p:nvSpPr>
        <p:spPr>
          <a:xfrm>
            <a:off x="8302752" y="1773936"/>
            <a:ext cx="237744" cy="237744"/>
          </a:xfrm>
          <a:prstGeom prst="ellipse">
            <a:avLst/>
          </a:prstGeom>
          <a:solidFill>
            <a:srgbClr val="00EDED"/>
          </a:solidFill>
          <a:ln/>
        </p:spPr>
        <p:txBody>
          <a:bodyPr/>
          <a:lstStyle/>
          <a:p>
            <a:endParaRPr lang="en-IN"/>
          </a:p>
        </p:txBody>
      </p:sp>
      <p:sp>
        <p:nvSpPr>
          <p:cNvPr id="15" name="Text 13"/>
          <p:cNvSpPr/>
          <p:nvPr/>
        </p:nvSpPr>
        <p:spPr>
          <a:xfrm>
            <a:off x="8631936" y="1719072"/>
            <a:ext cx="2770632" cy="347472"/>
          </a:xfrm>
          <a:prstGeom prst="rect">
            <a:avLst/>
          </a:prstGeom>
          <a:noFill/>
          <a:ln/>
        </p:spPr>
        <p:txBody>
          <a:bodyPr wrap="square" lIns="0" tIns="0" rIns="0" bIns="0" rtlCol="0" anchor="ctr"/>
          <a:lstStyle/>
          <a:p>
            <a:pPr marL="0" indent="0">
              <a:buNone/>
            </a:pPr>
            <a:r>
              <a:rPr lang="en-US" sz="1250" b="1" dirty="0">
                <a:solidFill>
                  <a:srgbClr val="FFFFFF"/>
                </a:solidFill>
                <a:latin typeface="Montserrat" pitchFamily="34" charset="0"/>
                <a:ea typeface="Montserrat" pitchFamily="34" charset="-122"/>
                <a:cs typeface="Montserrat" pitchFamily="34" charset="-120"/>
              </a:rPr>
              <a:t>Dashboards move to what you own</a:t>
            </a:r>
            <a:endParaRPr lang="en-US" sz="1250" dirty="0"/>
          </a:p>
        </p:txBody>
      </p:sp>
      <p:sp>
        <p:nvSpPr>
          <p:cNvPr id="16" name="Text 14"/>
          <p:cNvSpPr/>
          <p:nvPr/>
        </p:nvSpPr>
        <p:spPr>
          <a:xfrm>
            <a:off x="8302752" y="2121408"/>
            <a:ext cx="3099816" cy="658368"/>
          </a:xfrm>
          <a:prstGeom prst="rect">
            <a:avLst/>
          </a:prstGeom>
          <a:noFill/>
          <a:ln/>
        </p:spPr>
        <p:txBody>
          <a:bodyPr wrap="square" lIns="0" tIns="0" rIns="0" bIns="0" rtlCol="0" anchor="ctr"/>
          <a:lstStyle/>
          <a:p>
            <a:pPr marL="0" indent="0">
              <a:buNone/>
            </a:pPr>
            <a:r>
              <a:rPr lang="en-US" sz="950" dirty="0">
                <a:solidFill>
                  <a:srgbClr val="A2F3F3"/>
                </a:solidFill>
                <a:latin typeface="Montserrat" pitchFamily="34" charset="0"/>
                <a:ea typeface="Montserrat" pitchFamily="34" charset="-122"/>
                <a:cs typeface="Montserrat" pitchFamily="34" charset="-120"/>
              </a:rPr>
              <a:t>Streamlit is already part of Snowflake. The same dashboards run with no BI licence underneath them.</a:t>
            </a:r>
            <a:endParaRPr lang="en-US" sz="950" dirty="0"/>
          </a:p>
        </p:txBody>
      </p:sp>
      <p:sp>
        <p:nvSpPr>
          <p:cNvPr id="17" name="Shape 15"/>
          <p:cNvSpPr/>
          <p:nvPr/>
        </p:nvSpPr>
        <p:spPr>
          <a:xfrm>
            <a:off x="548640" y="2990088"/>
            <a:ext cx="3575304" cy="1316736"/>
          </a:xfrm>
          <a:prstGeom prst="roundRect">
            <a:avLst>
              <a:gd name="adj" fmla="val 5556"/>
            </a:avLst>
          </a:prstGeom>
          <a:solidFill>
            <a:srgbClr val="FFFFFF"/>
          </a:solidFill>
          <a:ln w="12700">
            <a:solidFill>
              <a:srgbClr val="DFE3E6"/>
            </a:solidFill>
            <a:prstDash val="solid"/>
          </a:ln>
        </p:spPr>
        <p:txBody>
          <a:bodyPr/>
          <a:lstStyle/>
          <a:p>
            <a:endParaRPr lang="en-IN"/>
          </a:p>
        </p:txBody>
      </p:sp>
      <p:sp>
        <p:nvSpPr>
          <p:cNvPr id="18" name="Text 16"/>
          <p:cNvSpPr/>
          <p:nvPr/>
        </p:nvSpPr>
        <p:spPr>
          <a:xfrm>
            <a:off x="786384" y="3154680"/>
            <a:ext cx="3099816" cy="347472"/>
          </a:xfrm>
          <a:prstGeom prst="rect">
            <a:avLst/>
          </a:prstGeom>
          <a:noFill/>
          <a:ln/>
        </p:spPr>
        <p:txBody>
          <a:bodyPr wrap="square" lIns="0" tIns="0" rIns="0" bIns="0" rtlCol="0" anchor="ctr"/>
          <a:lstStyle/>
          <a:p>
            <a:pPr marL="0" indent="0">
              <a:buNone/>
            </a:pPr>
            <a:r>
              <a:rPr lang="en-US" sz="1250" b="1" dirty="0">
                <a:solidFill>
                  <a:srgbClr val="314550"/>
                </a:solidFill>
                <a:latin typeface="Montserrat" pitchFamily="34" charset="0"/>
                <a:ea typeface="Montserrat" pitchFamily="34" charset="-122"/>
                <a:cs typeface="Montserrat" pitchFamily="34" charset="-120"/>
              </a:rPr>
              <a:t>A specialist skill to hire for</a:t>
            </a:r>
            <a:endParaRPr lang="en-US" sz="1250" dirty="0"/>
          </a:p>
        </p:txBody>
      </p:sp>
      <p:sp>
        <p:nvSpPr>
          <p:cNvPr id="19" name="Text 17"/>
          <p:cNvSpPr/>
          <p:nvPr/>
        </p:nvSpPr>
        <p:spPr>
          <a:xfrm>
            <a:off x="786384" y="3557016"/>
            <a:ext cx="3099816" cy="658368"/>
          </a:xfrm>
          <a:prstGeom prst="rect">
            <a:avLst/>
          </a:prstGeom>
          <a:noFill/>
          <a:ln/>
        </p:spPr>
        <p:txBody>
          <a:bodyPr wrap="square" lIns="0" tIns="0" rIns="0" bIns="0" rtlCol="0" anchor="ctr"/>
          <a:lstStyle/>
          <a:p>
            <a:pPr marL="0" indent="0">
              <a:buNone/>
            </a:pPr>
            <a:r>
              <a:rPr lang="en-US" sz="950" dirty="0">
                <a:solidFill>
                  <a:srgbClr val="6B7C88"/>
                </a:solidFill>
                <a:latin typeface="Montserrat" pitchFamily="34" charset="0"/>
                <a:ea typeface="Montserrat" pitchFamily="34" charset="-122"/>
                <a:cs typeface="Montserrat" pitchFamily="34" charset="-120"/>
              </a:rPr>
              <a:t>Tableau development is its own discipline — its own hiring line, contractors, and a handoff on every model change.</a:t>
            </a:r>
            <a:endParaRPr lang="en-US" sz="950" dirty="0"/>
          </a:p>
        </p:txBody>
      </p:sp>
      <p:sp>
        <p:nvSpPr>
          <p:cNvPr id="20" name="Shape 18"/>
          <p:cNvSpPr/>
          <p:nvPr/>
        </p:nvSpPr>
        <p:spPr>
          <a:xfrm>
            <a:off x="4306824" y="2990088"/>
            <a:ext cx="3575304" cy="1316736"/>
          </a:xfrm>
          <a:prstGeom prst="roundRect">
            <a:avLst>
              <a:gd name="adj" fmla="val 5556"/>
            </a:avLst>
          </a:prstGeom>
          <a:solidFill>
            <a:srgbClr val="FFFFFF"/>
          </a:solidFill>
          <a:ln w="12700">
            <a:solidFill>
              <a:srgbClr val="DFE3E6"/>
            </a:solidFill>
            <a:prstDash val="solid"/>
          </a:ln>
        </p:spPr>
        <p:txBody>
          <a:bodyPr/>
          <a:lstStyle/>
          <a:p>
            <a:endParaRPr lang="en-IN"/>
          </a:p>
        </p:txBody>
      </p:sp>
      <p:sp>
        <p:nvSpPr>
          <p:cNvPr id="21" name="Text 19"/>
          <p:cNvSpPr/>
          <p:nvPr/>
        </p:nvSpPr>
        <p:spPr>
          <a:xfrm>
            <a:off x="4544568" y="3154680"/>
            <a:ext cx="3099816" cy="347472"/>
          </a:xfrm>
          <a:prstGeom prst="rect">
            <a:avLst/>
          </a:prstGeom>
          <a:noFill/>
          <a:ln/>
        </p:spPr>
        <p:txBody>
          <a:bodyPr wrap="square" lIns="0" tIns="0" rIns="0" bIns="0" rtlCol="0" anchor="ctr"/>
          <a:lstStyle/>
          <a:p>
            <a:pPr marL="0" indent="0">
              <a:buNone/>
            </a:pPr>
            <a:r>
              <a:rPr lang="en-US" sz="1250" b="1" dirty="0">
                <a:solidFill>
                  <a:srgbClr val="314550"/>
                </a:solidFill>
                <a:latin typeface="Montserrat" pitchFamily="34" charset="0"/>
                <a:ea typeface="Montserrat" pitchFamily="34" charset="-122"/>
                <a:cs typeface="Montserrat" pitchFamily="34" charset="-120"/>
              </a:rPr>
              <a:t>Hire or contract more of it</a:t>
            </a:r>
            <a:endParaRPr lang="en-US" sz="1250" dirty="0"/>
          </a:p>
        </p:txBody>
      </p:sp>
      <p:sp>
        <p:nvSpPr>
          <p:cNvPr id="22" name="Text 20"/>
          <p:cNvSpPr/>
          <p:nvPr/>
        </p:nvSpPr>
        <p:spPr>
          <a:xfrm>
            <a:off x="4544568" y="3557016"/>
            <a:ext cx="3099816" cy="658368"/>
          </a:xfrm>
          <a:prstGeom prst="rect">
            <a:avLst/>
          </a:prstGeom>
          <a:noFill/>
          <a:ln/>
        </p:spPr>
        <p:txBody>
          <a:bodyPr wrap="square" lIns="0" tIns="0" rIns="0" bIns="0" rtlCol="0" anchor="ctr"/>
          <a:lstStyle/>
          <a:p>
            <a:pPr marL="0" indent="0">
              <a:buNone/>
            </a:pPr>
            <a:r>
              <a:rPr lang="en-US" sz="950" dirty="0">
                <a:solidFill>
                  <a:srgbClr val="6B7C88"/>
                </a:solidFill>
                <a:latin typeface="Montserrat" pitchFamily="34" charset="0"/>
                <a:ea typeface="Montserrat" pitchFamily="34" charset="-122"/>
                <a:cs typeface="Montserrat" pitchFamily="34" charset="-120"/>
              </a:rPr>
              <a:t>Capacity is bought in and the dependency deepens with each new dashboard.</a:t>
            </a:r>
            <a:endParaRPr lang="en-US" sz="950" dirty="0"/>
          </a:p>
        </p:txBody>
      </p:sp>
      <p:sp>
        <p:nvSpPr>
          <p:cNvPr id="23" name="Shape 21"/>
          <p:cNvSpPr/>
          <p:nvPr/>
        </p:nvSpPr>
        <p:spPr>
          <a:xfrm>
            <a:off x="8065008" y="2990088"/>
            <a:ext cx="3575304" cy="1316736"/>
          </a:xfrm>
          <a:prstGeom prst="roundRect">
            <a:avLst>
              <a:gd name="adj" fmla="val 5556"/>
            </a:avLst>
          </a:prstGeom>
          <a:solidFill>
            <a:srgbClr val="053057"/>
          </a:solidFill>
          <a:ln w="12700">
            <a:solidFill>
              <a:srgbClr val="053057"/>
            </a:solidFill>
            <a:prstDash val="solid"/>
          </a:ln>
        </p:spPr>
        <p:txBody>
          <a:bodyPr/>
          <a:lstStyle/>
          <a:p>
            <a:endParaRPr lang="en-IN"/>
          </a:p>
        </p:txBody>
      </p:sp>
      <p:sp>
        <p:nvSpPr>
          <p:cNvPr id="24" name="Shape 22"/>
          <p:cNvSpPr/>
          <p:nvPr/>
        </p:nvSpPr>
        <p:spPr>
          <a:xfrm>
            <a:off x="8302752" y="3209544"/>
            <a:ext cx="237744" cy="237744"/>
          </a:xfrm>
          <a:prstGeom prst="ellipse">
            <a:avLst/>
          </a:prstGeom>
          <a:solidFill>
            <a:srgbClr val="00EDED"/>
          </a:solidFill>
          <a:ln/>
        </p:spPr>
        <p:txBody>
          <a:bodyPr/>
          <a:lstStyle/>
          <a:p>
            <a:endParaRPr lang="en-IN"/>
          </a:p>
        </p:txBody>
      </p:sp>
      <p:sp>
        <p:nvSpPr>
          <p:cNvPr id="25" name="Text 23"/>
          <p:cNvSpPr/>
          <p:nvPr/>
        </p:nvSpPr>
        <p:spPr>
          <a:xfrm>
            <a:off x="8631936" y="3154680"/>
            <a:ext cx="2770632" cy="347472"/>
          </a:xfrm>
          <a:prstGeom prst="rect">
            <a:avLst/>
          </a:prstGeom>
          <a:noFill/>
          <a:ln/>
        </p:spPr>
        <p:txBody>
          <a:bodyPr wrap="square" lIns="0" tIns="0" rIns="0" bIns="0" rtlCol="0" anchor="ctr"/>
          <a:lstStyle/>
          <a:p>
            <a:pPr marL="0" indent="0">
              <a:buNone/>
            </a:pPr>
            <a:r>
              <a:rPr lang="en-US" sz="1250" b="1" dirty="0">
                <a:solidFill>
                  <a:srgbClr val="FFFFFF"/>
                </a:solidFill>
                <a:latin typeface="Montserrat" pitchFamily="34" charset="0"/>
                <a:ea typeface="Montserrat" pitchFamily="34" charset="-122"/>
                <a:cs typeface="Montserrat" pitchFamily="34" charset="-120"/>
              </a:rPr>
              <a:t>Your data team already has it</a:t>
            </a:r>
            <a:endParaRPr lang="en-US" sz="1250" dirty="0"/>
          </a:p>
        </p:txBody>
      </p:sp>
      <p:sp>
        <p:nvSpPr>
          <p:cNvPr id="26" name="Text 24"/>
          <p:cNvSpPr/>
          <p:nvPr/>
        </p:nvSpPr>
        <p:spPr>
          <a:xfrm>
            <a:off x="8302752" y="3557016"/>
            <a:ext cx="3099816" cy="658368"/>
          </a:xfrm>
          <a:prstGeom prst="rect">
            <a:avLst/>
          </a:prstGeom>
          <a:noFill/>
          <a:ln/>
        </p:spPr>
        <p:txBody>
          <a:bodyPr wrap="square" lIns="0" tIns="0" rIns="0" bIns="0" rtlCol="0" anchor="ctr"/>
          <a:lstStyle/>
          <a:p>
            <a:pPr marL="0" indent="0">
              <a:buNone/>
            </a:pPr>
            <a:r>
              <a:rPr lang="en-US" sz="950" dirty="0">
                <a:solidFill>
                  <a:srgbClr val="A2F3F3"/>
                </a:solidFill>
                <a:latin typeface="Montserrat" pitchFamily="34" charset="0"/>
                <a:ea typeface="Montserrat" pitchFamily="34" charset="-122"/>
                <a:cs typeface="Montserrat" pitchFamily="34" charset="-120"/>
              </a:rPr>
              <a:t>Streamlit is Python. The engineers already on the platform own the whole path, table to dashboard.</a:t>
            </a:r>
            <a:endParaRPr lang="en-US" sz="950" dirty="0"/>
          </a:p>
        </p:txBody>
      </p:sp>
      <p:sp>
        <p:nvSpPr>
          <p:cNvPr id="27" name="Shape 25"/>
          <p:cNvSpPr/>
          <p:nvPr/>
        </p:nvSpPr>
        <p:spPr>
          <a:xfrm>
            <a:off x="548640" y="4425696"/>
            <a:ext cx="3575304" cy="1316736"/>
          </a:xfrm>
          <a:prstGeom prst="roundRect">
            <a:avLst>
              <a:gd name="adj" fmla="val 5556"/>
            </a:avLst>
          </a:prstGeom>
          <a:solidFill>
            <a:srgbClr val="FFFFFF"/>
          </a:solidFill>
          <a:ln w="12700">
            <a:solidFill>
              <a:srgbClr val="DFE3E6"/>
            </a:solidFill>
            <a:prstDash val="solid"/>
          </a:ln>
        </p:spPr>
        <p:txBody>
          <a:bodyPr/>
          <a:lstStyle/>
          <a:p>
            <a:endParaRPr lang="en-IN"/>
          </a:p>
        </p:txBody>
      </p:sp>
      <p:sp>
        <p:nvSpPr>
          <p:cNvPr id="28" name="Text 26"/>
          <p:cNvSpPr/>
          <p:nvPr/>
        </p:nvSpPr>
        <p:spPr>
          <a:xfrm>
            <a:off x="786384" y="4590288"/>
            <a:ext cx="3099816" cy="347472"/>
          </a:xfrm>
          <a:prstGeom prst="rect">
            <a:avLst/>
          </a:prstGeom>
          <a:noFill/>
          <a:ln/>
        </p:spPr>
        <p:txBody>
          <a:bodyPr wrap="square" lIns="0" tIns="0" rIns="0" bIns="0" rtlCol="0" anchor="ctr"/>
          <a:lstStyle/>
          <a:p>
            <a:pPr marL="0" indent="0">
              <a:buNone/>
            </a:pPr>
            <a:r>
              <a:rPr lang="en-US" sz="1250" b="1" dirty="0">
                <a:solidFill>
                  <a:srgbClr val="314550"/>
                </a:solidFill>
                <a:latin typeface="Montserrat" pitchFamily="34" charset="0"/>
                <a:ea typeface="Montserrat" pitchFamily="34" charset="-122"/>
                <a:cs typeface="Montserrat" pitchFamily="34" charset="-120"/>
              </a:rPr>
              <a:t>A second platform to run</a:t>
            </a:r>
            <a:endParaRPr lang="en-US" sz="1250" dirty="0"/>
          </a:p>
        </p:txBody>
      </p:sp>
      <p:sp>
        <p:nvSpPr>
          <p:cNvPr id="29" name="Text 27"/>
          <p:cNvSpPr/>
          <p:nvPr/>
        </p:nvSpPr>
        <p:spPr>
          <a:xfrm>
            <a:off x="786384" y="4992624"/>
            <a:ext cx="3099816" cy="658368"/>
          </a:xfrm>
          <a:prstGeom prst="rect">
            <a:avLst/>
          </a:prstGeom>
          <a:noFill/>
          <a:ln/>
        </p:spPr>
        <p:txBody>
          <a:bodyPr wrap="square" lIns="0" tIns="0" rIns="0" bIns="0" rtlCol="0" anchor="ctr"/>
          <a:lstStyle/>
          <a:p>
            <a:pPr marL="0" indent="0">
              <a:buNone/>
            </a:pPr>
            <a:r>
              <a:rPr lang="en-US" sz="950" dirty="0">
                <a:solidFill>
                  <a:srgbClr val="6B7C88"/>
                </a:solidFill>
                <a:latin typeface="Montserrat" pitchFamily="34" charset="0"/>
                <a:ea typeface="Montserrat" pitchFamily="34" charset="-122"/>
                <a:cs typeface="Montserrat" pitchFamily="34" charset="-120"/>
              </a:rPr>
              <a:t>Another environment to host, upgrade and support, with access rules re-implemented away from the data.</a:t>
            </a:r>
            <a:endParaRPr lang="en-US" sz="950" dirty="0"/>
          </a:p>
        </p:txBody>
      </p:sp>
      <p:sp>
        <p:nvSpPr>
          <p:cNvPr id="30" name="Shape 28"/>
          <p:cNvSpPr/>
          <p:nvPr/>
        </p:nvSpPr>
        <p:spPr>
          <a:xfrm>
            <a:off x="4306824" y="4425696"/>
            <a:ext cx="3575304" cy="1316736"/>
          </a:xfrm>
          <a:prstGeom prst="roundRect">
            <a:avLst>
              <a:gd name="adj" fmla="val 5556"/>
            </a:avLst>
          </a:prstGeom>
          <a:solidFill>
            <a:srgbClr val="FFFFFF"/>
          </a:solidFill>
          <a:ln w="12700">
            <a:solidFill>
              <a:srgbClr val="DFE3E6"/>
            </a:solidFill>
            <a:prstDash val="solid"/>
          </a:ln>
        </p:spPr>
        <p:txBody>
          <a:bodyPr/>
          <a:lstStyle/>
          <a:p>
            <a:endParaRPr lang="en-IN"/>
          </a:p>
        </p:txBody>
      </p:sp>
      <p:sp>
        <p:nvSpPr>
          <p:cNvPr id="31" name="Text 29"/>
          <p:cNvSpPr/>
          <p:nvPr/>
        </p:nvSpPr>
        <p:spPr>
          <a:xfrm>
            <a:off x="4544568" y="4590288"/>
            <a:ext cx="3099816" cy="347472"/>
          </a:xfrm>
          <a:prstGeom prst="rect">
            <a:avLst/>
          </a:prstGeom>
          <a:noFill/>
          <a:ln/>
        </p:spPr>
        <p:txBody>
          <a:bodyPr wrap="square" lIns="0" tIns="0" rIns="0" bIns="0" rtlCol="0" anchor="ctr"/>
          <a:lstStyle/>
          <a:p>
            <a:pPr marL="0" indent="0">
              <a:buNone/>
            </a:pPr>
            <a:r>
              <a:rPr lang="en-US" sz="1250" b="1" dirty="0">
                <a:solidFill>
                  <a:srgbClr val="314550"/>
                </a:solidFill>
                <a:latin typeface="Montserrat" pitchFamily="34" charset="0"/>
                <a:ea typeface="Montserrat" pitchFamily="34" charset="-122"/>
                <a:cs typeface="Montserrat" pitchFamily="34" charset="-120"/>
              </a:rPr>
              <a:t>Maintain both, indefinitely</a:t>
            </a:r>
            <a:endParaRPr lang="en-US" sz="1250" dirty="0"/>
          </a:p>
        </p:txBody>
      </p:sp>
      <p:sp>
        <p:nvSpPr>
          <p:cNvPr id="32" name="Text 30"/>
          <p:cNvSpPr/>
          <p:nvPr/>
        </p:nvSpPr>
        <p:spPr>
          <a:xfrm>
            <a:off x="4544568" y="4992624"/>
            <a:ext cx="3099816" cy="658368"/>
          </a:xfrm>
          <a:prstGeom prst="rect">
            <a:avLst/>
          </a:prstGeom>
          <a:noFill/>
          <a:ln/>
        </p:spPr>
        <p:txBody>
          <a:bodyPr wrap="square" lIns="0" tIns="0" rIns="0" bIns="0" rtlCol="0" anchor="ctr"/>
          <a:lstStyle/>
          <a:p>
            <a:pPr marL="0" indent="0">
              <a:buNone/>
            </a:pPr>
            <a:r>
              <a:rPr lang="en-US" sz="950" dirty="0">
                <a:solidFill>
                  <a:srgbClr val="6B7C88"/>
                </a:solidFill>
                <a:latin typeface="Montserrat" pitchFamily="34" charset="0"/>
                <a:ea typeface="Montserrat" pitchFamily="34" charset="-122"/>
                <a:cs typeface="Montserrat" pitchFamily="34" charset="-120"/>
              </a:rPr>
              <a:t>Two platforms, two governance models, two support lines, permanently.</a:t>
            </a:r>
            <a:endParaRPr lang="en-US" sz="950" dirty="0"/>
          </a:p>
        </p:txBody>
      </p:sp>
      <p:sp>
        <p:nvSpPr>
          <p:cNvPr id="33" name="Shape 31"/>
          <p:cNvSpPr/>
          <p:nvPr/>
        </p:nvSpPr>
        <p:spPr>
          <a:xfrm>
            <a:off x="8065008" y="4425696"/>
            <a:ext cx="3575304" cy="1316736"/>
          </a:xfrm>
          <a:prstGeom prst="roundRect">
            <a:avLst>
              <a:gd name="adj" fmla="val 5556"/>
            </a:avLst>
          </a:prstGeom>
          <a:solidFill>
            <a:srgbClr val="053057"/>
          </a:solidFill>
          <a:ln w="12700">
            <a:solidFill>
              <a:srgbClr val="053057"/>
            </a:solidFill>
            <a:prstDash val="solid"/>
          </a:ln>
        </p:spPr>
        <p:txBody>
          <a:bodyPr/>
          <a:lstStyle/>
          <a:p>
            <a:endParaRPr lang="en-IN"/>
          </a:p>
        </p:txBody>
      </p:sp>
      <p:sp>
        <p:nvSpPr>
          <p:cNvPr id="34" name="Shape 32"/>
          <p:cNvSpPr/>
          <p:nvPr/>
        </p:nvSpPr>
        <p:spPr>
          <a:xfrm>
            <a:off x="8302752" y="4645152"/>
            <a:ext cx="237744" cy="237744"/>
          </a:xfrm>
          <a:prstGeom prst="ellipse">
            <a:avLst/>
          </a:prstGeom>
          <a:solidFill>
            <a:srgbClr val="00EDED"/>
          </a:solidFill>
          <a:ln/>
        </p:spPr>
        <p:txBody>
          <a:bodyPr/>
          <a:lstStyle/>
          <a:p>
            <a:endParaRPr lang="en-IN"/>
          </a:p>
        </p:txBody>
      </p:sp>
      <p:sp>
        <p:nvSpPr>
          <p:cNvPr id="35" name="Text 33"/>
          <p:cNvSpPr/>
          <p:nvPr/>
        </p:nvSpPr>
        <p:spPr>
          <a:xfrm>
            <a:off x="8631936" y="4590288"/>
            <a:ext cx="2770632" cy="347472"/>
          </a:xfrm>
          <a:prstGeom prst="rect">
            <a:avLst/>
          </a:prstGeom>
          <a:noFill/>
          <a:ln/>
        </p:spPr>
        <p:txBody>
          <a:bodyPr wrap="square" lIns="0" tIns="0" rIns="0" bIns="0" rtlCol="0" anchor="ctr"/>
          <a:lstStyle/>
          <a:p>
            <a:pPr marL="0" indent="0">
              <a:buNone/>
            </a:pPr>
            <a:r>
              <a:rPr lang="en-US" sz="1250" b="1" dirty="0">
                <a:solidFill>
                  <a:srgbClr val="FFFFFF"/>
                </a:solidFill>
                <a:latin typeface="Montserrat" pitchFamily="34" charset="0"/>
                <a:ea typeface="Montserrat" pitchFamily="34" charset="-122"/>
                <a:cs typeface="Montserrat" pitchFamily="34" charset="-120"/>
              </a:rPr>
              <a:t>One platform, one set of roles</a:t>
            </a:r>
            <a:endParaRPr lang="en-US" sz="1250" dirty="0"/>
          </a:p>
        </p:txBody>
      </p:sp>
      <p:sp>
        <p:nvSpPr>
          <p:cNvPr id="36" name="Text 34"/>
          <p:cNvSpPr/>
          <p:nvPr/>
        </p:nvSpPr>
        <p:spPr>
          <a:xfrm>
            <a:off x="8302752" y="4992624"/>
            <a:ext cx="3099816" cy="658368"/>
          </a:xfrm>
          <a:prstGeom prst="rect">
            <a:avLst/>
          </a:prstGeom>
          <a:noFill/>
          <a:ln/>
        </p:spPr>
        <p:txBody>
          <a:bodyPr wrap="square" lIns="0" tIns="0" rIns="0" bIns="0" rtlCol="0" anchor="ctr"/>
          <a:lstStyle/>
          <a:p>
            <a:pPr marL="0" indent="0">
              <a:buNone/>
            </a:pPr>
            <a:r>
              <a:rPr lang="en-US" sz="950" dirty="0">
                <a:solidFill>
                  <a:srgbClr val="A2F3F3"/>
                </a:solidFill>
                <a:latin typeface="Montserrat" pitchFamily="34" charset="0"/>
                <a:ea typeface="Montserrat" pitchFamily="34" charset="-122"/>
                <a:cs typeface="Montserrat" pitchFamily="34" charset="-120"/>
              </a:rPr>
              <a:t>Serverless inside Snowflake, governed by the roles already managed there.</a:t>
            </a:r>
            <a:endParaRPr lang="en-US" sz="950" dirty="0"/>
          </a:p>
        </p:txBody>
      </p:sp>
      <p:sp>
        <p:nvSpPr>
          <p:cNvPr id="37" name="Shape 35"/>
          <p:cNvSpPr/>
          <p:nvPr/>
        </p:nvSpPr>
        <p:spPr>
          <a:xfrm>
            <a:off x="548640" y="5870448"/>
            <a:ext cx="11091672" cy="731520"/>
          </a:xfrm>
          <a:prstGeom prst="roundRect">
            <a:avLst>
              <a:gd name="adj" fmla="val 10000"/>
            </a:avLst>
          </a:prstGeom>
          <a:solidFill>
            <a:srgbClr val="053057"/>
          </a:solidFill>
          <a:ln w="15875">
            <a:solidFill>
              <a:srgbClr val="00EDED"/>
            </a:solidFill>
            <a:prstDash val="solid"/>
          </a:ln>
        </p:spPr>
        <p:txBody>
          <a:bodyPr/>
          <a:lstStyle/>
          <a:p>
            <a:endParaRPr lang="en-IN"/>
          </a:p>
        </p:txBody>
      </p:sp>
      <p:sp>
        <p:nvSpPr>
          <p:cNvPr id="38" name="Text 36"/>
          <p:cNvSpPr/>
          <p:nvPr/>
        </p:nvSpPr>
        <p:spPr>
          <a:xfrm>
            <a:off x="841248" y="5980176"/>
            <a:ext cx="10515600" cy="530352"/>
          </a:xfrm>
          <a:prstGeom prst="rect">
            <a:avLst/>
          </a:prstGeom>
          <a:noFill/>
          <a:ln/>
        </p:spPr>
        <p:txBody>
          <a:bodyPr wrap="square" lIns="0" tIns="0" rIns="0" bIns="0" rtlCol="0" anchor="ctr"/>
          <a:lstStyle/>
          <a:p>
            <a:pPr marL="0" indent="0">
              <a:buNone/>
            </a:pPr>
            <a:r>
              <a:rPr lang="en-US" sz="1050" b="1" dirty="0">
                <a:solidFill>
                  <a:srgbClr val="00EDED"/>
                </a:solidFill>
                <a:latin typeface="Montserrat" pitchFamily="34" charset="0"/>
                <a:ea typeface="Montserrat" pitchFamily="34" charset="-122"/>
                <a:cs typeface="Montserrat" pitchFamily="34" charset="-120"/>
              </a:rPr>
              <a:t>The dashboards were never the problem — the platform underneath them was.  </a:t>
            </a:r>
            <a:r>
              <a:rPr lang="en-US" sz="1050" dirty="0">
                <a:solidFill>
                  <a:srgbClr val="D6E6F0"/>
                </a:solidFill>
                <a:latin typeface="Montserrat" pitchFamily="34" charset="0"/>
                <a:ea typeface="Montserrat" pitchFamily="34" charset="-122"/>
                <a:cs typeface="Montserrat" pitchFamily="34" charset="-120"/>
              </a:rPr>
              <a:t>Snowflake already stores the data, runs every query, and now hosts the dashboards and the AI as well. The one thing that kept the BI tool in place was the cost of rebuilding what it holds.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3057"/>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marL="0" indent="0">
              <a:buNone/>
            </a:pPr>
            <a:r>
              <a:rPr lang="en-US" sz="3200" b="1" dirty="0">
                <a:solidFill>
                  <a:srgbClr val="FFFFFF"/>
                </a:solidFill>
                <a:latin typeface="Montserrat" pitchFamily="34" charset="0"/>
                <a:ea typeface="Montserrat" pitchFamily="34" charset="-122"/>
                <a:cs typeface="Montserrat" pitchFamily="34" charset="-120"/>
              </a:rPr>
              <a:t>AI-Accelerated Migration, With Human Oversight</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marL="0" indent="0">
              <a:buNone/>
            </a:pPr>
            <a:r>
              <a:rPr lang="en-US" sz="1400" dirty="0">
                <a:solidFill>
                  <a:srgbClr val="A2F3F3"/>
                </a:solidFill>
                <a:latin typeface="Montserrat" pitchFamily="34" charset="0"/>
                <a:ea typeface="Montserrat" pitchFamily="34" charset="-122"/>
                <a:cs typeface="Montserrat" pitchFamily="34" charset="-120"/>
              </a:rPr>
              <a:t>Five stages, executing inside the customer's own Snowflake account</a:t>
            </a:r>
            <a:endParaRPr lang="en-US" sz="1400" dirty="0"/>
          </a:p>
        </p:txBody>
      </p:sp>
      <p:sp>
        <p:nvSpPr>
          <p:cNvPr id="4" name="Shape 2"/>
          <p:cNvSpPr/>
          <p:nvPr/>
        </p:nvSpPr>
        <p:spPr>
          <a:xfrm>
            <a:off x="548640" y="1225296"/>
            <a:ext cx="2103120" cy="2048256"/>
          </a:xfrm>
          <a:prstGeom prst="roundRect">
            <a:avLst>
              <a:gd name="adj" fmla="val 3571"/>
            </a:avLst>
          </a:prstGeom>
          <a:solidFill>
            <a:srgbClr val="0A3E6B"/>
          </a:solidFill>
          <a:ln w="12700">
            <a:solidFill>
              <a:srgbClr val="17517F"/>
            </a:solidFill>
            <a:prstDash val="solid"/>
          </a:ln>
        </p:spPr>
        <p:txBody>
          <a:bodyPr/>
          <a:lstStyle/>
          <a:p>
            <a:endParaRPr lang="en-IN"/>
          </a:p>
        </p:txBody>
      </p:sp>
      <p:sp>
        <p:nvSpPr>
          <p:cNvPr id="5" name="Text 3"/>
          <p:cNvSpPr/>
          <p:nvPr/>
        </p:nvSpPr>
        <p:spPr>
          <a:xfrm>
            <a:off x="731520" y="1371600"/>
            <a:ext cx="1737360" cy="219456"/>
          </a:xfrm>
          <a:prstGeom prst="rect">
            <a:avLst/>
          </a:prstGeom>
          <a:noFill/>
          <a:ln/>
        </p:spPr>
        <p:txBody>
          <a:bodyPr wrap="square" lIns="0" tIns="0" rIns="0" bIns="0" rtlCol="0" anchor="ctr"/>
          <a:lstStyle/>
          <a:p>
            <a:pPr marL="0" indent="0">
              <a:buNone/>
            </a:pPr>
            <a:r>
              <a:rPr lang="en-US" sz="900" b="1" kern="0" spc="100" dirty="0">
                <a:solidFill>
                  <a:srgbClr val="6B7C88"/>
                </a:solidFill>
                <a:latin typeface="Montserrat" pitchFamily="34" charset="0"/>
                <a:ea typeface="Montserrat" pitchFamily="34" charset="-122"/>
                <a:cs typeface="Montserrat" pitchFamily="34" charset="-120"/>
              </a:rPr>
              <a:t>Stage 1</a:t>
            </a:r>
            <a:endParaRPr lang="en-US" sz="900" dirty="0"/>
          </a:p>
        </p:txBody>
      </p:sp>
      <p:sp>
        <p:nvSpPr>
          <p:cNvPr id="6" name="Text 4"/>
          <p:cNvSpPr/>
          <p:nvPr/>
        </p:nvSpPr>
        <p:spPr>
          <a:xfrm>
            <a:off x="731520" y="1609344"/>
            <a:ext cx="1737360" cy="475488"/>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Discovery</a:t>
            </a:r>
            <a:endParaRPr lang="en-US" sz="1300" dirty="0"/>
          </a:p>
        </p:txBody>
      </p:sp>
      <p:sp>
        <p:nvSpPr>
          <p:cNvPr id="7" name="Text 5"/>
          <p:cNvSpPr/>
          <p:nvPr/>
        </p:nvSpPr>
        <p:spPr>
          <a:xfrm>
            <a:off x="731520" y="2121408"/>
            <a:ext cx="1737360" cy="1042416"/>
          </a:xfrm>
          <a:prstGeom prst="rect">
            <a:avLst/>
          </a:prstGeom>
          <a:noFill/>
          <a:ln/>
        </p:spPr>
        <p:txBody>
          <a:bodyPr wrap="square" lIns="0" tIns="0" rIns="0" bIns="0" rtlCol="0" anchor="ctr"/>
          <a:lstStyle/>
          <a:p>
            <a:pPr marL="0" indent="0">
              <a:lnSpc>
                <a:spcPct val="103000"/>
              </a:lnSpc>
              <a:buNone/>
            </a:pPr>
            <a:r>
              <a:rPr lang="en-US" sz="850" dirty="0">
                <a:solidFill>
                  <a:srgbClr val="D6E6F0"/>
                </a:solidFill>
                <a:latin typeface="Montserrat" pitchFamily="34" charset="0"/>
                <a:ea typeface="Montserrat" pitchFamily="34" charset="-122"/>
                <a:cs typeface="Montserrat" pitchFamily="34" charset="-120"/>
              </a:rPr>
              <a:t>Datasources resolved, data extracted, tables created and loaded in Snowflake</a:t>
            </a:r>
            <a:endParaRPr lang="en-US" sz="850" dirty="0"/>
          </a:p>
        </p:txBody>
      </p:sp>
      <p:sp>
        <p:nvSpPr>
          <p:cNvPr id="8" name="Shape 6"/>
          <p:cNvSpPr/>
          <p:nvPr/>
        </p:nvSpPr>
        <p:spPr>
          <a:xfrm>
            <a:off x="2816352" y="1225296"/>
            <a:ext cx="2103120" cy="2048256"/>
          </a:xfrm>
          <a:prstGeom prst="roundRect">
            <a:avLst>
              <a:gd name="adj" fmla="val 3571"/>
            </a:avLst>
          </a:prstGeom>
          <a:solidFill>
            <a:srgbClr val="0A3E6B"/>
          </a:solidFill>
          <a:ln w="12700">
            <a:solidFill>
              <a:srgbClr val="17517F"/>
            </a:solidFill>
            <a:prstDash val="solid"/>
          </a:ln>
        </p:spPr>
        <p:txBody>
          <a:bodyPr/>
          <a:lstStyle/>
          <a:p>
            <a:endParaRPr lang="en-IN"/>
          </a:p>
        </p:txBody>
      </p:sp>
      <p:sp>
        <p:nvSpPr>
          <p:cNvPr id="9" name="Text 7"/>
          <p:cNvSpPr/>
          <p:nvPr/>
        </p:nvSpPr>
        <p:spPr>
          <a:xfrm>
            <a:off x="2999232" y="1371600"/>
            <a:ext cx="1737360" cy="219456"/>
          </a:xfrm>
          <a:prstGeom prst="rect">
            <a:avLst/>
          </a:prstGeom>
          <a:noFill/>
          <a:ln/>
        </p:spPr>
        <p:txBody>
          <a:bodyPr wrap="square" lIns="0" tIns="0" rIns="0" bIns="0" rtlCol="0" anchor="ctr"/>
          <a:lstStyle/>
          <a:p>
            <a:pPr marL="0" indent="0">
              <a:buNone/>
            </a:pPr>
            <a:r>
              <a:rPr lang="en-US" sz="900" b="1" kern="0" spc="100" dirty="0">
                <a:solidFill>
                  <a:srgbClr val="6B7C88"/>
                </a:solidFill>
                <a:latin typeface="Montserrat" pitchFamily="34" charset="0"/>
                <a:ea typeface="Montserrat" pitchFamily="34" charset="-122"/>
                <a:cs typeface="Montserrat" pitchFamily="34" charset="-120"/>
              </a:rPr>
              <a:t>Stage 2</a:t>
            </a:r>
            <a:endParaRPr lang="en-US" sz="900" dirty="0"/>
          </a:p>
        </p:txBody>
      </p:sp>
      <p:sp>
        <p:nvSpPr>
          <p:cNvPr id="10" name="Text 8"/>
          <p:cNvSpPr/>
          <p:nvPr/>
        </p:nvSpPr>
        <p:spPr>
          <a:xfrm>
            <a:off x="2999232" y="1609344"/>
            <a:ext cx="1737360" cy="475488"/>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Model Extraction</a:t>
            </a:r>
            <a:endParaRPr lang="en-US" sz="1300" dirty="0"/>
          </a:p>
        </p:txBody>
      </p:sp>
      <p:sp>
        <p:nvSpPr>
          <p:cNvPr id="11" name="Text 9"/>
          <p:cNvSpPr/>
          <p:nvPr/>
        </p:nvSpPr>
        <p:spPr>
          <a:xfrm>
            <a:off x="2999232" y="2121408"/>
            <a:ext cx="1737360" cy="1042416"/>
          </a:xfrm>
          <a:prstGeom prst="rect">
            <a:avLst/>
          </a:prstGeom>
          <a:noFill/>
          <a:ln/>
        </p:spPr>
        <p:txBody>
          <a:bodyPr wrap="square" lIns="0" tIns="0" rIns="0" bIns="0" rtlCol="0" anchor="ctr"/>
          <a:lstStyle/>
          <a:p>
            <a:pPr marL="0" indent="0">
              <a:lnSpc>
                <a:spcPct val="103000"/>
              </a:lnSpc>
              <a:buNone/>
            </a:pPr>
            <a:r>
              <a:rPr lang="en-US" sz="850" dirty="0">
                <a:solidFill>
                  <a:srgbClr val="D6E6F0"/>
                </a:solidFill>
                <a:latin typeface="Montserrat" pitchFamily="34" charset="0"/>
                <a:ea typeface="Montserrat" pitchFamily="34" charset="-122"/>
                <a:cs typeface="Montserrat" pitchFamily="34" charset="-120"/>
              </a:rPr>
              <a:t>The workbook's semantic and presentation model is lifted out of the source</a:t>
            </a:r>
            <a:endParaRPr lang="en-US" sz="850" dirty="0"/>
          </a:p>
        </p:txBody>
      </p:sp>
      <p:sp>
        <p:nvSpPr>
          <p:cNvPr id="12" name="Shape 10"/>
          <p:cNvSpPr/>
          <p:nvPr/>
        </p:nvSpPr>
        <p:spPr>
          <a:xfrm>
            <a:off x="5084064" y="1225296"/>
            <a:ext cx="2103120" cy="2048256"/>
          </a:xfrm>
          <a:prstGeom prst="roundRect">
            <a:avLst>
              <a:gd name="adj" fmla="val 3571"/>
            </a:avLst>
          </a:prstGeom>
          <a:solidFill>
            <a:srgbClr val="0A3E6B"/>
          </a:solidFill>
          <a:ln w="19050">
            <a:solidFill>
              <a:srgbClr val="00EDED"/>
            </a:solidFill>
            <a:prstDash val="solid"/>
          </a:ln>
        </p:spPr>
        <p:txBody>
          <a:bodyPr/>
          <a:lstStyle/>
          <a:p>
            <a:endParaRPr lang="en-IN"/>
          </a:p>
        </p:txBody>
      </p:sp>
      <p:sp>
        <p:nvSpPr>
          <p:cNvPr id="13" name="Text 11"/>
          <p:cNvSpPr/>
          <p:nvPr/>
        </p:nvSpPr>
        <p:spPr>
          <a:xfrm>
            <a:off x="5266944" y="1371600"/>
            <a:ext cx="1737360" cy="219456"/>
          </a:xfrm>
          <a:prstGeom prst="rect">
            <a:avLst/>
          </a:prstGeom>
          <a:noFill/>
          <a:ln/>
        </p:spPr>
        <p:txBody>
          <a:bodyPr wrap="square" lIns="0" tIns="0" rIns="0" bIns="0" rtlCol="0" anchor="ctr"/>
          <a:lstStyle/>
          <a:p>
            <a:pPr marL="0" indent="0">
              <a:buNone/>
            </a:pPr>
            <a:r>
              <a:rPr lang="en-US" sz="900" b="1" kern="0" spc="100" dirty="0">
                <a:solidFill>
                  <a:srgbClr val="00EDED"/>
                </a:solidFill>
                <a:latin typeface="Montserrat" pitchFamily="34" charset="0"/>
                <a:ea typeface="Montserrat" pitchFamily="34" charset="-122"/>
                <a:cs typeface="Montserrat" pitchFamily="34" charset="-120"/>
              </a:rPr>
              <a:t>Stage 3</a:t>
            </a:r>
            <a:endParaRPr lang="en-US" sz="900" dirty="0"/>
          </a:p>
        </p:txBody>
      </p:sp>
      <p:sp>
        <p:nvSpPr>
          <p:cNvPr id="14" name="Text 12"/>
          <p:cNvSpPr/>
          <p:nvPr/>
        </p:nvSpPr>
        <p:spPr>
          <a:xfrm>
            <a:off x="5266944" y="1609344"/>
            <a:ext cx="1737360" cy="475488"/>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Cortex Translation</a:t>
            </a:r>
            <a:endParaRPr lang="en-US" sz="1300" dirty="0"/>
          </a:p>
        </p:txBody>
      </p:sp>
      <p:sp>
        <p:nvSpPr>
          <p:cNvPr id="15" name="Text 13"/>
          <p:cNvSpPr/>
          <p:nvPr/>
        </p:nvSpPr>
        <p:spPr>
          <a:xfrm>
            <a:off x="5266944" y="2121408"/>
            <a:ext cx="1737360" cy="1042416"/>
          </a:xfrm>
          <a:prstGeom prst="rect">
            <a:avLst/>
          </a:prstGeom>
          <a:noFill/>
          <a:ln/>
        </p:spPr>
        <p:txBody>
          <a:bodyPr wrap="square" lIns="0" tIns="0" rIns="0" bIns="0" rtlCol="0" anchor="ctr"/>
          <a:lstStyle/>
          <a:p>
            <a:pPr marL="0" indent="0">
              <a:lnSpc>
                <a:spcPct val="103000"/>
              </a:lnSpc>
              <a:buNone/>
            </a:pPr>
            <a:r>
              <a:rPr lang="en-US" sz="850" dirty="0">
                <a:solidFill>
                  <a:srgbClr val="D6E6F0"/>
                </a:solidFill>
                <a:latin typeface="Montserrat" pitchFamily="34" charset="0"/>
                <a:ea typeface="Montserrat" pitchFamily="34" charset="-122"/>
                <a:cs typeface="Montserrat" pitchFamily="34" charset="-120"/>
              </a:rPr>
              <a:t>Cortex AI converts the complex calculations — nested LODs, blended measures — into Snowflake SQL</a:t>
            </a:r>
            <a:endParaRPr lang="en-US" sz="850" dirty="0"/>
          </a:p>
        </p:txBody>
      </p:sp>
      <p:sp>
        <p:nvSpPr>
          <p:cNvPr id="16" name="Shape 14"/>
          <p:cNvSpPr/>
          <p:nvPr/>
        </p:nvSpPr>
        <p:spPr>
          <a:xfrm>
            <a:off x="7351776" y="1225296"/>
            <a:ext cx="2103120" cy="2048256"/>
          </a:xfrm>
          <a:prstGeom prst="roundRect">
            <a:avLst>
              <a:gd name="adj" fmla="val 3571"/>
            </a:avLst>
          </a:prstGeom>
          <a:solidFill>
            <a:srgbClr val="0A3E6B"/>
          </a:solidFill>
          <a:ln w="19050">
            <a:solidFill>
              <a:srgbClr val="00EDED"/>
            </a:solidFill>
            <a:prstDash val="solid"/>
          </a:ln>
        </p:spPr>
        <p:txBody>
          <a:bodyPr/>
          <a:lstStyle/>
          <a:p>
            <a:endParaRPr lang="en-IN"/>
          </a:p>
        </p:txBody>
      </p:sp>
      <p:sp>
        <p:nvSpPr>
          <p:cNvPr id="17" name="Text 15"/>
          <p:cNvSpPr/>
          <p:nvPr/>
        </p:nvSpPr>
        <p:spPr>
          <a:xfrm>
            <a:off x="7534656" y="1371600"/>
            <a:ext cx="1737360" cy="219456"/>
          </a:xfrm>
          <a:prstGeom prst="rect">
            <a:avLst/>
          </a:prstGeom>
          <a:noFill/>
          <a:ln/>
        </p:spPr>
        <p:txBody>
          <a:bodyPr wrap="square" lIns="0" tIns="0" rIns="0" bIns="0" rtlCol="0" anchor="ctr"/>
          <a:lstStyle/>
          <a:p>
            <a:pPr marL="0" indent="0">
              <a:buNone/>
            </a:pPr>
            <a:r>
              <a:rPr lang="en-US" sz="900" b="1" kern="0" spc="100" dirty="0">
                <a:solidFill>
                  <a:srgbClr val="00EDED"/>
                </a:solidFill>
                <a:latin typeface="Montserrat" pitchFamily="34" charset="0"/>
                <a:ea typeface="Montserrat" pitchFamily="34" charset="-122"/>
                <a:cs typeface="Montserrat" pitchFamily="34" charset="-120"/>
              </a:rPr>
              <a:t>Stage 4</a:t>
            </a:r>
            <a:endParaRPr lang="en-US" sz="900" dirty="0"/>
          </a:p>
        </p:txBody>
      </p:sp>
      <p:sp>
        <p:nvSpPr>
          <p:cNvPr id="18" name="Text 16"/>
          <p:cNvSpPr/>
          <p:nvPr/>
        </p:nvSpPr>
        <p:spPr>
          <a:xfrm>
            <a:off x="7534656" y="1609344"/>
            <a:ext cx="1737360" cy="475488"/>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Semantic + App</a:t>
            </a:r>
            <a:endParaRPr lang="en-US" sz="1300" dirty="0"/>
          </a:p>
        </p:txBody>
      </p:sp>
      <p:sp>
        <p:nvSpPr>
          <p:cNvPr id="19" name="Text 17"/>
          <p:cNvSpPr/>
          <p:nvPr/>
        </p:nvSpPr>
        <p:spPr>
          <a:xfrm>
            <a:off x="7534656" y="2121408"/>
            <a:ext cx="1737360" cy="1042416"/>
          </a:xfrm>
          <a:prstGeom prst="rect">
            <a:avLst/>
          </a:prstGeom>
          <a:noFill/>
          <a:ln/>
        </p:spPr>
        <p:txBody>
          <a:bodyPr wrap="square" lIns="0" tIns="0" rIns="0" bIns="0" rtlCol="0" anchor="ctr"/>
          <a:lstStyle/>
          <a:p>
            <a:pPr marL="0" indent="0">
              <a:lnSpc>
                <a:spcPct val="103000"/>
              </a:lnSpc>
              <a:buNone/>
            </a:pPr>
            <a:r>
              <a:rPr lang="en-US" sz="850" dirty="0">
                <a:solidFill>
                  <a:srgbClr val="D6E6F0"/>
                </a:solidFill>
                <a:latin typeface="Montserrat" pitchFamily="34" charset="0"/>
                <a:ea typeface="Montserrat" pitchFamily="34" charset="-122"/>
                <a:cs typeface="Montserrat" pitchFamily="34" charset="-120"/>
              </a:rPr>
              <a:t>A native semantic view is created and the dashboard is generated as a Streamlit app</a:t>
            </a:r>
            <a:endParaRPr lang="en-US" sz="850" dirty="0"/>
          </a:p>
        </p:txBody>
      </p:sp>
      <p:sp>
        <p:nvSpPr>
          <p:cNvPr id="20" name="Shape 18"/>
          <p:cNvSpPr/>
          <p:nvPr/>
        </p:nvSpPr>
        <p:spPr>
          <a:xfrm>
            <a:off x="9619488" y="1225296"/>
            <a:ext cx="2103120" cy="2048256"/>
          </a:xfrm>
          <a:prstGeom prst="roundRect">
            <a:avLst>
              <a:gd name="adj" fmla="val 3571"/>
            </a:avLst>
          </a:prstGeom>
          <a:solidFill>
            <a:srgbClr val="0A3E6B"/>
          </a:solidFill>
          <a:ln w="19050">
            <a:solidFill>
              <a:srgbClr val="00EDED"/>
            </a:solidFill>
            <a:prstDash val="solid"/>
          </a:ln>
        </p:spPr>
        <p:txBody>
          <a:bodyPr/>
          <a:lstStyle/>
          <a:p>
            <a:endParaRPr lang="en-IN"/>
          </a:p>
        </p:txBody>
      </p:sp>
      <p:sp>
        <p:nvSpPr>
          <p:cNvPr id="21" name="Text 19"/>
          <p:cNvSpPr/>
          <p:nvPr/>
        </p:nvSpPr>
        <p:spPr>
          <a:xfrm>
            <a:off x="9802368" y="1371600"/>
            <a:ext cx="1737360" cy="219456"/>
          </a:xfrm>
          <a:prstGeom prst="rect">
            <a:avLst/>
          </a:prstGeom>
          <a:noFill/>
          <a:ln/>
        </p:spPr>
        <p:txBody>
          <a:bodyPr wrap="square" lIns="0" tIns="0" rIns="0" bIns="0" rtlCol="0" anchor="ctr"/>
          <a:lstStyle/>
          <a:p>
            <a:pPr marL="0" indent="0">
              <a:buNone/>
            </a:pPr>
            <a:r>
              <a:rPr lang="en-US" sz="900" b="1" kern="0" spc="100" dirty="0">
                <a:solidFill>
                  <a:srgbClr val="00EDED"/>
                </a:solidFill>
                <a:latin typeface="Montserrat" pitchFamily="34" charset="0"/>
                <a:ea typeface="Montserrat" pitchFamily="34" charset="-122"/>
                <a:cs typeface="Montserrat" pitchFamily="34" charset="-120"/>
              </a:rPr>
              <a:t>Stage 5</a:t>
            </a:r>
            <a:endParaRPr lang="en-US" sz="900" dirty="0"/>
          </a:p>
        </p:txBody>
      </p:sp>
      <p:sp>
        <p:nvSpPr>
          <p:cNvPr id="22" name="Text 20"/>
          <p:cNvSpPr/>
          <p:nvPr/>
        </p:nvSpPr>
        <p:spPr>
          <a:xfrm>
            <a:off x="9802368" y="1609344"/>
            <a:ext cx="1737360" cy="475488"/>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Cortex Validation</a:t>
            </a:r>
            <a:endParaRPr lang="en-US" sz="1300" dirty="0"/>
          </a:p>
        </p:txBody>
      </p:sp>
      <p:sp>
        <p:nvSpPr>
          <p:cNvPr id="23" name="Text 21"/>
          <p:cNvSpPr/>
          <p:nvPr/>
        </p:nvSpPr>
        <p:spPr>
          <a:xfrm>
            <a:off x="9802368" y="2121408"/>
            <a:ext cx="1737360" cy="1042416"/>
          </a:xfrm>
          <a:prstGeom prst="rect">
            <a:avLst/>
          </a:prstGeom>
          <a:noFill/>
          <a:ln/>
        </p:spPr>
        <p:txBody>
          <a:bodyPr wrap="square" lIns="0" tIns="0" rIns="0" bIns="0" rtlCol="0" anchor="ctr"/>
          <a:lstStyle/>
          <a:p>
            <a:pPr marL="0" indent="0">
              <a:lnSpc>
                <a:spcPct val="103000"/>
              </a:lnSpc>
              <a:buNone/>
            </a:pPr>
            <a:r>
              <a:rPr lang="en-US" sz="850" dirty="0">
                <a:solidFill>
                  <a:srgbClr val="D6E6F0"/>
                </a:solidFill>
                <a:latin typeface="Montserrat" pitchFamily="34" charset="0"/>
                <a:ea typeface="Montserrat" pitchFamily="34" charset="-122"/>
                <a:cs typeface="Montserrat" pitchFamily="34" charset="-120"/>
              </a:rPr>
              <a:t>Tableau and Streamlit outputs are compared measure by measure, and the evidence is emitted</a:t>
            </a:r>
            <a:endParaRPr lang="en-US" sz="850" dirty="0"/>
          </a:p>
        </p:txBody>
      </p:sp>
      <p:sp>
        <p:nvSpPr>
          <p:cNvPr id="24" name="Shape 22"/>
          <p:cNvSpPr/>
          <p:nvPr/>
        </p:nvSpPr>
        <p:spPr>
          <a:xfrm>
            <a:off x="548640" y="3401568"/>
            <a:ext cx="11091672" cy="420624"/>
          </a:xfrm>
          <a:prstGeom prst="roundRect">
            <a:avLst>
              <a:gd name="adj" fmla="val 13043"/>
            </a:avLst>
          </a:prstGeom>
          <a:solidFill>
            <a:srgbClr val="0A3E6B"/>
          </a:solidFill>
          <a:ln w="12700">
            <a:solidFill>
              <a:srgbClr val="17517F"/>
            </a:solidFill>
            <a:prstDash val="solid"/>
          </a:ln>
        </p:spPr>
        <p:txBody>
          <a:bodyPr/>
          <a:lstStyle/>
          <a:p>
            <a:endParaRPr lang="en-IN"/>
          </a:p>
        </p:txBody>
      </p:sp>
      <p:sp>
        <p:nvSpPr>
          <p:cNvPr id="25" name="Text 23"/>
          <p:cNvSpPr/>
          <p:nvPr/>
        </p:nvSpPr>
        <p:spPr>
          <a:xfrm>
            <a:off x="548640" y="3401568"/>
            <a:ext cx="11091672" cy="420624"/>
          </a:xfrm>
          <a:prstGeom prst="rect">
            <a:avLst/>
          </a:prstGeom>
          <a:noFill/>
          <a:ln/>
        </p:spPr>
        <p:txBody>
          <a:bodyPr wrap="square" lIns="0" tIns="0" rIns="0" bIns="0" rtlCol="0" anchor="ctr"/>
          <a:lstStyle/>
          <a:p>
            <a:pPr marL="0" indent="0" algn="ctr">
              <a:buNone/>
            </a:pPr>
            <a:r>
              <a:rPr lang="en-US" sz="1100" b="1" kern="0" spc="6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
        <p:nvSpPr>
          <p:cNvPr id="26" name="Shape 24"/>
          <p:cNvSpPr/>
          <p:nvPr/>
        </p:nvSpPr>
        <p:spPr>
          <a:xfrm>
            <a:off x="548640" y="4005072"/>
            <a:ext cx="5431536" cy="1371600"/>
          </a:xfrm>
          <a:prstGeom prst="roundRect">
            <a:avLst>
              <a:gd name="adj" fmla="val 5333"/>
            </a:avLst>
          </a:prstGeom>
          <a:solidFill>
            <a:srgbClr val="0A3E6B"/>
          </a:solidFill>
          <a:ln w="15875">
            <a:solidFill>
              <a:srgbClr val="00EDED"/>
            </a:solidFill>
            <a:prstDash val="solid"/>
          </a:ln>
        </p:spPr>
        <p:txBody>
          <a:bodyPr/>
          <a:lstStyle/>
          <a:p>
            <a:endParaRPr lang="en-IN"/>
          </a:p>
        </p:txBody>
      </p:sp>
      <p:sp>
        <p:nvSpPr>
          <p:cNvPr id="27" name="Text 25"/>
          <p:cNvSpPr/>
          <p:nvPr/>
        </p:nvSpPr>
        <p:spPr>
          <a:xfrm>
            <a:off x="841248" y="4151376"/>
            <a:ext cx="4846320" cy="256032"/>
          </a:xfrm>
          <a:prstGeom prst="rect">
            <a:avLst/>
          </a:prstGeom>
          <a:noFill/>
          <a:ln/>
        </p:spPr>
        <p:txBody>
          <a:bodyPr wrap="square" lIns="0" tIns="0" rIns="0" bIns="0" rtlCol="0" anchor="ctr"/>
          <a:lstStyle/>
          <a:p>
            <a:pPr marL="0" indent="0">
              <a:buNone/>
            </a:pPr>
            <a:r>
              <a:rPr lang="en-US" sz="1250" b="1" dirty="0">
                <a:solidFill>
                  <a:srgbClr val="00EDED"/>
                </a:solidFill>
                <a:latin typeface="Montserrat" pitchFamily="34" charset="0"/>
                <a:ea typeface="Montserrat" pitchFamily="34" charset="-122"/>
                <a:cs typeface="Montserrat" pitchFamily="34" charset="-120"/>
              </a:rPr>
              <a:t>Human-in-the-Loop</a:t>
            </a:r>
            <a:endParaRPr lang="en-US" sz="1250" dirty="0"/>
          </a:p>
        </p:txBody>
      </p:sp>
      <p:sp>
        <p:nvSpPr>
          <p:cNvPr id="28" name="Text 26"/>
          <p:cNvSpPr/>
          <p:nvPr/>
        </p:nvSpPr>
        <p:spPr>
          <a:xfrm>
            <a:off x="841248" y="4443984"/>
            <a:ext cx="4846320" cy="822960"/>
          </a:xfrm>
          <a:prstGeom prst="rect">
            <a:avLst/>
          </a:prstGeom>
          <a:noFill/>
          <a:ln/>
        </p:spPr>
        <p:txBody>
          <a:bodyPr wrap="square" lIns="0" tIns="0" rIns="0" bIns="0" rtlCol="0" anchor="ctr"/>
          <a:lstStyle/>
          <a:p>
            <a:pPr marL="0" indent="0">
              <a:buNone/>
            </a:pPr>
            <a:r>
              <a:rPr lang="en-US" sz="950" dirty="0">
                <a:solidFill>
                  <a:srgbClr val="D6E6F0"/>
                </a:solidFill>
                <a:latin typeface="Montserrat" pitchFamily="34" charset="0"/>
                <a:ea typeface="Montserrat" pitchFamily="34" charset="-122"/>
                <a:cs typeface="Montserrat" pitchFamily="34" charset="-120"/>
              </a:rPr>
              <a:t>Every Cortex-proposed translation is executed against the real table first, then enters a reviewer's queue — accept, amend or reject. Every decision is recorded and auditable.</a:t>
            </a:r>
            <a:endParaRPr lang="en-US" sz="950" dirty="0"/>
          </a:p>
        </p:txBody>
      </p:sp>
      <p:sp>
        <p:nvSpPr>
          <p:cNvPr id="29" name="Shape 27"/>
          <p:cNvSpPr/>
          <p:nvPr/>
        </p:nvSpPr>
        <p:spPr>
          <a:xfrm>
            <a:off x="6208776" y="4005072"/>
            <a:ext cx="5431536" cy="1371600"/>
          </a:xfrm>
          <a:prstGeom prst="roundRect">
            <a:avLst>
              <a:gd name="adj" fmla="val 5333"/>
            </a:avLst>
          </a:prstGeom>
          <a:solidFill>
            <a:srgbClr val="0A3E6B"/>
          </a:solidFill>
          <a:ln w="15875">
            <a:solidFill>
              <a:srgbClr val="00EDED"/>
            </a:solidFill>
            <a:prstDash val="solid"/>
          </a:ln>
        </p:spPr>
        <p:txBody>
          <a:bodyPr/>
          <a:lstStyle/>
          <a:p>
            <a:endParaRPr lang="en-IN"/>
          </a:p>
        </p:txBody>
      </p:sp>
      <p:sp>
        <p:nvSpPr>
          <p:cNvPr id="30" name="Text 28"/>
          <p:cNvSpPr/>
          <p:nvPr/>
        </p:nvSpPr>
        <p:spPr>
          <a:xfrm>
            <a:off x="6501384" y="4151376"/>
            <a:ext cx="4846320" cy="256032"/>
          </a:xfrm>
          <a:prstGeom prst="rect">
            <a:avLst/>
          </a:prstGeom>
          <a:noFill/>
          <a:ln/>
        </p:spPr>
        <p:txBody>
          <a:bodyPr wrap="square" lIns="0" tIns="0" rIns="0" bIns="0" rtlCol="0" anchor="ctr"/>
          <a:lstStyle/>
          <a:p>
            <a:pPr marL="0" indent="0">
              <a:buNone/>
            </a:pPr>
            <a:r>
              <a:rPr lang="en-US" sz="1250" b="1" dirty="0">
                <a:solidFill>
                  <a:srgbClr val="00EDED"/>
                </a:solidFill>
                <a:latin typeface="Montserrat" pitchFamily="34" charset="0"/>
                <a:ea typeface="Montserrat" pitchFamily="34" charset="-122"/>
                <a:cs typeface="Montserrat" pitchFamily="34" charset="-120"/>
              </a:rPr>
              <a:t>Everything Runs In-Account</a:t>
            </a:r>
            <a:endParaRPr lang="en-US" sz="1250" dirty="0"/>
          </a:p>
        </p:txBody>
      </p:sp>
      <p:sp>
        <p:nvSpPr>
          <p:cNvPr id="31" name="Text 29"/>
          <p:cNvSpPr/>
          <p:nvPr/>
        </p:nvSpPr>
        <p:spPr>
          <a:xfrm>
            <a:off x="6501384" y="4443984"/>
            <a:ext cx="4846320" cy="822960"/>
          </a:xfrm>
          <a:prstGeom prst="rect">
            <a:avLst/>
          </a:prstGeom>
          <a:noFill/>
          <a:ln/>
        </p:spPr>
        <p:txBody>
          <a:bodyPr wrap="square" lIns="0" tIns="0" rIns="0" bIns="0" rtlCol="0" anchor="ctr"/>
          <a:lstStyle/>
          <a:p>
            <a:pPr marL="0" indent="0">
              <a:buNone/>
            </a:pPr>
            <a:r>
              <a:rPr lang="en-US" sz="950" dirty="0">
                <a:solidFill>
                  <a:srgbClr val="D6E6F0"/>
                </a:solidFill>
                <a:latin typeface="Montserrat" pitchFamily="34" charset="0"/>
                <a:ea typeface="Montserrat" pitchFamily="34" charset="-122"/>
                <a:cs typeface="Montserrat" pitchFamily="34" charset="-120"/>
              </a:rPr>
              <a:t>Cortex calls, semantic view creation, table loads and the finished dashboard all execute on Snowflake compute under the customer's own roles. No data leaves the account.</a:t>
            </a:r>
            <a:endParaRPr lang="en-US" sz="950" dirty="0"/>
          </a:p>
        </p:txBody>
      </p:sp>
      <p:sp>
        <p:nvSpPr>
          <p:cNvPr id="32" name="Text 30"/>
          <p:cNvSpPr/>
          <p:nvPr/>
        </p:nvSpPr>
        <p:spPr>
          <a:xfrm>
            <a:off x="548640" y="5541264"/>
            <a:ext cx="11091672" cy="457200"/>
          </a:xfrm>
          <a:prstGeom prst="rect">
            <a:avLst/>
          </a:prstGeom>
          <a:noFill/>
          <a:ln/>
        </p:spPr>
        <p:txBody>
          <a:bodyPr wrap="square" lIns="0" tIns="0" rIns="0" bIns="0" rtlCol="0" anchor="ctr"/>
          <a:lstStyle/>
          <a:p>
            <a:pPr marL="0" indent="0">
              <a:buNone/>
            </a:pPr>
            <a:r>
              <a:rPr lang="en-US" sz="1000" i="1" dirty="0">
                <a:solidFill>
                  <a:srgbClr val="A2F3F3"/>
                </a:solidFill>
                <a:latin typeface="Montserrat" pitchFamily="34" charset="0"/>
                <a:ea typeface="Montserrat" pitchFamily="34" charset="-122"/>
                <a:cs typeface="Montserrat" pitchFamily="34" charset="-120"/>
              </a:rPr>
              <a:t>Assessment first: before any conversion, the workbook is scanned and a migration-readiness report is produced — what converts, what needs attention, and where the effort sits.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3F0"/>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marL="0" indent="0">
              <a:buNone/>
            </a:pPr>
            <a:r>
              <a:rPr lang="en-US" sz="3200" b="1" dirty="0">
                <a:solidFill>
                  <a:srgbClr val="053057"/>
                </a:solidFill>
                <a:latin typeface="Montserrat" pitchFamily="34" charset="0"/>
                <a:ea typeface="Montserrat" pitchFamily="34" charset="-122"/>
                <a:cs typeface="Montserrat" pitchFamily="34" charset="-120"/>
              </a:rPr>
              <a:t>What Cortex Does</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marL="0" indent="0">
              <a:buNone/>
            </a:pPr>
            <a:r>
              <a:rPr lang="en-US" sz="1400" dirty="0">
                <a:solidFill>
                  <a:srgbClr val="6B7C88"/>
                </a:solidFill>
                <a:latin typeface="Montserrat" pitchFamily="34" charset="0"/>
                <a:ea typeface="Montserrat" pitchFamily="34" charset="-122"/>
                <a:cs typeface="Montserrat" pitchFamily="34" charset="-120"/>
              </a:rPr>
              <a:t>Claude models running inside the customer's Snowflake account</a:t>
            </a:r>
            <a:endParaRPr lang="en-US" sz="1400" dirty="0"/>
          </a:p>
        </p:txBody>
      </p:sp>
      <p:sp>
        <p:nvSpPr>
          <p:cNvPr id="4" name="Shape 2"/>
          <p:cNvSpPr/>
          <p:nvPr/>
        </p:nvSpPr>
        <p:spPr>
          <a:xfrm>
            <a:off x="548640" y="1316736"/>
            <a:ext cx="2724912" cy="2414016"/>
          </a:xfrm>
          <a:prstGeom prst="roundRect">
            <a:avLst>
              <a:gd name="adj" fmla="val 3030"/>
            </a:avLst>
          </a:prstGeom>
          <a:solidFill>
            <a:srgbClr val="FFFFFF"/>
          </a:solidFill>
          <a:ln w="12700">
            <a:solidFill>
              <a:srgbClr val="DFE3E6"/>
            </a:solidFill>
            <a:prstDash val="solid"/>
          </a:ln>
        </p:spPr>
        <p:txBody>
          <a:bodyPr/>
          <a:lstStyle/>
          <a:p>
            <a:endParaRPr lang="en-IN"/>
          </a:p>
        </p:txBody>
      </p:sp>
      <p:sp>
        <p:nvSpPr>
          <p:cNvPr id="5" name="Shape 3"/>
          <p:cNvSpPr/>
          <p:nvPr/>
        </p:nvSpPr>
        <p:spPr>
          <a:xfrm>
            <a:off x="768096" y="1536192"/>
            <a:ext cx="402336" cy="402336"/>
          </a:xfrm>
          <a:prstGeom prst="ellipse">
            <a:avLst/>
          </a:prstGeom>
          <a:solidFill>
            <a:srgbClr val="00EDED"/>
          </a:solidFill>
          <a:ln/>
        </p:spPr>
        <p:txBody>
          <a:bodyPr/>
          <a:lstStyle/>
          <a:p>
            <a:endParaRPr lang="en-IN"/>
          </a:p>
        </p:txBody>
      </p:sp>
      <p:sp>
        <p:nvSpPr>
          <p:cNvPr id="6" name="Text 4"/>
          <p:cNvSpPr/>
          <p:nvPr/>
        </p:nvSpPr>
        <p:spPr>
          <a:xfrm>
            <a:off x="768096" y="1595628"/>
            <a:ext cx="402336" cy="292608"/>
          </a:xfrm>
          <a:prstGeom prst="rect">
            <a:avLst/>
          </a:prstGeom>
          <a:noFill/>
          <a:ln/>
        </p:spPr>
        <p:txBody>
          <a:bodyPr wrap="square" lIns="0" tIns="0" rIns="0" bIns="0" rtlCol="0" anchor="ctr"/>
          <a:lstStyle/>
          <a:p>
            <a:pPr marL="0" indent="0" algn="ctr">
              <a:buNone/>
            </a:pPr>
            <a:r>
              <a:rPr lang="en-US" sz="1300" b="1" dirty="0">
                <a:solidFill>
                  <a:srgbClr val="053057"/>
                </a:solidFill>
                <a:latin typeface="Montserrat" pitchFamily="34" charset="0"/>
                <a:ea typeface="Montserrat" pitchFamily="34" charset="-122"/>
                <a:cs typeface="Montserrat" pitchFamily="34" charset="-120"/>
              </a:rPr>
              <a:t>1</a:t>
            </a:r>
            <a:endParaRPr lang="en-US" sz="1300" dirty="0"/>
          </a:p>
        </p:txBody>
      </p:sp>
      <p:sp>
        <p:nvSpPr>
          <p:cNvPr id="7" name="Text 5"/>
          <p:cNvSpPr/>
          <p:nvPr/>
        </p:nvSpPr>
        <p:spPr>
          <a:xfrm>
            <a:off x="768096" y="2066544"/>
            <a:ext cx="2286000" cy="548640"/>
          </a:xfrm>
          <a:prstGeom prst="rect">
            <a:avLst/>
          </a:prstGeom>
          <a:noFill/>
          <a:ln/>
        </p:spPr>
        <p:txBody>
          <a:bodyPr wrap="square" lIns="0" tIns="0" rIns="0" bIns="0" rtlCol="0" anchor="ctr"/>
          <a:lstStyle/>
          <a:p>
            <a:pPr marL="0" indent="0">
              <a:buNone/>
            </a:pPr>
            <a:r>
              <a:rPr lang="en-US" sz="1250" b="1" dirty="0">
                <a:solidFill>
                  <a:srgbClr val="053057"/>
                </a:solidFill>
                <a:latin typeface="Montserrat" pitchFamily="34" charset="0"/>
                <a:ea typeface="Montserrat" pitchFamily="34" charset="-122"/>
                <a:cs typeface="Montserrat" pitchFamily="34" charset="-120"/>
              </a:rPr>
              <a:t>Translates the complex calculations</a:t>
            </a:r>
            <a:endParaRPr lang="en-US" sz="1250" dirty="0"/>
          </a:p>
        </p:txBody>
      </p:sp>
      <p:sp>
        <p:nvSpPr>
          <p:cNvPr id="8" name="Text 6"/>
          <p:cNvSpPr/>
          <p:nvPr/>
        </p:nvSpPr>
        <p:spPr>
          <a:xfrm>
            <a:off x="768096" y="2633472"/>
            <a:ext cx="2286000" cy="1024128"/>
          </a:xfrm>
          <a:prstGeom prst="rect">
            <a:avLst/>
          </a:prstGeom>
          <a:noFill/>
          <a:ln/>
        </p:spPr>
        <p:txBody>
          <a:bodyPr wrap="square" lIns="0" tIns="0" rIns="0" bIns="0" rtlCol="0" anchor="ctr"/>
          <a:lstStyle/>
          <a:p>
            <a:pPr marL="0" indent="0">
              <a:lnSpc>
                <a:spcPct val="104000"/>
              </a:lnSpc>
              <a:buNone/>
            </a:pPr>
            <a:r>
              <a:rPr lang="en-US" sz="900" dirty="0">
                <a:solidFill>
                  <a:srgbClr val="6B7C88"/>
                </a:solidFill>
                <a:latin typeface="Montserrat" pitchFamily="34" charset="0"/>
                <a:ea typeface="Montserrat" pitchFamily="34" charset="-122"/>
                <a:cs typeface="Montserrat" pitchFamily="34" charset="-120"/>
              </a:rPr>
              <a:t>Nested level-of-detail expressions and blended, cross-source measures become Snowflake SQL — then execute against the real table to confirm they run and return the right values.</a:t>
            </a:r>
            <a:endParaRPr lang="en-US" sz="900" dirty="0"/>
          </a:p>
        </p:txBody>
      </p:sp>
      <p:sp>
        <p:nvSpPr>
          <p:cNvPr id="9" name="Shape 7"/>
          <p:cNvSpPr/>
          <p:nvPr/>
        </p:nvSpPr>
        <p:spPr>
          <a:xfrm>
            <a:off x="3502152" y="1316736"/>
            <a:ext cx="2724912" cy="2414016"/>
          </a:xfrm>
          <a:prstGeom prst="roundRect">
            <a:avLst>
              <a:gd name="adj" fmla="val 3030"/>
            </a:avLst>
          </a:prstGeom>
          <a:solidFill>
            <a:srgbClr val="FFFFFF"/>
          </a:solidFill>
          <a:ln w="12700">
            <a:solidFill>
              <a:srgbClr val="DFE3E6"/>
            </a:solidFill>
            <a:prstDash val="solid"/>
          </a:ln>
        </p:spPr>
        <p:txBody>
          <a:bodyPr/>
          <a:lstStyle/>
          <a:p>
            <a:endParaRPr lang="en-IN"/>
          </a:p>
        </p:txBody>
      </p:sp>
      <p:sp>
        <p:nvSpPr>
          <p:cNvPr id="10" name="Shape 8"/>
          <p:cNvSpPr/>
          <p:nvPr/>
        </p:nvSpPr>
        <p:spPr>
          <a:xfrm>
            <a:off x="3721608" y="1536192"/>
            <a:ext cx="402336" cy="402336"/>
          </a:xfrm>
          <a:prstGeom prst="ellipse">
            <a:avLst/>
          </a:prstGeom>
          <a:solidFill>
            <a:srgbClr val="00EDED"/>
          </a:solidFill>
          <a:ln/>
        </p:spPr>
        <p:txBody>
          <a:bodyPr/>
          <a:lstStyle/>
          <a:p>
            <a:endParaRPr lang="en-IN"/>
          </a:p>
        </p:txBody>
      </p:sp>
      <p:sp>
        <p:nvSpPr>
          <p:cNvPr id="11" name="Text 9"/>
          <p:cNvSpPr/>
          <p:nvPr/>
        </p:nvSpPr>
        <p:spPr>
          <a:xfrm>
            <a:off x="3721608" y="1595628"/>
            <a:ext cx="402336" cy="292608"/>
          </a:xfrm>
          <a:prstGeom prst="rect">
            <a:avLst/>
          </a:prstGeom>
          <a:noFill/>
          <a:ln/>
        </p:spPr>
        <p:txBody>
          <a:bodyPr wrap="square" lIns="0" tIns="0" rIns="0" bIns="0" rtlCol="0" anchor="ctr"/>
          <a:lstStyle/>
          <a:p>
            <a:pPr marL="0" indent="0" algn="ctr">
              <a:buNone/>
            </a:pPr>
            <a:r>
              <a:rPr lang="en-US" sz="1300" b="1" dirty="0">
                <a:solidFill>
                  <a:srgbClr val="053057"/>
                </a:solidFill>
                <a:latin typeface="Montserrat" pitchFamily="34" charset="0"/>
                <a:ea typeface="Montserrat" pitchFamily="34" charset="-122"/>
                <a:cs typeface="Montserrat" pitchFamily="34" charset="-120"/>
              </a:rPr>
              <a:t>2</a:t>
            </a:r>
            <a:endParaRPr lang="en-US" sz="1300" dirty="0"/>
          </a:p>
        </p:txBody>
      </p:sp>
      <p:sp>
        <p:nvSpPr>
          <p:cNvPr id="12" name="Text 10"/>
          <p:cNvSpPr/>
          <p:nvPr/>
        </p:nvSpPr>
        <p:spPr>
          <a:xfrm>
            <a:off x="3721608" y="2066544"/>
            <a:ext cx="2286000" cy="548640"/>
          </a:xfrm>
          <a:prstGeom prst="rect">
            <a:avLst/>
          </a:prstGeom>
          <a:noFill/>
          <a:ln/>
        </p:spPr>
        <p:txBody>
          <a:bodyPr wrap="square" lIns="0" tIns="0" rIns="0" bIns="0" rtlCol="0" anchor="ctr"/>
          <a:lstStyle/>
          <a:p>
            <a:pPr marL="0" indent="0">
              <a:buNone/>
            </a:pPr>
            <a:r>
              <a:rPr lang="en-US" sz="1250" b="1" dirty="0">
                <a:solidFill>
                  <a:srgbClr val="053057"/>
                </a:solidFill>
                <a:latin typeface="Montserrat" pitchFamily="34" charset="0"/>
                <a:ea typeface="Montserrat" pitchFamily="34" charset="-122"/>
                <a:cs typeface="Montserrat" pitchFamily="34" charset="-120"/>
              </a:rPr>
              <a:t>Builds the governed semantic model</a:t>
            </a:r>
            <a:endParaRPr lang="en-US" sz="1250" dirty="0"/>
          </a:p>
        </p:txBody>
      </p:sp>
      <p:sp>
        <p:nvSpPr>
          <p:cNvPr id="13" name="Text 11"/>
          <p:cNvSpPr/>
          <p:nvPr/>
        </p:nvSpPr>
        <p:spPr>
          <a:xfrm>
            <a:off x="3721608" y="2633472"/>
            <a:ext cx="2286000" cy="1024128"/>
          </a:xfrm>
          <a:prstGeom prst="rect">
            <a:avLst/>
          </a:prstGeom>
          <a:noFill/>
          <a:ln/>
        </p:spPr>
        <p:txBody>
          <a:bodyPr wrap="square" lIns="0" tIns="0" rIns="0" bIns="0" rtlCol="0" anchor="ctr"/>
          <a:lstStyle/>
          <a:p>
            <a:pPr marL="0" indent="0">
              <a:lnSpc>
                <a:spcPct val="104000"/>
              </a:lnSpc>
              <a:buNone/>
            </a:pPr>
            <a:r>
              <a:rPr lang="en-US" sz="900" dirty="0">
                <a:solidFill>
                  <a:srgbClr val="6B7C88"/>
                </a:solidFill>
                <a:latin typeface="Montserrat" pitchFamily="34" charset="0"/>
                <a:ea typeface="Montserrat" pitchFamily="34" charset="-122"/>
                <a:cs typeface="Montserrat" pitchFamily="34" charset="-120"/>
              </a:rPr>
              <a:t>The workbook's verified measures become a native semantic view: Tableau measures as Snowflake metrics, business captions as synonyms, identifiers read from the live tables.</a:t>
            </a:r>
            <a:endParaRPr lang="en-US" sz="900" dirty="0"/>
          </a:p>
        </p:txBody>
      </p:sp>
      <p:sp>
        <p:nvSpPr>
          <p:cNvPr id="14" name="Shape 12"/>
          <p:cNvSpPr/>
          <p:nvPr/>
        </p:nvSpPr>
        <p:spPr>
          <a:xfrm>
            <a:off x="6455664" y="1316736"/>
            <a:ext cx="2724912" cy="2414016"/>
          </a:xfrm>
          <a:prstGeom prst="roundRect">
            <a:avLst>
              <a:gd name="adj" fmla="val 3030"/>
            </a:avLst>
          </a:prstGeom>
          <a:solidFill>
            <a:srgbClr val="FFFFFF"/>
          </a:solidFill>
          <a:ln w="12700">
            <a:solidFill>
              <a:srgbClr val="DFE3E6"/>
            </a:solidFill>
            <a:prstDash val="solid"/>
          </a:ln>
        </p:spPr>
        <p:txBody>
          <a:bodyPr/>
          <a:lstStyle/>
          <a:p>
            <a:endParaRPr lang="en-IN"/>
          </a:p>
        </p:txBody>
      </p:sp>
      <p:sp>
        <p:nvSpPr>
          <p:cNvPr id="15" name="Shape 13"/>
          <p:cNvSpPr/>
          <p:nvPr/>
        </p:nvSpPr>
        <p:spPr>
          <a:xfrm>
            <a:off x="6675120" y="1536192"/>
            <a:ext cx="402336" cy="402336"/>
          </a:xfrm>
          <a:prstGeom prst="ellipse">
            <a:avLst/>
          </a:prstGeom>
          <a:solidFill>
            <a:srgbClr val="00EDED"/>
          </a:solidFill>
          <a:ln/>
        </p:spPr>
        <p:txBody>
          <a:bodyPr/>
          <a:lstStyle/>
          <a:p>
            <a:endParaRPr lang="en-IN"/>
          </a:p>
        </p:txBody>
      </p:sp>
      <p:sp>
        <p:nvSpPr>
          <p:cNvPr id="16" name="Text 14"/>
          <p:cNvSpPr/>
          <p:nvPr/>
        </p:nvSpPr>
        <p:spPr>
          <a:xfrm>
            <a:off x="6675120" y="1595628"/>
            <a:ext cx="402336" cy="292608"/>
          </a:xfrm>
          <a:prstGeom prst="rect">
            <a:avLst/>
          </a:prstGeom>
          <a:noFill/>
          <a:ln/>
        </p:spPr>
        <p:txBody>
          <a:bodyPr wrap="square" lIns="0" tIns="0" rIns="0" bIns="0" rtlCol="0" anchor="ctr"/>
          <a:lstStyle/>
          <a:p>
            <a:pPr marL="0" indent="0" algn="ctr">
              <a:buNone/>
            </a:pPr>
            <a:r>
              <a:rPr lang="en-US" sz="1300" b="1" dirty="0">
                <a:solidFill>
                  <a:srgbClr val="053057"/>
                </a:solidFill>
                <a:latin typeface="Montserrat" pitchFamily="34" charset="0"/>
                <a:ea typeface="Montserrat" pitchFamily="34" charset="-122"/>
                <a:cs typeface="Montserrat" pitchFamily="34" charset="-120"/>
              </a:rPr>
              <a:t>3</a:t>
            </a:r>
            <a:endParaRPr lang="en-US" sz="1300" dirty="0"/>
          </a:p>
        </p:txBody>
      </p:sp>
      <p:sp>
        <p:nvSpPr>
          <p:cNvPr id="17" name="Text 15"/>
          <p:cNvSpPr/>
          <p:nvPr/>
        </p:nvSpPr>
        <p:spPr>
          <a:xfrm>
            <a:off x="6675120" y="2066544"/>
            <a:ext cx="2286000" cy="548640"/>
          </a:xfrm>
          <a:prstGeom prst="rect">
            <a:avLst/>
          </a:prstGeom>
          <a:noFill/>
          <a:ln/>
        </p:spPr>
        <p:txBody>
          <a:bodyPr wrap="square" lIns="0" tIns="0" rIns="0" bIns="0" rtlCol="0" anchor="ctr"/>
          <a:lstStyle/>
          <a:p>
            <a:pPr marL="0" indent="0">
              <a:buNone/>
            </a:pPr>
            <a:r>
              <a:rPr lang="en-US" sz="1250" b="1" dirty="0">
                <a:solidFill>
                  <a:srgbClr val="053057"/>
                </a:solidFill>
                <a:latin typeface="Montserrat" pitchFamily="34" charset="0"/>
                <a:ea typeface="Montserrat" pitchFamily="34" charset="-122"/>
                <a:cs typeface="Montserrat" pitchFamily="34" charset="-120"/>
              </a:rPr>
              <a:t>Serves natural-language questions</a:t>
            </a:r>
            <a:endParaRPr lang="en-US" sz="1250" dirty="0"/>
          </a:p>
        </p:txBody>
      </p:sp>
      <p:sp>
        <p:nvSpPr>
          <p:cNvPr id="18" name="Text 16"/>
          <p:cNvSpPr/>
          <p:nvPr/>
        </p:nvSpPr>
        <p:spPr>
          <a:xfrm>
            <a:off x="6675120" y="2633472"/>
            <a:ext cx="2286000" cy="1024128"/>
          </a:xfrm>
          <a:prstGeom prst="rect">
            <a:avLst/>
          </a:prstGeom>
          <a:noFill/>
          <a:ln/>
        </p:spPr>
        <p:txBody>
          <a:bodyPr wrap="square" lIns="0" tIns="0" rIns="0" bIns="0" rtlCol="0" anchor="ctr"/>
          <a:lstStyle/>
          <a:p>
            <a:pPr marL="0" indent="0">
              <a:lnSpc>
                <a:spcPct val="104000"/>
              </a:lnSpc>
              <a:buNone/>
            </a:pPr>
            <a:r>
              <a:rPr lang="en-US" sz="900" dirty="0">
                <a:solidFill>
                  <a:srgbClr val="6B7C88"/>
                </a:solidFill>
                <a:latin typeface="Montserrat" pitchFamily="34" charset="0"/>
                <a:ea typeface="Montserrat" pitchFamily="34" charset="-122"/>
                <a:cs typeface="Montserrat" pitchFamily="34" charset="-120"/>
              </a:rPr>
              <a:t>Cortex Analyst answers business questions over that same governed model, so exploration uses the definitions the migrated dashboards already use.</a:t>
            </a:r>
            <a:endParaRPr lang="en-US" sz="900" dirty="0"/>
          </a:p>
        </p:txBody>
      </p:sp>
      <p:sp>
        <p:nvSpPr>
          <p:cNvPr id="19" name="Shape 17"/>
          <p:cNvSpPr/>
          <p:nvPr/>
        </p:nvSpPr>
        <p:spPr>
          <a:xfrm>
            <a:off x="9409176" y="1316736"/>
            <a:ext cx="2724912" cy="2414016"/>
          </a:xfrm>
          <a:prstGeom prst="roundRect">
            <a:avLst>
              <a:gd name="adj" fmla="val 3030"/>
            </a:avLst>
          </a:prstGeom>
          <a:solidFill>
            <a:srgbClr val="FFFFFF"/>
          </a:solidFill>
          <a:ln w="12700">
            <a:solidFill>
              <a:srgbClr val="DFE3E6"/>
            </a:solidFill>
            <a:prstDash val="solid"/>
          </a:ln>
        </p:spPr>
        <p:txBody>
          <a:bodyPr/>
          <a:lstStyle/>
          <a:p>
            <a:endParaRPr lang="en-IN"/>
          </a:p>
        </p:txBody>
      </p:sp>
      <p:sp>
        <p:nvSpPr>
          <p:cNvPr id="20" name="Shape 18"/>
          <p:cNvSpPr/>
          <p:nvPr/>
        </p:nvSpPr>
        <p:spPr>
          <a:xfrm>
            <a:off x="9628632" y="1536192"/>
            <a:ext cx="402336" cy="402336"/>
          </a:xfrm>
          <a:prstGeom prst="ellipse">
            <a:avLst/>
          </a:prstGeom>
          <a:solidFill>
            <a:srgbClr val="00EDED"/>
          </a:solidFill>
          <a:ln/>
        </p:spPr>
        <p:txBody>
          <a:bodyPr/>
          <a:lstStyle/>
          <a:p>
            <a:endParaRPr lang="en-IN"/>
          </a:p>
        </p:txBody>
      </p:sp>
      <p:sp>
        <p:nvSpPr>
          <p:cNvPr id="21" name="Text 19"/>
          <p:cNvSpPr/>
          <p:nvPr/>
        </p:nvSpPr>
        <p:spPr>
          <a:xfrm>
            <a:off x="9628632" y="1595628"/>
            <a:ext cx="402336" cy="292608"/>
          </a:xfrm>
          <a:prstGeom prst="rect">
            <a:avLst/>
          </a:prstGeom>
          <a:noFill/>
          <a:ln/>
        </p:spPr>
        <p:txBody>
          <a:bodyPr wrap="square" lIns="0" tIns="0" rIns="0" bIns="0" rtlCol="0" anchor="ctr"/>
          <a:lstStyle/>
          <a:p>
            <a:pPr marL="0" indent="0" algn="ctr">
              <a:buNone/>
            </a:pPr>
            <a:r>
              <a:rPr lang="en-US" sz="1300" b="1" dirty="0">
                <a:solidFill>
                  <a:srgbClr val="053057"/>
                </a:solidFill>
                <a:latin typeface="Montserrat" pitchFamily="34" charset="0"/>
                <a:ea typeface="Montserrat" pitchFamily="34" charset="-122"/>
                <a:cs typeface="Montserrat" pitchFamily="34" charset="-120"/>
              </a:rPr>
              <a:t>4</a:t>
            </a:r>
            <a:endParaRPr lang="en-US" sz="1300" dirty="0"/>
          </a:p>
        </p:txBody>
      </p:sp>
      <p:sp>
        <p:nvSpPr>
          <p:cNvPr id="22" name="Text 20"/>
          <p:cNvSpPr/>
          <p:nvPr/>
        </p:nvSpPr>
        <p:spPr>
          <a:xfrm>
            <a:off x="9628632" y="2066544"/>
            <a:ext cx="2286000" cy="548640"/>
          </a:xfrm>
          <a:prstGeom prst="rect">
            <a:avLst/>
          </a:prstGeom>
          <a:noFill/>
          <a:ln/>
        </p:spPr>
        <p:txBody>
          <a:bodyPr wrap="square" lIns="0" tIns="0" rIns="0" bIns="0" rtlCol="0" anchor="ctr"/>
          <a:lstStyle/>
          <a:p>
            <a:pPr marL="0" indent="0">
              <a:buNone/>
            </a:pPr>
            <a:r>
              <a:rPr lang="en-US" sz="1250" b="1" dirty="0">
                <a:solidFill>
                  <a:srgbClr val="053057"/>
                </a:solidFill>
                <a:latin typeface="Montserrat" pitchFamily="34" charset="0"/>
                <a:ea typeface="Montserrat" pitchFamily="34" charset="-122"/>
                <a:cs typeface="Montserrat" pitchFamily="34" charset="-120"/>
              </a:rPr>
              <a:t>Validates the migration</a:t>
            </a:r>
            <a:endParaRPr lang="en-US" sz="1250" dirty="0"/>
          </a:p>
        </p:txBody>
      </p:sp>
      <p:sp>
        <p:nvSpPr>
          <p:cNvPr id="23" name="Text 21"/>
          <p:cNvSpPr/>
          <p:nvPr/>
        </p:nvSpPr>
        <p:spPr>
          <a:xfrm>
            <a:off x="9628632" y="2633472"/>
            <a:ext cx="2286000" cy="1024128"/>
          </a:xfrm>
          <a:prstGeom prst="rect">
            <a:avLst/>
          </a:prstGeom>
          <a:noFill/>
          <a:ln/>
        </p:spPr>
        <p:txBody>
          <a:bodyPr wrap="square" lIns="0" tIns="0" rIns="0" bIns="0" rtlCol="0" anchor="ctr"/>
          <a:lstStyle/>
          <a:p>
            <a:pPr marL="0" indent="0">
              <a:lnSpc>
                <a:spcPct val="104000"/>
              </a:lnSpc>
              <a:buNone/>
            </a:pPr>
            <a:r>
              <a:rPr lang="en-US" sz="900" dirty="0">
                <a:solidFill>
                  <a:srgbClr val="6B7C88"/>
                </a:solidFill>
                <a:latin typeface="Montserrat" pitchFamily="34" charset="0"/>
                <a:ea typeface="Montserrat" pitchFamily="34" charset="-122"/>
                <a:cs typeface="Montserrat" pitchFamily="34" charset="-120"/>
              </a:rPr>
              <a:t>Cortex reads the source workbook and compares it against the generated app section by section, producing the evidence pack that closes the migration.</a:t>
            </a:r>
            <a:endParaRPr lang="en-US" sz="900" dirty="0"/>
          </a:p>
        </p:txBody>
      </p:sp>
      <p:sp>
        <p:nvSpPr>
          <p:cNvPr id="24" name="Text 22"/>
          <p:cNvSpPr/>
          <p:nvPr/>
        </p:nvSpPr>
        <p:spPr>
          <a:xfrm>
            <a:off x="548640" y="3913632"/>
            <a:ext cx="11091672" cy="292608"/>
          </a:xfrm>
          <a:prstGeom prst="rect">
            <a:avLst/>
          </a:prstGeom>
          <a:noFill/>
          <a:ln/>
        </p:spPr>
        <p:txBody>
          <a:bodyPr wrap="square" lIns="0" tIns="0" rIns="0" bIns="0" rtlCol="0" anchor="ctr"/>
          <a:lstStyle/>
          <a:p>
            <a:pPr marL="0" indent="0">
              <a:buNone/>
            </a:pPr>
            <a:r>
              <a:rPr lang="en-US" sz="1250" b="1" dirty="0">
                <a:solidFill>
                  <a:srgbClr val="053057"/>
                </a:solidFill>
                <a:latin typeface="Montserrat" pitchFamily="34" charset="0"/>
                <a:ea typeface="Montserrat" pitchFamily="34" charset="-122"/>
                <a:cs typeface="Montserrat" pitchFamily="34" charset="-120"/>
              </a:rPr>
              <a:t>Worked example — a calculation Cortex converted and proved</a:t>
            </a:r>
            <a:endParaRPr lang="en-US" sz="1250" dirty="0"/>
          </a:p>
        </p:txBody>
      </p:sp>
      <p:sp>
        <p:nvSpPr>
          <p:cNvPr id="25" name="Shape 23"/>
          <p:cNvSpPr/>
          <p:nvPr/>
        </p:nvSpPr>
        <p:spPr>
          <a:xfrm>
            <a:off x="548640" y="4279392"/>
            <a:ext cx="3575304" cy="1572768"/>
          </a:xfrm>
          <a:prstGeom prst="roundRect">
            <a:avLst>
              <a:gd name="adj" fmla="val 4651"/>
            </a:avLst>
          </a:prstGeom>
          <a:solidFill>
            <a:srgbClr val="FFFFFF"/>
          </a:solidFill>
          <a:ln w="12700">
            <a:solidFill>
              <a:srgbClr val="DFE3E6"/>
            </a:solidFill>
            <a:prstDash val="solid"/>
          </a:ln>
        </p:spPr>
        <p:txBody>
          <a:bodyPr/>
          <a:lstStyle/>
          <a:p>
            <a:endParaRPr lang="en-IN"/>
          </a:p>
        </p:txBody>
      </p:sp>
      <p:sp>
        <p:nvSpPr>
          <p:cNvPr id="26" name="Text 24"/>
          <p:cNvSpPr/>
          <p:nvPr/>
        </p:nvSpPr>
        <p:spPr>
          <a:xfrm>
            <a:off x="786384" y="4443984"/>
            <a:ext cx="3099816" cy="237744"/>
          </a:xfrm>
          <a:prstGeom prst="rect">
            <a:avLst/>
          </a:prstGeom>
          <a:noFill/>
          <a:ln/>
        </p:spPr>
        <p:txBody>
          <a:bodyPr wrap="square" lIns="0" tIns="0" rIns="0" bIns="0" rtlCol="0" anchor="ctr"/>
          <a:lstStyle/>
          <a:p>
            <a:pPr marL="0" indent="0">
              <a:buNone/>
            </a:pPr>
            <a:r>
              <a:rPr lang="en-US" sz="900" b="1" kern="0" spc="140" dirty="0">
                <a:solidFill>
                  <a:srgbClr val="6B7C88"/>
                </a:solidFill>
                <a:latin typeface="Montserrat" pitchFamily="34" charset="0"/>
                <a:ea typeface="Montserrat" pitchFamily="34" charset="-122"/>
                <a:cs typeface="Montserrat" pitchFamily="34" charset="-120"/>
              </a:rPr>
              <a:t>TABLEAU SOURCE</a:t>
            </a:r>
            <a:endParaRPr lang="en-US" sz="900" dirty="0"/>
          </a:p>
        </p:txBody>
      </p:sp>
      <p:sp>
        <p:nvSpPr>
          <p:cNvPr id="27" name="Text 25"/>
          <p:cNvSpPr/>
          <p:nvPr/>
        </p:nvSpPr>
        <p:spPr>
          <a:xfrm>
            <a:off x="786384" y="4718304"/>
            <a:ext cx="3099816" cy="603504"/>
          </a:xfrm>
          <a:prstGeom prst="rect">
            <a:avLst/>
          </a:prstGeom>
          <a:noFill/>
          <a:ln/>
        </p:spPr>
        <p:txBody>
          <a:bodyPr wrap="square" lIns="0" tIns="0" rIns="0" bIns="0" rtlCol="0" anchor="ctr"/>
          <a:lstStyle/>
          <a:p>
            <a:pPr marL="0" indent="0">
              <a:buNone/>
            </a:pPr>
            <a:r>
              <a:rPr lang="en-US" sz="900" dirty="0">
                <a:solidFill>
                  <a:srgbClr val="314550"/>
                </a:solidFill>
                <a:latin typeface="Montserrat" pitchFamily="34" charset="0"/>
                <a:ea typeface="Montserrat" pitchFamily="34" charset="-122"/>
                <a:cs typeface="Montserrat" pitchFamily="34" charset="-120"/>
              </a:rPr>
              <a:t>{ FIXED [Region] : AVG( { FIXED [Region],[Sub-Category] : SUM([Sales]) } ) }</a:t>
            </a:r>
            <a:endParaRPr lang="en-US" sz="900" dirty="0"/>
          </a:p>
        </p:txBody>
      </p:sp>
      <p:sp>
        <p:nvSpPr>
          <p:cNvPr id="28" name="Text 26"/>
          <p:cNvSpPr/>
          <p:nvPr/>
        </p:nvSpPr>
        <p:spPr>
          <a:xfrm>
            <a:off x="786384" y="5358384"/>
            <a:ext cx="3099816" cy="420624"/>
          </a:xfrm>
          <a:prstGeom prst="rect">
            <a:avLst/>
          </a:prstGeom>
          <a:noFill/>
          <a:ln/>
        </p:spPr>
        <p:txBody>
          <a:bodyPr wrap="square" lIns="0" tIns="0" rIns="0" bIns="0" rtlCol="0" anchor="ctr"/>
          <a:lstStyle/>
          <a:p>
            <a:pPr marL="0" indent="0">
              <a:buNone/>
            </a:pPr>
            <a:r>
              <a:rPr lang="en-US" sz="850" dirty="0">
                <a:solidFill>
                  <a:srgbClr val="6B7C88"/>
                </a:solidFill>
                <a:latin typeface="Montserrat" pitchFamily="34" charset="0"/>
                <a:ea typeface="Montserrat" pitchFamily="34" charset="-122"/>
                <a:cs typeface="Montserrat" pitchFamily="34" charset="-120"/>
              </a:rPr>
              <a:t>A nested level-of-detail expression — an average of an average, at two different grains.</a:t>
            </a:r>
            <a:endParaRPr lang="en-US" sz="850" dirty="0"/>
          </a:p>
        </p:txBody>
      </p:sp>
      <p:sp>
        <p:nvSpPr>
          <p:cNvPr id="29" name="Shape 27"/>
          <p:cNvSpPr/>
          <p:nvPr/>
        </p:nvSpPr>
        <p:spPr>
          <a:xfrm>
            <a:off x="4306824" y="4279392"/>
            <a:ext cx="3575304" cy="1572768"/>
          </a:xfrm>
          <a:prstGeom prst="roundRect">
            <a:avLst>
              <a:gd name="adj" fmla="val 4651"/>
            </a:avLst>
          </a:prstGeom>
          <a:solidFill>
            <a:srgbClr val="FFFFFF"/>
          </a:solidFill>
          <a:ln w="12700">
            <a:solidFill>
              <a:srgbClr val="DFE3E6"/>
            </a:solidFill>
            <a:prstDash val="solid"/>
          </a:ln>
        </p:spPr>
        <p:txBody>
          <a:bodyPr/>
          <a:lstStyle/>
          <a:p>
            <a:endParaRPr lang="en-IN"/>
          </a:p>
        </p:txBody>
      </p:sp>
      <p:sp>
        <p:nvSpPr>
          <p:cNvPr id="30" name="Text 28"/>
          <p:cNvSpPr/>
          <p:nvPr/>
        </p:nvSpPr>
        <p:spPr>
          <a:xfrm>
            <a:off x="4544568" y="4443984"/>
            <a:ext cx="3099816" cy="237744"/>
          </a:xfrm>
          <a:prstGeom prst="rect">
            <a:avLst/>
          </a:prstGeom>
          <a:noFill/>
          <a:ln/>
        </p:spPr>
        <p:txBody>
          <a:bodyPr wrap="square" lIns="0" tIns="0" rIns="0" bIns="0" rtlCol="0" anchor="ctr"/>
          <a:lstStyle/>
          <a:p>
            <a:pPr marL="0" indent="0">
              <a:buNone/>
            </a:pPr>
            <a:r>
              <a:rPr lang="en-US" sz="900" b="1" kern="0" spc="140" dirty="0">
                <a:solidFill>
                  <a:srgbClr val="6B7C88"/>
                </a:solidFill>
                <a:latin typeface="Montserrat" pitchFamily="34" charset="0"/>
                <a:ea typeface="Montserrat" pitchFamily="34" charset="-122"/>
                <a:cs typeface="Montserrat" pitchFamily="34" charset="-120"/>
              </a:rPr>
              <a:t>CORTEX OUTPUT</a:t>
            </a:r>
            <a:endParaRPr lang="en-US" sz="900" dirty="0"/>
          </a:p>
        </p:txBody>
      </p:sp>
      <p:sp>
        <p:nvSpPr>
          <p:cNvPr id="31" name="Text 29"/>
          <p:cNvSpPr/>
          <p:nvPr/>
        </p:nvSpPr>
        <p:spPr>
          <a:xfrm>
            <a:off x="4544568" y="4718304"/>
            <a:ext cx="3099816" cy="603504"/>
          </a:xfrm>
          <a:prstGeom prst="rect">
            <a:avLst/>
          </a:prstGeom>
          <a:noFill/>
          <a:ln/>
        </p:spPr>
        <p:txBody>
          <a:bodyPr wrap="square" lIns="0" tIns="0" rIns="0" bIns="0" rtlCol="0" anchor="ctr"/>
          <a:lstStyle/>
          <a:p>
            <a:pPr marL="0" indent="0">
              <a:buNone/>
            </a:pPr>
            <a:r>
              <a:rPr lang="en-US" sz="900" dirty="0">
                <a:solidFill>
                  <a:srgbClr val="314550"/>
                </a:solidFill>
                <a:latin typeface="Montserrat" pitchFamily="34" charset="0"/>
                <a:ea typeface="Montserrat" pitchFamily="34" charset="-122"/>
                <a:cs typeface="Montserrat" pitchFamily="34" charset="-120"/>
              </a:rPr>
              <a:t>WITH inner AS ( SELECT region, sub_category, SUM(sales) … )  SELECT region, AVG(v) …</a:t>
            </a:r>
            <a:endParaRPr lang="en-US" sz="900" dirty="0"/>
          </a:p>
        </p:txBody>
      </p:sp>
      <p:sp>
        <p:nvSpPr>
          <p:cNvPr id="32" name="Text 30"/>
          <p:cNvSpPr/>
          <p:nvPr/>
        </p:nvSpPr>
        <p:spPr>
          <a:xfrm>
            <a:off x="4544568" y="5358384"/>
            <a:ext cx="3099816" cy="420624"/>
          </a:xfrm>
          <a:prstGeom prst="rect">
            <a:avLst/>
          </a:prstGeom>
          <a:noFill/>
          <a:ln/>
        </p:spPr>
        <p:txBody>
          <a:bodyPr wrap="square" lIns="0" tIns="0" rIns="0" bIns="0" rtlCol="0" anchor="ctr"/>
          <a:lstStyle/>
          <a:p>
            <a:pPr marL="0" indent="0">
              <a:buNone/>
            </a:pPr>
            <a:r>
              <a:rPr lang="en-US" sz="850" dirty="0">
                <a:solidFill>
                  <a:srgbClr val="6B7C88"/>
                </a:solidFill>
                <a:latin typeface="Montserrat" pitchFamily="34" charset="0"/>
                <a:ea typeface="Montserrat" pitchFamily="34" charset="-122"/>
                <a:cs typeface="Montserrat" pitchFamily="34" charset="-120"/>
              </a:rPr>
              <a:t>Rewritten as layered CTEs that Snowflake executes directly.</a:t>
            </a:r>
            <a:endParaRPr lang="en-US" sz="850" dirty="0"/>
          </a:p>
        </p:txBody>
      </p:sp>
      <p:sp>
        <p:nvSpPr>
          <p:cNvPr id="33" name="Shape 31"/>
          <p:cNvSpPr/>
          <p:nvPr/>
        </p:nvSpPr>
        <p:spPr>
          <a:xfrm>
            <a:off x="8065008" y="4279392"/>
            <a:ext cx="3575304" cy="1572768"/>
          </a:xfrm>
          <a:prstGeom prst="roundRect">
            <a:avLst>
              <a:gd name="adj" fmla="val 4651"/>
            </a:avLst>
          </a:prstGeom>
          <a:solidFill>
            <a:srgbClr val="053057"/>
          </a:solidFill>
          <a:ln w="12700">
            <a:solidFill>
              <a:srgbClr val="053057"/>
            </a:solidFill>
            <a:prstDash val="solid"/>
          </a:ln>
        </p:spPr>
        <p:txBody>
          <a:bodyPr/>
          <a:lstStyle/>
          <a:p>
            <a:endParaRPr lang="en-IN"/>
          </a:p>
        </p:txBody>
      </p:sp>
      <p:sp>
        <p:nvSpPr>
          <p:cNvPr id="34" name="Text 32"/>
          <p:cNvSpPr/>
          <p:nvPr/>
        </p:nvSpPr>
        <p:spPr>
          <a:xfrm>
            <a:off x="8302752" y="4443984"/>
            <a:ext cx="3099816" cy="237744"/>
          </a:xfrm>
          <a:prstGeom prst="rect">
            <a:avLst/>
          </a:prstGeom>
          <a:noFill/>
          <a:ln/>
        </p:spPr>
        <p:txBody>
          <a:bodyPr wrap="square" lIns="0" tIns="0" rIns="0" bIns="0" rtlCol="0" anchor="ctr"/>
          <a:lstStyle/>
          <a:p>
            <a:pPr marL="0" indent="0">
              <a:buNone/>
            </a:pPr>
            <a:r>
              <a:rPr lang="en-US" sz="900" b="1" kern="0" spc="140" dirty="0">
                <a:solidFill>
                  <a:srgbClr val="00EDED"/>
                </a:solidFill>
                <a:latin typeface="Montserrat" pitchFamily="34" charset="0"/>
                <a:ea typeface="Montserrat" pitchFamily="34" charset="-122"/>
                <a:cs typeface="Montserrat" pitchFamily="34" charset="-120"/>
              </a:rPr>
              <a:t>PROVEN</a:t>
            </a:r>
            <a:endParaRPr lang="en-US" sz="900" dirty="0"/>
          </a:p>
        </p:txBody>
      </p:sp>
      <p:sp>
        <p:nvSpPr>
          <p:cNvPr id="35" name="Text 33"/>
          <p:cNvSpPr/>
          <p:nvPr/>
        </p:nvSpPr>
        <p:spPr>
          <a:xfrm>
            <a:off x="8302752" y="4718304"/>
            <a:ext cx="3099816" cy="603504"/>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4 of 4 region values exact</a:t>
            </a:r>
            <a:endParaRPr lang="en-US" sz="1300" dirty="0"/>
          </a:p>
        </p:txBody>
      </p:sp>
      <p:sp>
        <p:nvSpPr>
          <p:cNvPr id="36" name="Text 34"/>
          <p:cNvSpPr/>
          <p:nvPr/>
        </p:nvSpPr>
        <p:spPr>
          <a:xfrm>
            <a:off x="8302752" y="5358384"/>
            <a:ext cx="3099816" cy="420624"/>
          </a:xfrm>
          <a:prstGeom prst="rect">
            <a:avLst/>
          </a:prstGeom>
          <a:noFill/>
          <a:ln/>
        </p:spPr>
        <p:txBody>
          <a:bodyPr wrap="square" lIns="0" tIns="0" rIns="0" bIns="0" rtlCol="0" anchor="ctr"/>
          <a:lstStyle/>
          <a:p>
            <a:pPr marL="0" indent="0">
              <a:buNone/>
            </a:pPr>
            <a:r>
              <a:rPr lang="en-US" sz="850" dirty="0">
                <a:solidFill>
                  <a:srgbClr val="A2F3F3"/>
                </a:solidFill>
                <a:latin typeface="Montserrat" pitchFamily="34" charset="0"/>
                <a:ea typeface="Montserrat" pitchFamily="34" charset="-122"/>
                <a:cs typeface="Montserrat" pitchFamily="34" charset="-120"/>
              </a:rPr>
              <a:t>Executed against the real table and checked against an independent ground truth before acceptance.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3F0"/>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marL="0" indent="0">
              <a:buNone/>
            </a:pPr>
            <a:r>
              <a:rPr lang="en-US" sz="3200" b="1" dirty="0">
                <a:solidFill>
                  <a:srgbClr val="053057"/>
                </a:solidFill>
                <a:latin typeface="Montserrat" pitchFamily="34" charset="0"/>
                <a:ea typeface="Montserrat" pitchFamily="34" charset="-122"/>
                <a:cs typeface="Montserrat" pitchFamily="34" charset="-120"/>
              </a:rPr>
              <a:t>Impact — Both Sides of the Trade</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marL="0" indent="0">
              <a:buNone/>
            </a:pPr>
            <a:r>
              <a:rPr lang="en-US" sz="1400" dirty="0">
                <a:solidFill>
                  <a:srgbClr val="6B7C88"/>
                </a:solidFill>
                <a:latin typeface="Montserrat" pitchFamily="34" charset="0"/>
                <a:ea typeface="Montserrat" pitchFamily="34" charset="-122"/>
                <a:cs typeface="Montserrat" pitchFamily="34" charset="-120"/>
              </a:rPr>
              <a:t>What the customer stops paying, and what Snowflake picks up</a:t>
            </a:r>
            <a:endParaRPr lang="en-US" sz="1400" dirty="0"/>
          </a:p>
        </p:txBody>
      </p:sp>
      <p:sp>
        <p:nvSpPr>
          <p:cNvPr id="4" name="Text 2"/>
          <p:cNvSpPr/>
          <p:nvPr/>
        </p:nvSpPr>
        <p:spPr>
          <a:xfrm>
            <a:off x="548640" y="1188720"/>
            <a:ext cx="11091672" cy="237744"/>
          </a:xfrm>
          <a:prstGeom prst="rect">
            <a:avLst/>
          </a:prstGeom>
          <a:noFill/>
          <a:ln/>
        </p:spPr>
        <p:txBody>
          <a:bodyPr wrap="square" lIns="0" tIns="0" rIns="0" bIns="0" rtlCol="0" anchor="ctr"/>
          <a:lstStyle/>
          <a:p>
            <a:pPr marL="0" indent="0">
              <a:buNone/>
            </a:pPr>
            <a:r>
              <a:rPr lang="en-US" sz="1000" b="1" kern="0" spc="150" dirty="0">
                <a:solidFill>
                  <a:srgbClr val="6B7C88"/>
                </a:solidFill>
                <a:latin typeface="Montserrat" pitchFamily="34" charset="0"/>
                <a:ea typeface="Montserrat" pitchFamily="34" charset="-122"/>
                <a:cs typeface="Montserrat" pitchFamily="34" charset="-120"/>
              </a:rPr>
              <a:t>THE CUSTOMER'S RECURRING COST — A WORKED EXAMPLE AT PUBLISHED LIST PRICING</a:t>
            </a:r>
            <a:endParaRPr lang="en-US" sz="1000" dirty="0"/>
          </a:p>
        </p:txBody>
      </p:sp>
      <p:sp>
        <p:nvSpPr>
          <p:cNvPr id="5" name="Shape 3"/>
          <p:cNvSpPr/>
          <p:nvPr/>
        </p:nvSpPr>
        <p:spPr>
          <a:xfrm>
            <a:off x="548640" y="1463040"/>
            <a:ext cx="2724912" cy="1298448"/>
          </a:xfrm>
          <a:prstGeom prst="roundRect">
            <a:avLst>
              <a:gd name="adj" fmla="val 5634"/>
            </a:avLst>
          </a:prstGeom>
          <a:solidFill>
            <a:srgbClr val="FFFFFF"/>
          </a:solidFill>
          <a:ln w="12700">
            <a:solidFill>
              <a:srgbClr val="DFE3E6"/>
            </a:solidFill>
            <a:prstDash val="solid"/>
          </a:ln>
        </p:spPr>
        <p:txBody>
          <a:bodyPr/>
          <a:lstStyle/>
          <a:p>
            <a:endParaRPr lang="en-IN"/>
          </a:p>
        </p:txBody>
      </p:sp>
      <p:sp>
        <p:nvSpPr>
          <p:cNvPr id="6" name="Text 4"/>
          <p:cNvSpPr/>
          <p:nvPr/>
        </p:nvSpPr>
        <p:spPr>
          <a:xfrm>
            <a:off x="749808" y="1572768"/>
            <a:ext cx="2322576" cy="201168"/>
          </a:xfrm>
          <a:prstGeom prst="rect">
            <a:avLst/>
          </a:prstGeom>
          <a:noFill/>
          <a:ln/>
        </p:spPr>
        <p:txBody>
          <a:bodyPr wrap="square" lIns="0" tIns="0" rIns="0" bIns="0" rtlCol="0" anchor="ctr"/>
          <a:lstStyle/>
          <a:p>
            <a:pPr marL="0" indent="0">
              <a:buNone/>
            </a:pPr>
            <a:r>
              <a:rPr lang="en-US" sz="850" b="1" kern="0" spc="140" dirty="0">
                <a:solidFill>
                  <a:srgbClr val="6B7C88"/>
                </a:solidFill>
                <a:latin typeface="Montserrat" pitchFamily="34" charset="0"/>
                <a:ea typeface="Montserrat" pitchFamily="34" charset="-122"/>
                <a:cs typeface="Montserrat" pitchFamily="34" charset="-120"/>
              </a:rPr>
              <a:t>VIEWERS</a:t>
            </a:r>
            <a:endParaRPr lang="en-US" sz="850" dirty="0"/>
          </a:p>
        </p:txBody>
      </p:sp>
      <p:sp>
        <p:nvSpPr>
          <p:cNvPr id="7" name="Text 5"/>
          <p:cNvSpPr/>
          <p:nvPr/>
        </p:nvSpPr>
        <p:spPr>
          <a:xfrm>
            <a:off x="749808" y="1773936"/>
            <a:ext cx="2322576" cy="475488"/>
          </a:xfrm>
          <a:prstGeom prst="rect">
            <a:avLst/>
          </a:prstGeom>
          <a:noFill/>
          <a:ln/>
        </p:spPr>
        <p:txBody>
          <a:bodyPr wrap="square" lIns="0" tIns="0" rIns="0" bIns="0" rtlCol="0" anchor="ctr"/>
          <a:lstStyle/>
          <a:p>
            <a:pPr marL="0" indent="0">
              <a:buNone/>
            </a:pPr>
            <a:r>
              <a:rPr lang="en-US" sz="2900" b="1" dirty="0">
                <a:solidFill>
                  <a:srgbClr val="053057"/>
                </a:solidFill>
                <a:latin typeface="Montserrat" pitchFamily="34" charset="0"/>
                <a:ea typeface="Montserrat" pitchFamily="34" charset="-122"/>
                <a:cs typeface="Montserrat" pitchFamily="34" charset="-120"/>
              </a:rPr>
              <a:t>100</a:t>
            </a:r>
            <a:endParaRPr lang="en-US" sz="2900" dirty="0"/>
          </a:p>
        </p:txBody>
      </p:sp>
      <p:sp>
        <p:nvSpPr>
          <p:cNvPr id="8" name="Text 6"/>
          <p:cNvSpPr/>
          <p:nvPr/>
        </p:nvSpPr>
        <p:spPr>
          <a:xfrm>
            <a:off x="749808" y="2267712"/>
            <a:ext cx="2322576" cy="219456"/>
          </a:xfrm>
          <a:prstGeom prst="rect">
            <a:avLst/>
          </a:prstGeom>
          <a:noFill/>
          <a:ln/>
        </p:spPr>
        <p:txBody>
          <a:bodyPr wrap="square" lIns="0" tIns="0" rIns="0" bIns="0" rtlCol="0" anchor="ctr"/>
          <a:lstStyle/>
          <a:p>
            <a:pPr marL="0" indent="0">
              <a:buNone/>
            </a:pPr>
            <a:r>
              <a:rPr lang="en-US" sz="950" b="1" dirty="0">
                <a:solidFill>
                  <a:srgbClr val="314550"/>
                </a:solidFill>
                <a:latin typeface="Montserrat" pitchFamily="34" charset="0"/>
                <a:ea typeface="Montserrat" pitchFamily="34" charset="-122"/>
                <a:cs typeface="Montserrat" pitchFamily="34" charset="-120"/>
              </a:rPr>
              <a:t>× $15 / user / month</a:t>
            </a:r>
            <a:endParaRPr lang="en-US" sz="950" dirty="0"/>
          </a:p>
        </p:txBody>
      </p:sp>
      <p:sp>
        <p:nvSpPr>
          <p:cNvPr id="9" name="Text 7"/>
          <p:cNvSpPr/>
          <p:nvPr/>
        </p:nvSpPr>
        <p:spPr>
          <a:xfrm>
            <a:off x="749808" y="2487168"/>
            <a:ext cx="2322576" cy="237744"/>
          </a:xfrm>
          <a:prstGeom prst="rect">
            <a:avLst/>
          </a:prstGeom>
          <a:noFill/>
          <a:ln/>
        </p:spPr>
        <p:txBody>
          <a:bodyPr wrap="square" lIns="0" tIns="0" rIns="0" bIns="0" rtlCol="0" anchor="ctr"/>
          <a:lstStyle/>
          <a:p>
            <a:pPr marL="0" indent="0">
              <a:buNone/>
            </a:pPr>
            <a:r>
              <a:rPr lang="en-US" sz="850" dirty="0">
                <a:solidFill>
                  <a:srgbClr val="6B7C88"/>
                </a:solidFill>
                <a:latin typeface="Montserrat" pitchFamily="34" charset="0"/>
                <a:ea typeface="Montserrat" pitchFamily="34" charset="-122"/>
                <a:cs typeface="Montserrat" pitchFamily="34" charset="-120"/>
              </a:rPr>
              <a:t>$18,000 a year</a:t>
            </a:r>
            <a:endParaRPr lang="en-US" sz="850" dirty="0"/>
          </a:p>
        </p:txBody>
      </p:sp>
      <p:sp>
        <p:nvSpPr>
          <p:cNvPr id="10" name="Shape 8"/>
          <p:cNvSpPr/>
          <p:nvPr/>
        </p:nvSpPr>
        <p:spPr>
          <a:xfrm>
            <a:off x="3502152" y="1463040"/>
            <a:ext cx="2724912" cy="1298448"/>
          </a:xfrm>
          <a:prstGeom prst="roundRect">
            <a:avLst>
              <a:gd name="adj" fmla="val 5634"/>
            </a:avLst>
          </a:prstGeom>
          <a:solidFill>
            <a:srgbClr val="FFFFFF"/>
          </a:solidFill>
          <a:ln w="12700">
            <a:solidFill>
              <a:srgbClr val="DFE3E6"/>
            </a:solidFill>
            <a:prstDash val="solid"/>
          </a:ln>
        </p:spPr>
        <p:txBody>
          <a:bodyPr/>
          <a:lstStyle/>
          <a:p>
            <a:endParaRPr lang="en-IN"/>
          </a:p>
        </p:txBody>
      </p:sp>
      <p:sp>
        <p:nvSpPr>
          <p:cNvPr id="11" name="Text 9"/>
          <p:cNvSpPr/>
          <p:nvPr/>
        </p:nvSpPr>
        <p:spPr>
          <a:xfrm>
            <a:off x="3703320" y="1572768"/>
            <a:ext cx="2322576" cy="201168"/>
          </a:xfrm>
          <a:prstGeom prst="rect">
            <a:avLst/>
          </a:prstGeom>
          <a:noFill/>
          <a:ln/>
        </p:spPr>
        <p:txBody>
          <a:bodyPr wrap="square" lIns="0" tIns="0" rIns="0" bIns="0" rtlCol="0" anchor="ctr"/>
          <a:lstStyle/>
          <a:p>
            <a:pPr marL="0" indent="0">
              <a:buNone/>
            </a:pPr>
            <a:r>
              <a:rPr lang="en-US" sz="850" b="1" kern="0" spc="140" dirty="0">
                <a:solidFill>
                  <a:srgbClr val="6B7C88"/>
                </a:solidFill>
                <a:latin typeface="Montserrat" pitchFamily="34" charset="0"/>
                <a:ea typeface="Montserrat" pitchFamily="34" charset="-122"/>
                <a:cs typeface="Montserrat" pitchFamily="34" charset="-120"/>
              </a:rPr>
              <a:t>CREATORS</a:t>
            </a:r>
            <a:endParaRPr lang="en-US" sz="850" dirty="0"/>
          </a:p>
        </p:txBody>
      </p:sp>
      <p:sp>
        <p:nvSpPr>
          <p:cNvPr id="12" name="Text 10"/>
          <p:cNvSpPr/>
          <p:nvPr/>
        </p:nvSpPr>
        <p:spPr>
          <a:xfrm>
            <a:off x="3703320" y="1773936"/>
            <a:ext cx="2322576" cy="475488"/>
          </a:xfrm>
          <a:prstGeom prst="rect">
            <a:avLst/>
          </a:prstGeom>
          <a:noFill/>
          <a:ln/>
        </p:spPr>
        <p:txBody>
          <a:bodyPr wrap="square" lIns="0" tIns="0" rIns="0" bIns="0" rtlCol="0" anchor="ctr"/>
          <a:lstStyle/>
          <a:p>
            <a:pPr marL="0" indent="0">
              <a:buNone/>
            </a:pPr>
            <a:r>
              <a:rPr lang="en-US" sz="2900" b="1" dirty="0">
                <a:solidFill>
                  <a:srgbClr val="053057"/>
                </a:solidFill>
                <a:latin typeface="Montserrat" pitchFamily="34" charset="0"/>
                <a:ea typeface="Montserrat" pitchFamily="34" charset="-122"/>
                <a:cs typeface="Montserrat" pitchFamily="34" charset="-120"/>
              </a:rPr>
              <a:t>7</a:t>
            </a:r>
            <a:endParaRPr lang="en-US" sz="2900" dirty="0"/>
          </a:p>
        </p:txBody>
      </p:sp>
      <p:sp>
        <p:nvSpPr>
          <p:cNvPr id="13" name="Text 11"/>
          <p:cNvSpPr/>
          <p:nvPr/>
        </p:nvSpPr>
        <p:spPr>
          <a:xfrm>
            <a:off x="3703320" y="2267712"/>
            <a:ext cx="2322576" cy="219456"/>
          </a:xfrm>
          <a:prstGeom prst="rect">
            <a:avLst/>
          </a:prstGeom>
          <a:noFill/>
          <a:ln/>
        </p:spPr>
        <p:txBody>
          <a:bodyPr wrap="square" lIns="0" tIns="0" rIns="0" bIns="0" rtlCol="0" anchor="ctr"/>
          <a:lstStyle/>
          <a:p>
            <a:pPr marL="0" indent="0">
              <a:buNone/>
            </a:pPr>
            <a:r>
              <a:rPr lang="en-US" sz="950" b="1" dirty="0">
                <a:solidFill>
                  <a:srgbClr val="314550"/>
                </a:solidFill>
                <a:latin typeface="Montserrat" pitchFamily="34" charset="0"/>
                <a:ea typeface="Montserrat" pitchFamily="34" charset="-122"/>
                <a:cs typeface="Montserrat" pitchFamily="34" charset="-120"/>
              </a:rPr>
              <a:t>× $75 / user / month</a:t>
            </a:r>
            <a:endParaRPr lang="en-US" sz="950" dirty="0"/>
          </a:p>
        </p:txBody>
      </p:sp>
      <p:sp>
        <p:nvSpPr>
          <p:cNvPr id="14" name="Text 12"/>
          <p:cNvSpPr/>
          <p:nvPr/>
        </p:nvSpPr>
        <p:spPr>
          <a:xfrm>
            <a:off x="3703320" y="2487168"/>
            <a:ext cx="2322576" cy="237744"/>
          </a:xfrm>
          <a:prstGeom prst="rect">
            <a:avLst/>
          </a:prstGeom>
          <a:noFill/>
          <a:ln/>
        </p:spPr>
        <p:txBody>
          <a:bodyPr wrap="square" lIns="0" tIns="0" rIns="0" bIns="0" rtlCol="0" anchor="ctr"/>
          <a:lstStyle/>
          <a:p>
            <a:pPr marL="0" indent="0">
              <a:buNone/>
            </a:pPr>
            <a:r>
              <a:rPr lang="en-US" sz="850" dirty="0">
                <a:solidFill>
                  <a:srgbClr val="6B7C88"/>
                </a:solidFill>
                <a:latin typeface="Montserrat" pitchFamily="34" charset="0"/>
                <a:ea typeface="Montserrat" pitchFamily="34" charset="-122"/>
                <a:cs typeface="Montserrat" pitchFamily="34" charset="-120"/>
              </a:rPr>
              <a:t>$6,300 a year</a:t>
            </a:r>
            <a:endParaRPr lang="en-US" sz="850" dirty="0"/>
          </a:p>
        </p:txBody>
      </p:sp>
      <p:sp>
        <p:nvSpPr>
          <p:cNvPr id="15" name="Shape 13"/>
          <p:cNvSpPr/>
          <p:nvPr/>
        </p:nvSpPr>
        <p:spPr>
          <a:xfrm>
            <a:off x="6455664" y="1463040"/>
            <a:ext cx="2724912" cy="1298448"/>
          </a:xfrm>
          <a:prstGeom prst="roundRect">
            <a:avLst>
              <a:gd name="adj" fmla="val 5634"/>
            </a:avLst>
          </a:prstGeom>
          <a:solidFill>
            <a:srgbClr val="053057"/>
          </a:solidFill>
          <a:ln w="12700">
            <a:solidFill>
              <a:srgbClr val="053057"/>
            </a:solidFill>
            <a:prstDash val="solid"/>
          </a:ln>
        </p:spPr>
        <p:txBody>
          <a:bodyPr/>
          <a:lstStyle/>
          <a:p>
            <a:endParaRPr lang="en-IN"/>
          </a:p>
        </p:txBody>
      </p:sp>
      <p:sp>
        <p:nvSpPr>
          <p:cNvPr id="16" name="Text 14"/>
          <p:cNvSpPr/>
          <p:nvPr/>
        </p:nvSpPr>
        <p:spPr>
          <a:xfrm>
            <a:off x="6656832" y="1572768"/>
            <a:ext cx="2322576" cy="201168"/>
          </a:xfrm>
          <a:prstGeom prst="rect">
            <a:avLst/>
          </a:prstGeom>
          <a:noFill/>
          <a:ln/>
        </p:spPr>
        <p:txBody>
          <a:bodyPr wrap="square" lIns="0" tIns="0" rIns="0" bIns="0" rtlCol="0" anchor="ctr"/>
          <a:lstStyle/>
          <a:p>
            <a:pPr marL="0" indent="0">
              <a:buNone/>
            </a:pPr>
            <a:r>
              <a:rPr lang="en-US" sz="850" b="1" kern="0" spc="140" dirty="0">
                <a:solidFill>
                  <a:srgbClr val="00EDED"/>
                </a:solidFill>
                <a:latin typeface="Montserrat" pitchFamily="34" charset="0"/>
                <a:ea typeface="Montserrat" pitchFamily="34" charset="-122"/>
                <a:cs typeface="Montserrat" pitchFamily="34" charset="-120"/>
              </a:rPr>
              <a:t>RECURRING</a:t>
            </a:r>
            <a:endParaRPr lang="en-US" sz="850" dirty="0"/>
          </a:p>
        </p:txBody>
      </p:sp>
      <p:sp>
        <p:nvSpPr>
          <p:cNvPr id="17" name="Text 15"/>
          <p:cNvSpPr/>
          <p:nvPr/>
        </p:nvSpPr>
        <p:spPr>
          <a:xfrm>
            <a:off x="6656832" y="1773936"/>
            <a:ext cx="2322576" cy="475488"/>
          </a:xfrm>
          <a:prstGeom prst="rect">
            <a:avLst/>
          </a:prstGeom>
          <a:noFill/>
          <a:ln/>
        </p:spPr>
        <p:txBody>
          <a:bodyPr wrap="square" lIns="0" tIns="0" rIns="0" bIns="0" rtlCol="0" anchor="ctr"/>
          <a:lstStyle/>
          <a:p>
            <a:pPr marL="0" indent="0">
              <a:buNone/>
            </a:pPr>
            <a:r>
              <a:rPr lang="en-US" sz="2300" b="1" dirty="0">
                <a:solidFill>
                  <a:srgbClr val="00EDED"/>
                </a:solidFill>
                <a:latin typeface="Montserrat" pitchFamily="34" charset="0"/>
                <a:ea typeface="Montserrat" pitchFamily="34" charset="-122"/>
                <a:cs typeface="Montserrat" pitchFamily="34" charset="-120"/>
              </a:rPr>
              <a:t>~$24K</a:t>
            </a:r>
            <a:endParaRPr lang="en-US" sz="2300" dirty="0"/>
          </a:p>
        </p:txBody>
      </p:sp>
      <p:sp>
        <p:nvSpPr>
          <p:cNvPr id="18" name="Text 16"/>
          <p:cNvSpPr/>
          <p:nvPr/>
        </p:nvSpPr>
        <p:spPr>
          <a:xfrm>
            <a:off x="6656832" y="2267712"/>
            <a:ext cx="2322576" cy="219456"/>
          </a:xfrm>
          <a:prstGeom prst="rect">
            <a:avLst/>
          </a:prstGeom>
          <a:noFill/>
          <a:ln/>
        </p:spPr>
        <p:txBody>
          <a:bodyPr wrap="square" lIns="0" tIns="0" rIns="0" bIns="0" rtlCol="0" anchor="ctr"/>
          <a:lstStyle/>
          <a:p>
            <a:pPr marL="0" indent="0">
              <a:buNone/>
            </a:pPr>
            <a:r>
              <a:rPr lang="en-US" sz="950" b="1" dirty="0">
                <a:solidFill>
                  <a:srgbClr val="FFFFFF"/>
                </a:solidFill>
                <a:latin typeface="Montserrat" pitchFamily="34" charset="0"/>
                <a:ea typeface="Montserrat" pitchFamily="34" charset="-122"/>
                <a:cs typeface="Montserrat" pitchFamily="34" charset="-120"/>
              </a:rPr>
              <a:t>every single year</a:t>
            </a:r>
            <a:endParaRPr lang="en-US" sz="950" dirty="0"/>
          </a:p>
        </p:txBody>
      </p:sp>
      <p:sp>
        <p:nvSpPr>
          <p:cNvPr id="19" name="Text 17"/>
          <p:cNvSpPr/>
          <p:nvPr/>
        </p:nvSpPr>
        <p:spPr>
          <a:xfrm>
            <a:off x="6656832" y="2487168"/>
            <a:ext cx="2322576" cy="237744"/>
          </a:xfrm>
          <a:prstGeom prst="rect">
            <a:avLst/>
          </a:prstGeom>
          <a:noFill/>
          <a:ln/>
        </p:spPr>
        <p:txBody>
          <a:bodyPr wrap="square" lIns="0" tIns="0" rIns="0" bIns="0" rtlCol="0" anchor="ctr"/>
          <a:lstStyle/>
          <a:p>
            <a:pPr marL="0" indent="0">
              <a:buNone/>
            </a:pPr>
            <a:r>
              <a:rPr lang="en-US" sz="850" dirty="0">
                <a:solidFill>
                  <a:srgbClr val="A2F3F3"/>
                </a:solidFill>
                <a:latin typeface="Montserrat" pitchFamily="34" charset="0"/>
                <a:ea typeface="Montserrat" pitchFamily="34" charset="-122"/>
                <a:cs typeface="Montserrat" pitchFamily="34" charset="-120"/>
              </a:rPr>
              <a:t>for the presentation layer alone</a:t>
            </a:r>
            <a:endParaRPr lang="en-US" sz="850" dirty="0"/>
          </a:p>
        </p:txBody>
      </p:sp>
      <p:sp>
        <p:nvSpPr>
          <p:cNvPr id="20" name="Shape 18"/>
          <p:cNvSpPr/>
          <p:nvPr/>
        </p:nvSpPr>
        <p:spPr>
          <a:xfrm>
            <a:off x="9409176" y="1463040"/>
            <a:ext cx="2724912" cy="1298448"/>
          </a:xfrm>
          <a:prstGeom prst="roundRect">
            <a:avLst>
              <a:gd name="adj" fmla="val 5634"/>
            </a:avLst>
          </a:prstGeom>
          <a:solidFill>
            <a:srgbClr val="053057"/>
          </a:solidFill>
          <a:ln w="12700">
            <a:solidFill>
              <a:srgbClr val="053057"/>
            </a:solidFill>
            <a:prstDash val="solid"/>
          </a:ln>
        </p:spPr>
        <p:txBody>
          <a:bodyPr/>
          <a:lstStyle/>
          <a:p>
            <a:endParaRPr lang="en-IN"/>
          </a:p>
        </p:txBody>
      </p:sp>
      <p:sp>
        <p:nvSpPr>
          <p:cNvPr id="21" name="Text 19"/>
          <p:cNvSpPr/>
          <p:nvPr/>
        </p:nvSpPr>
        <p:spPr>
          <a:xfrm>
            <a:off x="9610344" y="1572768"/>
            <a:ext cx="2322576" cy="201168"/>
          </a:xfrm>
          <a:prstGeom prst="rect">
            <a:avLst/>
          </a:prstGeom>
          <a:noFill/>
          <a:ln/>
        </p:spPr>
        <p:txBody>
          <a:bodyPr wrap="square" lIns="0" tIns="0" rIns="0" bIns="0" rtlCol="0" anchor="ctr"/>
          <a:lstStyle/>
          <a:p>
            <a:pPr marL="0" indent="0">
              <a:buNone/>
            </a:pPr>
            <a:r>
              <a:rPr lang="en-US" sz="850" b="1" kern="0" spc="140" dirty="0">
                <a:solidFill>
                  <a:srgbClr val="00EDED"/>
                </a:solidFill>
                <a:latin typeface="Montserrat" pitchFamily="34" charset="0"/>
                <a:ea typeface="Montserrat" pitchFamily="34" charset="-122"/>
                <a:cs typeface="Montserrat" pitchFamily="34" charset="-120"/>
              </a:rPr>
              <a:t>MIGRATION</a:t>
            </a:r>
            <a:endParaRPr lang="en-US" sz="850" dirty="0"/>
          </a:p>
        </p:txBody>
      </p:sp>
      <p:sp>
        <p:nvSpPr>
          <p:cNvPr id="22" name="Text 20"/>
          <p:cNvSpPr/>
          <p:nvPr/>
        </p:nvSpPr>
        <p:spPr>
          <a:xfrm>
            <a:off x="9610344" y="1773936"/>
            <a:ext cx="2322576" cy="475488"/>
          </a:xfrm>
          <a:prstGeom prst="rect">
            <a:avLst/>
          </a:prstGeom>
          <a:noFill/>
          <a:ln/>
        </p:spPr>
        <p:txBody>
          <a:bodyPr wrap="square" lIns="0" tIns="0" rIns="0" bIns="0" rtlCol="0" anchor="ctr"/>
          <a:lstStyle/>
          <a:p>
            <a:pPr marL="0" indent="0">
              <a:buNone/>
            </a:pPr>
            <a:r>
              <a:rPr lang="en-US" sz="2300" b="1" dirty="0">
                <a:solidFill>
                  <a:srgbClr val="00EDED"/>
                </a:solidFill>
                <a:latin typeface="Montserrat" pitchFamily="34" charset="0"/>
                <a:ea typeface="Montserrat" pitchFamily="34" charset="-122"/>
                <a:cs typeface="Montserrat" pitchFamily="34" charset="-120"/>
              </a:rPr>
              <a:t>One-time</a:t>
            </a:r>
            <a:endParaRPr lang="en-US" sz="2300" dirty="0"/>
          </a:p>
        </p:txBody>
      </p:sp>
      <p:sp>
        <p:nvSpPr>
          <p:cNvPr id="23" name="Text 21"/>
          <p:cNvSpPr/>
          <p:nvPr/>
        </p:nvSpPr>
        <p:spPr>
          <a:xfrm>
            <a:off x="9610344" y="2267712"/>
            <a:ext cx="2322576" cy="219456"/>
          </a:xfrm>
          <a:prstGeom prst="rect">
            <a:avLst/>
          </a:prstGeom>
          <a:noFill/>
          <a:ln/>
        </p:spPr>
        <p:txBody>
          <a:bodyPr wrap="square" lIns="0" tIns="0" rIns="0" bIns="0" rtlCol="0" anchor="ctr"/>
          <a:lstStyle/>
          <a:p>
            <a:pPr marL="0" indent="0">
              <a:buNone/>
            </a:pPr>
            <a:r>
              <a:rPr lang="en-US" sz="950" b="1" dirty="0">
                <a:solidFill>
                  <a:srgbClr val="FFFFFF"/>
                </a:solidFill>
                <a:latin typeface="Montserrat" pitchFamily="34" charset="0"/>
                <a:ea typeface="Montserrat" pitchFamily="34" charset="-122"/>
                <a:cs typeface="Montserrat" pitchFamily="34" charset="-120"/>
              </a:rPr>
              <a:t>and then it is done</a:t>
            </a:r>
            <a:endParaRPr lang="en-US" sz="950" dirty="0"/>
          </a:p>
        </p:txBody>
      </p:sp>
      <p:sp>
        <p:nvSpPr>
          <p:cNvPr id="24" name="Text 22"/>
          <p:cNvSpPr/>
          <p:nvPr/>
        </p:nvSpPr>
        <p:spPr>
          <a:xfrm>
            <a:off x="9610344" y="2487168"/>
            <a:ext cx="2322576" cy="237744"/>
          </a:xfrm>
          <a:prstGeom prst="rect">
            <a:avLst/>
          </a:prstGeom>
          <a:noFill/>
          <a:ln/>
        </p:spPr>
        <p:txBody>
          <a:bodyPr wrap="square" lIns="0" tIns="0" rIns="0" bIns="0" rtlCol="0" anchor="ctr"/>
          <a:lstStyle/>
          <a:p>
            <a:pPr marL="0" indent="0">
              <a:buNone/>
            </a:pPr>
            <a:r>
              <a:rPr lang="en-US" sz="850" dirty="0">
                <a:solidFill>
                  <a:srgbClr val="A2F3F3"/>
                </a:solidFill>
                <a:latin typeface="Montserrat" pitchFamily="34" charset="0"/>
                <a:ea typeface="Montserrat" pitchFamily="34" charset="-122"/>
                <a:cs typeface="Montserrat" pitchFamily="34" charset="-120"/>
              </a:rPr>
              <a:t>the saving repeats every year after</a:t>
            </a:r>
            <a:endParaRPr lang="en-US" sz="850" dirty="0"/>
          </a:p>
        </p:txBody>
      </p:sp>
      <p:sp>
        <p:nvSpPr>
          <p:cNvPr id="25" name="Text 23"/>
          <p:cNvSpPr/>
          <p:nvPr/>
        </p:nvSpPr>
        <p:spPr>
          <a:xfrm>
            <a:off x="548640" y="2816352"/>
            <a:ext cx="11091672" cy="237744"/>
          </a:xfrm>
          <a:prstGeom prst="rect">
            <a:avLst/>
          </a:prstGeom>
          <a:noFill/>
          <a:ln/>
        </p:spPr>
        <p:txBody>
          <a:bodyPr wrap="square" lIns="0" tIns="0" rIns="0" bIns="0" rtlCol="0" anchor="ctr"/>
          <a:lstStyle/>
          <a:p>
            <a:pPr marL="0" indent="0">
              <a:buNone/>
            </a:pPr>
            <a:r>
              <a:rPr lang="en-US" sz="850" i="1" dirty="0">
                <a:solidFill>
                  <a:srgbClr val="6B7C88"/>
                </a:solidFill>
                <a:latin typeface="Montserrat" pitchFamily="34" charset="0"/>
                <a:ea typeface="Montserrat" pitchFamily="34" charset="-122"/>
                <a:cs typeface="Montserrat" pitchFamily="34" charset="-120"/>
              </a:rPr>
              <a:t>Illustrative — swap in the customer's own seat counts and contract rates. The shape is the argument: the licence recurs, the migration does not.</a:t>
            </a:r>
            <a:endParaRPr lang="en-US" sz="850" dirty="0"/>
          </a:p>
        </p:txBody>
      </p:sp>
      <p:sp>
        <p:nvSpPr>
          <p:cNvPr id="26" name="Shape 24"/>
          <p:cNvSpPr/>
          <p:nvPr/>
        </p:nvSpPr>
        <p:spPr>
          <a:xfrm>
            <a:off x="548640" y="3145536"/>
            <a:ext cx="5431536" cy="1975104"/>
          </a:xfrm>
          <a:prstGeom prst="roundRect">
            <a:avLst>
              <a:gd name="adj" fmla="val 3704"/>
            </a:avLst>
          </a:prstGeom>
          <a:solidFill>
            <a:srgbClr val="FFFFFF"/>
          </a:solidFill>
          <a:ln w="12700">
            <a:solidFill>
              <a:srgbClr val="DFE3E6"/>
            </a:solidFill>
            <a:prstDash val="solid"/>
          </a:ln>
        </p:spPr>
        <p:txBody>
          <a:bodyPr/>
          <a:lstStyle/>
          <a:p>
            <a:endParaRPr lang="en-IN"/>
          </a:p>
        </p:txBody>
      </p:sp>
      <p:sp>
        <p:nvSpPr>
          <p:cNvPr id="27" name="Text 25"/>
          <p:cNvSpPr/>
          <p:nvPr/>
        </p:nvSpPr>
        <p:spPr>
          <a:xfrm>
            <a:off x="841248" y="3310128"/>
            <a:ext cx="4846320" cy="237744"/>
          </a:xfrm>
          <a:prstGeom prst="rect">
            <a:avLst/>
          </a:prstGeom>
          <a:noFill/>
          <a:ln/>
        </p:spPr>
        <p:txBody>
          <a:bodyPr wrap="square" lIns="0" tIns="0" rIns="0" bIns="0" rtlCol="0" anchor="ctr"/>
          <a:lstStyle/>
          <a:p>
            <a:pPr marL="0" indent="0">
              <a:buNone/>
            </a:pPr>
            <a:r>
              <a:rPr lang="en-US" sz="1050" b="1" kern="0" spc="150" dirty="0">
                <a:solidFill>
                  <a:srgbClr val="6B7C88"/>
                </a:solidFill>
                <a:latin typeface="Montserrat" pitchFamily="34" charset="0"/>
                <a:ea typeface="Montserrat" pitchFamily="34" charset="-122"/>
                <a:cs typeface="Montserrat" pitchFamily="34" charset="-120"/>
              </a:rPr>
              <a:t>THE CUSTOMER STOPS PAYING FOR</a:t>
            </a:r>
            <a:endParaRPr lang="en-US" sz="1050" dirty="0"/>
          </a:p>
        </p:txBody>
      </p:sp>
      <p:sp>
        <p:nvSpPr>
          <p:cNvPr id="28" name="Shape 26"/>
          <p:cNvSpPr/>
          <p:nvPr/>
        </p:nvSpPr>
        <p:spPr>
          <a:xfrm>
            <a:off x="896112" y="3749040"/>
            <a:ext cx="128016" cy="128016"/>
          </a:xfrm>
          <a:prstGeom prst="ellipse">
            <a:avLst/>
          </a:prstGeom>
          <a:solidFill>
            <a:srgbClr val="C3CBD1"/>
          </a:solidFill>
          <a:ln/>
        </p:spPr>
        <p:txBody>
          <a:bodyPr/>
          <a:lstStyle/>
          <a:p>
            <a:endParaRPr lang="en-IN"/>
          </a:p>
        </p:txBody>
      </p:sp>
      <p:sp>
        <p:nvSpPr>
          <p:cNvPr id="29" name="Text 27"/>
          <p:cNvSpPr/>
          <p:nvPr/>
        </p:nvSpPr>
        <p:spPr>
          <a:xfrm>
            <a:off x="1170432" y="3675888"/>
            <a:ext cx="4553712" cy="329184"/>
          </a:xfrm>
          <a:prstGeom prst="rect">
            <a:avLst/>
          </a:prstGeom>
          <a:noFill/>
          <a:ln/>
        </p:spPr>
        <p:txBody>
          <a:bodyPr wrap="square" lIns="0" tIns="0" rIns="0" bIns="0" rtlCol="0" anchor="ctr"/>
          <a:lstStyle/>
          <a:p>
            <a:pPr marL="0" indent="0">
              <a:buNone/>
            </a:pPr>
            <a:r>
              <a:rPr lang="en-US" sz="1000" dirty="0">
                <a:solidFill>
                  <a:srgbClr val="6B7C88"/>
                </a:solidFill>
                <a:latin typeface="Montserrat" pitchFamily="34" charset="0"/>
                <a:ea typeface="Montserrat" pitchFamily="34" charset="-122"/>
                <a:cs typeface="Montserrat" pitchFamily="34" charset="-120"/>
              </a:rPr>
              <a:t>~$24K a year in licences, at the example above</a:t>
            </a:r>
            <a:endParaRPr lang="en-US" sz="1000" dirty="0"/>
          </a:p>
        </p:txBody>
      </p:sp>
      <p:sp>
        <p:nvSpPr>
          <p:cNvPr id="30" name="Shape 28"/>
          <p:cNvSpPr/>
          <p:nvPr/>
        </p:nvSpPr>
        <p:spPr>
          <a:xfrm>
            <a:off x="896112" y="4114800"/>
            <a:ext cx="128016" cy="128016"/>
          </a:xfrm>
          <a:prstGeom prst="ellipse">
            <a:avLst/>
          </a:prstGeom>
          <a:solidFill>
            <a:srgbClr val="C3CBD1"/>
          </a:solidFill>
          <a:ln/>
        </p:spPr>
        <p:txBody>
          <a:bodyPr/>
          <a:lstStyle/>
          <a:p>
            <a:endParaRPr lang="en-IN"/>
          </a:p>
        </p:txBody>
      </p:sp>
      <p:sp>
        <p:nvSpPr>
          <p:cNvPr id="31" name="Text 29"/>
          <p:cNvSpPr/>
          <p:nvPr/>
        </p:nvSpPr>
        <p:spPr>
          <a:xfrm>
            <a:off x="1170432" y="4041648"/>
            <a:ext cx="4553712" cy="329184"/>
          </a:xfrm>
          <a:prstGeom prst="rect">
            <a:avLst/>
          </a:prstGeom>
          <a:noFill/>
          <a:ln/>
        </p:spPr>
        <p:txBody>
          <a:bodyPr wrap="square" lIns="0" tIns="0" rIns="0" bIns="0" rtlCol="0" anchor="ctr"/>
          <a:lstStyle/>
          <a:p>
            <a:pPr marL="0" indent="0">
              <a:buNone/>
            </a:pPr>
            <a:r>
              <a:rPr lang="en-US" sz="1000" dirty="0">
                <a:solidFill>
                  <a:srgbClr val="6B7C88"/>
                </a:solidFill>
                <a:latin typeface="Montserrat" pitchFamily="34" charset="0"/>
                <a:ea typeface="Montserrat" pitchFamily="34" charset="-122"/>
                <a:cs typeface="Montserrat" pitchFamily="34" charset="-120"/>
              </a:rPr>
              <a:t>Tableau developers hired or contracted to maintain it</a:t>
            </a:r>
            <a:endParaRPr lang="en-US" sz="1000" dirty="0"/>
          </a:p>
        </p:txBody>
      </p:sp>
      <p:sp>
        <p:nvSpPr>
          <p:cNvPr id="32" name="Shape 30"/>
          <p:cNvSpPr/>
          <p:nvPr/>
        </p:nvSpPr>
        <p:spPr>
          <a:xfrm>
            <a:off x="896112" y="4480560"/>
            <a:ext cx="128016" cy="128016"/>
          </a:xfrm>
          <a:prstGeom prst="ellipse">
            <a:avLst/>
          </a:prstGeom>
          <a:solidFill>
            <a:srgbClr val="C3CBD1"/>
          </a:solidFill>
          <a:ln/>
        </p:spPr>
        <p:txBody>
          <a:bodyPr/>
          <a:lstStyle/>
          <a:p>
            <a:endParaRPr lang="en-IN"/>
          </a:p>
        </p:txBody>
      </p:sp>
      <p:sp>
        <p:nvSpPr>
          <p:cNvPr id="33" name="Text 31"/>
          <p:cNvSpPr/>
          <p:nvPr/>
        </p:nvSpPr>
        <p:spPr>
          <a:xfrm>
            <a:off x="1170432" y="4407408"/>
            <a:ext cx="4553712" cy="329184"/>
          </a:xfrm>
          <a:prstGeom prst="rect">
            <a:avLst/>
          </a:prstGeom>
          <a:noFill/>
          <a:ln/>
        </p:spPr>
        <p:txBody>
          <a:bodyPr wrap="square" lIns="0" tIns="0" rIns="0" bIns="0" rtlCol="0" anchor="ctr"/>
          <a:lstStyle/>
          <a:p>
            <a:pPr marL="0" indent="0">
              <a:buNone/>
            </a:pPr>
            <a:r>
              <a:rPr lang="en-US" sz="1000" dirty="0">
                <a:solidFill>
                  <a:srgbClr val="6B7C88"/>
                </a:solidFill>
                <a:latin typeface="Montserrat" pitchFamily="34" charset="0"/>
                <a:ea typeface="Montserrat" pitchFamily="34" charset="-122"/>
                <a:cs typeface="Montserrat" pitchFamily="34" charset="-120"/>
              </a:rPr>
              <a:t>A second platform to host, upgrade and support</a:t>
            </a:r>
            <a:endParaRPr lang="en-US" sz="1000" dirty="0"/>
          </a:p>
        </p:txBody>
      </p:sp>
      <p:sp>
        <p:nvSpPr>
          <p:cNvPr id="34" name="Shape 32"/>
          <p:cNvSpPr/>
          <p:nvPr/>
        </p:nvSpPr>
        <p:spPr>
          <a:xfrm>
            <a:off x="896112" y="4846320"/>
            <a:ext cx="128016" cy="128016"/>
          </a:xfrm>
          <a:prstGeom prst="ellipse">
            <a:avLst/>
          </a:prstGeom>
          <a:solidFill>
            <a:srgbClr val="C3CBD1"/>
          </a:solidFill>
          <a:ln/>
        </p:spPr>
        <p:txBody>
          <a:bodyPr/>
          <a:lstStyle/>
          <a:p>
            <a:endParaRPr lang="en-IN"/>
          </a:p>
        </p:txBody>
      </p:sp>
      <p:sp>
        <p:nvSpPr>
          <p:cNvPr id="35" name="Text 33"/>
          <p:cNvSpPr/>
          <p:nvPr/>
        </p:nvSpPr>
        <p:spPr>
          <a:xfrm>
            <a:off x="1170432" y="4773168"/>
            <a:ext cx="4553712" cy="329184"/>
          </a:xfrm>
          <a:prstGeom prst="rect">
            <a:avLst/>
          </a:prstGeom>
          <a:noFill/>
          <a:ln/>
        </p:spPr>
        <p:txBody>
          <a:bodyPr wrap="square" lIns="0" tIns="0" rIns="0" bIns="0" rtlCol="0" anchor="ctr"/>
          <a:lstStyle/>
          <a:p>
            <a:pPr marL="0" indent="0">
              <a:buNone/>
            </a:pPr>
            <a:r>
              <a:rPr lang="en-US" sz="1000" dirty="0">
                <a:solidFill>
                  <a:srgbClr val="6B7C88"/>
                </a:solidFill>
                <a:latin typeface="Montserrat" pitchFamily="34" charset="0"/>
                <a:ea typeface="Montserrat" pitchFamily="34" charset="-122"/>
                <a:cs typeface="Montserrat" pitchFamily="34" charset="-120"/>
              </a:rPr>
              <a:t>Access rules and row-level security rebuilt away from the data</a:t>
            </a:r>
            <a:endParaRPr lang="en-US" sz="1000" dirty="0"/>
          </a:p>
        </p:txBody>
      </p:sp>
      <p:sp>
        <p:nvSpPr>
          <p:cNvPr id="36" name="Shape 34"/>
          <p:cNvSpPr/>
          <p:nvPr/>
        </p:nvSpPr>
        <p:spPr>
          <a:xfrm>
            <a:off x="6208776" y="3145536"/>
            <a:ext cx="5431536" cy="1975104"/>
          </a:xfrm>
          <a:prstGeom prst="roundRect">
            <a:avLst>
              <a:gd name="adj" fmla="val 3704"/>
            </a:avLst>
          </a:prstGeom>
          <a:solidFill>
            <a:srgbClr val="053057"/>
          </a:solidFill>
          <a:ln w="15875">
            <a:solidFill>
              <a:srgbClr val="00EDED"/>
            </a:solidFill>
            <a:prstDash val="solid"/>
          </a:ln>
        </p:spPr>
        <p:txBody>
          <a:bodyPr/>
          <a:lstStyle/>
          <a:p>
            <a:endParaRPr lang="en-IN"/>
          </a:p>
        </p:txBody>
      </p:sp>
      <p:sp>
        <p:nvSpPr>
          <p:cNvPr id="37" name="Text 35"/>
          <p:cNvSpPr/>
          <p:nvPr/>
        </p:nvSpPr>
        <p:spPr>
          <a:xfrm>
            <a:off x="6501384" y="3310128"/>
            <a:ext cx="4846320" cy="237744"/>
          </a:xfrm>
          <a:prstGeom prst="rect">
            <a:avLst/>
          </a:prstGeom>
          <a:noFill/>
          <a:ln/>
        </p:spPr>
        <p:txBody>
          <a:bodyPr wrap="square" lIns="0" tIns="0" rIns="0" bIns="0" rtlCol="0" anchor="ctr"/>
          <a:lstStyle/>
          <a:p>
            <a:pPr marL="0" indent="0">
              <a:buNone/>
            </a:pPr>
            <a:r>
              <a:rPr lang="en-US" sz="1050" b="1" kern="0" spc="150" dirty="0">
                <a:solidFill>
                  <a:srgbClr val="00EDED"/>
                </a:solidFill>
                <a:latin typeface="Montserrat" pitchFamily="34" charset="0"/>
                <a:ea typeface="Montserrat" pitchFamily="34" charset="-122"/>
                <a:cs typeface="Montserrat" pitchFamily="34" charset="-120"/>
              </a:rPr>
              <a:t>SNOWFLAKE PICKS UP</a:t>
            </a:r>
            <a:endParaRPr lang="en-US" sz="1050" dirty="0"/>
          </a:p>
        </p:txBody>
      </p:sp>
      <p:sp>
        <p:nvSpPr>
          <p:cNvPr id="38" name="Shape 36"/>
          <p:cNvSpPr/>
          <p:nvPr/>
        </p:nvSpPr>
        <p:spPr>
          <a:xfrm>
            <a:off x="6556248" y="3749040"/>
            <a:ext cx="128016" cy="128016"/>
          </a:xfrm>
          <a:prstGeom prst="ellipse">
            <a:avLst/>
          </a:prstGeom>
          <a:solidFill>
            <a:srgbClr val="00EDED"/>
          </a:solidFill>
          <a:ln/>
        </p:spPr>
        <p:txBody>
          <a:bodyPr/>
          <a:lstStyle/>
          <a:p>
            <a:endParaRPr lang="en-IN"/>
          </a:p>
        </p:txBody>
      </p:sp>
      <p:sp>
        <p:nvSpPr>
          <p:cNvPr id="39" name="Text 37"/>
          <p:cNvSpPr/>
          <p:nvPr/>
        </p:nvSpPr>
        <p:spPr>
          <a:xfrm>
            <a:off x="6830568" y="3675888"/>
            <a:ext cx="4553712" cy="329184"/>
          </a:xfrm>
          <a:prstGeom prst="rect">
            <a:avLst/>
          </a:prstGeom>
          <a:noFill/>
          <a:ln/>
        </p:spPr>
        <p:txBody>
          <a:bodyPr wrap="square" lIns="0" tIns="0" rIns="0" bIns="0" rtlCol="0" anchor="ctr"/>
          <a:lstStyle/>
          <a:p>
            <a:pPr marL="0" indent="0">
              <a:buNone/>
            </a:pPr>
            <a:r>
              <a:rPr lang="en-US" sz="1000" dirty="0">
                <a:solidFill>
                  <a:srgbClr val="A2F3F3"/>
                </a:solidFill>
                <a:latin typeface="Montserrat" pitchFamily="34" charset="0"/>
                <a:ea typeface="Montserrat" pitchFamily="34" charset="-122"/>
                <a:cs typeface="Montserrat" pitchFamily="34" charset="-120"/>
              </a:rPr>
              <a:t>Warehouse compute on every dashboard view, where an extract served it before</a:t>
            </a:r>
            <a:endParaRPr lang="en-US" sz="1000" dirty="0"/>
          </a:p>
        </p:txBody>
      </p:sp>
      <p:sp>
        <p:nvSpPr>
          <p:cNvPr id="40" name="Shape 38"/>
          <p:cNvSpPr/>
          <p:nvPr/>
        </p:nvSpPr>
        <p:spPr>
          <a:xfrm>
            <a:off x="6556248" y="4114800"/>
            <a:ext cx="128016" cy="128016"/>
          </a:xfrm>
          <a:prstGeom prst="ellipse">
            <a:avLst/>
          </a:prstGeom>
          <a:solidFill>
            <a:srgbClr val="00EDED"/>
          </a:solidFill>
          <a:ln/>
        </p:spPr>
        <p:txBody>
          <a:bodyPr/>
          <a:lstStyle/>
          <a:p>
            <a:endParaRPr lang="en-IN"/>
          </a:p>
        </p:txBody>
      </p:sp>
      <p:sp>
        <p:nvSpPr>
          <p:cNvPr id="41" name="Text 39"/>
          <p:cNvSpPr/>
          <p:nvPr/>
        </p:nvSpPr>
        <p:spPr>
          <a:xfrm>
            <a:off x="6830568" y="4041648"/>
            <a:ext cx="4553712" cy="329184"/>
          </a:xfrm>
          <a:prstGeom prst="rect">
            <a:avLst/>
          </a:prstGeom>
          <a:noFill/>
          <a:ln/>
        </p:spPr>
        <p:txBody>
          <a:bodyPr wrap="square" lIns="0" tIns="0" rIns="0" bIns="0" rtlCol="0" anchor="ctr"/>
          <a:lstStyle/>
          <a:p>
            <a:pPr marL="0" indent="0">
              <a:buNone/>
            </a:pPr>
            <a:r>
              <a:rPr lang="en-US" sz="1000" dirty="0">
                <a:solidFill>
                  <a:srgbClr val="A2F3F3"/>
                </a:solidFill>
                <a:latin typeface="Montserrat" pitchFamily="34" charset="0"/>
                <a:ea typeface="Montserrat" pitchFamily="34" charset="-122"/>
                <a:cs typeface="Montserrat" pitchFamily="34" charset="-120"/>
              </a:rPr>
              <a:t>Cortex consumption on every workbook migrated</a:t>
            </a:r>
            <a:endParaRPr lang="en-US" sz="1000" dirty="0"/>
          </a:p>
        </p:txBody>
      </p:sp>
      <p:sp>
        <p:nvSpPr>
          <p:cNvPr id="42" name="Shape 40"/>
          <p:cNvSpPr/>
          <p:nvPr/>
        </p:nvSpPr>
        <p:spPr>
          <a:xfrm>
            <a:off x="6556248" y="4480560"/>
            <a:ext cx="128016" cy="128016"/>
          </a:xfrm>
          <a:prstGeom prst="ellipse">
            <a:avLst/>
          </a:prstGeom>
          <a:solidFill>
            <a:srgbClr val="00EDED"/>
          </a:solidFill>
          <a:ln/>
        </p:spPr>
        <p:txBody>
          <a:bodyPr/>
          <a:lstStyle/>
          <a:p>
            <a:endParaRPr lang="en-IN"/>
          </a:p>
        </p:txBody>
      </p:sp>
      <p:sp>
        <p:nvSpPr>
          <p:cNvPr id="43" name="Text 41"/>
          <p:cNvSpPr/>
          <p:nvPr/>
        </p:nvSpPr>
        <p:spPr>
          <a:xfrm>
            <a:off x="6830568" y="4407408"/>
            <a:ext cx="4553712" cy="329184"/>
          </a:xfrm>
          <a:prstGeom prst="rect">
            <a:avLst/>
          </a:prstGeom>
          <a:noFill/>
          <a:ln/>
        </p:spPr>
        <p:txBody>
          <a:bodyPr wrap="square" lIns="0" tIns="0" rIns="0" bIns="0" rtlCol="0" anchor="ctr"/>
          <a:lstStyle/>
          <a:p>
            <a:pPr marL="0" indent="0">
              <a:buNone/>
            </a:pPr>
            <a:r>
              <a:rPr lang="en-US" sz="1000" dirty="0">
                <a:solidFill>
                  <a:srgbClr val="A2F3F3"/>
                </a:solidFill>
                <a:latin typeface="Montserrat" pitchFamily="34" charset="0"/>
                <a:ea typeface="Montserrat" pitchFamily="34" charset="-122"/>
                <a:cs typeface="Montserrat" pitchFamily="34" charset="-120"/>
              </a:rPr>
              <a:t>The semantic layer adopted as the governed model, feeding Cortex Analyst</a:t>
            </a:r>
            <a:endParaRPr lang="en-US" sz="1000" dirty="0"/>
          </a:p>
        </p:txBody>
      </p:sp>
      <p:sp>
        <p:nvSpPr>
          <p:cNvPr id="44" name="Shape 42"/>
          <p:cNvSpPr/>
          <p:nvPr/>
        </p:nvSpPr>
        <p:spPr>
          <a:xfrm>
            <a:off x="6556248" y="4846320"/>
            <a:ext cx="128016" cy="128016"/>
          </a:xfrm>
          <a:prstGeom prst="ellipse">
            <a:avLst/>
          </a:prstGeom>
          <a:solidFill>
            <a:srgbClr val="00EDED"/>
          </a:solidFill>
          <a:ln/>
        </p:spPr>
        <p:txBody>
          <a:bodyPr/>
          <a:lstStyle/>
          <a:p>
            <a:endParaRPr lang="en-IN"/>
          </a:p>
        </p:txBody>
      </p:sp>
      <p:sp>
        <p:nvSpPr>
          <p:cNvPr id="45" name="Text 43"/>
          <p:cNvSpPr/>
          <p:nvPr/>
        </p:nvSpPr>
        <p:spPr>
          <a:xfrm>
            <a:off x="6830568" y="4773168"/>
            <a:ext cx="4553712" cy="329184"/>
          </a:xfrm>
          <a:prstGeom prst="rect">
            <a:avLst/>
          </a:prstGeom>
          <a:noFill/>
          <a:ln/>
        </p:spPr>
        <p:txBody>
          <a:bodyPr wrap="square" lIns="0" tIns="0" rIns="0" bIns="0" rtlCol="0" anchor="ctr"/>
          <a:lstStyle/>
          <a:p>
            <a:pPr marL="0" indent="0">
              <a:buNone/>
            </a:pPr>
            <a:r>
              <a:rPr lang="en-US" sz="1000" dirty="0">
                <a:solidFill>
                  <a:srgbClr val="A2F3F3"/>
                </a:solidFill>
                <a:latin typeface="Montserrat" pitchFamily="34" charset="0"/>
                <a:ea typeface="Montserrat" pitchFamily="34" charset="-122"/>
                <a:cs typeface="Montserrat" pitchFamily="34" charset="-120"/>
              </a:rPr>
              <a:t>BI workload consolidated onto the platform, and share taken from a competing stack</a:t>
            </a:r>
            <a:endParaRPr lang="en-US" sz="1000" dirty="0"/>
          </a:p>
        </p:txBody>
      </p:sp>
      <p:sp>
        <p:nvSpPr>
          <p:cNvPr id="46" name="Shape 44"/>
          <p:cNvSpPr/>
          <p:nvPr/>
        </p:nvSpPr>
        <p:spPr>
          <a:xfrm>
            <a:off x="548640" y="5285232"/>
            <a:ext cx="11091672" cy="932688"/>
          </a:xfrm>
          <a:prstGeom prst="roundRect">
            <a:avLst>
              <a:gd name="adj" fmla="val 7843"/>
            </a:avLst>
          </a:prstGeom>
          <a:solidFill>
            <a:srgbClr val="053057"/>
          </a:solidFill>
          <a:ln w="15875">
            <a:solidFill>
              <a:srgbClr val="00EDED"/>
            </a:solidFill>
            <a:prstDash val="solid"/>
          </a:ln>
        </p:spPr>
        <p:txBody>
          <a:bodyPr/>
          <a:lstStyle/>
          <a:p>
            <a:endParaRPr lang="en-IN"/>
          </a:p>
        </p:txBody>
      </p:sp>
      <p:sp>
        <p:nvSpPr>
          <p:cNvPr id="47" name="Text 45"/>
          <p:cNvSpPr/>
          <p:nvPr/>
        </p:nvSpPr>
        <p:spPr>
          <a:xfrm>
            <a:off x="841248" y="5413248"/>
            <a:ext cx="10515600" cy="274320"/>
          </a:xfrm>
          <a:prstGeom prst="rect">
            <a:avLst/>
          </a:prstGeom>
          <a:noFill/>
          <a:ln/>
        </p:spPr>
        <p:txBody>
          <a:bodyPr wrap="square" lIns="0" tIns="0" rIns="0" bIns="0" rtlCol="0" anchor="ctr"/>
          <a:lstStyle/>
          <a:p>
            <a:pPr marL="0" indent="0">
              <a:buNone/>
            </a:pPr>
            <a:r>
              <a:rPr lang="en-US" sz="1300" b="1" dirty="0">
                <a:solidFill>
                  <a:srgbClr val="00EDED"/>
                </a:solidFill>
                <a:latin typeface="Montserrat" pitchFamily="34" charset="0"/>
                <a:ea typeface="Montserrat" pitchFamily="34" charset="-122"/>
                <a:cs typeface="Montserrat" pitchFamily="34" charset="-120"/>
              </a:rPr>
              <a:t>An extract sends Snowflake no query workload at all</a:t>
            </a:r>
            <a:endParaRPr lang="en-US" sz="1300" dirty="0"/>
          </a:p>
        </p:txBody>
      </p:sp>
      <p:sp>
        <p:nvSpPr>
          <p:cNvPr id="48" name="Text 46"/>
          <p:cNvSpPr/>
          <p:nvPr/>
        </p:nvSpPr>
        <p:spPr>
          <a:xfrm>
            <a:off x="841248" y="5724144"/>
            <a:ext cx="10515600" cy="402336"/>
          </a:xfrm>
          <a:prstGeom prst="rect">
            <a:avLst/>
          </a:prstGeom>
          <a:noFill/>
          <a:ln/>
        </p:spPr>
        <p:txBody>
          <a:bodyPr wrap="square" lIns="0" tIns="0" rIns="0" bIns="0" rtlCol="0" anchor="ctr"/>
          <a:lstStyle/>
          <a:p>
            <a:pPr marL="0" indent="0">
              <a:buNone/>
            </a:pPr>
            <a:r>
              <a:rPr lang="en-US" sz="1050" dirty="0">
                <a:solidFill>
                  <a:srgbClr val="D6E6F0"/>
                </a:solidFill>
                <a:latin typeface="Montserrat" pitchFamily="34" charset="0"/>
                <a:ea typeface="Montserrat" pitchFamily="34" charset="-122"/>
                <a:cs typeface="Montserrat" pitchFamily="34" charset="-120"/>
              </a:rPr>
              <a:t>Tableau's own engine serves it, so those dashboard views never reach the warehouse. Migrated, every single view becomes warehouse compute and every migration becomes Cortex consumption — while the customer's recurring licence simply stops.</a:t>
            </a:r>
            <a:endParaRPr lang="en-US" sz="1050" dirty="0"/>
          </a:p>
        </p:txBody>
      </p:sp>
      <p:sp>
        <p:nvSpPr>
          <p:cNvPr id="49" name="Shape 47"/>
          <p:cNvSpPr/>
          <p:nvPr/>
        </p:nvSpPr>
        <p:spPr>
          <a:xfrm>
            <a:off x="548640" y="6327648"/>
            <a:ext cx="11091672" cy="420624"/>
          </a:xfrm>
          <a:prstGeom prst="roundRect">
            <a:avLst>
              <a:gd name="adj" fmla="val 13043"/>
            </a:avLst>
          </a:prstGeom>
          <a:solidFill>
            <a:srgbClr val="053057"/>
          </a:solidFill>
          <a:ln w="12700">
            <a:solidFill>
              <a:srgbClr val="053057"/>
            </a:solidFill>
            <a:prstDash val="solid"/>
          </a:ln>
        </p:spPr>
        <p:txBody>
          <a:bodyPr/>
          <a:lstStyle/>
          <a:p>
            <a:endParaRPr lang="en-IN"/>
          </a:p>
        </p:txBody>
      </p:sp>
      <p:sp>
        <p:nvSpPr>
          <p:cNvPr id="50" name="Text 48"/>
          <p:cNvSpPr/>
          <p:nvPr/>
        </p:nvSpPr>
        <p:spPr>
          <a:xfrm>
            <a:off x="548640" y="6327648"/>
            <a:ext cx="11091672" cy="420624"/>
          </a:xfrm>
          <a:prstGeom prst="rect">
            <a:avLst/>
          </a:prstGeom>
          <a:noFill/>
          <a:ln/>
        </p:spPr>
        <p:txBody>
          <a:bodyPr wrap="square" lIns="0" tIns="0" rIns="0" bIns="0" rtlCol="0" anchor="ctr"/>
          <a:lstStyle/>
          <a:p>
            <a:pPr marL="0" indent="0" algn="ctr">
              <a:buNone/>
            </a:pPr>
            <a:r>
              <a:rPr lang="en-US" sz="1100" b="1" kern="0" spc="60" dirty="0">
                <a:solidFill>
                  <a:srgbClr val="00EDED"/>
                </a:solidFill>
                <a:latin typeface="Montserrat" pitchFamily="34" charset="0"/>
                <a:ea typeface="Montserrat" pitchFamily="34" charset="-122"/>
                <a:cs typeface="Montserrat" pitchFamily="34" charset="-120"/>
              </a:rPr>
              <a:t>Streamlit in Snowflake   |   Cortex AI (Claude Opus 4.8)   |   Cortex Analyst   |   Native Semantic Views   |   Snowpark</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3057"/>
        </a:solidFill>
        <a:effectLst/>
      </p:bgPr>
    </p:bg>
    <p:spTree>
      <p:nvGrpSpPr>
        <p:cNvPr id="1" name=""/>
        <p:cNvGrpSpPr/>
        <p:nvPr/>
      </p:nvGrpSpPr>
      <p:grpSpPr>
        <a:xfrm>
          <a:off x="0" y="0"/>
          <a:ext cx="0" cy="0"/>
          <a:chOff x="0" y="0"/>
          <a:chExt cx="0" cy="0"/>
        </a:xfrm>
      </p:grpSpPr>
      <p:sp>
        <p:nvSpPr>
          <p:cNvPr id="2" name="Text 0"/>
          <p:cNvSpPr/>
          <p:nvPr/>
        </p:nvSpPr>
        <p:spPr>
          <a:xfrm>
            <a:off x="548640" y="292608"/>
            <a:ext cx="11064240" cy="512064"/>
          </a:xfrm>
          <a:prstGeom prst="rect">
            <a:avLst/>
          </a:prstGeom>
          <a:noFill/>
          <a:ln/>
        </p:spPr>
        <p:txBody>
          <a:bodyPr wrap="square" lIns="0" tIns="0" rIns="0" bIns="0" rtlCol="0" anchor="ctr"/>
          <a:lstStyle/>
          <a:p>
            <a:pPr marL="0" indent="0">
              <a:buNone/>
            </a:pPr>
            <a:r>
              <a:rPr lang="en-US" sz="3200" b="1" dirty="0">
                <a:solidFill>
                  <a:srgbClr val="FFFFFF"/>
                </a:solidFill>
                <a:latin typeface="Montserrat" pitchFamily="34" charset="0"/>
                <a:ea typeface="Montserrat" pitchFamily="34" charset="-122"/>
                <a:cs typeface="Montserrat" pitchFamily="34" charset="-120"/>
              </a:rPr>
              <a:t>A Repeatable Co-Sell Motion</a:t>
            </a:r>
            <a:endParaRPr lang="en-US" sz="3200" dirty="0"/>
          </a:p>
        </p:txBody>
      </p:sp>
      <p:sp>
        <p:nvSpPr>
          <p:cNvPr id="3" name="Text 1"/>
          <p:cNvSpPr/>
          <p:nvPr/>
        </p:nvSpPr>
        <p:spPr>
          <a:xfrm>
            <a:off x="548640" y="822960"/>
            <a:ext cx="11064240" cy="292608"/>
          </a:xfrm>
          <a:prstGeom prst="rect">
            <a:avLst/>
          </a:prstGeom>
          <a:noFill/>
          <a:ln/>
        </p:spPr>
        <p:txBody>
          <a:bodyPr wrap="square" lIns="0" tIns="0" rIns="0" bIns="0" rtlCol="0" anchor="ctr"/>
          <a:lstStyle/>
          <a:p>
            <a:pPr marL="0" indent="0">
              <a:buNone/>
            </a:pPr>
            <a:r>
              <a:rPr lang="en-US" sz="1400" dirty="0">
                <a:solidFill>
                  <a:srgbClr val="A2F3F3"/>
                </a:solidFill>
                <a:latin typeface="Montserrat" pitchFamily="34" charset="0"/>
                <a:ea typeface="Montserrat" pitchFamily="34" charset="-122"/>
                <a:cs typeface="Montserrat" pitchFamily="34" charset="-120"/>
              </a:rPr>
              <a:t>Partner-delivered, aimed at the long tail of enterprise Tableau estates</a:t>
            </a:r>
            <a:endParaRPr lang="en-US" sz="1400" dirty="0"/>
          </a:p>
        </p:txBody>
      </p:sp>
      <p:sp>
        <p:nvSpPr>
          <p:cNvPr id="4" name="Shape 2"/>
          <p:cNvSpPr/>
          <p:nvPr/>
        </p:nvSpPr>
        <p:spPr>
          <a:xfrm>
            <a:off x="548640" y="1371600"/>
            <a:ext cx="3538728" cy="2157984"/>
          </a:xfrm>
          <a:prstGeom prst="roundRect">
            <a:avLst>
              <a:gd name="adj" fmla="val 3390"/>
            </a:avLst>
          </a:prstGeom>
          <a:solidFill>
            <a:srgbClr val="0A3E6B"/>
          </a:solidFill>
          <a:ln w="12700">
            <a:solidFill>
              <a:srgbClr val="17517F"/>
            </a:solidFill>
            <a:prstDash val="solid"/>
          </a:ln>
        </p:spPr>
        <p:txBody>
          <a:bodyPr/>
          <a:lstStyle/>
          <a:p>
            <a:endParaRPr lang="en-IN"/>
          </a:p>
        </p:txBody>
      </p:sp>
      <p:sp>
        <p:nvSpPr>
          <p:cNvPr id="5" name="Shape 3"/>
          <p:cNvSpPr/>
          <p:nvPr/>
        </p:nvSpPr>
        <p:spPr>
          <a:xfrm>
            <a:off x="786384" y="1572768"/>
            <a:ext cx="384048" cy="384048"/>
          </a:xfrm>
          <a:prstGeom prst="ellipse">
            <a:avLst/>
          </a:prstGeom>
          <a:solidFill>
            <a:srgbClr val="00EDED"/>
          </a:solidFill>
          <a:ln/>
        </p:spPr>
        <p:txBody>
          <a:bodyPr/>
          <a:lstStyle/>
          <a:p>
            <a:endParaRPr lang="en-IN"/>
          </a:p>
        </p:txBody>
      </p:sp>
      <p:sp>
        <p:nvSpPr>
          <p:cNvPr id="6" name="Text 4"/>
          <p:cNvSpPr/>
          <p:nvPr/>
        </p:nvSpPr>
        <p:spPr>
          <a:xfrm>
            <a:off x="786384" y="1632204"/>
            <a:ext cx="384048" cy="274320"/>
          </a:xfrm>
          <a:prstGeom prst="rect">
            <a:avLst/>
          </a:prstGeom>
          <a:noFill/>
          <a:ln/>
        </p:spPr>
        <p:txBody>
          <a:bodyPr wrap="square" lIns="0" tIns="0" rIns="0" bIns="0" rtlCol="0" anchor="ctr"/>
          <a:lstStyle/>
          <a:p>
            <a:pPr marL="0" indent="0" algn="ctr">
              <a:buNone/>
            </a:pPr>
            <a:r>
              <a:rPr lang="en-US" sz="1250" b="1" dirty="0">
                <a:solidFill>
                  <a:srgbClr val="053057"/>
                </a:solidFill>
                <a:latin typeface="Montserrat" pitchFamily="34" charset="0"/>
                <a:ea typeface="Montserrat" pitchFamily="34" charset="-122"/>
                <a:cs typeface="Montserrat" pitchFamily="34" charset="-120"/>
              </a:rPr>
              <a:t>1</a:t>
            </a:r>
            <a:endParaRPr lang="en-US" sz="1250" dirty="0"/>
          </a:p>
        </p:txBody>
      </p:sp>
      <p:sp>
        <p:nvSpPr>
          <p:cNvPr id="7" name="Text 5"/>
          <p:cNvSpPr/>
          <p:nvPr/>
        </p:nvSpPr>
        <p:spPr>
          <a:xfrm>
            <a:off x="786384" y="2066544"/>
            <a:ext cx="3063240" cy="310896"/>
          </a:xfrm>
          <a:prstGeom prst="rect">
            <a:avLst/>
          </a:prstGeom>
          <a:noFill/>
          <a:ln/>
        </p:spPr>
        <p:txBody>
          <a:bodyPr wrap="square" lIns="0" tIns="0" rIns="0" bIns="0" rtlCol="0" anchor="ctr"/>
          <a:lstStyle/>
          <a:p>
            <a:pPr marL="0" indent="0">
              <a:buNone/>
            </a:pPr>
            <a:r>
              <a:rPr lang="en-US" sz="1350" b="1" dirty="0">
                <a:solidFill>
                  <a:srgbClr val="00EDED"/>
                </a:solidFill>
                <a:latin typeface="Montserrat" pitchFamily="34" charset="0"/>
                <a:ea typeface="Montserrat" pitchFamily="34" charset="-122"/>
                <a:cs typeface="Montserrat" pitchFamily="34" charset="-120"/>
              </a:rPr>
              <a:t>Repeatable, not bespoke</a:t>
            </a:r>
            <a:endParaRPr lang="en-US" sz="1350" dirty="0"/>
          </a:p>
        </p:txBody>
      </p:sp>
      <p:sp>
        <p:nvSpPr>
          <p:cNvPr id="8" name="Text 6"/>
          <p:cNvSpPr/>
          <p:nvPr/>
        </p:nvSpPr>
        <p:spPr>
          <a:xfrm>
            <a:off x="786384" y="2414016"/>
            <a:ext cx="3063240" cy="1024128"/>
          </a:xfrm>
          <a:prstGeom prst="rect">
            <a:avLst/>
          </a:prstGeom>
          <a:noFill/>
          <a:ln/>
        </p:spPr>
        <p:txBody>
          <a:bodyPr wrap="square" lIns="0" tIns="0" rIns="0" bIns="0" rtlCol="0" anchor="ctr"/>
          <a:lstStyle/>
          <a:p>
            <a:pPr marL="0" indent="0">
              <a:lnSpc>
                <a:spcPct val="104000"/>
              </a:lnSpc>
              <a:buNone/>
            </a:pPr>
            <a:r>
              <a:rPr lang="en-US" sz="950" dirty="0">
                <a:solidFill>
                  <a:srgbClr val="D6E6F0"/>
                </a:solidFill>
                <a:latin typeface="Montserrat" pitchFamily="34" charset="0"/>
                <a:ea typeface="Montserrat" pitchFamily="34" charset="-122"/>
                <a:cs typeface="Montserrat" pitchFamily="34" charset="-120"/>
              </a:rPr>
              <a:t>The accelerator is workbook-agnostic and assessment-first: point it at an estate and it reports what converts before anyone commits. The same pipeline runs in any account.</a:t>
            </a:r>
            <a:endParaRPr lang="en-US" sz="950" dirty="0"/>
          </a:p>
        </p:txBody>
      </p:sp>
      <p:sp>
        <p:nvSpPr>
          <p:cNvPr id="9" name="Shape 7"/>
          <p:cNvSpPr/>
          <p:nvPr/>
        </p:nvSpPr>
        <p:spPr>
          <a:xfrm>
            <a:off x="4325112" y="1371600"/>
            <a:ext cx="3538728" cy="2157984"/>
          </a:xfrm>
          <a:prstGeom prst="roundRect">
            <a:avLst>
              <a:gd name="adj" fmla="val 3390"/>
            </a:avLst>
          </a:prstGeom>
          <a:solidFill>
            <a:srgbClr val="0A3E6B"/>
          </a:solidFill>
          <a:ln w="12700">
            <a:solidFill>
              <a:srgbClr val="17517F"/>
            </a:solidFill>
            <a:prstDash val="solid"/>
          </a:ln>
        </p:spPr>
        <p:txBody>
          <a:bodyPr/>
          <a:lstStyle/>
          <a:p>
            <a:endParaRPr lang="en-IN"/>
          </a:p>
        </p:txBody>
      </p:sp>
      <p:sp>
        <p:nvSpPr>
          <p:cNvPr id="10" name="Shape 8"/>
          <p:cNvSpPr/>
          <p:nvPr/>
        </p:nvSpPr>
        <p:spPr>
          <a:xfrm>
            <a:off x="4562856" y="1572768"/>
            <a:ext cx="384048" cy="384048"/>
          </a:xfrm>
          <a:prstGeom prst="ellipse">
            <a:avLst/>
          </a:prstGeom>
          <a:solidFill>
            <a:srgbClr val="00EDED"/>
          </a:solidFill>
          <a:ln/>
        </p:spPr>
        <p:txBody>
          <a:bodyPr/>
          <a:lstStyle/>
          <a:p>
            <a:endParaRPr lang="en-IN"/>
          </a:p>
        </p:txBody>
      </p:sp>
      <p:sp>
        <p:nvSpPr>
          <p:cNvPr id="11" name="Text 9"/>
          <p:cNvSpPr/>
          <p:nvPr/>
        </p:nvSpPr>
        <p:spPr>
          <a:xfrm>
            <a:off x="4562856" y="1632204"/>
            <a:ext cx="384048" cy="274320"/>
          </a:xfrm>
          <a:prstGeom prst="rect">
            <a:avLst/>
          </a:prstGeom>
          <a:noFill/>
          <a:ln/>
        </p:spPr>
        <p:txBody>
          <a:bodyPr wrap="square" lIns="0" tIns="0" rIns="0" bIns="0" rtlCol="0" anchor="ctr"/>
          <a:lstStyle/>
          <a:p>
            <a:pPr marL="0" indent="0" algn="ctr">
              <a:buNone/>
            </a:pPr>
            <a:r>
              <a:rPr lang="en-US" sz="1250" b="1" dirty="0">
                <a:solidFill>
                  <a:srgbClr val="053057"/>
                </a:solidFill>
                <a:latin typeface="Montserrat" pitchFamily="34" charset="0"/>
                <a:ea typeface="Montserrat" pitchFamily="34" charset="-122"/>
                <a:cs typeface="Montserrat" pitchFamily="34" charset="-120"/>
              </a:rPr>
              <a:t>2</a:t>
            </a:r>
            <a:endParaRPr lang="en-US" sz="1250" dirty="0"/>
          </a:p>
        </p:txBody>
      </p:sp>
      <p:sp>
        <p:nvSpPr>
          <p:cNvPr id="12" name="Text 10"/>
          <p:cNvSpPr/>
          <p:nvPr/>
        </p:nvSpPr>
        <p:spPr>
          <a:xfrm>
            <a:off x="4562856" y="2066544"/>
            <a:ext cx="3063240" cy="310896"/>
          </a:xfrm>
          <a:prstGeom prst="rect">
            <a:avLst/>
          </a:prstGeom>
          <a:noFill/>
          <a:ln/>
        </p:spPr>
        <p:txBody>
          <a:bodyPr wrap="square" lIns="0" tIns="0" rIns="0" bIns="0" rtlCol="0" anchor="ctr"/>
          <a:lstStyle/>
          <a:p>
            <a:pPr marL="0" indent="0">
              <a:buNone/>
            </a:pPr>
            <a:r>
              <a:rPr lang="en-US" sz="1350" b="1" dirty="0">
                <a:solidFill>
                  <a:srgbClr val="00EDED"/>
                </a:solidFill>
                <a:latin typeface="Montserrat" pitchFamily="34" charset="0"/>
                <a:ea typeface="Montserrat" pitchFamily="34" charset="-122"/>
                <a:cs typeface="Montserrat" pitchFamily="34" charset="-120"/>
              </a:rPr>
              <a:t>Competitive displacement</a:t>
            </a:r>
            <a:endParaRPr lang="en-US" sz="1350" dirty="0"/>
          </a:p>
        </p:txBody>
      </p:sp>
      <p:sp>
        <p:nvSpPr>
          <p:cNvPr id="13" name="Text 11"/>
          <p:cNvSpPr/>
          <p:nvPr/>
        </p:nvSpPr>
        <p:spPr>
          <a:xfrm>
            <a:off x="4562856" y="2414016"/>
            <a:ext cx="3063240" cy="1024128"/>
          </a:xfrm>
          <a:prstGeom prst="rect">
            <a:avLst/>
          </a:prstGeom>
          <a:noFill/>
          <a:ln/>
        </p:spPr>
        <p:txBody>
          <a:bodyPr wrap="square" lIns="0" tIns="0" rIns="0" bIns="0" rtlCol="0" anchor="ctr"/>
          <a:lstStyle/>
          <a:p>
            <a:pPr marL="0" indent="0">
              <a:lnSpc>
                <a:spcPct val="104000"/>
              </a:lnSpc>
              <a:buNone/>
            </a:pPr>
            <a:r>
              <a:rPr lang="en-US" sz="950" dirty="0">
                <a:solidFill>
                  <a:srgbClr val="D6E6F0"/>
                </a:solidFill>
                <a:latin typeface="Montserrat" pitchFamily="34" charset="0"/>
                <a:ea typeface="Montserrat" pitchFamily="34" charset="-122"/>
                <a:cs typeface="Montserrat" pitchFamily="34" charset="-120"/>
              </a:rPr>
              <a:t>Every estate migrated moves an analytics workload off a competing BI stack and onto Snowflake — licence spend converted into platform consumption.</a:t>
            </a:r>
            <a:endParaRPr lang="en-US" sz="950" dirty="0"/>
          </a:p>
        </p:txBody>
      </p:sp>
      <p:sp>
        <p:nvSpPr>
          <p:cNvPr id="14" name="Shape 12"/>
          <p:cNvSpPr/>
          <p:nvPr/>
        </p:nvSpPr>
        <p:spPr>
          <a:xfrm>
            <a:off x="8101584" y="1371600"/>
            <a:ext cx="3538728" cy="2157984"/>
          </a:xfrm>
          <a:prstGeom prst="roundRect">
            <a:avLst>
              <a:gd name="adj" fmla="val 3390"/>
            </a:avLst>
          </a:prstGeom>
          <a:solidFill>
            <a:srgbClr val="0A3E6B"/>
          </a:solidFill>
          <a:ln w="12700">
            <a:solidFill>
              <a:srgbClr val="17517F"/>
            </a:solidFill>
            <a:prstDash val="solid"/>
          </a:ln>
        </p:spPr>
        <p:txBody>
          <a:bodyPr/>
          <a:lstStyle/>
          <a:p>
            <a:endParaRPr lang="en-IN"/>
          </a:p>
        </p:txBody>
      </p:sp>
      <p:sp>
        <p:nvSpPr>
          <p:cNvPr id="15" name="Shape 13"/>
          <p:cNvSpPr/>
          <p:nvPr/>
        </p:nvSpPr>
        <p:spPr>
          <a:xfrm>
            <a:off x="8339328" y="1572768"/>
            <a:ext cx="384048" cy="384048"/>
          </a:xfrm>
          <a:prstGeom prst="ellipse">
            <a:avLst/>
          </a:prstGeom>
          <a:solidFill>
            <a:srgbClr val="00EDED"/>
          </a:solidFill>
          <a:ln/>
        </p:spPr>
        <p:txBody>
          <a:bodyPr/>
          <a:lstStyle/>
          <a:p>
            <a:endParaRPr lang="en-IN"/>
          </a:p>
        </p:txBody>
      </p:sp>
      <p:sp>
        <p:nvSpPr>
          <p:cNvPr id="16" name="Text 14"/>
          <p:cNvSpPr/>
          <p:nvPr/>
        </p:nvSpPr>
        <p:spPr>
          <a:xfrm>
            <a:off x="8339328" y="1632204"/>
            <a:ext cx="384048" cy="274320"/>
          </a:xfrm>
          <a:prstGeom prst="rect">
            <a:avLst/>
          </a:prstGeom>
          <a:noFill/>
          <a:ln/>
        </p:spPr>
        <p:txBody>
          <a:bodyPr wrap="square" lIns="0" tIns="0" rIns="0" bIns="0" rtlCol="0" anchor="ctr"/>
          <a:lstStyle/>
          <a:p>
            <a:pPr marL="0" indent="0" algn="ctr">
              <a:buNone/>
            </a:pPr>
            <a:r>
              <a:rPr lang="en-US" sz="1250" b="1" dirty="0">
                <a:solidFill>
                  <a:srgbClr val="053057"/>
                </a:solidFill>
                <a:latin typeface="Montserrat" pitchFamily="34" charset="0"/>
                <a:ea typeface="Montserrat" pitchFamily="34" charset="-122"/>
                <a:cs typeface="Montserrat" pitchFamily="34" charset="-120"/>
              </a:rPr>
              <a:t>3</a:t>
            </a:r>
            <a:endParaRPr lang="en-US" sz="1250" dirty="0"/>
          </a:p>
        </p:txBody>
      </p:sp>
      <p:sp>
        <p:nvSpPr>
          <p:cNvPr id="17" name="Text 15"/>
          <p:cNvSpPr/>
          <p:nvPr/>
        </p:nvSpPr>
        <p:spPr>
          <a:xfrm>
            <a:off x="8339328" y="2066544"/>
            <a:ext cx="3063240" cy="310896"/>
          </a:xfrm>
          <a:prstGeom prst="rect">
            <a:avLst/>
          </a:prstGeom>
          <a:noFill/>
          <a:ln/>
        </p:spPr>
        <p:txBody>
          <a:bodyPr wrap="square" lIns="0" tIns="0" rIns="0" bIns="0" rtlCol="0" anchor="ctr"/>
          <a:lstStyle/>
          <a:p>
            <a:pPr marL="0" indent="0">
              <a:buNone/>
            </a:pPr>
            <a:r>
              <a:rPr lang="en-US" sz="1350" b="1" dirty="0">
                <a:solidFill>
                  <a:srgbClr val="00EDED"/>
                </a:solidFill>
                <a:latin typeface="Montserrat" pitchFamily="34" charset="0"/>
                <a:ea typeface="Montserrat" pitchFamily="34" charset="-122"/>
                <a:cs typeface="Montserrat" pitchFamily="34" charset="-120"/>
              </a:rPr>
              <a:t>Product pull-through</a:t>
            </a:r>
            <a:endParaRPr lang="en-US" sz="1350" dirty="0"/>
          </a:p>
        </p:txBody>
      </p:sp>
      <p:sp>
        <p:nvSpPr>
          <p:cNvPr id="18" name="Text 16"/>
          <p:cNvSpPr/>
          <p:nvPr/>
        </p:nvSpPr>
        <p:spPr>
          <a:xfrm>
            <a:off x="8339328" y="2414016"/>
            <a:ext cx="3063240" cy="1024128"/>
          </a:xfrm>
          <a:prstGeom prst="rect">
            <a:avLst/>
          </a:prstGeom>
          <a:noFill/>
          <a:ln/>
        </p:spPr>
        <p:txBody>
          <a:bodyPr wrap="square" lIns="0" tIns="0" rIns="0" bIns="0" rtlCol="0" anchor="ctr"/>
          <a:lstStyle/>
          <a:p>
            <a:pPr marL="0" indent="0">
              <a:lnSpc>
                <a:spcPct val="104000"/>
              </a:lnSpc>
              <a:buNone/>
            </a:pPr>
            <a:r>
              <a:rPr lang="en-US" sz="950" dirty="0">
                <a:solidFill>
                  <a:srgbClr val="D6E6F0"/>
                </a:solidFill>
                <a:latin typeface="Montserrat" pitchFamily="34" charset="0"/>
                <a:ea typeface="Montserrat" pitchFamily="34" charset="-122"/>
                <a:cs typeface="Montserrat" pitchFamily="34" charset="-120"/>
              </a:rPr>
              <a:t>One motion lands Streamlit in Snowflake, Cortex AI, native semantic views, Cortex Analyst and Snowpark together, in the customer's own account.</a:t>
            </a:r>
            <a:endParaRPr lang="en-US" sz="950" dirty="0"/>
          </a:p>
        </p:txBody>
      </p:sp>
      <p:sp>
        <p:nvSpPr>
          <p:cNvPr id="19" name="Text 17"/>
          <p:cNvSpPr/>
          <p:nvPr/>
        </p:nvSpPr>
        <p:spPr>
          <a:xfrm>
            <a:off x="548640" y="3712464"/>
            <a:ext cx="11091672" cy="256032"/>
          </a:xfrm>
          <a:prstGeom prst="rect">
            <a:avLst/>
          </a:prstGeom>
          <a:noFill/>
          <a:ln/>
        </p:spPr>
        <p:txBody>
          <a:bodyPr wrap="square" lIns="0" tIns="0" rIns="0" bIns="0" rtlCol="0" anchor="ctr"/>
          <a:lstStyle/>
          <a:p>
            <a:pPr marL="0" indent="0">
              <a:buNone/>
            </a:pPr>
            <a:r>
              <a:rPr lang="en-US" sz="1100" b="1" kern="0" spc="180" dirty="0">
                <a:solidFill>
                  <a:srgbClr val="00EDED"/>
                </a:solidFill>
                <a:latin typeface="Montserrat" pitchFamily="34" charset="0"/>
                <a:ea typeface="Montserrat" pitchFamily="34" charset="-122"/>
                <a:cs typeface="Montserrat" pitchFamily="34" charset="-120"/>
              </a:rPr>
              <a:t>WHAT WE'RE ASKING FOR</a:t>
            </a:r>
            <a:endParaRPr lang="en-US" sz="1100" dirty="0"/>
          </a:p>
        </p:txBody>
      </p:sp>
      <p:sp>
        <p:nvSpPr>
          <p:cNvPr id="20" name="Shape 18"/>
          <p:cNvSpPr/>
          <p:nvPr/>
        </p:nvSpPr>
        <p:spPr>
          <a:xfrm>
            <a:off x="548640" y="4023360"/>
            <a:ext cx="3538728" cy="1115568"/>
          </a:xfrm>
          <a:prstGeom prst="roundRect">
            <a:avLst>
              <a:gd name="adj" fmla="val 6557"/>
            </a:avLst>
          </a:prstGeom>
          <a:solidFill>
            <a:srgbClr val="0A3E6B"/>
          </a:solidFill>
          <a:ln w="15875">
            <a:solidFill>
              <a:srgbClr val="00EDED"/>
            </a:solidFill>
            <a:prstDash val="solid"/>
          </a:ln>
        </p:spPr>
        <p:txBody>
          <a:bodyPr/>
          <a:lstStyle/>
          <a:p>
            <a:endParaRPr lang="en-IN"/>
          </a:p>
        </p:txBody>
      </p:sp>
      <p:sp>
        <p:nvSpPr>
          <p:cNvPr id="21" name="Text 19"/>
          <p:cNvSpPr/>
          <p:nvPr/>
        </p:nvSpPr>
        <p:spPr>
          <a:xfrm>
            <a:off x="786384" y="4187952"/>
            <a:ext cx="3063240" cy="274320"/>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Named accounts</a:t>
            </a:r>
            <a:endParaRPr lang="en-US" sz="1300" dirty="0"/>
          </a:p>
        </p:txBody>
      </p:sp>
      <p:sp>
        <p:nvSpPr>
          <p:cNvPr id="22" name="Text 20"/>
          <p:cNvSpPr/>
          <p:nvPr/>
        </p:nvSpPr>
        <p:spPr>
          <a:xfrm>
            <a:off x="786384" y="4480560"/>
            <a:ext cx="3063240" cy="566928"/>
          </a:xfrm>
          <a:prstGeom prst="rect">
            <a:avLst/>
          </a:prstGeom>
          <a:noFill/>
          <a:ln/>
        </p:spPr>
        <p:txBody>
          <a:bodyPr wrap="square" lIns="0" tIns="0" rIns="0" bIns="0" rtlCol="0" anchor="ctr"/>
          <a:lstStyle/>
          <a:p>
            <a:pPr marL="0" indent="0">
              <a:buNone/>
            </a:pPr>
            <a:r>
              <a:rPr lang="en-US" sz="950" dirty="0">
                <a:solidFill>
                  <a:srgbClr val="A2F3F3"/>
                </a:solidFill>
                <a:latin typeface="Montserrat" pitchFamily="34" charset="0"/>
                <a:ea typeface="Montserrat" pitchFamily="34" charset="-122"/>
                <a:cs typeface="Montserrat" pitchFamily="34" charset="-120"/>
              </a:rPr>
              <a:t>Tableau-heavy Snowflake customers where this lands, to co-sell into together</a:t>
            </a:r>
            <a:endParaRPr lang="en-US" sz="950" dirty="0"/>
          </a:p>
        </p:txBody>
      </p:sp>
      <p:sp>
        <p:nvSpPr>
          <p:cNvPr id="23" name="Shape 21"/>
          <p:cNvSpPr/>
          <p:nvPr/>
        </p:nvSpPr>
        <p:spPr>
          <a:xfrm>
            <a:off x="4325112" y="4023360"/>
            <a:ext cx="3538728" cy="1115568"/>
          </a:xfrm>
          <a:prstGeom prst="roundRect">
            <a:avLst>
              <a:gd name="adj" fmla="val 6557"/>
            </a:avLst>
          </a:prstGeom>
          <a:solidFill>
            <a:srgbClr val="0A3E6B"/>
          </a:solidFill>
          <a:ln w="15875">
            <a:solidFill>
              <a:srgbClr val="00EDED"/>
            </a:solidFill>
            <a:prstDash val="solid"/>
          </a:ln>
        </p:spPr>
        <p:txBody>
          <a:bodyPr/>
          <a:lstStyle/>
          <a:p>
            <a:endParaRPr lang="en-IN"/>
          </a:p>
        </p:txBody>
      </p:sp>
      <p:sp>
        <p:nvSpPr>
          <p:cNvPr id="24" name="Text 22"/>
          <p:cNvSpPr/>
          <p:nvPr/>
        </p:nvSpPr>
        <p:spPr>
          <a:xfrm>
            <a:off x="4562856" y="4187952"/>
            <a:ext cx="3063240" cy="274320"/>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A joint first migration</a:t>
            </a:r>
            <a:endParaRPr lang="en-US" sz="1300" dirty="0"/>
          </a:p>
        </p:txBody>
      </p:sp>
      <p:sp>
        <p:nvSpPr>
          <p:cNvPr id="25" name="Text 23"/>
          <p:cNvSpPr/>
          <p:nvPr/>
        </p:nvSpPr>
        <p:spPr>
          <a:xfrm>
            <a:off x="4562856" y="4480560"/>
            <a:ext cx="3063240" cy="566928"/>
          </a:xfrm>
          <a:prstGeom prst="rect">
            <a:avLst/>
          </a:prstGeom>
          <a:noFill/>
          <a:ln/>
        </p:spPr>
        <p:txBody>
          <a:bodyPr wrap="square" lIns="0" tIns="0" rIns="0" bIns="0" rtlCol="0" anchor="ctr"/>
          <a:lstStyle/>
          <a:p>
            <a:pPr marL="0" indent="0">
              <a:buNone/>
            </a:pPr>
            <a:r>
              <a:rPr lang="en-US" sz="950" dirty="0">
                <a:solidFill>
                  <a:srgbClr val="A2F3F3"/>
                </a:solidFill>
                <a:latin typeface="Montserrat" pitchFamily="34" charset="0"/>
                <a:ea typeface="Montserrat" pitchFamily="34" charset="-122"/>
                <a:cs typeface="Montserrat" pitchFamily="34" charset="-120"/>
              </a:rPr>
              <a:t>SE engagement alongside our team to validate it in a live account</a:t>
            </a:r>
            <a:endParaRPr lang="en-US" sz="950" dirty="0"/>
          </a:p>
        </p:txBody>
      </p:sp>
      <p:sp>
        <p:nvSpPr>
          <p:cNvPr id="26" name="Shape 24"/>
          <p:cNvSpPr/>
          <p:nvPr/>
        </p:nvSpPr>
        <p:spPr>
          <a:xfrm>
            <a:off x="8101584" y="4023360"/>
            <a:ext cx="3538728" cy="1115568"/>
          </a:xfrm>
          <a:prstGeom prst="roundRect">
            <a:avLst>
              <a:gd name="adj" fmla="val 6557"/>
            </a:avLst>
          </a:prstGeom>
          <a:solidFill>
            <a:srgbClr val="0A3E6B"/>
          </a:solidFill>
          <a:ln w="15875">
            <a:solidFill>
              <a:srgbClr val="00EDED"/>
            </a:solidFill>
            <a:prstDash val="solid"/>
          </a:ln>
        </p:spPr>
        <p:txBody>
          <a:bodyPr/>
          <a:lstStyle/>
          <a:p>
            <a:endParaRPr lang="en-IN"/>
          </a:p>
        </p:txBody>
      </p:sp>
      <p:sp>
        <p:nvSpPr>
          <p:cNvPr id="27" name="Text 25"/>
          <p:cNvSpPr/>
          <p:nvPr/>
        </p:nvSpPr>
        <p:spPr>
          <a:xfrm>
            <a:off x="8339328" y="4187952"/>
            <a:ext cx="3063240" cy="274320"/>
          </a:xfrm>
          <a:prstGeom prst="rect">
            <a:avLst/>
          </a:prstGeom>
          <a:noFill/>
          <a:ln/>
        </p:spPr>
        <p:txBody>
          <a:bodyPr wrap="square" lIns="0" tIns="0" rIns="0" bIns="0" rtlCol="0" anchor="ctr"/>
          <a:lstStyle/>
          <a:p>
            <a:pPr marL="0" indent="0">
              <a:buNone/>
            </a:pPr>
            <a:r>
              <a:rPr lang="en-US" sz="1300" b="1" dirty="0">
                <a:solidFill>
                  <a:srgbClr val="FFFFFF"/>
                </a:solidFill>
                <a:latin typeface="Montserrat" pitchFamily="34" charset="0"/>
                <a:ea typeface="Montserrat" pitchFamily="34" charset="-122"/>
                <a:cs typeface="Montserrat" pitchFamily="34" charset="-120"/>
              </a:rPr>
              <a:t>A route to the field</a:t>
            </a:r>
            <a:endParaRPr lang="en-US" sz="1300" dirty="0"/>
          </a:p>
        </p:txBody>
      </p:sp>
      <p:sp>
        <p:nvSpPr>
          <p:cNvPr id="28" name="Text 26"/>
          <p:cNvSpPr/>
          <p:nvPr/>
        </p:nvSpPr>
        <p:spPr>
          <a:xfrm>
            <a:off x="8339328" y="4480560"/>
            <a:ext cx="3063240" cy="566928"/>
          </a:xfrm>
          <a:prstGeom prst="rect">
            <a:avLst/>
          </a:prstGeom>
          <a:noFill/>
          <a:ln/>
        </p:spPr>
        <p:txBody>
          <a:bodyPr wrap="square" lIns="0" tIns="0" rIns="0" bIns="0" rtlCol="0" anchor="ctr"/>
          <a:lstStyle/>
          <a:p>
            <a:pPr marL="0" indent="0">
              <a:buNone/>
            </a:pPr>
            <a:r>
              <a:rPr lang="en-US" sz="950" dirty="0">
                <a:solidFill>
                  <a:srgbClr val="A2F3F3"/>
                </a:solidFill>
                <a:latin typeface="Montserrat" pitchFamily="34" charset="0"/>
                <a:ea typeface="Montserrat" pitchFamily="34" charset="-122"/>
                <a:cs typeface="Montserrat" pitchFamily="34" charset="-120"/>
              </a:rPr>
              <a:t>A partner or Marketplace listing so your team can find and reuse it</a:t>
            </a:r>
            <a:endParaRPr lang="en-US" sz="950" dirty="0"/>
          </a:p>
        </p:txBody>
      </p:sp>
      <p:sp>
        <p:nvSpPr>
          <p:cNvPr id="29" name="Text 27"/>
          <p:cNvSpPr/>
          <p:nvPr/>
        </p:nvSpPr>
        <p:spPr>
          <a:xfrm>
            <a:off x="548640" y="5321808"/>
            <a:ext cx="11091672" cy="365760"/>
          </a:xfrm>
          <a:prstGeom prst="rect">
            <a:avLst/>
          </a:prstGeom>
          <a:noFill/>
          <a:ln/>
        </p:spPr>
        <p:txBody>
          <a:bodyPr wrap="square" lIns="0" tIns="0" rIns="0" bIns="0" rtlCol="0" anchor="ctr"/>
          <a:lstStyle/>
          <a:p>
            <a:pPr marL="0" indent="0">
              <a:buNone/>
            </a:pPr>
            <a:r>
              <a:rPr lang="en-US" sz="1100" i="1" dirty="0">
                <a:solidFill>
                  <a:srgbClr val="A2F3F3"/>
                </a:solidFill>
                <a:latin typeface="Montserrat" pitchFamily="34" charset="0"/>
                <a:ea typeface="Montserrat" pitchFamily="34" charset="-122"/>
                <a:cs typeface="Montserrat" pitchFamily="34" charset="-120"/>
              </a:rPr>
              <a:t>Demo on request: upload a workbook and watch all five stages execute live in a Snowflake account — every statement visible in Query History.</a:t>
            </a:r>
            <a:endParaRPr lang="en-US" sz="1100" dirty="0"/>
          </a:p>
        </p:txBody>
      </p:sp>
      <p:sp>
        <p:nvSpPr>
          <p:cNvPr id="30" name="Shape 28"/>
          <p:cNvSpPr/>
          <p:nvPr/>
        </p:nvSpPr>
        <p:spPr>
          <a:xfrm>
            <a:off x="548640" y="5815584"/>
            <a:ext cx="11091672" cy="420624"/>
          </a:xfrm>
          <a:prstGeom prst="roundRect">
            <a:avLst>
              <a:gd name="adj" fmla="val 13043"/>
            </a:avLst>
          </a:prstGeom>
          <a:solidFill>
            <a:srgbClr val="0A3E6B"/>
          </a:solidFill>
          <a:ln w="12700">
            <a:solidFill>
              <a:srgbClr val="17517F"/>
            </a:solidFill>
            <a:prstDash val="solid"/>
          </a:ln>
        </p:spPr>
        <p:txBody>
          <a:bodyPr/>
          <a:lstStyle/>
          <a:p>
            <a:endParaRPr lang="en-IN"/>
          </a:p>
        </p:txBody>
      </p:sp>
      <p:sp>
        <p:nvSpPr>
          <p:cNvPr id="31" name="Text 29"/>
          <p:cNvSpPr/>
          <p:nvPr/>
        </p:nvSpPr>
        <p:spPr>
          <a:xfrm>
            <a:off x="548640" y="5815584"/>
            <a:ext cx="11091672" cy="420624"/>
          </a:xfrm>
          <a:prstGeom prst="rect">
            <a:avLst/>
          </a:prstGeom>
          <a:noFill/>
          <a:ln/>
        </p:spPr>
        <p:txBody>
          <a:bodyPr wrap="square" lIns="0" tIns="0" rIns="0" bIns="0" rtlCol="0" anchor="ctr"/>
          <a:lstStyle/>
          <a:p>
            <a:pPr marL="0" indent="0" algn="ctr">
              <a:buNone/>
            </a:pPr>
            <a:r>
              <a:rPr lang="en-US" sz="1100" b="1" kern="0" spc="60" dirty="0">
                <a:solidFill>
                  <a:srgbClr val="00EDED"/>
                </a:solidFill>
                <a:latin typeface="Montserrat" pitchFamily="34" charset="0"/>
                <a:ea typeface="Montserrat" pitchFamily="34" charset="-122"/>
                <a:cs typeface="Montserrat" pitchFamily="34" charset="-120"/>
              </a:rPr>
              <a:t>Streamlit in Snowflake   |   Cortex AI   |   Cortex Analyst   |   Native Semantic Views   |   Snowpark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1528</Words>
  <Application>Microsoft Office PowerPoint</Application>
  <PresentationFormat>Widescreen</PresentationFormat>
  <Paragraphs>134</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Montserrat</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to Streamlit-in-Snowflake Accelerator</dc:title>
  <dc:subject>PptxGenJS Presentation</dc:subject>
  <dc:creator>Sharath Kumar</dc:creator>
  <cp:lastModifiedBy>Sharath Kumar Kammari</cp:lastModifiedBy>
  <cp:revision>2</cp:revision>
  <dcterms:created xsi:type="dcterms:W3CDTF">2026-07-22T15:36:31Z</dcterms:created>
  <dcterms:modified xsi:type="dcterms:W3CDTF">2026-07-22T16:00:11Z</dcterms:modified>
</cp:coreProperties>
</file>