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on speed and confidence, not savings — the cost argument is already made on slide 1, so this slide is about what the customer gets. The four headline cards are the value message: the majority converts automatically, a workbook becomes a live app in a single run, every measure is tied out with evidence, and the estate is assessed before anyone commits. Then show both value columns — the business case that wins the account on the left, and the reason to co-sell it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 and it is the slide the rest of the deck exists to earn. Three reasons this is worth Snowflake's time — repeatable rather than bespoke, displacement of a competing stack, and pull-through of several products in one motion — then three specific asks. Do not leave the room without a response to the first ask: named accounts is the one that turns this into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548640" y="237744"/>
            <a:ext cx="3950208" cy="310896"/>
          </a:xfrm>
          <a:prstGeom prst="roundRect">
            <a:avLst>
              <a:gd name="adj" fmla="val 17647"/>
            </a:avLst>
          </a:prstGeom>
          <a:solidFill>
            <a:srgbClr val="053057"/>
          </a:solidFill>
          <a:ln w="12700">
            <a:solidFill>
              <a:srgbClr val="053057"/>
            </a:solidFill>
            <a:prstDash val="solid"/>
          </a:ln>
        </p:spPr>
      </p:sp>
      <p:sp>
        <p:nvSpPr>
          <p:cNvPr id="3" name="Text 1"/>
          <p:cNvSpPr/>
          <p:nvPr/>
        </p:nvSpPr>
        <p:spPr>
          <a:xfrm>
            <a:off x="548640" y="237744"/>
            <a:ext cx="3950208" cy="310896"/>
          </a:xfrm>
          <a:prstGeom prst="rect">
            <a:avLst/>
          </a:prstGeom>
          <a:noFill/>
          <a:ln/>
        </p:spPr>
        <p:txBody>
          <a:bodyPr wrap="square" lIns="0" tIns="0" rIns="0" bIns="0" rtlCol="0" anchor="ctr"/>
          <a:lstStyle/>
          <a:p>
            <a:pPr algn="ctr" indent="0" marL="0">
              <a:buNone/>
            </a:pPr>
            <a:r>
              <a:rPr lang="en-US" sz="1000" b="1" spc="140" kern="0" dirty="0">
                <a:solidFill>
                  <a:srgbClr val="00EDED"/>
                </a:solidFill>
                <a:latin typeface="Montserrat" pitchFamily="34" charset="0"/>
                <a:ea typeface="Montserrat" pitchFamily="34" charset="-122"/>
                <a:cs typeface="Montserrat" pitchFamily="34" charset="-120"/>
              </a:rPr>
              <a:t>TABLEAU  →  STREAMLIT IN SNOWFLAKE</a:t>
            </a:r>
            <a:endParaRPr lang="en-US" sz="1000" dirty="0"/>
          </a:p>
        </p:txBody>
      </p:sp>
      <p:sp>
        <p:nvSpPr>
          <p:cNvPr id="4" name="Text 2"/>
          <p:cNvSpPr/>
          <p:nvPr/>
        </p:nvSpPr>
        <p:spPr>
          <a:xfrm>
            <a:off x="548640" y="621792"/>
            <a:ext cx="11064240" cy="493776"/>
          </a:xfrm>
          <a:prstGeom prst="rect">
            <a:avLst/>
          </a:prstGeom>
          <a:noFill/>
          <a:ln/>
        </p:spPr>
        <p:txBody>
          <a:bodyPr wrap="square" lIns="0" tIns="0" rIns="0" bIns="0" rtlCol="0" anchor="ctr"/>
          <a:lstStyle/>
          <a:p>
            <a:pPr indent="0" marL="0">
              <a:buNone/>
            </a:pPr>
            <a:r>
              <a:rPr lang="en-US" sz="3000" b="1" dirty="0">
                <a:solidFill>
                  <a:srgbClr val="053057"/>
                </a:solidFill>
                <a:latin typeface="Montserrat" pitchFamily="34" charset="0"/>
                <a:ea typeface="Montserrat" pitchFamily="34" charset="-122"/>
                <a:cs typeface="Montserrat" pitchFamily="34" charset="-120"/>
              </a:rPr>
              <a:t>Tableau Dashboards, Rebuilt Natively in Snowflake</a:t>
            </a:r>
            <a:endParaRPr lang="en-US" sz="3000" dirty="0"/>
          </a:p>
        </p:txBody>
      </p:sp>
      <p:sp>
        <p:nvSpPr>
          <p:cNvPr id="5" name="Text 3"/>
          <p:cNvSpPr/>
          <p:nvPr/>
        </p:nvSpPr>
        <p:spPr>
          <a:xfrm>
            <a:off x="548640" y="1115568"/>
            <a:ext cx="11064240" cy="274320"/>
          </a:xfrm>
          <a:prstGeom prst="rect">
            <a:avLst/>
          </a:prstGeom>
          <a:noFill/>
          <a:ln/>
        </p:spPr>
        <p:txBody>
          <a:bodyPr wrap="square" lIns="0" tIns="0" rIns="0" bIns="0" rtlCol="0" anchor="ctr"/>
          <a:lstStyle/>
          <a:p>
            <a:pPr indent="0" marL="0">
              <a:buNone/>
            </a:pPr>
            <a:r>
              <a:rPr lang="en-US" sz="1350" dirty="0">
                <a:solidFill>
                  <a:srgbClr val="6B7C88"/>
                </a:solidFill>
                <a:latin typeface="Montserrat" pitchFamily="34" charset="0"/>
                <a:ea typeface="Montserrat" pitchFamily="34" charset="-122"/>
                <a:cs typeface="Montserrat" pitchFamily="34" charset="-120"/>
              </a:rPr>
              <a:t>Retire the separate BI platform — the same dashboards, running on the data Snowflake already holds</a:t>
            </a:r>
            <a:endParaRPr lang="en-US" sz="1350" dirty="0"/>
          </a:p>
        </p:txBody>
      </p:sp>
      <p:sp>
        <p:nvSpPr>
          <p:cNvPr id="6" name="Text 4"/>
          <p:cNvSpPr/>
          <p:nvPr/>
        </p:nvSpPr>
        <p:spPr>
          <a:xfrm>
            <a:off x="548640"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THE CHALLENGE — TABLEAU TODAY</a:t>
            </a:r>
            <a:endParaRPr lang="en-US" sz="1000" dirty="0"/>
          </a:p>
        </p:txBody>
      </p:sp>
      <p:sp>
        <p:nvSpPr>
          <p:cNvPr id="7" name="Text 5"/>
          <p:cNvSpPr/>
          <p:nvPr/>
        </p:nvSpPr>
        <p:spPr>
          <a:xfrm>
            <a:off x="4306824"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TRADITIONAL SOLUTION</a:t>
            </a:r>
            <a:endParaRPr lang="en-US" sz="1000" dirty="0"/>
          </a:p>
        </p:txBody>
      </p:sp>
      <p:sp>
        <p:nvSpPr>
          <p:cNvPr id="8" name="Text 6"/>
          <p:cNvSpPr/>
          <p:nvPr/>
        </p:nvSpPr>
        <p:spPr>
          <a:xfrm>
            <a:off x="8065008" y="1426464"/>
            <a:ext cx="3575304" cy="256032"/>
          </a:xfrm>
          <a:prstGeom prst="rect">
            <a:avLst/>
          </a:prstGeom>
          <a:noFill/>
          <a:ln/>
        </p:spPr>
        <p:txBody>
          <a:bodyPr wrap="square" lIns="0" tIns="0" rIns="0" bIns="0" rtlCol="0" anchor="ctr"/>
          <a:lstStyle/>
          <a:p>
            <a:pPr indent="0" marL="0">
              <a:buNone/>
            </a:pPr>
            <a:r>
              <a:rPr lang="en-US" sz="1000" b="1" spc="120" kern="0" dirty="0">
                <a:solidFill>
                  <a:srgbClr val="053057"/>
                </a:solidFill>
                <a:latin typeface="Montserrat" pitchFamily="34" charset="0"/>
                <a:ea typeface="Montserrat" pitchFamily="34" charset="-122"/>
                <a:cs typeface="Montserrat" pitchFamily="34" charset="-120"/>
              </a:rPr>
              <a:t>TABLEAU → STREAMLIT IN SNOWFLAKE</a:t>
            </a:r>
            <a:endParaRPr lang="en-US" sz="1000" dirty="0"/>
          </a:p>
        </p:txBody>
      </p:sp>
      <p:sp>
        <p:nvSpPr>
          <p:cNvPr id="9" name="Shape 7"/>
          <p:cNvSpPr/>
          <p:nvPr/>
        </p:nvSpPr>
        <p:spPr>
          <a:xfrm>
            <a:off x="548640" y="1700784"/>
            <a:ext cx="3575304" cy="1261872"/>
          </a:xfrm>
          <a:prstGeom prst="roundRect">
            <a:avLst>
              <a:gd name="adj" fmla="val 5797"/>
            </a:avLst>
          </a:prstGeom>
          <a:solidFill>
            <a:srgbClr val="FFFFFF"/>
          </a:solidFill>
          <a:ln w="12700">
            <a:solidFill>
              <a:srgbClr val="DFE3E6"/>
            </a:solidFill>
            <a:prstDash val="solid"/>
          </a:ln>
        </p:spPr>
      </p:sp>
      <p:sp>
        <p:nvSpPr>
          <p:cNvPr id="10" name="Text 8"/>
          <p:cNvSpPr/>
          <p:nvPr/>
        </p:nvSpPr>
        <p:spPr>
          <a:xfrm>
            <a:off x="786384"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11" name="Text 9"/>
          <p:cNvSpPr/>
          <p:nvPr/>
        </p:nvSpPr>
        <p:spPr>
          <a:xfrm>
            <a:off x="786384"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2" name="Shape 10"/>
          <p:cNvSpPr/>
          <p:nvPr/>
        </p:nvSpPr>
        <p:spPr>
          <a:xfrm>
            <a:off x="4306824" y="1700784"/>
            <a:ext cx="3575304" cy="1261872"/>
          </a:xfrm>
          <a:prstGeom prst="roundRect">
            <a:avLst>
              <a:gd name="adj" fmla="val 5797"/>
            </a:avLst>
          </a:prstGeom>
          <a:solidFill>
            <a:srgbClr val="FFFFFF"/>
          </a:solidFill>
          <a:ln w="12700">
            <a:solidFill>
              <a:srgbClr val="DFE3E6"/>
            </a:solidFill>
            <a:prstDash val="solid"/>
          </a:ln>
        </p:spPr>
      </p:sp>
      <p:sp>
        <p:nvSpPr>
          <p:cNvPr id="13" name="Text 11"/>
          <p:cNvSpPr/>
          <p:nvPr/>
        </p:nvSpPr>
        <p:spPr>
          <a:xfrm>
            <a:off x="4544568"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4" name="Text 12"/>
          <p:cNvSpPr/>
          <p:nvPr/>
        </p:nvSpPr>
        <p:spPr>
          <a:xfrm>
            <a:off x="4544568"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5" name="Shape 13"/>
          <p:cNvSpPr/>
          <p:nvPr/>
        </p:nvSpPr>
        <p:spPr>
          <a:xfrm>
            <a:off x="8065008" y="1700784"/>
            <a:ext cx="3575304" cy="1261872"/>
          </a:xfrm>
          <a:prstGeom prst="roundRect">
            <a:avLst>
              <a:gd name="adj" fmla="val 5797"/>
            </a:avLst>
          </a:prstGeom>
          <a:solidFill>
            <a:srgbClr val="053057"/>
          </a:solidFill>
          <a:ln w="12700">
            <a:solidFill>
              <a:srgbClr val="053057"/>
            </a:solidFill>
            <a:prstDash val="solid"/>
          </a:ln>
        </p:spPr>
      </p:sp>
      <p:sp>
        <p:nvSpPr>
          <p:cNvPr id="16" name="Shape 14"/>
          <p:cNvSpPr/>
          <p:nvPr/>
        </p:nvSpPr>
        <p:spPr>
          <a:xfrm>
            <a:off x="8302752" y="1901952"/>
            <a:ext cx="237744" cy="237744"/>
          </a:xfrm>
          <a:prstGeom prst="ellipse">
            <a:avLst/>
          </a:prstGeom>
          <a:solidFill>
            <a:srgbClr val="00EDED"/>
          </a:solidFill>
          <a:ln/>
        </p:spPr>
      </p:sp>
      <p:sp>
        <p:nvSpPr>
          <p:cNvPr id="17" name="Text 15"/>
          <p:cNvSpPr/>
          <p:nvPr/>
        </p:nvSpPr>
        <p:spPr>
          <a:xfrm>
            <a:off x="8631936" y="18470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8" name="Text 16"/>
          <p:cNvSpPr/>
          <p:nvPr/>
        </p:nvSpPr>
        <p:spPr>
          <a:xfrm>
            <a:off x="8302752" y="22311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9" name="Shape 17"/>
          <p:cNvSpPr/>
          <p:nvPr/>
        </p:nvSpPr>
        <p:spPr>
          <a:xfrm>
            <a:off x="548640" y="3072384"/>
            <a:ext cx="3575304" cy="1261872"/>
          </a:xfrm>
          <a:prstGeom prst="roundRect">
            <a:avLst>
              <a:gd name="adj" fmla="val 5797"/>
            </a:avLst>
          </a:prstGeom>
          <a:solidFill>
            <a:srgbClr val="FFFFFF"/>
          </a:solidFill>
          <a:ln w="12700">
            <a:solidFill>
              <a:srgbClr val="DFE3E6"/>
            </a:solidFill>
            <a:prstDash val="solid"/>
          </a:ln>
        </p:spPr>
      </p:sp>
      <p:sp>
        <p:nvSpPr>
          <p:cNvPr id="20" name="Text 18"/>
          <p:cNvSpPr/>
          <p:nvPr/>
        </p:nvSpPr>
        <p:spPr>
          <a:xfrm>
            <a:off x="786384"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21" name="Text 19"/>
          <p:cNvSpPr/>
          <p:nvPr/>
        </p:nvSpPr>
        <p:spPr>
          <a:xfrm>
            <a:off x="786384"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2" name="Shape 20"/>
          <p:cNvSpPr/>
          <p:nvPr/>
        </p:nvSpPr>
        <p:spPr>
          <a:xfrm>
            <a:off x="4306824" y="3072384"/>
            <a:ext cx="3575304" cy="1261872"/>
          </a:xfrm>
          <a:prstGeom prst="roundRect">
            <a:avLst>
              <a:gd name="adj" fmla="val 5797"/>
            </a:avLst>
          </a:prstGeom>
          <a:solidFill>
            <a:srgbClr val="FFFFFF"/>
          </a:solidFill>
          <a:ln w="12700">
            <a:solidFill>
              <a:srgbClr val="DFE3E6"/>
            </a:solidFill>
            <a:prstDash val="solid"/>
          </a:ln>
        </p:spPr>
      </p:sp>
      <p:sp>
        <p:nvSpPr>
          <p:cNvPr id="23" name="Text 21"/>
          <p:cNvSpPr/>
          <p:nvPr/>
        </p:nvSpPr>
        <p:spPr>
          <a:xfrm>
            <a:off x="4544568"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4" name="Text 22"/>
          <p:cNvSpPr/>
          <p:nvPr/>
        </p:nvSpPr>
        <p:spPr>
          <a:xfrm>
            <a:off x="4544568"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5" name="Shape 23"/>
          <p:cNvSpPr/>
          <p:nvPr/>
        </p:nvSpPr>
        <p:spPr>
          <a:xfrm>
            <a:off x="8065008" y="3072384"/>
            <a:ext cx="3575304" cy="1261872"/>
          </a:xfrm>
          <a:prstGeom prst="roundRect">
            <a:avLst>
              <a:gd name="adj" fmla="val 5797"/>
            </a:avLst>
          </a:prstGeom>
          <a:solidFill>
            <a:srgbClr val="053057"/>
          </a:solidFill>
          <a:ln w="12700">
            <a:solidFill>
              <a:srgbClr val="053057"/>
            </a:solidFill>
            <a:prstDash val="solid"/>
          </a:ln>
        </p:spPr>
      </p:sp>
      <p:sp>
        <p:nvSpPr>
          <p:cNvPr id="26" name="Shape 24"/>
          <p:cNvSpPr/>
          <p:nvPr/>
        </p:nvSpPr>
        <p:spPr>
          <a:xfrm>
            <a:off x="8302752" y="3273552"/>
            <a:ext cx="237744" cy="237744"/>
          </a:xfrm>
          <a:prstGeom prst="ellipse">
            <a:avLst/>
          </a:prstGeom>
          <a:solidFill>
            <a:srgbClr val="00EDED"/>
          </a:solidFill>
          <a:ln/>
        </p:spPr>
      </p:sp>
      <p:sp>
        <p:nvSpPr>
          <p:cNvPr id="27" name="Text 25"/>
          <p:cNvSpPr/>
          <p:nvPr/>
        </p:nvSpPr>
        <p:spPr>
          <a:xfrm>
            <a:off x="8631936" y="32186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8" name="Text 26"/>
          <p:cNvSpPr/>
          <p:nvPr/>
        </p:nvSpPr>
        <p:spPr>
          <a:xfrm>
            <a:off x="8302752" y="36027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9" name="Shape 27"/>
          <p:cNvSpPr/>
          <p:nvPr/>
        </p:nvSpPr>
        <p:spPr>
          <a:xfrm>
            <a:off x="548640" y="4443984"/>
            <a:ext cx="3575304" cy="1261872"/>
          </a:xfrm>
          <a:prstGeom prst="roundRect">
            <a:avLst>
              <a:gd name="adj" fmla="val 5797"/>
            </a:avLst>
          </a:prstGeom>
          <a:solidFill>
            <a:srgbClr val="FFFFFF"/>
          </a:solidFill>
          <a:ln w="12700">
            <a:solidFill>
              <a:srgbClr val="DFE3E6"/>
            </a:solidFill>
            <a:prstDash val="solid"/>
          </a:ln>
        </p:spPr>
      </p:sp>
      <p:sp>
        <p:nvSpPr>
          <p:cNvPr id="30" name="Text 28"/>
          <p:cNvSpPr/>
          <p:nvPr/>
        </p:nvSpPr>
        <p:spPr>
          <a:xfrm>
            <a:off x="786384"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31" name="Text 29"/>
          <p:cNvSpPr/>
          <p:nvPr/>
        </p:nvSpPr>
        <p:spPr>
          <a:xfrm>
            <a:off x="786384"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2" name="Shape 30"/>
          <p:cNvSpPr/>
          <p:nvPr/>
        </p:nvSpPr>
        <p:spPr>
          <a:xfrm>
            <a:off x="4306824" y="4443984"/>
            <a:ext cx="3575304" cy="1261872"/>
          </a:xfrm>
          <a:prstGeom prst="roundRect">
            <a:avLst>
              <a:gd name="adj" fmla="val 5797"/>
            </a:avLst>
          </a:prstGeom>
          <a:solidFill>
            <a:srgbClr val="FFFFFF"/>
          </a:solidFill>
          <a:ln w="12700">
            <a:solidFill>
              <a:srgbClr val="DFE3E6"/>
            </a:solidFill>
            <a:prstDash val="solid"/>
          </a:ln>
        </p:spPr>
      </p:sp>
      <p:sp>
        <p:nvSpPr>
          <p:cNvPr id="33" name="Text 31"/>
          <p:cNvSpPr/>
          <p:nvPr/>
        </p:nvSpPr>
        <p:spPr>
          <a:xfrm>
            <a:off x="4544568"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4" name="Text 32"/>
          <p:cNvSpPr/>
          <p:nvPr/>
        </p:nvSpPr>
        <p:spPr>
          <a:xfrm>
            <a:off x="4544568"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5" name="Shape 33"/>
          <p:cNvSpPr/>
          <p:nvPr/>
        </p:nvSpPr>
        <p:spPr>
          <a:xfrm>
            <a:off x="8065008" y="4443984"/>
            <a:ext cx="3575304" cy="1261872"/>
          </a:xfrm>
          <a:prstGeom prst="roundRect">
            <a:avLst>
              <a:gd name="adj" fmla="val 5797"/>
            </a:avLst>
          </a:prstGeom>
          <a:solidFill>
            <a:srgbClr val="053057"/>
          </a:solidFill>
          <a:ln w="12700">
            <a:solidFill>
              <a:srgbClr val="053057"/>
            </a:solidFill>
            <a:prstDash val="solid"/>
          </a:ln>
        </p:spPr>
      </p:sp>
      <p:sp>
        <p:nvSpPr>
          <p:cNvPr id="36" name="Shape 34"/>
          <p:cNvSpPr/>
          <p:nvPr/>
        </p:nvSpPr>
        <p:spPr>
          <a:xfrm>
            <a:off x="8302752" y="4645152"/>
            <a:ext cx="237744" cy="237744"/>
          </a:xfrm>
          <a:prstGeom prst="ellipse">
            <a:avLst/>
          </a:prstGeom>
          <a:solidFill>
            <a:srgbClr val="00EDED"/>
          </a:solidFill>
          <a:ln/>
        </p:spPr>
      </p:sp>
      <p:sp>
        <p:nvSpPr>
          <p:cNvPr id="37" name="Text 35"/>
          <p:cNvSpPr/>
          <p:nvPr/>
        </p:nvSpPr>
        <p:spPr>
          <a:xfrm>
            <a:off x="8631936" y="45902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8" name="Text 36"/>
          <p:cNvSpPr/>
          <p:nvPr/>
        </p:nvSpPr>
        <p:spPr>
          <a:xfrm>
            <a:off x="8302752" y="49743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9" name="Shape 37"/>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sp>
      <p:sp>
        <p:nvSpPr>
          <p:cNvPr id="40" name="Text 38"/>
          <p:cNvSpPr/>
          <p:nvPr/>
        </p:nvSpPr>
        <p:spPr>
          <a:xfrm>
            <a:off x="841248" y="5980176"/>
            <a:ext cx="10515600" cy="530352"/>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pPr indent="0" marL="0">
              <a:buNone/>
            </a:pP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sp>
      <p:sp>
        <p:nvSpPr>
          <p:cNvPr id="5" name="Text 3"/>
          <p:cNvSpPr/>
          <p:nvPr/>
        </p:nvSpPr>
        <p:spPr>
          <a:xfrm>
            <a:off x="731520"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sp>
      <p:sp>
        <p:nvSpPr>
          <p:cNvPr id="9" name="Text 7"/>
          <p:cNvSpPr/>
          <p:nvPr/>
        </p:nvSpPr>
        <p:spPr>
          <a:xfrm>
            <a:off x="2999232"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sp>
      <p:sp>
        <p:nvSpPr>
          <p:cNvPr id="13" name="Text 11"/>
          <p:cNvSpPr/>
          <p:nvPr/>
        </p:nvSpPr>
        <p:spPr>
          <a:xfrm>
            <a:off x="5266944"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sp>
      <p:sp>
        <p:nvSpPr>
          <p:cNvPr id="17" name="Text 15"/>
          <p:cNvSpPr/>
          <p:nvPr/>
        </p:nvSpPr>
        <p:spPr>
          <a:xfrm>
            <a:off x="7534656"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sp>
      <p:sp>
        <p:nvSpPr>
          <p:cNvPr id="21" name="Text 19"/>
          <p:cNvSpPr/>
          <p:nvPr/>
        </p:nvSpPr>
        <p:spPr>
          <a:xfrm>
            <a:off x="9802368"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sp>
      <p:sp>
        <p:nvSpPr>
          <p:cNvPr id="25" name="Text 23"/>
          <p:cNvSpPr/>
          <p:nvPr/>
        </p:nvSpPr>
        <p:spPr>
          <a:xfrm>
            <a:off x="548640" y="340156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sp>
      <p:sp>
        <p:nvSpPr>
          <p:cNvPr id="27" name="Text 25"/>
          <p:cNvSpPr/>
          <p:nvPr/>
        </p:nvSpPr>
        <p:spPr>
          <a:xfrm>
            <a:off x="841248"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sp>
      <p:sp>
        <p:nvSpPr>
          <p:cNvPr id="30" name="Text 28"/>
          <p:cNvSpPr/>
          <p:nvPr/>
        </p:nvSpPr>
        <p:spPr>
          <a:xfrm>
            <a:off x="6501384"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indent="0" marL="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sp>
      <p:sp>
        <p:nvSpPr>
          <p:cNvPr id="5" name="Shape 3"/>
          <p:cNvSpPr/>
          <p:nvPr/>
        </p:nvSpPr>
        <p:spPr>
          <a:xfrm>
            <a:off x="768096" y="1536192"/>
            <a:ext cx="402336" cy="402336"/>
          </a:xfrm>
          <a:prstGeom prst="ellipse">
            <a:avLst/>
          </a:prstGeom>
          <a:solidFill>
            <a:srgbClr val="00EDED"/>
          </a:solidFill>
          <a:ln/>
        </p:spPr>
      </p:sp>
      <p:sp>
        <p:nvSpPr>
          <p:cNvPr id="6" name="Text 4"/>
          <p:cNvSpPr/>
          <p:nvPr/>
        </p:nvSpPr>
        <p:spPr>
          <a:xfrm>
            <a:off x="768096"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sp>
      <p:sp>
        <p:nvSpPr>
          <p:cNvPr id="10" name="Shape 8"/>
          <p:cNvSpPr/>
          <p:nvPr/>
        </p:nvSpPr>
        <p:spPr>
          <a:xfrm>
            <a:off x="3721608" y="1536192"/>
            <a:ext cx="402336" cy="402336"/>
          </a:xfrm>
          <a:prstGeom prst="ellipse">
            <a:avLst/>
          </a:prstGeom>
          <a:solidFill>
            <a:srgbClr val="00EDED"/>
          </a:solidFill>
          <a:ln/>
        </p:spPr>
      </p:sp>
      <p:sp>
        <p:nvSpPr>
          <p:cNvPr id="11" name="Text 9"/>
          <p:cNvSpPr/>
          <p:nvPr/>
        </p:nvSpPr>
        <p:spPr>
          <a:xfrm>
            <a:off x="3721608"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sp>
      <p:sp>
        <p:nvSpPr>
          <p:cNvPr id="15" name="Shape 13"/>
          <p:cNvSpPr/>
          <p:nvPr/>
        </p:nvSpPr>
        <p:spPr>
          <a:xfrm>
            <a:off x="6675120" y="1536192"/>
            <a:ext cx="402336" cy="402336"/>
          </a:xfrm>
          <a:prstGeom prst="ellipse">
            <a:avLst/>
          </a:prstGeom>
          <a:solidFill>
            <a:srgbClr val="00EDED"/>
          </a:solidFill>
          <a:ln/>
        </p:spPr>
      </p:sp>
      <p:sp>
        <p:nvSpPr>
          <p:cNvPr id="16" name="Text 14"/>
          <p:cNvSpPr/>
          <p:nvPr/>
        </p:nvSpPr>
        <p:spPr>
          <a:xfrm>
            <a:off x="6675120"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sp>
      <p:sp>
        <p:nvSpPr>
          <p:cNvPr id="20" name="Shape 18"/>
          <p:cNvSpPr/>
          <p:nvPr/>
        </p:nvSpPr>
        <p:spPr>
          <a:xfrm>
            <a:off x="9628632" y="1536192"/>
            <a:ext cx="402336" cy="402336"/>
          </a:xfrm>
          <a:prstGeom prst="ellipse">
            <a:avLst/>
          </a:prstGeom>
          <a:solidFill>
            <a:srgbClr val="00EDED"/>
          </a:solidFill>
          <a:ln/>
        </p:spPr>
      </p:sp>
      <p:sp>
        <p:nvSpPr>
          <p:cNvPr id="21" name="Text 19"/>
          <p:cNvSpPr/>
          <p:nvPr/>
        </p:nvSpPr>
        <p:spPr>
          <a:xfrm>
            <a:off x="9628632"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sp>
      <p:sp>
        <p:nvSpPr>
          <p:cNvPr id="26" name="Text 24"/>
          <p:cNvSpPr/>
          <p:nvPr/>
        </p:nvSpPr>
        <p:spPr>
          <a:xfrm>
            <a:off x="786384"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sp>
      <p:sp>
        <p:nvSpPr>
          <p:cNvPr id="30" name="Text 28"/>
          <p:cNvSpPr/>
          <p:nvPr/>
        </p:nvSpPr>
        <p:spPr>
          <a:xfrm>
            <a:off x="4544568"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sp>
      <p:sp>
        <p:nvSpPr>
          <p:cNvPr id="34" name="Text 32"/>
          <p:cNvSpPr/>
          <p:nvPr/>
        </p:nvSpPr>
        <p:spPr>
          <a:xfrm>
            <a:off x="8302752" y="4443984"/>
            <a:ext cx="3099816" cy="237744"/>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dirty="0"/>
          </a:p>
        </p:txBody>
      </p:sp>
      <p:sp>
        <p:nvSpPr>
          <p:cNvPr id="4" name="Shape 2"/>
          <p:cNvSpPr/>
          <p:nvPr/>
        </p:nvSpPr>
        <p:spPr>
          <a:xfrm>
            <a:off x="548640" y="1243584"/>
            <a:ext cx="2724912" cy="1591056"/>
          </a:xfrm>
          <a:prstGeom prst="roundRect">
            <a:avLst>
              <a:gd name="adj" fmla="val 4598"/>
            </a:avLst>
          </a:prstGeom>
          <a:solidFill>
            <a:srgbClr val="053057"/>
          </a:solidFill>
          <a:ln w="12700">
            <a:solidFill>
              <a:srgbClr val="053057"/>
            </a:solidFill>
            <a:prstDash val="solid"/>
          </a:ln>
        </p:spPr>
      </p:sp>
      <p:sp>
        <p:nvSpPr>
          <p:cNvPr id="5" name="Text 3"/>
          <p:cNvSpPr/>
          <p:nvPr/>
        </p:nvSpPr>
        <p:spPr>
          <a:xfrm>
            <a:off x="768096" y="1371600"/>
            <a:ext cx="2286000" cy="475488"/>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90%+</a:t>
            </a:r>
            <a:endParaRPr lang="en-US" sz="3000" dirty="0"/>
          </a:p>
        </p:txBody>
      </p:sp>
      <p:sp>
        <p:nvSpPr>
          <p:cNvPr id="6" name="Text 4"/>
          <p:cNvSpPr/>
          <p:nvPr/>
        </p:nvSpPr>
        <p:spPr>
          <a:xfrm>
            <a:off x="768096" y="1865376"/>
            <a:ext cx="2286000"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converted automatically</a:t>
            </a:r>
            <a:endParaRPr lang="en-US" sz="1100" dirty="0"/>
          </a:p>
        </p:txBody>
      </p:sp>
      <p:sp>
        <p:nvSpPr>
          <p:cNvPr id="7" name="Text 5"/>
          <p:cNvSpPr/>
          <p:nvPr/>
        </p:nvSpPr>
        <p:spPr>
          <a:xfrm>
            <a:off x="768096"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A2F3F3"/>
                </a:solidFill>
                <a:latin typeface="Montserrat" pitchFamily="34" charset="0"/>
                <a:ea typeface="Montserrat" pitchFamily="34" charset="-122"/>
                <a:cs typeface="Montserrat" pitchFamily="34" charset="-120"/>
              </a:rPr>
              <a:t>The common majority of every dashboard — charts, calculations, filters and layout — without a developer rebuilding it by hand.</a:t>
            </a:r>
            <a:endParaRPr lang="en-US" sz="900" dirty="0"/>
          </a:p>
        </p:txBody>
      </p:sp>
      <p:sp>
        <p:nvSpPr>
          <p:cNvPr id="8" name="Shape 6"/>
          <p:cNvSpPr/>
          <p:nvPr/>
        </p:nvSpPr>
        <p:spPr>
          <a:xfrm>
            <a:off x="3502152" y="1243584"/>
            <a:ext cx="2724912" cy="1591056"/>
          </a:xfrm>
          <a:prstGeom prst="roundRect">
            <a:avLst>
              <a:gd name="adj" fmla="val 4598"/>
            </a:avLst>
          </a:prstGeom>
          <a:solidFill>
            <a:srgbClr val="053057"/>
          </a:solidFill>
          <a:ln w="12700">
            <a:solidFill>
              <a:srgbClr val="053057"/>
            </a:solidFill>
            <a:prstDash val="solid"/>
          </a:ln>
        </p:spPr>
      </p:sp>
      <p:sp>
        <p:nvSpPr>
          <p:cNvPr id="9" name="Text 7"/>
          <p:cNvSpPr/>
          <p:nvPr/>
        </p:nvSpPr>
        <p:spPr>
          <a:xfrm>
            <a:off x="3721608" y="1371600"/>
            <a:ext cx="2286000" cy="475488"/>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Minutes</a:t>
            </a:r>
            <a:endParaRPr lang="en-US" sz="3000" dirty="0"/>
          </a:p>
        </p:txBody>
      </p:sp>
      <p:sp>
        <p:nvSpPr>
          <p:cNvPr id="10" name="Text 8"/>
          <p:cNvSpPr/>
          <p:nvPr/>
        </p:nvSpPr>
        <p:spPr>
          <a:xfrm>
            <a:off x="3721608" y="1865376"/>
            <a:ext cx="2286000"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from workbook to live app</a:t>
            </a:r>
            <a:endParaRPr lang="en-US" sz="1100" dirty="0"/>
          </a:p>
        </p:txBody>
      </p:sp>
      <p:sp>
        <p:nvSpPr>
          <p:cNvPr id="11" name="Text 9"/>
          <p:cNvSpPr/>
          <p:nvPr/>
        </p:nvSpPr>
        <p:spPr>
          <a:xfrm>
            <a:off x="3721608"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A2F3F3"/>
                </a:solidFill>
                <a:latin typeface="Montserrat" pitchFamily="34" charset="0"/>
                <a:ea typeface="Montserrat" pitchFamily="34" charset="-122"/>
                <a:cs typeface="Montserrat" pitchFamily="34" charset="-120"/>
              </a:rPr>
              <a:t>One run inside the Snowflake account, not a rebuild project measured in sprints and handoffs.</a:t>
            </a:r>
            <a:endParaRPr lang="en-US" sz="900" dirty="0"/>
          </a:p>
        </p:txBody>
      </p:sp>
      <p:sp>
        <p:nvSpPr>
          <p:cNvPr id="12" name="Shape 10"/>
          <p:cNvSpPr/>
          <p:nvPr/>
        </p:nvSpPr>
        <p:spPr>
          <a:xfrm>
            <a:off x="6455664" y="1243584"/>
            <a:ext cx="2724912" cy="1591056"/>
          </a:xfrm>
          <a:prstGeom prst="roundRect">
            <a:avLst>
              <a:gd name="adj" fmla="val 4598"/>
            </a:avLst>
          </a:prstGeom>
          <a:solidFill>
            <a:srgbClr val="FFFFFF"/>
          </a:solidFill>
          <a:ln w="12700">
            <a:solidFill>
              <a:srgbClr val="DFE3E6"/>
            </a:solidFill>
            <a:prstDash val="solid"/>
          </a:ln>
        </p:spPr>
      </p:sp>
      <p:sp>
        <p:nvSpPr>
          <p:cNvPr id="13" name="Text 11"/>
          <p:cNvSpPr/>
          <p:nvPr/>
        </p:nvSpPr>
        <p:spPr>
          <a:xfrm>
            <a:off x="6675120" y="1371600"/>
            <a:ext cx="2286000" cy="475488"/>
          </a:xfrm>
          <a:prstGeom prst="rect">
            <a:avLst/>
          </a:prstGeom>
          <a:noFill/>
          <a:ln/>
        </p:spPr>
        <p:txBody>
          <a:bodyPr wrap="square" lIns="0" tIns="0" rIns="0" bIns="0" rtlCol="0" anchor="ctr"/>
          <a:lstStyle/>
          <a:p>
            <a:pPr indent="0" marL="0">
              <a:buNone/>
            </a:pPr>
            <a:r>
              <a:rPr lang="en-US" sz="1900" b="1" dirty="0">
                <a:solidFill>
                  <a:srgbClr val="053057"/>
                </a:solidFill>
                <a:latin typeface="Montserrat" pitchFamily="34" charset="0"/>
                <a:ea typeface="Montserrat" pitchFamily="34" charset="-122"/>
                <a:cs typeface="Montserrat" pitchFamily="34" charset="-120"/>
              </a:rPr>
              <a:t>Every measure</a:t>
            </a:r>
            <a:endParaRPr lang="en-US" sz="1900" dirty="0"/>
          </a:p>
        </p:txBody>
      </p:sp>
      <p:sp>
        <p:nvSpPr>
          <p:cNvPr id="14" name="Text 12"/>
          <p:cNvSpPr/>
          <p:nvPr/>
        </p:nvSpPr>
        <p:spPr>
          <a:xfrm>
            <a:off x="6675120" y="1865376"/>
            <a:ext cx="2286000" cy="256032"/>
          </a:xfrm>
          <a:prstGeom prst="rect">
            <a:avLst/>
          </a:prstGeom>
          <a:noFill/>
          <a:ln/>
        </p:spPr>
        <p:txBody>
          <a:bodyPr wrap="square" lIns="0" tIns="0" rIns="0" bIns="0" rtlCol="0" anchor="ctr"/>
          <a:lstStyle/>
          <a:p>
            <a:pPr indent="0" marL="0">
              <a:buNone/>
            </a:pPr>
            <a:r>
              <a:rPr lang="en-US" sz="1100" b="1" dirty="0">
                <a:solidFill>
                  <a:srgbClr val="314550"/>
                </a:solidFill>
                <a:latin typeface="Montserrat" pitchFamily="34" charset="0"/>
                <a:ea typeface="Montserrat" pitchFamily="34" charset="-122"/>
                <a:cs typeface="Montserrat" pitchFamily="34" charset="-120"/>
              </a:rPr>
              <a:t>tied out to the source</a:t>
            </a:r>
            <a:endParaRPr lang="en-US" sz="1100" dirty="0"/>
          </a:p>
        </p:txBody>
      </p:sp>
      <p:sp>
        <p:nvSpPr>
          <p:cNvPr id="15" name="Text 13"/>
          <p:cNvSpPr/>
          <p:nvPr/>
        </p:nvSpPr>
        <p:spPr>
          <a:xfrm>
            <a:off x="6675120"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Validated automatically as part of the migration, with downloadable evidence rather than an assurance.</a:t>
            </a:r>
            <a:endParaRPr lang="en-US" sz="900" dirty="0"/>
          </a:p>
        </p:txBody>
      </p:sp>
      <p:sp>
        <p:nvSpPr>
          <p:cNvPr id="16" name="Shape 14"/>
          <p:cNvSpPr/>
          <p:nvPr/>
        </p:nvSpPr>
        <p:spPr>
          <a:xfrm>
            <a:off x="9409176" y="1243584"/>
            <a:ext cx="2724912" cy="1591056"/>
          </a:xfrm>
          <a:prstGeom prst="roundRect">
            <a:avLst>
              <a:gd name="adj" fmla="val 4598"/>
            </a:avLst>
          </a:prstGeom>
          <a:solidFill>
            <a:srgbClr val="FFFFFF"/>
          </a:solidFill>
          <a:ln w="12700">
            <a:solidFill>
              <a:srgbClr val="DFE3E6"/>
            </a:solidFill>
            <a:prstDash val="solid"/>
          </a:ln>
        </p:spPr>
      </p:sp>
      <p:sp>
        <p:nvSpPr>
          <p:cNvPr id="17" name="Text 15"/>
          <p:cNvSpPr/>
          <p:nvPr/>
        </p:nvSpPr>
        <p:spPr>
          <a:xfrm>
            <a:off x="9628632" y="1371600"/>
            <a:ext cx="2286000" cy="475488"/>
          </a:xfrm>
          <a:prstGeom prst="rect">
            <a:avLst/>
          </a:prstGeom>
          <a:noFill/>
          <a:ln/>
        </p:spPr>
        <p:txBody>
          <a:bodyPr wrap="square" lIns="0" tIns="0" rIns="0" bIns="0" rtlCol="0" anchor="ctr"/>
          <a:lstStyle/>
          <a:p>
            <a:pPr indent="0" marL="0">
              <a:buNone/>
            </a:pPr>
            <a:r>
              <a:rPr lang="en-US" sz="1900" b="1" dirty="0">
                <a:solidFill>
                  <a:srgbClr val="053057"/>
                </a:solidFill>
                <a:latin typeface="Montserrat" pitchFamily="34" charset="0"/>
                <a:ea typeface="Montserrat" pitchFamily="34" charset="-122"/>
                <a:cs typeface="Montserrat" pitchFamily="34" charset="-120"/>
              </a:rPr>
              <a:t>Before you commit</a:t>
            </a:r>
            <a:endParaRPr lang="en-US" sz="1900" dirty="0"/>
          </a:p>
        </p:txBody>
      </p:sp>
      <p:sp>
        <p:nvSpPr>
          <p:cNvPr id="18" name="Text 16"/>
          <p:cNvSpPr/>
          <p:nvPr/>
        </p:nvSpPr>
        <p:spPr>
          <a:xfrm>
            <a:off x="9628632" y="1865376"/>
            <a:ext cx="2286000" cy="256032"/>
          </a:xfrm>
          <a:prstGeom prst="rect">
            <a:avLst/>
          </a:prstGeom>
          <a:noFill/>
          <a:ln/>
        </p:spPr>
        <p:txBody>
          <a:bodyPr wrap="square" lIns="0" tIns="0" rIns="0" bIns="0" rtlCol="0" anchor="ctr"/>
          <a:lstStyle/>
          <a:p>
            <a:pPr indent="0" marL="0">
              <a:buNone/>
            </a:pPr>
            <a:r>
              <a:rPr lang="en-US" sz="1100" b="1" dirty="0">
                <a:solidFill>
                  <a:srgbClr val="314550"/>
                </a:solidFill>
                <a:latin typeface="Montserrat" pitchFamily="34" charset="0"/>
                <a:ea typeface="Montserrat" pitchFamily="34" charset="-122"/>
                <a:cs typeface="Montserrat" pitchFamily="34" charset="-120"/>
              </a:rPr>
              <a:t>assessment comes first</a:t>
            </a:r>
            <a:endParaRPr lang="en-US" sz="1100" dirty="0"/>
          </a:p>
        </p:txBody>
      </p:sp>
      <p:sp>
        <p:nvSpPr>
          <p:cNvPr id="19" name="Text 17"/>
          <p:cNvSpPr/>
          <p:nvPr/>
        </p:nvSpPr>
        <p:spPr>
          <a:xfrm>
            <a:off x="9628632"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estate is scanned and scored up front, so what converts — and what needs attention — is known before the work starts.</a:t>
            </a:r>
            <a:endParaRPr lang="en-US" sz="900" dirty="0"/>
          </a:p>
        </p:txBody>
      </p:sp>
      <p:sp>
        <p:nvSpPr>
          <p:cNvPr id="20" name="Shape 18"/>
          <p:cNvSpPr/>
          <p:nvPr/>
        </p:nvSpPr>
        <p:spPr>
          <a:xfrm>
            <a:off x="548640" y="2980944"/>
            <a:ext cx="5431536" cy="2011680"/>
          </a:xfrm>
          <a:prstGeom prst="roundRect">
            <a:avLst>
              <a:gd name="adj" fmla="val 3636"/>
            </a:avLst>
          </a:prstGeom>
          <a:solidFill>
            <a:srgbClr val="FFFFFF"/>
          </a:solidFill>
          <a:ln w="12700">
            <a:solidFill>
              <a:srgbClr val="DFE3E6"/>
            </a:solidFill>
            <a:prstDash val="solid"/>
          </a:ln>
        </p:spPr>
      </p:sp>
      <p:sp>
        <p:nvSpPr>
          <p:cNvPr id="21" name="Text 19"/>
          <p:cNvSpPr/>
          <p:nvPr/>
        </p:nvSpPr>
        <p:spPr>
          <a:xfrm>
            <a:off x="841248" y="3145536"/>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VALUE TO THE BUSINESS</a:t>
            </a:r>
            <a:endParaRPr lang="en-US" sz="1050" dirty="0"/>
          </a:p>
        </p:txBody>
      </p:sp>
      <p:sp>
        <p:nvSpPr>
          <p:cNvPr id="22" name="Shape 20"/>
          <p:cNvSpPr/>
          <p:nvPr/>
        </p:nvSpPr>
        <p:spPr>
          <a:xfrm>
            <a:off x="896112" y="3602736"/>
            <a:ext cx="128016" cy="128016"/>
          </a:xfrm>
          <a:prstGeom prst="ellipse">
            <a:avLst/>
          </a:prstGeom>
          <a:solidFill>
            <a:srgbClr val="C3CBD1"/>
          </a:solidFill>
          <a:ln/>
        </p:spPr>
      </p:sp>
      <p:sp>
        <p:nvSpPr>
          <p:cNvPr id="23" name="Text 21"/>
          <p:cNvSpPr/>
          <p:nvPr/>
        </p:nvSpPr>
        <p:spPr>
          <a:xfrm>
            <a:off x="1170432" y="352958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Dashboards live in days, not development cycles</a:t>
            </a:r>
            <a:endParaRPr lang="en-US" sz="1000" dirty="0"/>
          </a:p>
        </p:txBody>
      </p:sp>
      <p:sp>
        <p:nvSpPr>
          <p:cNvPr id="24" name="Shape 22"/>
          <p:cNvSpPr/>
          <p:nvPr/>
        </p:nvSpPr>
        <p:spPr>
          <a:xfrm>
            <a:off x="896112" y="3968496"/>
            <a:ext cx="128016" cy="128016"/>
          </a:xfrm>
          <a:prstGeom prst="ellipse">
            <a:avLst/>
          </a:prstGeom>
          <a:solidFill>
            <a:srgbClr val="C3CBD1"/>
          </a:solidFill>
          <a:ln/>
        </p:spPr>
      </p:sp>
      <p:sp>
        <p:nvSpPr>
          <p:cNvPr id="25" name="Text 23"/>
          <p:cNvSpPr/>
          <p:nvPr/>
        </p:nvSpPr>
        <p:spPr>
          <a:xfrm>
            <a:off x="1170432" y="389534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The data team owns the whole path — no specialist queue to wait behind</a:t>
            </a:r>
            <a:endParaRPr lang="en-US" sz="1000" dirty="0"/>
          </a:p>
        </p:txBody>
      </p:sp>
      <p:sp>
        <p:nvSpPr>
          <p:cNvPr id="26" name="Shape 24"/>
          <p:cNvSpPr/>
          <p:nvPr/>
        </p:nvSpPr>
        <p:spPr>
          <a:xfrm>
            <a:off x="896112" y="4334256"/>
            <a:ext cx="128016" cy="128016"/>
          </a:xfrm>
          <a:prstGeom prst="ellipse">
            <a:avLst/>
          </a:prstGeom>
          <a:solidFill>
            <a:srgbClr val="C3CBD1"/>
          </a:solidFill>
          <a:ln/>
        </p:spPr>
      </p:sp>
      <p:sp>
        <p:nvSpPr>
          <p:cNvPr id="27" name="Text 25"/>
          <p:cNvSpPr/>
          <p:nvPr/>
        </p:nvSpPr>
        <p:spPr>
          <a:xfrm>
            <a:off x="1170432" y="426110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One governed semantic model behind both the dashboards and the AI</a:t>
            </a:r>
            <a:endParaRPr lang="en-US" sz="1000" dirty="0"/>
          </a:p>
        </p:txBody>
      </p:sp>
      <p:sp>
        <p:nvSpPr>
          <p:cNvPr id="28" name="Shape 26"/>
          <p:cNvSpPr/>
          <p:nvPr/>
        </p:nvSpPr>
        <p:spPr>
          <a:xfrm>
            <a:off x="896112" y="4700016"/>
            <a:ext cx="128016" cy="128016"/>
          </a:xfrm>
          <a:prstGeom prst="ellipse">
            <a:avLst/>
          </a:prstGeom>
          <a:solidFill>
            <a:srgbClr val="C3CBD1"/>
          </a:solidFill>
          <a:ln/>
        </p:spPr>
      </p:sp>
      <p:sp>
        <p:nvSpPr>
          <p:cNvPr id="29" name="Text 27"/>
          <p:cNvSpPr/>
          <p:nvPr/>
        </p:nvSpPr>
        <p:spPr>
          <a:xfrm>
            <a:off x="1170432" y="462686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Anything that cannot convert is surfaced up front, never discovered late</a:t>
            </a:r>
            <a:endParaRPr lang="en-US" sz="1000" dirty="0"/>
          </a:p>
        </p:txBody>
      </p:sp>
      <p:sp>
        <p:nvSpPr>
          <p:cNvPr id="30" name="Shape 28"/>
          <p:cNvSpPr/>
          <p:nvPr/>
        </p:nvSpPr>
        <p:spPr>
          <a:xfrm>
            <a:off x="6208776" y="2980944"/>
            <a:ext cx="5431536" cy="2011680"/>
          </a:xfrm>
          <a:prstGeom prst="roundRect">
            <a:avLst>
              <a:gd name="adj" fmla="val 3636"/>
            </a:avLst>
          </a:prstGeom>
          <a:solidFill>
            <a:srgbClr val="053057"/>
          </a:solidFill>
          <a:ln w="15875">
            <a:solidFill>
              <a:srgbClr val="00EDED"/>
            </a:solidFill>
            <a:prstDash val="solid"/>
          </a:ln>
        </p:spPr>
      </p:sp>
      <p:sp>
        <p:nvSpPr>
          <p:cNvPr id="31" name="Text 29"/>
          <p:cNvSpPr/>
          <p:nvPr/>
        </p:nvSpPr>
        <p:spPr>
          <a:xfrm>
            <a:off x="6501384" y="3145536"/>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VALUE TO SNOWFLAKE</a:t>
            </a:r>
            <a:endParaRPr lang="en-US" sz="1050" dirty="0"/>
          </a:p>
        </p:txBody>
      </p:sp>
      <p:sp>
        <p:nvSpPr>
          <p:cNvPr id="32" name="Shape 30"/>
          <p:cNvSpPr/>
          <p:nvPr/>
        </p:nvSpPr>
        <p:spPr>
          <a:xfrm>
            <a:off x="6556248" y="3602736"/>
            <a:ext cx="128016" cy="128016"/>
          </a:xfrm>
          <a:prstGeom prst="ellipse">
            <a:avLst/>
          </a:prstGeom>
          <a:solidFill>
            <a:srgbClr val="00EDED"/>
          </a:solidFill>
          <a:ln/>
        </p:spPr>
      </p:sp>
      <p:sp>
        <p:nvSpPr>
          <p:cNvPr id="33" name="Text 31"/>
          <p:cNvSpPr/>
          <p:nvPr/>
        </p:nvSpPr>
        <p:spPr>
          <a:xfrm>
            <a:off x="6830568" y="352958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Warehouse compute on every dashboard view, where an extract served it before</a:t>
            </a:r>
            <a:endParaRPr lang="en-US" sz="1000" dirty="0"/>
          </a:p>
        </p:txBody>
      </p:sp>
      <p:sp>
        <p:nvSpPr>
          <p:cNvPr id="34" name="Shape 32"/>
          <p:cNvSpPr/>
          <p:nvPr/>
        </p:nvSpPr>
        <p:spPr>
          <a:xfrm>
            <a:off x="6556248" y="3968496"/>
            <a:ext cx="128016" cy="128016"/>
          </a:xfrm>
          <a:prstGeom prst="ellipse">
            <a:avLst/>
          </a:prstGeom>
          <a:solidFill>
            <a:srgbClr val="00EDED"/>
          </a:solidFill>
          <a:ln/>
        </p:spPr>
      </p:sp>
      <p:sp>
        <p:nvSpPr>
          <p:cNvPr id="35" name="Text 33"/>
          <p:cNvSpPr/>
          <p:nvPr/>
        </p:nvSpPr>
        <p:spPr>
          <a:xfrm>
            <a:off x="6830568" y="389534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Cortex consumption on every workbook migrated</a:t>
            </a:r>
            <a:endParaRPr lang="en-US" sz="1000" dirty="0"/>
          </a:p>
        </p:txBody>
      </p:sp>
      <p:sp>
        <p:nvSpPr>
          <p:cNvPr id="36" name="Shape 34"/>
          <p:cNvSpPr/>
          <p:nvPr/>
        </p:nvSpPr>
        <p:spPr>
          <a:xfrm>
            <a:off x="6556248" y="4334256"/>
            <a:ext cx="128016" cy="128016"/>
          </a:xfrm>
          <a:prstGeom prst="ellipse">
            <a:avLst/>
          </a:prstGeom>
          <a:solidFill>
            <a:srgbClr val="00EDED"/>
          </a:solidFill>
          <a:ln/>
        </p:spPr>
      </p:sp>
      <p:sp>
        <p:nvSpPr>
          <p:cNvPr id="37" name="Text 35"/>
          <p:cNvSpPr/>
          <p:nvPr/>
        </p:nvSpPr>
        <p:spPr>
          <a:xfrm>
            <a:off x="6830568" y="426110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The semantic layer adopted as the governed model, feeding Cortex Analyst</a:t>
            </a:r>
            <a:endParaRPr lang="en-US" sz="1000" dirty="0"/>
          </a:p>
        </p:txBody>
      </p:sp>
      <p:sp>
        <p:nvSpPr>
          <p:cNvPr id="38" name="Shape 36"/>
          <p:cNvSpPr/>
          <p:nvPr/>
        </p:nvSpPr>
        <p:spPr>
          <a:xfrm>
            <a:off x="6556248" y="4700016"/>
            <a:ext cx="128016" cy="128016"/>
          </a:xfrm>
          <a:prstGeom prst="ellipse">
            <a:avLst/>
          </a:prstGeom>
          <a:solidFill>
            <a:srgbClr val="00EDED"/>
          </a:solidFill>
          <a:ln/>
        </p:spPr>
      </p:sp>
      <p:sp>
        <p:nvSpPr>
          <p:cNvPr id="39" name="Text 37"/>
          <p:cNvSpPr/>
          <p:nvPr/>
        </p:nvSpPr>
        <p:spPr>
          <a:xfrm>
            <a:off x="6830568" y="462686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BI workload consolidated onto the platform, and share taken from a competing stack</a:t>
            </a:r>
            <a:endParaRPr lang="en-US" sz="1000" dirty="0"/>
          </a:p>
        </p:txBody>
      </p:sp>
      <p:sp>
        <p:nvSpPr>
          <p:cNvPr id="40" name="Shape 38"/>
          <p:cNvSpPr/>
          <p:nvPr/>
        </p:nvSpPr>
        <p:spPr>
          <a:xfrm>
            <a:off x="548640" y="5157216"/>
            <a:ext cx="11091672" cy="932688"/>
          </a:xfrm>
          <a:prstGeom prst="roundRect">
            <a:avLst>
              <a:gd name="adj" fmla="val 7843"/>
            </a:avLst>
          </a:prstGeom>
          <a:solidFill>
            <a:srgbClr val="053057"/>
          </a:solidFill>
          <a:ln w="15875">
            <a:solidFill>
              <a:srgbClr val="00EDED"/>
            </a:solidFill>
            <a:prstDash val="solid"/>
          </a:ln>
        </p:spPr>
      </p:sp>
      <p:sp>
        <p:nvSpPr>
          <p:cNvPr id="41" name="Text 39"/>
          <p:cNvSpPr/>
          <p:nvPr/>
        </p:nvSpPr>
        <p:spPr>
          <a:xfrm>
            <a:off x="841248" y="5285232"/>
            <a:ext cx="10515600"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An extract sends Snowflake no query workload at all</a:t>
            </a:r>
            <a:endParaRPr lang="en-US" sz="1300" dirty="0"/>
          </a:p>
        </p:txBody>
      </p:sp>
      <p:sp>
        <p:nvSpPr>
          <p:cNvPr id="42" name="Text 40"/>
          <p:cNvSpPr/>
          <p:nvPr/>
        </p:nvSpPr>
        <p:spPr>
          <a:xfrm>
            <a:off x="841248" y="5596128"/>
            <a:ext cx="10515600" cy="402336"/>
          </a:xfrm>
          <a:prstGeom prst="rect">
            <a:avLst/>
          </a:prstGeom>
          <a:noFill/>
          <a:ln/>
        </p:spPr>
        <p:txBody>
          <a:bodyPr wrap="square" lIns="0" tIns="0" rIns="0" bIns="0" rtlCol="0" anchor="ctr"/>
          <a:lstStyle/>
          <a:p>
            <a:pPr indent="0" marL="0">
              <a:buNone/>
            </a:pPr>
            <a:r>
              <a:rPr lang="en-US" sz="1050" dirty="0">
                <a:solidFill>
                  <a:srgbClr val="D6E6F0"/>
                </a:solidFill>
                <a:latin typeface="Montserrat" pitchFamily="34" charset="0"/>
                <a:ea typeface="Montserrat" pitchFamily="34" charset="-122"/>
                <a:cs typeface="Montserrat" pitchFamily="34" charset="-120"/>
              </a:rPr>
              <a:t>Tableau's own engine serves it, so those dashboard views never reach the warehouse. Migrated, every single view becomes warehouse compute and every migration becomes Cortex consumption — on data that never leaves the account.</a:t>
            </a:r>
            <a:endParaRPr lang="en-US" sz="1050" dirty="0"/>
          </a:p>
        </p:txBody>
      </p:sp>
      <p:sp>
        <p:nvSpPr>
          <p:cNvPr id="43" name="Shape 41"/>
          <p:cNvSpPr/>
          <p:nvPr/>
        </p:nvSpPr>
        <p:spPr>
          <a:xfrm>
            <a:off x="548640" y="6236208"/>
            <a:ext cx="11091672" cy="420624"/>
          </a:xfrm>
          <a:prstGeom prst="roundRect">
            <a:avLst>
              <a:gd name="adj" fmla="val 13043"/>
            </a:avLst>
          </a:prstGeom>
          <a:solidFill>
            <a:srgbClr val="053057"/>
          </a:solidFill>
          <a:ln w="12700">
            <a:solidFill>
              <a:srgbClr val="053057"/>
            </a:solidFill>
            <a:prstDash val="solid"/>
          </a:ln>
        </p:spPr>
      </p:sp>
      <p:sp>
        <p:nvSpPr>
          <p:cNvPr id="44" name="Text 42"/>
          <p:cNvSpPr/>
          <p:nvPr/>
        </p:nvSpPr>
        <p:spPr>
          <a:xfrm>
            <a:off x="548640" y="623620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 Repeatable Co-Sell Motion</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Partner-delivered, aimed at the long tail of enterprise Tableau estates</a:t>
            </a:r>
            <a:endParaRPr lang="en-US" sz="1400" dirty="0"/>
          </a:p>
        </p:txBody>
      </p:sp>
      <p:sp>
        <p:nvSpPr>
          <p:cNvPr id="4" name="Shape 2"/>
          <p:cNvSpPr/>
          <p:nvPr/>
        </p:nvSpPr>
        <p:spPr>
          <a:xfrm>
            <a:off x="548640" y="1371600"/>
            <a:ext cx="3538728" cy="2157984"/>
          </a:xfrm>
          <a:prstGeom prst="roundRect">
            <a:avLst>
              <a:gd name="adj" fmla="val 3390"/>
            </a:avLst>
          </a:prstGeom>
          <a:solidFill>
            <a:srgbClr val="0A3E6B"/>
          </a:solidFill>
          <a:ln w="12700">
            <a:solidFill>
              <a:srgbClr val="17517F"/>
            </a:solidFill>
            <a:prstDash val="solid"/>
          </a:ln>
        </p:spPr>
      </p:sp>
      <p:sp>
        <p:nvSpPr>
          <p:cNvPr id="5" name="Shape 3"/>
          <p:cNvSpPr/>
          <p:nvPr/>
        </p:nvSpPr>
        <p:spPr>
          <a:xfrm>
            <a:off x="786384" y="1572768"/>
            <a:ext cx="384048" cy="384048"/>
          </a:xfrm>
          <a:prstGeom prst="ellipse">
            <a:avLst/>
          </a:prstGeom>
          <a:solidFill>
            <a:srgbClr val="00EDED"/>
          </a:solidFill>
          <a:ln/>
        </p:spPr>
      </p:sp>
      <p:sp>
        <p:nvSpPr>
          <p:cNvPr id="6" name="Text 4"/>
          <p:cNvSpPr/>
          <p:nvPr/>
        </p:nvSpPr>
        <p:spPr>
          <a:xfrm>
            <a:off x="786384" y="1632204"/>
            <a:ext cx="384048" cy="274320"/>
          </a:xfrm>
          <a:prstGeom prst="rect">
            <a:avLst/>
          </a:prstGeom>
          <a:noFill/>
          <a:ln/>
        </p:spPr>
        <p:txBody>
          <a:bodyPr wrap="square" lIns="0" tIns="0" rIns="0" bIns="0" rtlCol="0" anchor="ctr"/>
          <a:lstStyle/>
          <a:p>
            <a:pPr algn="ctr" indent="0" marL="0">
              <a:buNone/>
            </a:pPr>
            <a:r>
              <a:rPr lang="en-US" sz="1250" b="1" dirty="0">
                <a:solidFill>
                  <a:srgbClr val="053057"/>
                </a:solidFill>
                <a:latin typeface="Montserrat" pitchFamily="34" charset="0"/>
                <a:ea typeface="Montserrat" pitchFamily="34" charset="-122"/>
                <a:cs typeface="Montserrat" pitchFamily="34" charset="-120"/>
              </a:rPr>
              <a:t>1</a:t>
            </a:r>
            <a:endParaRPr lang="en-US" sz="1250" dirty="0"/>
          </a:p>
        </p:txBody>
      </p:sp>
      <p:sp>
        <p:nvSpPr>
          <p:cNvPr id="7" name="Text 5"/>
          <p:cNvSpPr/>
          <p:nvPr/>
        </p:nvSpPr>
        <p:spPr>
          <a:xfrm>
            <a:off x="786384" y="2066544"/>
            <a:ext cx="3063240" cy="310896"/>
          </a:xfrm>
          <a:prstGeom prst="rect">
            <a:avLst/>
          </a:prstGeom>
          <a:noFill/>
          <a:ln/>
        </p:spPr>
        <p:txBody>
          <a:bodyPr wrap="square" lIns="0" tIns="0" rIns="0" bIns="0" rtlCol="0" anchor="ctr"/>
          <a:lstStyle/>
          <a:p>
            <a:pPr indent="0" marL="0">
              <a:buNone/>
            </a:pPr>
            <a:r>
              <a:rPr lang="en-US" sz="1350" b="1" dirty="0">
                <a:solidFill>
                  <a:srgbClr val="00EDED"/>
                </a:solidFill>
                <a:latin typeface="Montserrat" pitchFamily="34" charset="0"/>
                <a:ea typeface="Montserrat" pitchFamily="34" charset="-122"/>
                <a:cs typeface="Montserrat" pitchFamily="34" charset="-120"/>
              </a:rPr>
              <a:t>Repeatable, not bespoke</a:t>
            </a:r>
            <a:endParaRPr lang="en-US" sz="1350" dirty="0"/>
          </a:p>
        </p:txBody>
      </p:sp>
      <p:sp>
        <p:nvSpPr>
          <p:cNvPr id="8" name="Text 6"/>
          <p:cNvSpPr/>
          <p:nvPr/>
        </p:nvSpPr>
        <p:spPr>
          <a:xfrm>
            <a:off x="786384" y="2414016"/>
            <a:ext cx="3063240" cy="1024128"/>
          </a:xfrm>
          <a:prstGeom prst="rect">
            <a:avLst/>
          </a:prstGeom>
          <a:noFill/>
          <a:ln/>
        </p:spPr>
        <p:txBody>
          <a:bodyPr wrap="square" lIns="0" tIns="0" rIns="0" bIns="0" rtlCol="0" anchor="ctr"/>
          <a:lstStyle/>
          <a:p>
            <a:pPr indent="0" marL="0">
              <a:lnSpc>
                <a:spcPct val="104000"/>
              </a:lnSpc>
              <a:buNone/>
            </a:pPr>
            <a:r>
              <a:rPr lang="en-US" sz="950" dirty="0">
                <a:solidFill>
                  <a:srgbClr val="D6E6F0"/>
                </a:solidFill>
                <a:latin typeface="Montserrat" pitchFamily="34" charset="0"/>
                <a:ea typeface="Montserrat" pitchFamily="34" charset="-122"/>
                <a:cs typeface="Montserrat" pitchFamily="34" charset="-120"/>
              </a:rPr>
              <a:t>The accelerator is workbook-agnostic and assessment-first: point it at an estate and it reports what converts before anyone commits. The same pipeline runs in any account.</a:t>
            </a:r>
            <a:endParaRPr lang="en-US" sz="950" dirty="0"/>
          </a:p>
        </p:txBody>
      </p:sp>
      <p:sp>
        <p:nvSpPr>
          <p:cNvPr id="9" name="Shape 7"/>
          <p:cNvSpPr/>
          <p:nvPr/>
        </p:nvSpPr>
        <p:spPr>
          <a:xfrm>
            <a:off x="4325112" y="1371600"/>
            <a:ext cx="3538728" cy="2157984"/>
          </a:xfrm>
          <a:prstGeom prst="roundRect">
            <a:avLst>
              <a:gd name="adj" fmla="val 3390"/>
            </a:avLst>
          </a:prstGeom>
          <a:solidFill>
            <a:srgbClr val="0A3E6B"/>
          </a:solidFill>
          <a:ln w="12700">
            <a:solidFill>
              <a:srgbClr val="17517F"/>
            </a:solidFill>
            <a:prstDash val="solid"/>
          </a:ln>
        </p:spPr>
      </p:sp>
      <p:sp>
        <p:nvSpPr>
          <p:cNvPr id="10" name="Shape 8"/>
          <p:cNvSpPr/>
          <p:nvPr/>
        </p:nvSpPr>
        <p:spPr>
          <a:xfrm>
            <a:off x="4562856" y="1572768"/>
            <a:ext cx="384048" cy="384048"/>
          </a:xfrm>
          <a:prstGeom prst="ellipse">
            <a:avLst/>
          </a:prstGeom>
          <a:solidFill>
            <a:srgbClr val="00EDED"/>
          </a:solidFill>
          <a:ln/>
        </p:spPr>
      </p:sp>
      <p:sp>
        <p:nvSpPr>
          <p:cNvPr id="11" name="Text 9"/>
          <p:cNvSpPr/>
          <p:nvPr/>
        </p:nvSpPr>
        <p:spPr>
          <a:xfrm>
            <a:off x="4562856" y="1632204"/>
            <a:ext cx="384048" cy="274320"/>
          </a:xfrm>
          <a:prstGeom prst="rect">
            <a:avLst/>
          </a:prstGeom>
          <a:noFill/>
          <a:ln/>
        </p:spPr>
        <p:txBody>
          <a:bodyPr wrap="square" lIns="0" tIns="0" rIns="0" bIns="0" rtlCol="0" anchor="ctr"/>
          <a:lstStyle/>
          <a:p>
            <a:pPr algn="ctr" indent="0" marL="0">
              <a:buNone/>
            </a:pPr>
            <a:r>
              <a:rPr lang="en-US" sz="1250" b="1" dirty="0">
                <a:solidFill>
                  <a:srgbClr val="053057"/>
                </a:solidFill>
                <a:latin typeface="Montserrat" pitchFamily="34" charset="0"/>
                <a:ea typeface="Montserrat" pitchFamily="34" charset="-122"/>
                <a:cs typeface="Montserrat" pitchFamily="34" charset="-120"/>
              </a:rPr>
              <a:t>2</a:t>
            </a:r>
            <a:endParaRPr lang="en-US" sz="1250" dirty="0"/>
          </a:p>
        </p:txBody>
      </p:sp>
      <p:sp>
        <p:nvSpPr>
          <p:cNvPr id="12" name="Text 10"/>
          <p:cNvSpPr/>
          <p:nvPr/>
        </p:nvSpPr>
        <p:spPr>
          <a:xfrm>
            <a:off x="4562856" y="2066544"/>
            <a:ext cx="3063240" cy="310896"/>
          </a:xfrm>
          <a:prstGeom prst="rect">
            <a:avLst/>
          </a:prstGeom>
          <a:noFill/>
          <a:ln/>
        </p:spPr>
        <p:txBody>
          <a:bodyPr wrap="square" lIns="0" tIns="0" rIns="0" bIns="0" rtlCol="0" anchor="ctr"/>
          <a:lstStyle/>
          <a:p>
            <a:pPr indent="0" marL="0">
              <a:buNone/>
            </a:pPr>
            <a:r>
              <a:rPr lang="en-US" sz="1350" b="1" dirty="0">
                <a:solidFill>
                  <a:srgbClr val="00EDED"/>
                </a:solidFill>
                <a:latin typeface="Montserrat" pitchFamily="34" charset="0"/>
                <a:ea typeface="Montserrat" pitchFamily="34" charset="-122"/>
                <a:cs typeface="Montserrat" pitchFamily="34" charset="-120"/>
              </a:rPr>
              <a:t>Competitive displacement</a:t>
            </a:r>
            <a:endParaRPr lang="en-US" sz="1350" dirty="0"/>
          </a:p>
        </p:txBody>
      </p:sp>
      <p:sp>
        <p:nvSpPr>
          <p:cNvPr id="13" name="Text 11"/>
          <p:cNvSpPr/>
          <p:nvPr/>
        </p:nvSpPr>
        <p:spPr>
          <a:xfrm>
            <a:off x="4562856" y="2414016"/>
            <a:ext cx="3063240" cy="1024128"/>
          </a:xfrm>
          <a:prstGeom prst="rect">
            <a:avLst/>
          </a:prstGeom>
          <a:noFill/>
          <a:ln/>
        </p:spPr>
        <p:txBody>
          <a:bodyPr wrap="square" lIns="0" tIns="0" rIns="0" bIns="0" rtlCol="0" anchor="ctr"/>
          <a:lstStyle/>
          <a:p>
            <a:pPr indent="0" marL="0">
              <a:lnSpc>
                <a:spcPct val="104000"/>
              </a:lnSpc>
              <a:buNone/>
            </a:pPr>
            <a:r>
              <a:rPr lang="en-US" sz="950" dirty="0">
                <a:solidFill>
                  <a:srgbClr val="D6E6F0"/>
                </a:solidFill>
                <a:latin typeface="Montserrat" pitchFamily="34" charset="0"/>
                <a:ea typeface="Montserrat" pitchFamily="34" charset="-122"/>
                <a:cs typeface="Montserrat" pitchFamily="34" charset="-120"/>
              </a:rPr>
              <a:t>Every estate migrated moves an analytics workload off a competing BI stack and onto Snowflake — licence spend converted into platform consumption.</a:t>
            </a:r>
            <a:endParaRPr lang="en-US" sz="950" dirty="0"/>
          </a:p>
        </p:txBody>
      </p:sp>
      <p:sp>
        <p:nvSpPr>
          <p:cNvPr id="14" name="Shape 12"/>
          <p:cNvSpPr/>
          <p:nvPr/>
        </p:nvSpPr>
        <p:spPr>
          <a:xfrm>
            <a:off x="8101584" y="1371600"/>
            <a:ext cx="3538728" cy="2157984"/>
          </a:xfrm>
          <a:prstGeom prst="roundRect">
            <a:avLst>
              <a:gd name="adj" fmla="val 3390"/>
            </a:avLst>
          </a:prstGeom>
          <a:solidFill>
            <a:srgbClr val="0A3E6B"/>
          </a:solidFill>
          <a:ln w="12700">
            <a:solidFill>
              <a:srgbClr val="17517F"/>
            </a:solidFill>
            <a:prstDash val="solid"/>
          </a:ln>
        </p:spPr>
      </p:sp>
      <p:sp>
        <p:nvSpPr>
          <p:cNvPr id="15" name="Shape 13"/>
          <p:cNvSpPr/>
          <p:nvPr/>
        </p:nvSpPr>
        <p:spPr>
          <a:xfrm>
            <a:off x="8339328" y="1572768"/>
            <a:ext cx="384048" cy="384048"/>
          </a:xfrm>
          <a:prstGeom prst="ellipse">
            <a:avLst/>
          </a:prstGeom>
          <a:solidFill>
            <a:srgbClr val="00EDED"/>
          </a:solidFill>
          <a:ln/>
        </p:spPr>
      </p:sp>
      <p:sp>
        <p:nvSpPr>
          <p:cNvPr id="16" name="Text 14"/>
          <p:cNvSpPr/>
          <p:nvPr/>
        </p:nvSpPr>
        <p:spPr>
          <a:xfrm>
            <a:off x="8339328" y="1632204"/>
            <a:ext cx="384048" cy="274320"/>
          </a:xfrm>
          <a:prstGeom prst="rect">
            <a:avLst/>
          </a:prstGeom>
          <a:noFill/>
          <a:ln/>
        </p:spPr>
        <p:txBody>
          <a:bodyPr wrap="square" lIns="0" tIns="0" rIns="0" bIns="0" rtlCol="0" anchor="ctr"/>
          <a:lstStyle/>
          <a:p>
            <a:pPr algn="ctr" indent="0" marL="0">
              <a:buNone/>
            </a:pPr>
            <a:r>
              <a:rPr lang="en-US" sz="1250" b="1" dirty="0">
                <a:solidFill>
                  <a:srgbClr val="053057"/>
                </a:solidFill>
                <a:latin typeface="Montserrat" pitchFamily="34" charset="0"/>
                <a:ea typeface="Montserrat" pitchFamily="34" charset="-122"/>
                <a:cs typeface="Montserrat" pitchFamily="34" charset="-120"/>
              </a:rPr>
              <a:t>3</a:t>
            </a:r>
            <a:endParaRPr lang="en-US" sz="1250" dirty="0"/>
          </a:p>
        </p:txBody>
      </p:sp>
      <p:sp>
        <p:nvSpPr>
          <p:cNvPr id="17" name="Text 15"/>
          <p:cNvSpPr/>
          <p:nvPr/>
        </p:nvSpPr>
        <p:spPr>
          <a:xfrm>
            <a:off x="8339328" y="2066544"/>
            <a:ext cx="3063240" cy="310896"/>
          </a:xfrm>
          <a:prstGeom prst="rect">
            <a:avLst/>
          </a:prstGeom>
          <a:noFill/>
          <a:ln/>
        </p:spPr>
        <p:txBody>
          <a:bodyPr wrap="square" lIns="0" tIns="0" rIns="0" bIns="0" rtlCol="0" anchor="ctr"/>
          <a:lstStyle/>
          <a:p>
            <a:pPr indent="0" marL="0">
              <a:buNone/>
            </a:pPr>
            <a:r>
              <a:rPr lang="en-US" sz="1350" b="1" dirty="0">
                <a:solidFill>
                  <a:srgbClr val="00EDED"/>
                </a:solidFill>
                <a:latin typeface="Montserrat" pitchFamily="34" charset="0"/>
                <a:ea typeface="Montserrat" pitchFamily="34" charset="-122"/>
                <a:cs typeface="Montserrat" pitchFamily="34" charset="-120"/>
              </a:rPr>
              <a:t>Product pull-through</a:t>
            </a:r>
            <a:endParaRPr lang="en-US" sz="1350" dirty="0"/>
          </a:p>
        </p:txBody>
      </p:sp>
      <p:sp>
        <p:nvSpPr>
          <p:cNvPr id="18" name="Text 16"/>
          <p:cNvSpPr/>
          <p:nvPr/>
        </p:nvSpPr>
        <p:spPr>
          <a:xfrm>
            <a:off x="8339328" y="2414016"/>
            <a:ext cx="3063240" cy="1024128"/>
          </a:xfrm>
          <a:prstGeom prst="rect">
            <a:avLst/>
          </a:prstGeom>
          <a:noFill/>
          <a:ln/>
        </p:spPr>
        <p:txBody>
          <a:bodyPr wrap="square" lIns="0" tIns="0" rIns="0" bIns="0" rtlCol="0" anchor="ctr"/>
          <a:lstStyle/>
          <a:p>
            <a:pPr indent="0" marL="0">
              <a:lnSpc>
                <a:spcPct val="104000"/>
              </a:lnSpc>
              <a:buNone/>
            </a:pPr>
            <a:r>
              <a:rPr lang="en-US" sz="950" dirty="0">
                <a:solidFill>
                  <a:srgbClr val="D6E6F0"/>
                </a:solidFill>
                <a:latin typeface="Montserrat" pitchFamily="34" charset="0"/>
                <a:ea typeface="Montserrat" pitchFamily="34" charset="-122"/>
                <a:cs typeface="Montserrat" pitchFamily="34" charset="-120"/>
              </a:rPr>
              <a:t>One motion lands Streamlit in Snowflake, Cortex AI, native semantic views, Cortex Analyst and Snowpark together, in the customer's own account.</a:t>
            </a:r>
            <a:endParaRPr lang="en-US" sz="950" dirty="0"/>
          </a:p>
        </p:txBody>
      </p:sp>
      <p:sp>
        <p:nvSpPr>
          <p:cNvPr id="19" name="Text 17"/>
          <p:cNvSpPr/>
          <p:nvPr/>
        </p:nvSpPr>
        <p:spPr>
          <a:xfrm>
            <a:off x="548640" y="3712464"/>
            <a:ext cx="11091672" cy="256032"/>
          </a:xfrm>
          <a:prstGeom prst="rect">
            <a:avLst/>
          </a:prstGeom>
          <a:noFill/>
          <a:ln/>
        </p:spPr>
        <p:txBody>
          <a:bodyPr wrap="square" lIns="0" tIns="0" rIns="0" bIns="0" rtlCol="0" anchor="ctr"/>
          <a:lstStyle/>
          <a:p>
            <a:pPr indent="0" marL="0">
              <a:buNone/>
            </a:pPr>
            <a:r>
              <a:rPr lang="en-US" sz="1100" b="1" spc="180" kern="0" dirty="0">
                <a:solidFill>
                  <a:srgbClr val="00EDED"/>
                </a:solidFill>
                <a:latin typeface="Montserrat" pitchFamily="34" charset="0"/>
                <a:ea typeface="Montserrat" pitchFamily="34" charset="-122"/>
                <a:cs typeface="Montserrat" pitchFamily="34" charset="-120"/>
              </a:rPr>
              <a:t>WHAT WE'RE ASKING FOR</a:t>
            </a:r>
            <a:endParaRPr lang="en-US" sz="1100" dirty="0"/>
          </a:p>
        </p:txBody>
      </p:sp>
      <p:sp>
        <p:nvSpPr>
          <p:cNvPr id="20" name="Shape 18"/>
          <p:cNvSpPr/>
          <p:nvPr/>
        </p:nvSpPr>
        <p:spPr>
          <a:xfrm>
            <a:off x="548640" y="4023360"/>
            <a:ext cx="3538728" cy="1115568"/>
          </a:xfrm>
          <a:prstGeom prst="roundRect">
            <a:avLst>
              <a:gd name="adj" fmla="val 6557"/>
            </a:avLst>
          </a:prstGeom>
          <a:solidFill>
            <a:srgbClr val="0A3E6B"/>
          </a:solidFill>
          <a:ln w="15875">
            <a:solidFill>
              <a:srgbClr val="00EDED"/>
            </a:solidFill>
            <a:prstDash val="solid"/>
          </a:ln>
        </p:spPr>
      </p:sp>
      <p:sp>
        <p:nvSpPr>
          <p:cNvPr id="21" name="Text 19"/>
          <p:cNvSpPr/>
          <p:nvPr/>
        </p:nvSpPr>
        <p:spPr>
          <a:xfrm>
            <a:off x="786384" y="4187952"/>
            <a:ext cx="3063240"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Named accounts</a:t>
            </a:r>
            <a:endParaRPr lang="en-US" sz="1300" dirty="0"/>
          </a:p>
        </p:txBody>
      </p:sp>
      <p:sp>
        <p:nvSpPr>
          <p:cNvPr id="22" name="Text 20"/>
          <p:cNvSpPr/>
          <p:nvPr/>
        </p:nvSpPr>
        <p:spPr>
          <a:xfrm>
            <a:off x="786384" y="4480560"/>
            <a:ext cx="3063240" cy="56692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Tableau-heavy Snowflake customers where this lands, to co-sell into together</a:t>
            </a:r>
            <a:endParaRPr lang="en-US" sz="950" dirty="0"/>
          </a:p>
        </p:txBody>
      </p:sp>
      <p:sp>
        <p:nvSpPr>
          <p:cNvPr id="23" name="Shape 21"/>
          <p:cNvSpPr/>
          <p:nvPr/>
        </p:nvSpPr>
        <p:spPr>
          <a:xfrm>
            <a:off x="4325112" y="4023360"/>
            <a:ext cx="3538728" cy="1115568"/>
          </a:xfrm>
          <a:prstGeom prst="roundRect">
            <a:avLst>
              <a:gd name="adj" fmla="val 6557"/>
            </a:avLst>
          </a:prstGeom>
          <a:solidFill>
            <a:srgbClr val="0A3E6B"/>
          </a:solidFill>
          <a:ln w="15875">
            <a:solidFill>
              <a:srgbClr val="00EDED"/>
            </a:solidFill>
            <a:prstDash val="solid"/>
          </a:ln>
        </p:spPr>
      </p:sp>
      <p:sp>
        <p:nvSpPr>
          <p:cNvPr id="24" name="Text 22"/>
          <p:cNvSpPr/>
          <p:nvPr/>
        </p:nvSpPr>
        <p:spPr>
          <a:xfrm>
            <a:off x="4562856" y="4187952"/>
            <a:ext cx="3063240"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A joint first migration</a:t>
            </a:r>
            <a:endParaRPr lang="en-US" sz="1300" dirty="0"/>
          </a:p>
        </p:txBody>
      </p:sp>
      <p:sp>
        <p:nvSpPr>
          <p:cNvPr id="25" name="Text 23"/>
          <p:cNvSpPr/>
          <p:nvPr/>
        </p:nvSpPr>
        <p:spPr>
          <a:xfrm>
            <a:off x="4562856" y="4480560"/>
            <a:ext cx="3063240" cy="56692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SE engagement alongside our team to validate it in a live account</a:t>
            </a:r>
            <a:endParaRPr lang="en-US" sz="950" dirty="0"/>
          </a:p>
        </p:txBody>
      </p:sp>
      <p:sp>
        <p:nvSpPr>
          <p:cNvPr id="26" name="Shape 24"/>
          <p:cNvSpPr/>
          <p:nvPr/>
        </p:nvSpPr>
        <p:spPr>
          <a:xfrm>
            <a:off x="8101584" y="4023360"/>
            <a:ext cx="3538728" cy="1115568"/>
          </a:xfrm>
          <a:prstGeom prst="roundRect">
            <a:avLst>
              <a:gd name="adj" fmla="val 6557"/>
            </a:avLst>
          </a:prstGeom>
          <a:solidFill>
            <a:srgbClr val="0A3E6B"/>
          </a:solidFill>
          <a:ln w="15875">
            <a:solidFill>
              <a:srgbClr val="00EDED"/>
            </a:solidFill>
            <a:prstDash val="solid"/>
          </a:ln>
        </p:spPr>
      </p:sp>
      <p:sp>
        <p:nvSpPr>
          <p:cNvPr id="27" name="Text 25"/>
          <p:cNvSpPr/>
          <p:nvPr/>
        </p:nvSpPr>
        <p:spPr>
          <a:xfrm>
            <a:off x="8339328" y="4187952"/>
            <a:ext cx="3063240"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A route to the field</a:t>
            </a:r>
            <a:endParaRPr lang="en-US" sz="1300" dirty="0"/>
          </a:p>
        </p:txBody>
      </p:sp>
      <p:sp>
        <p:nvSpPr>
          <p:cNvPr id="28" name="Text 26"/>
          <p:cNvSpPr/>
          <p:nvPr/>
        </p:nvSpPr>
        <p:spPr>
          <a:xfrm>
            <a:off x="8339328" y="4480560"/>
            <a:ext cx="3063240" cy="56692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A partner or Marketplace listing so your team can find and reuse it</a:t>
            </a:r>
            <a:endParaRPr lang="en-US" sz="950" dirty="0"/>
          </a:p>
        </p:txBody>
      </p:sp>
      <p:sp>
        <p:nvSpPr>
          <p:cNvPr id="29" name="Text 27"/>
          <p:cNvSpPr/>
          <p:nvPr/>
        </p:nvSpPr>
        <p:spPr>
          <a:xfrm>
            <a:off x="548640" y="5321808"/>
            <a:ext cx="11091672" cy="365760"/>
          </a:xfrm>
          <a:prstGeom prst="rect">
            <a:avLst/>
          </a:prstGeom>
          <a:noFill/>
          <a:ln/>
        </p:spPr>
        <p:txBody>
          <a:bodyPr wrap="square" lIns="0" tIns="0" rIns="0" bIns="0" rtlCol="0" anchor="ctr"/>
          <a:lstStyle/>
          <a:p>
            <a:pPr indent="0" marL="0">
              <a:buNone/>
            </a:pPr>
            <a:r>
              <a:rPr lang="en-US" sz="1100" i="1" dirty="0">
                <a:solidFill>
                  <a:srgbClr val="A2F3F3"/>
                </a:solidFill>
                <a:latin typeface="Montserrat" pitchFamily="34" charset="0"/>
                <a:ea typeface="Montserrat" pitchFamily="34" charset="-122"/>
                <a:cs typeface="Montserrat" pitchFamily="34" charset="-120"/>
              </a:rPr>
              <a:t>Demo on request: upload a workbook and watch all five stages execute live in a Snowflake account — every statement visible in Query History.</a:t>
            </a:r>
            <a:endParaRPr lang="en-US" sz="1100" dirty="0"/>
          </a:p>
        </p:txBody>
      </p:sp>
      <p:sp>
        <p:nvSpPr>
          <p:cNvPr id="30" name="Shape 28"/>
          <p:cNvSpPr/>
          <p:nvPr/>
        </p:nvSpPr>
        <p:spPr>
          <a:xfrm>
            <a:off x="548640" y="5815584"/>
            <a:ext cx="11091672" cy="420624"/>
          </a:xfrm>
          <a:prstGeom prst="roundRect">
            <a:avLst>
              <a:gd name="adj" fmla="val 13043"/>
            </a:avLst>
          </a:prstGeom>
          <a:solidFill>
            <a:srgbClr val="0A3E6B"/>
          </a:solidFill>
          <a:ln w="12700">
            <a:solidFill>
              <a:srgbClr val="17517F"/>
            </a:solidFill>
            <a:prstDash val="solid"/>
          </a:ln>
        </p:spPr>
      </p:sp>
      <p:sp>
        <p:nvSpPr>
          <p:cNvPr id="31" name="Text 29"/>
          <p:cNvSpPr/>
          <p:nvPr/>
        </p:nvSpPr>
        <p:spPr>
          <a:xfrm>
            <a:off x="548640" y="5815584"/>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cp:lastModifiedBy>
  <cp:revision>1</cp:revision>
  <dcterms:created xsi:type="dcterms:W3CDTF">2026-07-23T09:07:21Z</dcterms:created>
  <dcterms:modified xsi:type="dcterms:W3CDTF">2026-07-23T09:07:21Z</dcterms:modified>
</cp:coreProperties>
</file>