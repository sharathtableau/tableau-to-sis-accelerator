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One-line framing: this modernizes the analytics stack in place — the customer's existing Tableau dashboards, rebuilt natively on the platform that already holds the data. The product strip at the bottom is the only place the full stack is listed; the rest of the deck stays light.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Kept to one line per cell, per the feedback. The subtitle is the modernization framing: the stack is modernized in place — same dashboards, native on the platform that already holds the data. If asked what changes for end users: the dashboards look and answer the same; what disappears is the licence, the specialist queue, and the second governance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stages, one line each — the human gate is the only other element on the slide, framed as an enterprise control. Impact has its own slide later; nothing here repeats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Restored as its own slide, in the crisp form: four big numbers with five-word sublines, then three one-line bullets per column. 90%+ is the design target the corpus exceeds; minutes is the real hosted-app runtime; 100% of measures is the Stage 5 parity check (13/13 on the demo run); Day-0 assessment is report.py. Left column wins the account; right column is why Snowflake cares.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absorbs the old What-Cortex-Does and value columns — six cards, one line each. The closing italic line is the consumption point for this audience: an extract-served dashboard sends Snowflake no query workload at all; migrated, every view is warehouse compute.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screenshots from the hosted app — the Snowsight URL and chrome are visible in both. Land on the left first: nine dashboards, twenty sheets, one run, thirteen of thirteen measures tying out. Offer to run it live; open Query History alongside if anyone questions where it is executing.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Mirrors the Tableau-vs-Power-BI comparison slide from the reference deck. Both sides show the SAME dashboard — Superstore Customer Analysis — and the numbers match cell for cell: West 686 customers, Sales $739,814, Sean Miller top-ranked at $25,043. Let the images do the talking; the one-line caption is the only claim on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30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89720" y="-1051560"/>
            <a:ext cx="4206240" cy="4206240"/>
          </a:xfrm>
          <a:prstGeom prst="ellipse">
            <a:avLst/>
          </a:prstGeom>
          <a:solidFill>
            <a:srgbClr val="053057"/>
          </a:solidFill>
          <a:ln w="15875">
            <a:solidFill>
              <a:srgbClr val="00ED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12680" y="-228600"/>
            <a:ext cx="2560320" cy="2560320"/>
          </a:xfrm>
          <a:prstGeom prst="ellipse">
            <a:avLst/>
          </a:prstGeom>
          <a:solidFill>
            <a:srgbClr val="053057"/>
          </a:solidFill>
          <a:ln w="9525">
            <a:solidFill>
              <a:srgbClr val="A2F3F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98480" y="457200"/>
            <a:ext cx="1188720" cy="1188720"/>
          </a:xfrm>
          <a:prstGeom prst="ellipse">
            <a:avLst/>
          </a:prstGeom>
          <a:solidFill>
            <a:srgbClr val="00EDED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28600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Tableau to Snowflake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77240" y="3310128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2F3F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AI-Powered Analytics Platform Modernization Accelerator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3749040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D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 Tableau  →  Streamlit in Snowflake ]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5760720"/>
            <a:ext cx="10607040" cy="420624"/>
          </a:xfrm>
          <a:prstGeom prst="roundRect">
            <a:avLst>
              <a:gd name="adj" fmla="val 13043"/>
            </a:avLst>
          </a:prstGeom>
          <a:solidFill>
            <a:srgbClr val="0A3E6B"/>
          </a:solidFill>
          <a:ln w="12700">
            <a:solidFill>
              <a:srgbClr val="17517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5760720"/>
            <a:ext cx="10607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60" kern="0" dirty="0">
                <a:solidFill>
                  <a:srgbClr val="00ED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Streamlit in Snowflake   |   Cortex AI   |   Cortex Analyst   |   Native Semantic Views   |   Snowpark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530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This Accelerator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C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Modernize the analytics stack — the same dashboards, running natively on the data Snowflake already holds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5431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6B7C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CHALLENGE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208776" y="1481328"/>
            <a:ext cx="5431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530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ACCELERATOR SOLUTION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847088"/>
            <a:ext cx="5431536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FE3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29968"/>
            <a:ext cx="4882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145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Licences on Top of Snowflake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22960" y="2395728"/>
            <a:ext cx="4882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Paying a second platform to display data Snowflake already holds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08776" y="1847088"/>
            <a:ext cx="5431536" cy="1078992"/>
          </a:xfrm>
          <a:prstGeom prst="roundRect">
            <a:avLst>
              <a:gd name="adj" fmla="val 6780"/>
            </a:avLst>
          </a:prstGeom>
          <a:solidFill>
            <a:srgbClr val="053057"/>
          </a:solidFill>
          <a:ln w="12700">
            <a:solidFill>
              <a:srgbClr val="0530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2084832"/>
            <a:ext cx="219456" cy="219456"/>
          </a:xfrm>
          <a:prstGeom prst="ellipse">
            <a:avLst/>
          </a:prstGeom>
          <a:solidFill>
            <a:srgbClr val="00EDED"/>
          </a:solidFill>
          <a:ln/>
        </p:spPr>
      </p:sp>
      <p:sp>
        <p:nvSpPr>
          <p:cNvPr id="11" name="Text 9"/>
          <p:cNvSpPr/>
          <p:nvPr/>
        </p:nvSpPr>
        <p:spPr>
          <a:xfrm>
            <a:off x="6784848" y="2029968"/>
            <a:ext cx="4562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Dashboards Move to What You Own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784848" y="2395728"/>
            <a:ext cx="4562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2F3F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Streamlit is already part of Snowflake — no BI licence underneath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090672"/>
            <a:ext cx="5431536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FE3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273552"/>
            <a:ext cx="4882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145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Separate, Scarce Skill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22960" y="3639312"/>
            <a:ext cx="4882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 dashboard waits on Tableau specialists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08776" y="3090672"/>
            <a:ext cx="5431536" cy="1078992"/>
          </a:xfrm>
          <a:prstGeom prst="roundRect">
            <a:avLst>
              <a:gd name="adj" fmla="val 6780"/>
            </a:avLst>
          </a:prstGeom>
          <a:solidFill>
            <a:srgbClr val="053057"/>
          </a:solidFill>
          <a:ln w="12700">
            <a:solidFill>
              <a:srgbClr val="05305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46520" y="3328416"/>
            <a:ext cx="219456" cy="219456"/>
          </a:xfrm>
          <a:prstGeom prst="ellipse">
            <a:avLst/>
          </a:prstGeom>
          <a:solidFill>
            <a:srgbClr val="00EDED"/>
          </a:solidFill>
          <a:ln/>
        </p:spPr>
      </p:sp>
      <p:sp>
        <p:nvSpPr>
          <p:cNvPr id="18" name="Text 16"/>
          <p:cNvSpPr/>
          <p:nvPr/>
        </p:nvSpPr>
        <p:spPr>
          <a:xfrm>
            <a:off x="6784848" y="3273552"/>
            <a:ext cx="4562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Data Team Owns It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784848" y="3639312"/>
            <a:ext cx="4562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2F3F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Streamlit is Python — built by the engineers already on the platform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334256"/>
            <a:ext cx="5431536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FE3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517136"/>
            <a:ext cx="4882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145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Two Platforms, Two Governance Models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22960" y="4882896"/>
            <a:ext cx="4882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Access rules rebuilt away from the data they protect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08776" y="4334256"/>
            <a:ext cx="5431536" cy="1078992"/>
          </a:xfrm>
          <a:prstGeom prst="roundRect">
            <a:avLst>
              <a:gd name="adj" fmla="val 6780"/>
            </a:avLst>
          </a:prstGeom>
          <a:solidFill>
            <a:srgbClr val="053057"/>
          </a:solidFill>
          <a:ln w="12700">
            <a:solidFill>
              <a:srgbClr val="05305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46520" y="4572000"/>
            <a:ext cx="219456" cy="219456"/>
          </a:xfrm>
          <a:prstGeom prst="ellipse">
            <a:avLst/>
          </a:prstGeom>
          <a:solidFill>
            <a:srgbClr val="00EDED"/>
          </a:solidFill>
          <a:ln/>
        </p:spPr>
      </p:sp>
      <p:sp>
        <p:nvSpPr>
          <p:cNvPr id="25" name="Text 23"/>
          <p:cNvSpPr/>
          <p:nvPr/>
        </p:nvSpPr>
        <p:spPr>
          <a:xfrm>
            <a:off x="6784848" y="4517136"/>
            <a:ext cx="4562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One Platform, One Set of Roles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784848" y="4882896"/>
            <a:ext cx="4562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2F3F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Governance inherited from Snowflake, not re-implemented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48640" y="5797296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C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Modernisation here removes a layer instead of adding one — the barrier was only ever the cost of rebuilding the dashboards by hand, and that is what the accelerator automates.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30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2F3F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Five automated stages inside the customer's Snowflake account — with a human gate before anything ships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2103120" cy="1737360"/>
          </a:xfrm>
          <a:prstGeom prst="roundRect">
            <a:avLst>
              <a:gd name="adj" fmla="val 4211"/>
            </a:avLst>
          </a:prstGeom>
          <a:solidFill>
            <a:srgbClr val="0A3E6B"/>
          </a:solidFill>
          <a:ln w="12700">
            <a:solidFill>
              <a:srgbClr val="17517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54480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C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Discovery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49808" y="2340864"/>
            <a:ext cx="17007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D6E6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Finds every datasource and loads the data into Snowflake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816352" y="1389888"/>
            <a:ext cx="2103120" cy="1737360"/>
          </a:xfrm>
          <a:prstGeom prst="roundRect">
            <a:avLst>
              <a:gd name="adj" fmla="val 4211"/>
            </a:avLst>
          </a:prstGeom>
          <a:solidFill>
            <a:srgbClr val="0A3E6B"/>
          </a:solidFill>
          <a:ln w="12700">
            <a:solidFill>
              <a:srgbClr val="17517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7520" y="1554480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C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017520" y="1847088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Parsing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017520" y="2340864"/>
            <a:ext cx="17007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D6E6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Reads charts, calculations, filters and layout from the workbook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84064" y="1389888"/>
            <a:ext cx="2103120" cy="1737360"/>
          </a:xfrm>
          <a:prstGeom prst="roundRect">
            <a:avLst>
              <a:gd name="adj" fmla="val 4211"/>
            </a:avLst>
          </a:prstGeom>
          <a:solidFill>
            <a:srgbClr val="0A3E6B"/>
          </a:solidFill>
          <a:ln w="19050">
            <a:solidFill>
              <a:srgbClr val="00ED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85232" y="1554480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D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285232" y="1847088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Cortex Translation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285232" y="2340864"/>
            <a:ext cx="17007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D6E6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Cortex AI converts the complex calculations into Snowflake SQL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351776" y="1389888"/>
            <a:ext cx="2103120" cy="1737360"/>
          </a:xfrm>
          <a:prstGeom prst="roundRect">
            <a:avLst>
              <a:gd name="adj" fmla="val 4211"/>
            </a:avLst>
          </a:prstGeom>
          <a:solidFill>
            <a:srgbClr val="0A3E6B"/>
          </a:solidFill>
          <a:ln w="19050">
            <a:solidFill>
              <a:srgbClr val="00ED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52944" y="1554480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D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552944" y="1847088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Semantic + App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552944" y="2340864"/>
            <a:ext cx="17007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D6E6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Deploys a native semantic view and generates the Streamlit app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619488" y="1389888"/>
            <a:ext cx="2103120" cy="1737360"/>
          </a:xfrm>
          <a:prstGeom prst="roundRect">
            <a:avLst>
              <a:gd name="adj" fmla="val 4211"/>
            </a:avLst>
          </a:prstGeom>
          <a:solidFill>
            <a:srgbClr val="0A3E6B"/>
          </a:solidFill>
          <a:ln w="19050">
            <a:solidFill>
              <a:srgbClr val="00ED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20656" y="1554480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D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820656" y="1847088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Validation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820656" y="2340864"/>
            <a:ext cx="17007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D6E6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Ties every measure back to the source, with evidence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8640" y="3566160"/>
            <a:ext cx="11091672" cy="1005840"/>
          </a:xfrm>
          <a:prstGeom prst="roundRect">
            <a:avLst>
              <a:gd name="adj" fmla="val 7273"/>
            </a:avLst>
          </a:prstGeom>
          <a:solidFill>
            <a:srgbClr val="0A3E6B"/>
          </a:solidFill>
          <a:ln w="15875">
            <a:solidFill>
              <a:srgbClr val="00ED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3730752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ED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Human in the Loop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68680" y="404164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6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 Cortex proposal is executed against the real data, then reviewed and approved before it ships. All decisions audited.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530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Impact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C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Faster time to value — and a migration the business can trust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724912" cy="1828800"/>
          </a:xfrm>
          <a:prstGeom prst="roundRect">
            <a:avLst>
              <a:gd name="adj" fmla="val 4000"/>
            </a:avLst>
          </a:prstGeom>
          <a:solidFill>
            <a:srgbClr val="053057"/>
          </a:solidFill>
          <a:ln w="12700">
            <a:solidFill>
              <a:srgbClr val="0530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737360"/>
            <a:ext cx="22494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ED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90%+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86384" y="2377440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Converted automatically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86384" y="2706624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2F3F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developer rebuild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02152" y="1554480"/>
            <a:ext cx="2724912" cy="1828800"/>
          </a:xfrm>
          <a:prstGeom prst="roundRect">
            <a:avLst>
              <a:gd name="adj" fmla="val 4000"/>
            </a:avLst>
          </a:prstGeom>
          <a:solidFill>
            <a:srgbClr val="053057"/>
          </a:solidFill>
          <a:ln w="12700">
            <a:solidFill>
              <a:srgbClr val="0530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39896" y="1737360"/>
            <a:ext cx="22494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ED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Minutes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739896" y="2377440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From workbook to live app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739896" y="2706624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2F3F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Not sprints and handoffs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55664" y="1554480"/>
            <a:ext cx="2724912" cy="1828800"/>
          </a:xfrm>
          <a:prstGeom prst="roundRect">
            <a:avLst>
              <a:gd name="adj" fmla="val 4000"/>
            </a:avLst>
          </a:prstGeom>
          <a:solidFill>
            <a:srgbClr val="053057"/>
          </a:solidFill>
          <a:ln w="12700">
            <a:solidFill>
              <a:srgbClr val="0530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93408" y="1737360"/>
            <a:ext cx="22494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ED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100%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693408" y="2377440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Of measures validated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93408" y="2706624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2F3F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With downloadable evidence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409176" y="1554480"/>
            <a:ext cx="2724912" cy="1828800"/>
          </a:xfrm>
          <a:prstGeom prst="roundRect">
            <a:avLst>
              <a:gd name="adj" fmla="val 4000"/>
            </a:avLst>
          </a:prstGeom>
          <a:solidFill>
            <a:srgbClr val="053057"/>
          </a:solidFill>
          <a:ln w="12700">
            <a:solidFill>
              <a:srgbClr val="0530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46920" y="1737360"/>
            <a:ext cx="22494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ED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Day 0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9646920" y="2377440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Assessment first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46920" y="2706624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2F3F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Know what converts before committing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749040"/>
            <a:ext cx="5431536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FE3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" y="3913632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7C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VALUE TO THE BUSINESS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96112" y="4352544"/>
            <a:ext cx="128016" cy="128016"/>
          </a:xfrm>
          <a:prstGeom prst="ellipse">
            <a:avLst/>
          </a:prstGeom>
          <a:solidFill>
            <a:srgbClr val="C3CBD1"/>
          </a:solidFill>
          <a:ln/>
        </p:spPr>
      </p:sp>
      <p:sp>
        <p:nvSpPr>
          <p:cNvPr id="23" name="Text 21"/>
          <p:cNvSpPr/>
          <p:nvPr/>
        </p:nvSpPr>
        <p:spPr>
          <a:xfrm>
            <a:off x="1170432" y="4279392"/>
            <a:ext cx="4553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Dashboards live in days, not development cycles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96112" y="4736592"/>
            <a:ext cx="128016" cy="128016"/>
          </a:xfrm>
          <a:prstGeom prst="ellipse">
            <a:avLst/>
          </a:prstGeom>
          <a:solidFill>
            <a:srgbClr val="C3CBD1"/>
          </a:solidFill>
          <a:ln/>
        </p:spPr>
      </p:sp>
      <p:sp>
        <p:nvSpPr>
          <p:cNvPr id="25" name="Text 23"/>
          <p:cNvSpPr/>
          <p:nvPr/>
        </p:nvSpPr>
        <p:spPr>
          <a:xfrm>
            <a:off x="1170432" y="4663440"/>
            <a:ext cx="4553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Owned by the data team — no specialist queue, no second platform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96112" y="5120640"/>
            <a:ext cx="128016" cy="128016"/>
          </a:xfrm>
          <a:prstGeom prst="ellipse">
            <a:avLst/>
          </a:prstGeom>
          <a:solidFill>
            <a:srgbClr val="C3CBD1"/>
          </a:solidFill>
          <a:ln/>
        </p:spPr>
      </p:sp>
      <p:sp>
        <p:nvSpPr>
          <p:cNvPr id="27" name="Text 25"/>
          <p:cNvSpPr/>
          <p:nvPr/>
        </p:nvSpPr>
        <p:spPr>
          <a:xfrm>
            <a:off x="1170432" y="5047488"/>
            <a:ext cx="4553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Gaps surfaced up front, never discovered late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208776" y="3749040"/>
            <a:ext cx="5431536" cy="1737360"/>
          </a:xfrm>
          <a:prstGeom prst="roundRect">
            <a:avLst>
              <a:gd name="adj" fmla="val 4211"/>
            </a:avLst>
          </a:prstGeom>
          <a:solidFill>
            <a:srgbClr val="053057"/>
          </a:solidFill>
          <a:ln w="15875">
            <a:solidFill>
              <a:srgbClr val="00ED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01384" y="3913632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0ED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VALUE TO SNOWFLAKE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556248" y="4352544"/>
            <a:ext cx="128016" cy="128016"/>
          </a:xfrm>
          <a:prstGeom prst="ellipse">
            <a:avLst/>
          </a:prstGeom>
          <a:solidFill>
            <a:srgbClr val="00EDED"/>
          </a:solidFill>
          <a:ln/>
        </p:spPr>
      </p:sp>
      <p:sp>
        <p:nvSpPr>
          <p:cNvPr id="31" name="Text 29"/>
          <p:cNvSpPr/>
          <p:nvPr/>
        </p:nvSpPr>
        <p:spPr>
          <a:xfrm>
            <a:off x="6830568" y="4279392"/>
            <a:ext cx="4553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2F3F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Warehouse compute on every view — extracts sent none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556248" y="4736592"/>
            <a:ext cx="128016" cy="128016"/>
          </a:xfrm>
          <a:prstGeom prst="ellipse">
            <a:avLst/>
          </a:prstGeom>
          <a:solidFill>
            <a:srgbClr val="00EDED"/>
          </a:solidFill>
          <a:ln/>
        </p:spPr>
      </p:sp>
      <p:sp>
        <p:nvSpPr>
          <p:cNvPr id="33" name="Text 31"/>
          <p:cNvSpPr/>
          <p:nvPr/>
        </p:nvSpPr>
        <p:spPr>
          <a:xfrm>
            <a:off x="6830568" y="4663440"/>
            <a:ext cx="4553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2F3F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Cortex consumption on every workbook migrated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556248" y="5120640"/>
            <a:ext cx="128016" cy="128016"/>
          </a:xfrm>
          <a:prstGeom prst="ellipse">
            <a:avLst/>
          </a:prstGeom>
          <a:solidFill>
            <a:srgbClr val="00EDED"/>
          </a:solidFill>
          <a:ln/>
        </p:spPr>
      </p:sp>
      <p:sp>
        <p:nvSpPr>
          <p:cNvPr id="35" name="Text 33"/>
          <p:cNvSpPr/>
          <p:nvPr/>
        </p:nvSpPr>
        <p:spPr>
          <a:xfrm>
            <a:off x="6830568" y="5047488"/>
            <a:ext cx="4553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2F3F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 workload consolidated onto the platform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530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Built Natively on Snowflake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C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pipeline runs inside the customer's account, powered by Snowflake Cortex AI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538728" cy="1773936"/>
          </a:xfrm>
          <a:prstGeom prst="roundRect">
            <a:avLst>
              <a:gd name="adj" fmla="val 4124"/>
            </a:avLst>
          </a:prstGeom>
          <a:solidFill>
            <a:srgbClr val="FFFFFF"/>
          </a:solidFill>
          <a:ln w="12700">
            <a:solidFill>
              <a:srgbClr val="DFE3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700784"/>
            <a:ext cx="365760" cy="365760"/>
          </a:xfrm>
          <a:prstGeom prst="ellipse">
            <a:avLst/>
          </a:prstGeom>
          <a:solidFill>
            <a:srgbClr val="00EDED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7556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30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86384" y="2194560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30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Runs entirely in the account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86384" y="2542032"/>
            <a:ext cx="3063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7C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 stage executes on Snowflake compute; no data leaves the environment.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25112" y="1481328"/>
            <a:ext cx="3538728" cy="1773936"/>
          </a:xfrm>
          <a:prstGeom prst="roundRect">
            <a:avLst>
              <a:gd name="adj" fmla="val 4124"/>
            </a:avLst>
          </a:prstGeom>
          <a:solidFill>
            <a:srgbClr val="FFFFFF"/>
          </a:solidFill>
          <a:ln w="12700">
            <a:solidFill>
              <a:srgbClr val="DFE3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62856" y="1700784"/>
            <a:ext cx="365760" cy="365760"/>
          </a:xfrm>
          <a:prstGeom prst="ellipse">
            <a:avLst/>
          </a:prstGeom>
          <a:solidFill>
            <a:srgbClr val="00EDED"/>
          </a:solidFill>
          <a:ln/>
        </p:spPr>
      </p:sp>
      <p:sp>
        <p:nvSpPr>
          <p:cNvPr id="11" name="Text 9"/>
          <p:cNvSpPr/>
          <p:nvPr/>
        </p:nvSpPr>
        <p:spPr>
          <a:xfrm>
            <a:off x="4562856" y="17556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30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62856" y="2194560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30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Powered by Cortex AI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62856" y="2542032"/>
            <a:ext cx="3063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7C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In-account Claude models translate the hard calculations and validate the result.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101584" y="1481328"/>
            <a:ext cx="3538728" cy="1773936"/>
          </a:xfrm>
          <a:prstGeom prst="roundRect">
            <a:avLst>
              <a:gd name="adj" fmla="val 4124"/>
            </a:avLst>
          </a:prstGeom>
          <a:solidFill>
            <a:srgbClr val="FFFFFF"/>
          </a:solidFill>
          <a:ln w="12700">
            <a:solidFill>
              <a:srgbClr val="DFE3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39328" y="1700784"/>
            <a:ext cx="365760" cy="365760"/>
          </a:xfrm>
          <a:prstGeom prst="ellipse">
            <a:avLst/>
          </a:prstGeom>
          <a:solidFill>
            <a:srgbClr val="00EDED"/>
          </a:solidFill>
          <a:ln/>
        </p:spPr>
      </p:sp>
      <p:sp>
        <p:nvSpPr>
          <p:cNvPr id="16" name="Text 14"/>
          <p:cNvSpPr/>
          <p:nvPr/>
        </p:nvSpPr>
        <p:spPr>
          <a:xfrm>
            <a:off x="8339328" y="17556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30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339328" y="2194560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30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semantic model falls out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39328" y="2542032"/>
            <a:ext cx="3063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7C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Each workbook's verified measures become a native semantic view, ready for Cortex Analyst.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438144"/>
            <a:ext cx="3538728" cy="1773936"/>
          </a:xfrm>
          <a:prstGeom prst="roundRect">
            <a:avLst>
              <a:gd name="adj" fmla="val 4124"/>
            </a:avLst>
          </a:prstGeom>
          <a:solidFill>
            <a:srgbClr val="FFFFFF"/>
          </a:solidFill>
          <a:ln w="12700">
            <a:solidFill>
              <a:srgbClr val="DFE3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6384" y="3657600"/>
            <a:ext cx="365760" cy="365760"/>
          </a:xfrm>
          <a:prstGeom prst="ellipse">
            <a:avLst/>
          </a:prstGeom>
          <a:solidFill>
            <a:srgbClr val="00EDED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7124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30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86384" y="4151376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30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Governance stays in force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86384" y="4498848"/>
            <a:ext cx="3063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7C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app runs as a Snowflake role — existing policies and security apply unchanged.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325112" y="3438144"/>
            <a:ext cx="3538728" cy="1773936"/>
          </a:xfrm>
          <a:prstGeom prst="roundRect">
            <a:avLst>
              <a:gd name="adj" fmla="val 4124"/>
            </a:avLst>
          </a:prstGeom>
          <a:solidFill>
            <a:srgbClr val="FFFFFF"/>
          </a:solidFill>
          <a:ln w="12700">
            <a:solidFill>
              <a:srgbClr val="DFE3E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62856" y="3657600"/>
            <a:ext cx="365760" cy="365760"/>
          </a:xfrm>
          <a:prstGeom prst="ellipse">
            <a:avLst/>
          </a:prstGeom>
          <a:solidFill>
            <a:srgbClr val="00EDED"/>
          </a:solidFill>
          <a:ln/>
        </p:spPr>
      </p:sp>
      <p:sp>
        <p:nvSpPr>
          <p:cNvPr id="26" name="Text 24"/>
          <p:cNvSpPr/>
          <p:nvPr/>
        </p:nvSpPr>
        <p:spPr>
          <a:xfrm>
            <a:off x="4562856" y="37124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30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62856" y="4151376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30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data movement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62856" y="4498848"/>
            <a:ext cx="3063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7C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Dashboards read Snowflake tables directly — no extract, no copy, no staleness.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101584" y="3438144"/>
            <a:ext cx="3538728" cy="1773936"/>
          </a:xfrm>
          <a:prstGeom prst="roundRect">
            <a:avLst>
              <a:gd name="adj" fmla="val 4124"/>
            </a:avLst>
          </a:prstGeom>
          <a:solidFill>
            <a:srgbClr val="FFFFFF"/>
          </a:solidFill>
          <a:ln w="12700">
            <a:solidFill>
              <a:srgbClr val="DFE3E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39328" y="3657600"/>
            <a:ext cx="365760" cy="365760"/>
          </a:xfrm>
          <a:prstGeom prst="ellipse">
            <a:avLst/>
          </a:prstGeom>
          <a:solidFill>
            <a:srgbClr val="00EDED"/>
          </a:solidFill>
          <a:ln/>
        </p:spPr>
      </p:sp>
      <p:sp>
        <p:nvSpPr>
          <p:cNvPr id="31" name="Text 29"/>
          <p:cNvSpPr/>
          <p:nvPr/>
        </p:nvSpPr>
        <p:spPr>
          <a:xfrm>
            <a:off x="8339328" y="37124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30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339328" y="4151376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30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 own the result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339328" y="4498848"/>
            <a:ext cx="3063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7C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Generated apps, views and evidence live in the customer's account, maintainable by their team.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8640" y="54864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C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 migrated dashboard converts a Tableau extract into live Snowflake consumption — warehouse compute on every view, Cortex on every migration.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30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Running in Snowsight Today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2F3F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One Tableau workbook, migrated end to end — hosted and executing inside Snowflake</a:t>
            </a:r>
            <a:endParaRPr lang="en-US" sz="1400" dirty="0"/>
          </a:p>
        </p:txBody>
      </p:sp>
      <p:pic>
        <p:nvPicPr>
          <p:cNvPr id="4" name="Image 0" descr="run_stag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5440680" cy="3108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498848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D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pipeline — five stages, executed in the account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4754880"/>
            <a:ext cx="5440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D6E6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Superstore workbook · 3 datasources loaded · 20 sheets across 9 dashboards · 8 metrics deployed live · 13/13 measures pass.</a:t>
            </a:r>
            <a:endParaRPr lang="en-US" sz="900" dirty="0"/>
          </a:p>
        </p:txBody>
      </p:sp>
      <p:pic>
        <p:nvPicPr>
          <p:cNvPr id="7" name="Image 1" descr="run_dash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968" y="1280160"/>
            <a:ext cx="5038344" cy="31089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601968" y="4498848"/>
            <a:ext cx="5038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D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result — the converted dashboard, rendered natively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6601968" y="4754880"/>
            <a:ext cx="5038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D6E6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Nine dashboard tabs with their filters, KPIs and charts — reading live from Snowflake tables.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548640" y="548640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2F3F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 statement is visible in Snowsight Query History with live timestamps.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530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Tableau vs. Streamlit in Snowflake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C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same dashboard, side by side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426464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145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TABLEAU</a:t>
            </a:r>
            <a:endParaRPr lang="en-US" sz="1200" dirty="0"/>
          </a:p>
        </p:txBody>
      </p:sp>
      <p:pic>
        <p:nvPicPr>
          <p:cNvPr id="5" name="Image 0" descr="tableau_custom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73936"/>
            <a:ext cx="5440680" cy="31912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08776" y="1426464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530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STREAMLIT IN SNOWFLAKE</a:t>
            </a:r>
            <a:endParaRPr lang="en-US" sz="1200" dirty="0"/>
          </a:p>
        </p:txBody>
      </p:sp>
      <p:pic>
        <p:nvPicPr>
          <p:cNvPr id="7" name="Image 1" descr="run_dash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8776" y="1773936"/>
            <a:ext cx="5440680" cy="335584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5760720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C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Same filters, same KPIs, same numbers — validated measure by measure at migration time.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Tableau to Snowflake — Analytics Modernization Accelerator</dc:title>
  <dc:subject>PptxGenJS Presentation</dc:subject>
  <dc:creator>Sharath Kumar</dc:creator>
  <cp:lastModifiedBy>Sharath Kumar</cp:lastModifiedBy>
  <cp:revision>1</cp:revision>
  <dcterms:created xsi:type="dcterms:W3CDTF">2026-07-23T13:09:04Z</dcterms:created>
  <dcterms:modified xsi:type="dcterms:W3CDTF">2026-07-23T13:09:04Z</dcterms:modified>
</cp:coreProperties>
</file>