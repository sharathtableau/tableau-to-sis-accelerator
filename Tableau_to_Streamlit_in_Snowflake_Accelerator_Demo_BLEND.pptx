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Open with modernization, not tool replacement. The goal is to move suitable BI workloads onto a governed, extensible Snowflake application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Explain the situation before mentioning the accelerator. Do not attack Tableau; describe the operational duplication created when the data platform and BI platform evolve separately. Replace generic cost language with client figures when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Leadership should hear business outcomes; Snowflake should hear platform consolidation; BI developers should hear faster iteration and extensibility. License savings are potential until client-specific TCO is calculated.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is a primary modernization advantage, but say clearly this is where the roadmap is headed next, not a capability wired into the accelerator's current five stages. Say that CoCo lowers dependence on specialized coding skills; do not promise that production applications can be changed without engineering review. Every AI-assisted change returns through regression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slide replaces the conflicting three-stage and seven-stage descriptions in earlier material. During the live demo, narrate the same five labels shown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Visual similarity alone is not a pass. It is the first evidence layer. Point out that the chart colors can differ while data, hierarchy and interaction behavior still require independent checks. Replace the placeholder panes with the real Tableau vs Streamlit comparison screenshot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The three displayed rows are representative slide evidence; the downloadable report retains the complete result set and every mismatch. Explain absolute and relative tolerance in the report and that currency tolerance must be expressed in currency, not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is the only main-deck boundary slide. Position the program as selective modernization, not a universal Tableau replacement. Unsupported constructs are surfaced before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Close on a decision, not a generic next-step list. Ask Snowflake to help select the environment and verify the native deployment pattern; ask BI owners to approve semantic and visual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when asked about breadth. Explain that corpus fidelity is a directional product metric and must not replace workbook-level acceptance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Snowflake asks where Cortex adds value. The concise answer: Cortex enriches the governed semantic experience and can propose translations for unsupported calculations, but deterministic checks retain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the audience asks what is inside the generated report. Stress that the HTML is the readable entry point while the notebook and row-level artifacts provide the complete proof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appendix slide. Use if a Snowflake engineer asks how the pipeline actually works end to end. Emphasize determinism: Cortex sits as a dashed, opt-in branch, never in the critical conversion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314550">
              <a:alpha val="45000"/>
            </a:srgbClr>
          </a:solidFill>
          <a:ln/>
        </p:spPr>
      </p:sp>
      <p:sp>
        <p:nvSpPr>
          <p:cNvPr id="3" name="Shape 1"/>
          <p:cNvSpPr/>
          <p:nvPr/>
        </p:nvSpPr>
        <p:spPr>
          <a:xfrm>
            <a:off x="12063679" y="0"/>
            <a:ext cx="128016" cy="6858000"/>
          </a:xfrm>
          <a:prstGeom prst="rect">
            <a:avLst/>
          </a:prstGeom>
          <a:solidFill>
            <a:srgbClr val="00EDED"/>
          </a:solidFill>
          <a:ln/>
        </p:spPr>
      </p:sp>
      <p:sp>
        <p:nvSpPr>
          <p:cNvPr id="4" name="Text 2"/>
          <p:cNvSpPr/>
          <p:nvPr/>
        </p:nvSpPr>
        <p:spPr>
          <a:xfrm>
            <a:off x="640080" y="502920"/>
            <a:ext cx="3657600" cy="320040"/>
          </a:xfrm>
          <a:prstGeom prst="rect">
            <a:avLst/>
          </a:prstGeom>
          <a:noFill/>
          <a:ln/>
        </p:spPr>
        <p:txBody>
          <a:bodyPr wrap="square" rtlCol="0" anchor="ctr"/>
          <a:lstStyle/>
          <a:p>
            <a:pPr indent="0" marL="0">
              <a:buNone/>
            </a:pPr>
            <a:r>
              <a:rPr lang="en-US" sz="1200" b="1" spc="300" kern="0" dirty="0">
                <a:solidFill>
                  <a:srgbClr val="00EDED"/>
                </a:solidFill>
                <a:latin typeface="Montserrat" pitchFamily="34" charset="0"/>
                <a:ea typeface="Montserrat" pitchFamily="34" charset="-122"/>
                <a:cs typeface="Montserrat" pitchFamily="34" charset="-120"/>
              </a:rPr>
              <a:t>BLEND360</a:t>
            </a:r>
            <a:endParaRPr lang="en-US" sz="1200" dirty="0"/>
          </a:p>
        </p:txBody>
      </p:sp>
      <p:sp>
        <p:nvSpPr>
          <p:cNvPr id="5" name="Text 3"/>
          <p:cNvSpPr/>
          <p:nvPr/>
        </p:nvSpPr>
        <p:spPr>
          <a:xfrm>
            <a:off x="640080" y="502920"/>
            <a:ext cx="7315200" cy="320040"/>
          </a:xfrm>
          <a:prstGeom prst="rect">
            <a:avLst/>
          </a:prstGeom>
          <a:noFill/>
          <a:ln/>
        </p:spPr>
        <p:txBody>
          <a:bodyPr wrap="square" rtlCol="0" anchor="ctr"/>
          <a:lstStyle/>
          <a:p>
            <a:pPr algn="r" indent="0" marL="0">
              <a:buNone/>
            </a:pPr>
            <a:r>
              <a:rPr lang="en-US" sz="1100" dirty="0">
                <a:solidFill>
                  <a:srgbClr val="AFC2D6"/>
                </a:solidFill>
                <a:latin typeface="Montserrat" pitchFamily="34" charset="0"/>
                <a:ea typeface="Montserrat" pitchFamily="34" charset="-122"/>
                <a:cs typeface="Montserrat" pitchFamily="34" charset="-120"/>
              </a:rPr>
              <a:t>Data &amp; Analytics · Snowflake Modernization Demo</a:t>
            </a:r>
            <a:endParaRPr lang="en-US" sz="1100" dirty="0"/>
          </a:p>
        </p:txBody>
      </p:sp>
      <p:sp>
        <p:nvSpPr>
          <p:cNvPr id="6" name="Text 4"/>
          <p:cNvSpPr/>
          <p:nvPr/>
        </p:nvSpPr>
        <p:spPr>
          <a:xfrm>
            <a:off x="640080" y="1965960"/>
            <a:ext cx="10607040" cy="365760"/>
          </a:xfrm>
          <a:prstGeom prst="rect">
            <a:avLst/>
          </a:prstGeom>
          <a:noFill/>
          <a:ln/>
        </p:spPr>
        <p:txBody>
          <a:bodyPr wrap="square" rtlCol="0" anchor="ctr"/>
          <a:lstStyle/>
          <a:p>
            <a:pPr indent="0" marL="0">
              <a:buNone/>
            </a:pPr>
            <a:r>
              <a:rPr lang="en-US" sz="1400" b="1" spc="200" kern="0" dirty="0">
                <a:solidFill>
                  <a:srgbClr val="00EDED"/>
                </a:solidFill>
                <a:latin typeface="Montserrat" pitchFamily="34" charset="0"/>
                <a:ea typeface="Montserrat" pitchFamily="34" charset="-122"/>
                <a:cs typeface="Montserrat" pitchFamily="34" charset="-120"/>
              </a:rPr>
              <a:t>TABLEAU TO STREAMLIT-IN-SNOWFLAKE</a:t>
            </a:r>
            <a:endParaRPr lang="en-US" sz="1400" dirty="0"/>
          </a:p>
        </p:txBody>
      </p:sp>
      <p:sp>
        <p:nvSpPr>
          <p:cNvPr id="7" name="Text 5"/>
          <p:cNvSpPr/>
          <p:nvPr/>
        </p:nvSpPr>
        <p:spPr>
          <a:xfrm>
            <a:off x="640080" y="2377440"/>
            <a:ext cx="7589520" cy="1737360"/>
          </a:xfrm>
          <a:prstGeom prst="rect">
            <a:avLst/>
          </a:prstGeom>
          <a:noFill/>
          <a:ln/>
        </p:spPr>
        <p:txBody>
          <a:bodyPr wrap="square" rtlCol="0" anchor="ctr"/>
          <a:lstStyle/>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Modernizing BI</a:t>
            </a:r>
            <a:endParaRPr lang="en-US" sz="4200" dirty="0"/>
          </a:p>
          <a:p>
            <a:pPr indent="0" marL="0">
              <a:lnSpc>
                <a:spcPct val="102000"/>
              </a:lnSpc>
              <a:buNone/>
            </a:pPr>
            <a:r>
              <a:rPr lang="en-US" sz="4200" b="1" dirty="0">
                <a:solidFill>
                  <a:srgbClr val="FFFFFF"/>
                </a:solidFill>
                <a:latin typeface="Montserrat" pitchFamily="34" charset="0"/>
                <a:ea typeface="Montserrat" pitchFamily="34" charset="-122"/>
                <a:cs typeface="Montserrat" pitchFamily="34" charset="-120"/>
              </a:rPr>
              <a:t>on Snowflake</a:t>
            </a:r>
            <a:endParaRPr lang="en-US" sz="4200" dirty="0"/>
          </a:p>
        </p:txBody>
      </p:sp>
      <p:sp>
        <p:nvSpPr>
          <p:cNvPr id="8" name="Text 6"/>
          <p:cNvSpPr/>
          <p:nvPr/>
        </p:nvSpPr>
        <p:spPr>
          <a:xfrm>
            <a:off x="640080" y="4160520"/>
            <a:ext cx="7315200" cy="365760"/>
          </a:xfrm>
          <a:prstGeom prst="rect">
            <a:avLst/>
          </a:prstGeom>
          <a:noFill/>
          <a:ln/>
        </p:spPr>
        <p:txBody>
          <a:bodyPr wrap="square" rtlCol="0" anchor="ctr"/>
          <a:lstStyle/>
          <a:p>
            <a:pPr indent="0" marL="0">
              <a:buNone/>
            </a:pPr>
            <a:r>
              <a:rPr lang="en-US" sz="1500" i="1" dirty="0">
                <a:solidFill>
                  <a:srgbClr val="AFC2D6"/>
                </a:solidFill>
                <a:latin typeface="Montserrat" pitchFamily="34" charset="0"/>
                <a:ea typeface="Montserrat" pitchFamily="34" charset="-122"/>
                <a:cs typeface="Montserrat" pitchFamily="34" charset="-120"/>
              </a:rPr>
              <a:t>Unified BI operating model</a:t>
            </a:r>
            <a:endParaRPr lang="en-US" sz="1500" dirty="0"/>
          </a:p>
        </p:txBody>
      </p:sp>
      <p:sp>
        <p:nvSpPr>
          <p:cNvPr id="9" name="Shape 7"/>
          <p:cNvSpPr/>
          <p:nvPr/>
        </p:nvSpPr>
        <p:spPr>
          <a:xfrm>
            <a:off x="640080" y="4709160"/>
            <a:ext cx="320040" cy="54864"/>
          </a:xfrm>
          <a:prstGeom prst="rect">
            <a:avLst/>
          </a:prstGeom>
          <a:solidFill>
            <a:srgbClr val="00EDED"/>
          </a:solidFill>
          <a:ln/>
        </p:spPr>
      </p:sp>
      <p:sp>
        <p:nvSpPr>
          <p:cNvPr id="10" name="Text 8"/>
          <p:cNvSpPr/>
          <p:nvPr/>
        </p:nvSpPr>
        <p:spPr>
          <a:xfrm>
            <a:off x="640080" y="4837176"/>
            <a:ext cx="2560320" cy="274320"/>
          </a:xfrm>
          <a:prstGeom prst="rect">
            <a:avLst/>
          </a:prstGeom>
          <a:noFill/>
          <a:ln/>
        </p:spPr>
        <p:txBody>
          <a:bodyPr wrap="square" rtlCol="0" anchor="ctr"/>
          <a:lstStyle/>
          <a:p>
            <a:pPr indent="0" marL="0">
              <a:buNone/>
            </a:pPr>
            <a:r>
              <a:rPr lang="en-US" sz="1300" b="1" spc="100" kern="0" dirty="0">
                <a:solidFill>
                  <a:srgbClr val="FFFFFF"/>
                </a:solidFill>
                <a:latin typeface="Montserrat" pitchFamily="34" charset="0"/>
                <a:ea typeface="Montserrat" pitchFamily="34" charset="-122"/>
                <a:cs typeface="Montserrat" pitchFamily="34" charset="-120"/>
              </a:rPr>
              <a:t>SIMPLIFY</a:t>
            </a:r>
            <a:endParaRPr lang="en-US" sz="1300" dirty="0"/>
          </a:p>
        </p:txBody>
      </p:sp>
      <p:sp>
        <p:nvSpPr>
          <p:cNvPr id="11" name="Text 9"/>
          <p:cNvSpPr/>
          <p:nvPr/>
        </p:nvSpPr>
        <p:spPr>
          <a:xfrm>
            <a:off x="640080" y="5129784"/>
            <a:ext cx="2560320" cy="502920"/>
          </a:xfrm>
          <a:prstGeom prst="rect">
            <a:avLst/>
          </a:prstGeom>
          <a:noFill/>
          <a:ln/>
        </p:spPr>
        <p:txBody>
          <a:bodyPr wrap="square" rtlCol="0" anchor="ctr"/>
          <a:lstStyle/>
          <a:p>
            <a:pPr indent="0" marL="0">
              <a:buNone/>
            </a:pPr>
            <a:r>
              <a:rPr lang="en-US" sz="1050" dirty="0">
                <a:solidFill>
                  <a:srgbClr val="AFC2D6"/>
                </a:solidFill>
                <a:latin typeface="Montserrat" pitchFamily="34" charset="0"/>
                <a:ea typeface="Montserrat" pitchFamily="34" charset="-122"/>
                <a:cs typeface="Montserrat" pitchFamily="34" charset="-120"/>
              </a:rPr>
              <a:t>Unified BI operating model</a:t>
            </a:r>
            <a:endParaRPr lang="en-US" sz="1050" dirty="0"/>
          </a:p>
        </p:txBody>
      </p:sp>
      <p:sp>
        <p:nvSpPr>
          <p:cNvPr id="12" name="Shape 10"/>
          <p:cNvSpPr/>
          <p:nvPr/>
        </p:nvSpPr>
        <p:spPr>
          <a:xfrm>
            <a:off x="3383280" y="4709160"/>
            <a:ext cx="320040" cy="54864"/>
          </a:xfrm>
          <a:prstGeom prst="rect">
            <a:avLst/>
          </a:prstGeom>
          <a:solidFill>
            <a:srgbClr val="00EDED"/>
          </a:solidFill>
          <a:ln/>
        </p:spPr>
      </p:sp>
      <p:sp>
        <p:nvSpPr>
          <p:cNvPr id="13" name="Text 11"/>
          <p:cNvSpPr/>
          <p:nvPr/>
        </p:nvSpPr>
        <p:spPr>
          <a:xfrm>
            <a:off x="3383280" y="4837176"/>
            <a:ext cx="2560320" cy="274320"/>
          </a:xfrm>
          <a:prstGeom prst="rect">
            <a:avLst/>
          </a:prstGeom>
          <a:noFill/>
          <a:ln/>
        </p:spPr>
        <p:txBody>
          <a:bodyPr wrap="square" rtlCol="0" anchor="ctr"/>
          <a:lstStyle/>
          <a:p>
            <a:pPr indent="0" marL="0">
              <a:buNone/>
            </a:pPr>
            <a:r>
              <a:rPr lang="en-US" sz="1300" b="1" spc="100" kern="0" dirty="0">
                <a:solidFill>
                  <a:srgbClr val="FFFFFF"/>
                </a:solidFill>
                <a:latin typeface="Montserrat" pitchFamily="34" charset="0"/>
                <a:ea typeface="Montserrat" pitchFamily="34" charset="-122"/>
                <a:cs typeface="Montserrat" pitchFamily="34" charset="-120"/>
              </a:rPr>
              <a:t>TRUST</a:t>
            </a:r>
            <a:endParaRPr lang="en-US" sz="1300" dirty="0"/>
          </a:p>
        </p:txBody>
      </p:sp>
      <p:sp>
        <p:nvSpPr>
          <p:cNvPr id="14" name="Text 12"/>
          <p:cNvSpPr/>
          <p:nvPr/>
        </p:nvSpPr>
        <p:spPr>
          <a:xfrm>
            <a:off x="3383280" y="5129784"/>
            <a:ext cx="2560320" cy="502920"/>
          </a:xfrm>
          <a:prstGeom prst="rect">
            <a:avLst/>
          </a:prstGeom>
          <a:noFill/>
          <a:ln/>
        </p:spPr>
        <p:txBody>
          <a:bodyPr wrap="square" rtlCol="0" anchor="ctr"/>
          <a:lstStyle/>
          <a:p>
            <a:pPr indent="0" marL="0">
              <a:buNone/>
            </a:pPr>
            <a:r>
              <a:rPr lang="en-US" sz="1050" dirty="0">
                <a:solidFill>
                  <a:srgbClr val="AFC2D6"/>
                </a:solidFill>
                <a:latin typeface="Montserrat" pitchFamily="34" charset="0"/>
                <a:ea typeface="Montserrat" pitchFamily="34" charset="-122"/>
                <a:cs typeface="Montserrat" pitchFamily="34" charset="-120"/>
              </a:rPr>
              <a:t>Automated migration validation</a:t>
            </a:r>
            <a:endParaRPr lang="en-US" sz="1050" dirty="0"/>
          </a:p>
        </p:txBody>
      </p:sp>
      <p:sp>
        <p:nvSpPr>
          <p:cNvPr id="15" name="Shape 13"/>
          <p:cNvSpPr/>
          <p:nvPr/>
        </p:nvSpPr>
        <p:spPr>
          <a:xfrm>
            <a:off x="6126480" y="4709160"/>
            <a:ext cx="320040" cy="54864"/>
          </a:xfrm>
          <a:prstGeom prst="rect">
            <a:avLst/>
          </a:prstGeom>
          <a:solidFill>
            <a:srgbClr val="00EDED"/>
          </a:solidFill>
          <a:ln/>
        </p:spPr>
      </p:sp>
      <p:sp>
        <p:nvSpPr>
          <p:cNvPr id="16" name="Text 14"/>
          <p:cNvSpPr/>
          <p:nvPr/>
        </p:nvSpPr>
        <p:spPr>
          <a:xfrm>
            <a:off x="6126480" y="4837176"/>
            <a:ext cx="2560320" cy="274320"/>
          </a:xfrm>
          <a:prstGeom prst="rect">
            <a:avLst/>
          </a:prstGeom>
          <a:noFill/>
          <a:ln/>
        </p:spPr>
        <p:txBody>
          <a:bodyPr wrap="square" rtlCol="0" anchor="ctr"/>
          <a:lstStyle/>
          <a:p>
            <a:pPr indent="0" marL="0">
              <a:buNone/>
            </a:pPr>
            <a:r>
              <a:rPr lang="en-US" sz="1300" b="1" spc="100" kern="0" dirty="0">
                <a:solidFill>
                  <a:srgbClr val="FFFFFF"/>
                </a:solidFill>
                <a:latin typeface="Montserrat" pitchFamily="34" charset="0"/>
                <a:ea typeface="Montserrat" pitchFamily="34" charset="-122"/>
                <a:cs typeface="Montserrat" pitchFamily="34" charset="-120"/>
              </a:rPr>
              <a:t>EVOLVE</a:t>
            </a:r>
            <a:endParaRPr lang="en-US" sz="1300" dirty="0"/>
          </a:p>
        </p:txBody>
      </p:sp>
      <p:sp>
        <p:nvSpPr>
          <p:cNvPr id="17" name="Text 15"/>
          <p:cNvSpPr/>
          <p:nvPr/>
        </p:nvSpPr>
        <p:spPr>
          <a:xfrm>
            <a:off x="6126480" y="5129784"/>
            <a:ext cx="2560320" cy="502920"/>
          </a:xfrm>
          <a:prstGeom prst="rect">
            <a:avLst/>
          </a:prstGeom>
          <a:noFill/>
          <a:ln/>
        </p:spPr>
        <p:txBody>
          <a:bodyPr wrap="square" rtlCol="0" anchor="ctr"/>
          <a:lstStyle/>
          <a:p>
            <a:pPr indent="0" marL="0">
              <a:buNone/>
            </a:pPr>
            <a:r>
              <a:rPr lang="en-US" sz="1050" dirty="0">
                <a:solidFill>
                  <a:srgbClr val="AFC2D6"/>
                </a:solidFill>
                <a:latin typeface="Montserrat" pitchFamily="34" charset="0"/>
                <a:ea typeface="Montserrat" pitchFamily="34" charset="-122"/>
                <a:cs typeface="Montserrat" pitchFamily="34" charset="-120"/>
              </a:rPr>
              <a:t>AI-assisted applications</a:t>
            </a:r>
            <a:endParaRPr lang="en-US" sz="1050" dirty="0"/>
          </a:p>
        </p:txBody>
      </p:sp>
      <p:sp>
        <p:nvSpPr>
          <p:cNvPr id="18" name="Text 16"/>
          <p:cNvSpPr/>
          <p:nvPr/>
        </p:nvSpPr>
        <p:spPr>
          <a:xfrm>
            <a:off x="640080" y="5623560"/>
            <a:ext cx="10607040" cy="68580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OBJECTIVE  —  Modernize suitable Tableau workloads into governed, AI-ready Streamlit applications in Snowflake while reducing platform duplication and preserving trusted business outcomes.</a:t>
            </a:r>
            <a:endParaRPr lang="en-US" sz="1050" dirty="0"/>
          </a:p>
        </p:txBody>
      </p:sp>
      <p:sp>
        <p:nvSpPr>
          <p:cNvPr id="19" name="Text 17"/>
          <p:cNvSpPr/>
          <p:nvPr/>
        </p:nvSpPr>
        <p:spPr>
          <a:xfrm>
            <a:off x="640080" y="6355080"/>
            <a:ext cx="5486400" cy="274320"/>
          </a:xfrm>
          <a:prstGeom prst="rect">
            <a:avLst/>
          </a:prstGeom>
          <a:noFill/>
          <a:ln/>
        </p:spPr>
        <p:txBody>
          <a:bodyPr wrap="square" rtlCol="0" anchor="ctr"/>
          <a:lstStyle/>
          <a:p>
            <a:pPr indent="0" marL="0">
              <a:buNone/>
            </a:pPr>
            <a:r>
              <a:rPr lang="en-US" sz="950" dirty="0">
                <a:solidFill>
                  <a:srgbClr val="5D7391"/>
                </a:solidFill>
                <a:latin typeface="Montserrat" pitchFamily="34" charset="0"/>
                <a:ea typeface="Montserrat" pitchFamily="34" charset="-122"/>
                <a:cs typeface="Montserrat" pitchFamily="34" charset="-120"/>
              </a:rPr>
              <a:t>Sharath Kumar  |  Snowflake modernization demo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02</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The data platform modernized, but BI still operates separately</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Snowflake is the governed system of record; Tableau remains a second platform, control plane and cost base.</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02 / 13</a:t>
            </a:r>
            <a:endParaRPr lang="en-US" sz="900" dirty="0"/>
          </a:p>
        </p:txBody>
      </p:sp>
      <p:sp>
        <p:nvSpPr>
          <p:cNvPr id="7" name="Shape 5"/>
          <p:cNvSpPr/>
          <p:nvPr/>
        </p:nvSpPr>
        <p:spPr>
          <a:xfrm>
            <a:off x="640080" y="1965960"/>
            <a:ext cx="5120640" cy="384048"/>
          </a:xfrm>
          <a:prstGeom prst="roundRect">
            <a:avLst>
              <a:gd name="adj" fmla="val 14286"/>
            </a:avLst>
          </a:prstGeom>
          <a:solidFill>
            <a:srgbClr val="F4F3F0"/>
          </a:solidFill>
          <a:ln/>
        </p:spPr>
      </p:sp>
      <p:sp>
        <p:nvSpPr>
          <p:cNvPr id="8" name="Text 6"/>
          <p:cNvSpPr/>
          <p:nvPr/>
        </p:nvSpPr>
        <p:spPr>
          <a:xfrm>
            <a:off x="640080" y="1965960"/>
            <a:ext cx="5120640" cy="384048"/>
          </a:xfrm>
          <a:prstGeom prst="rect">
            <a:avLst/>
          </a:prstGeom>
          <a:noFill/>
          <a:ln/>
        </p:spPr>
        <p:txBody>
          <a:bodyPr wrap="square" rtlCol="0" anchor="ctr"/>
          <a:lstStyle/>
          <a:p>
            <a:pPr algn="ctr" indent="0" marL="0">
              <a:buNone/>
            </a:pPr>
            <a:r>
              <a:rPr lang="en-US" sz="1100" b="1" spc="150" kern="0" dirty="0">
                <a:solidFill>
                  <a:srgbClr val="053057"/>
                </a:solidFill>
                <a:latin typeface="Montserrat" pitchFamily="34" charset="0"/>
                <a:ea typeface="Montserrat" pitchFamily="34" charset="-122"/>
                <a:cs typeface="Montserrat" pitchFamily="34" charset="-120"/>
              </a:rPr>
              <a:t>CURRENT OPERATING MODEL</a:t>
            </a:r>
            <a:endParaRPr lang="en-US" sz="1100" dirty="0"/>
          </a:p>
        </p:txBody>
      </p:sp>
      <p:sp>
        <p:nvSpPr>
          <p:cNvPr id="9" name="Shape 7"/>
          <p:cNvSpPr/>
          <p:nvPr/>
        </p:nvSpPr>
        <p:spPr>
          <a:xfrm>
            <a:off x="822960" y="2331720"/>
            <a:ext cx="1828800" cy="1234440"/>
          </a:xfrm>
          <a:prstGeom prst="roundRect">
            <a:avLst>
              <a:gd name="adj" fmla="val 5926"/>
            </a:avLst>
          </a:prstGeom>
          <a:solidFill>
            <a:srgbClr val="053057"/>
          </a:solidFill>
          <a:ln/>
        </p:spPr>
      </p:sp>
      <p:sp>
        <p:nvSpPr>
          <p:cNvPr id="10" name="Text 8"/>
          <p:cNvSpPr/>
          <p:nvPr/>
        </p:nvSpPr>
        <p:spPr>
          <a:xfrm>
            <a:off x="82296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Snowflake</a:t>
            </a:r>
            <a:endParaRPr lang="en-US" sz="1400" dirty="0"/>
          </a:p>
        </p:txBody>
      </p:sp>
      <p:sp>
        <p:nvSpPr>
          <p:cNvPr id="11" name="Text 9"/>
          <p:cNvSpPr/>
          <p:nvPr/>
        </p:nvSpPr>
        <p:spPr>
          <a:xfrm>
            <a:off x="82296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Data + governance</a:t>
            </a:r>
            <a:endParaRPr lang="en-US" sz="950" dirty="0"/>
          </a:p>
        </p:txBody>
      </p:sp>
      <p:sp>
        <p:nvSpPr>
          <p:cNvPr id="12" name="Text 10"/>
          <p:cNvSpPr/>
          <p:nvPr/>
        </p:nvSpPr>
        <p:spPr>
          <a:xfrm>
            <a:off x="2697480" y="2720340"/>
            <a:ext cx="457200" cy="457200"/>
          </a:xfrm>
          <a:prstGeom prst="rect">
            <a:avLst/>
          </a:prstGeom>
          <a:noFill/>
          <a:ln/>
        </p:spPr>
        <p:txBody>
          <a:bodyPr wrap="square" rtlCol="0" anchor="ctr"/>
          <a:lstStyle/>
          <a:p>
            <a:pPr algn="ctr" indent="0" marL="0">
              <a:buNone/>
            </a:pPr>
            <a:r>
              <a:rPr lang="en-US" sz="2200" b="1" dirty="0">
                <a:solidFill>
                  <a:srgbClr val="5B6B7A"/>
                </a:solidFill>
                <a:latin typeface="Montserrat" pitchFamily="34" charset="0"/>
                <a:ea typeface="Montserrat" pitchFamily="34" charset="-122"/>
                <a:cs typeface="Montserrat" pitchFamily="34" charset="-120"/>
              </a:rPr>
              <a:t>+</a:t>
            </a:r>
            <a:endParaRPr lang="en-US" sz="2200" dirty="0"/>
          </a:p>
        </p:txBody>
      </p:sp>
      <p:sp>
        <p:nvSpPr>
          <p:cNvPr id="13" name="Shape 11"/>
          <p:cNvSpPr/>
          <p:nvPr/>
        </p:nvSpPr>
        <p:spPr>
          <a:xfrm>
            <a:off x="3200400" y="2331720"/>
            <a:ext cx="1828800" cy="1234440"/>
          </a:xfrm>
          <a:prstGeom prst="roundRect">
            <a:avLst>
              <a:gd name="adj" fmla="val 5926"/>
            </a:avLst>
          </a:prstGeom>
          <a:solidFill>
            <a:srgbClr val="314550"/>
          </a:solidFill>
          <a:ln/>
        </p:spPr>
      </p:sp>
      <p:sp>
        <p:nvSpPr>
          <p:cNvPr id="14" name="Text 12"/>
          <p:cNvSpPr/>
          <p:nvPr/>
        </p:nvSpPr>
        <p:spPr>
          <a:xfrm>
            <a:off x="3200400" y="2468880"/>
            <a:ext cx="1828800" cy="320040"/>
          </a:xfrm>
          <a:prstGeom prst="rect">
            <a:avLst/>
          </a:prstGeom>
          <a:noFill/>
          <a:ln/>
        </p:spPr>
        <p:txBody>
          <a:bodyPr wrap="square"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Tableau</a:t>
            </a:r>
            <a:endParaRPr lang="en-US" sz="1400" dirty="0"/>
          </a:p>
        </p:txBody>
      </p:sp>
      <p:sp>
        <p:nvSpPr>
          <p:cNvPr id="15" name="Text 13"/>
          <p:cNvSpPr/>
          <p:nvPr/>
        </p:nvSpPr>
        <p:spPr>
          <a:xfrm>
            <a:off x="3200400" y="2834640"/>
            <a:ext cx="1828800" cy="320040"/>
          </a:xfrm>
          <a:prstGeom prst="rect">
            <a:avLst/>
          </a:prstGeom>
          <a:noFill/>
          <a:ln/>
        </p:spPr>
        <p:txBody>
          <a:bodyPr wrap="square" rtlCol="0" anchor="ctr"/>
          <a:lstStyle/>
          <a:p>
            <a:pPr algn="ctr" indent="0" marL="0">
              <a:buNone/>
            </a:pPr>
            <a:r>
              <a:rPr lang="en-US" sz="950" dirty="0">
                <a:solidFill>
                  <a:srgbClr val="AFC2D6"/>
                </a:solidFill>
                <a:latin typeface="Montserrat" pitchFamily="34" charset="0"/>
                <a:ea typeface="Montserrat" pitchFamily="34" charset="-122"/>
                <a:cs typeface="Montserrat" pitchFamily="34" charset="-120"/>
              </a:rPr>
              <a:t>BI consumption</a:t>
            </a:r>
            <a:endParaRPr lang="en-US" sz="950" dirty="0"/>
          </a:p>
        </p:txBody>
      </p:sp>
      <p:sp>
        <p:nvSpPr>
          <p:cNvPr id="16" name="Text 14"/>
          <p:cNvSpPr/>
          <p:nvPr/>
        </p:nvSpPr>
        <p:spPr>
          <a:xfrm>
            <a:off x="640080" y="3840480"/>
            <a:ext cx="5120640" cy="731520"/>
          </a:xfrm>
          <a:prstGeom prst="rect">
            <a:avLst/>
          </a:prstGeom>
          <a:noFill/>
          <a:ln/>
        </p:spPr>
        <p:txBody>
          <a:bodyPr wrap="square" rtlCol="0" anchor="ctr"/>
          <a:lstStyle/>
          <a:p>
            <a:pPr indent="0" marL="0">
              <a:lnSpc>
                <a:spcPct val="125000"/>
              </a:lnSpc>
              <a:buNone/>
            </a:pPr>
            <a:r>
              <a:rPr lang="en-US" sz="1150" i="1" dirty="0">
                <a:solidFill>
                  <a:srgbClr val="5B6B7A"/>
                </a:solidFill>
                <a:latin typeface="Montserrat" pitchFamily="34" charset="0"/>
                <a:ea typeface="Montserrat" pitchFamily="34" charset="-122"/>
                <a:cs typeface="Montserrat" pitchFamily="34" charset="-120"/>
              </a:rPr>
              <a:t>Two platforms to license, secure, administer, monitor and release.</a:t>
            </a:r>
            <a:endParaRPr lang="en-US" sz="1150" dirty="0"/>
          </a:p>
        </p:txBody>
      </p:sp>
      <p:sp>
        <p:nvSpPr>
          <p:cNvPr id="17" name="Shape 15"/>
          <p:cNvSpPr/>
          <p:nvPr/>
        </p:nvSpPr>
        <p:spPr>
          <a:xfrm>
            <a:off x="640080" y="5257800"/>
            <a:ext cx="5120640" cy="914400"/>
          </a:xfrm>
          <a:prstGeom prst="roundRect">
            <a:avLst>
              <a:gd name="adj" fmla="val 8000"/>
            </a:avLst>
          </a:prstGeom>
          <a:solidFill>
            <a:srgbClr val="F4F3F0"/>
          </a:solidFill>
          <a:ln/>
        </p:spPr>
      </p:sp>
      <p:sp>
        <p:nvSpPr>
          <p:cNvPr id="18" name="Text 16"/>
          <p:cNvSpPr/>
          <p:nvPr/>
        </p:nvSpPr>
        <p:spPr>
          <a:xfrm>
            <a:off x="868680" y="5257800"/>
            <a:ext cx="4663440" cy="914400"/>
          </a:xfrm>
          <a:prstGeom prst="rect">
            <a:avLst/>
          </a:prstGeom>
          <a:noFill/>
          <a:ln/>
        </p:spPr>
        <p:txBody>
          <a:bodyPr wrap="square" rtlCol="0" anchor="ctr"/>
          <a:lstStyle/>
          <a:p>
            <a:pPr indent="0" marL="0">
              <a:lnSpc>
                <a:spcPct val="120000"/>
              </a:lnSpc>
              <a:buNone/>
            </a:pPr>
            <a:r>
              <a:rPr lang="en-US" sz="1200" b="1" dirty="0">
                <a:solidFill>
                  <a:srgbClr val="053057"/>
                </a:solidFill>
                <a:latin typeface="Montserrat" pitchFamily="34" charset="0"/>
                <a:ea typeface="Montserrat" pitchFamily="34" charset="-122"/>
                <a:cs typeface="Montserrat" pitchFamily="34" charset="-120"/>
              </a:rPr>
              <a:t>This is the situation the modernization program is designed to change.</a:t>
            </a:r>
            <a:endParaRPr lang="en-US" sz="1200" dirty="0"/>
          </a:p>
        </p:txBody>
      </p:sp>
      <p:sp>
        <p:nvSpPr>
          <p:cNvPr id="19" name="Text 17"/>
          <p:cNvSpPr/>
          <p:nvPr/>
        </p:nvSpPr>
        <p:spPr>
          <a:xfrm>
            <a:off x="6263640" y="1965960"/>
            <a:ext cx="5303520" cy="292608"/>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THE RESULT</a:t>
            </a:r>
            <a:endParaRPr lang="en-US" sz="1100" dirty="0"/>
          </a:p>
        </p:txBody>
      </p:sp>
      <p:sp>
        <p:nvSpPr>
          <p:cNvPr id="20" name="Shape 18"/>
          <p:cNvSpPr/>
          <p:nvPr/>
        </p:nvSpPr>
        <p:spPr>
          <a:xfrm>
            <a:off x="6263640" y="2377440"/>
            <a:ext cx="475488" cy="475488"/>
          </a:xfrm>
          <a:prstGeom prst="ellipse">
            <a:avLst/>
          </a:prstGeom>
          <a:solidFill>
            <a:srgbClr val="053057"/>
          </a:solidFill>
          <a:ln/>
        </p:spPr>
      </p:sp>
      <p:sp>
        <p:nvSpPr>
          <p:cNvPr id="21" name="Text 19"/>
          <p:cNvSpPr/>
          <p:nvPr/>
        </p:nvSpPr>
        <p:spPr>
          <a:xfrm>
            <a:off x="6263640" y="235915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2" name="Text 20"/>
          <p:cNvSpPr/>
          <p:nvPr/>
        </p:nvSpPr>
        <p:spPr>
          <a:xfrm>
            <a:off x="6903720" y="235000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Separate cost</a:t>
            </a:r>
            <a:endParaRPr lang="en-US" sz="1250" dirty="0"/>
          </a:p>
        </p:txBody>
      </p:sp>
      <p:sp>
        <p:nvSpPr>
          <p:cNvPr id="23" name="Text 21"/>
          <p:cNvSpPr/>
          <p:nvPr/>
        </p:nvSpPr>
        <p:spPr>
          <a:xfrm>
            <a:off x="6903720" y="262432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Tableau licenses, infrastructure or cloud subscription</a:t>
            </a:r>
            <a:endParaRPr lang="en-US" sz="950" dirty="0"/>
          </a:p>
        </p:txBody>
      </p:sp>
      <p:sp>
        <p:nvSpPr>
          <p:cNvPr id="24" name="Shape 22"/>
          <p:cNvSpPr/>
          <p:nvPr/>
        </p:nvSpPr>
        <p:spPr>
          <a:xfrm>
            <a:off x="6263640" y="3154680"/>
            <a:ext cx="475488" cy="475488"/>
          </a:xfrm>
          <a:prstGeom prst="ellipse">
            <a:avLst/>
          </a:prstGeom>
          <a:solidFill>
            <a:srgbClr val="053057"/>
          </a:solidFill>
          <a:ln/>
        </p:spPr>
      </p:sp>
      <p:sp>
        <p:nvSpPr>
          <p:cNvPr id="25" name="Text 23"/>
          <p:cNvSpPr/>
          <p:nvPr/>
        </p:nvSpPr>
        <p:spPr>
          <a:xfrm>
            <a:off x="6263640" y="313639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26" name="Text 24"/>
          <p:cNvSpPr/>
          <p:nvPr/>
        </p:nvSpPr>
        <p:spPr>
          <a:xfrm>
            <a:off x="6903720" y="312724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Duplicated operations</a:t>
            </a:r>
            <a:endParaRPr lang="en-US" sz="1250" dirty="0"/>
          </a:p>
        </p:txBody>
      </p:sp>
      <p:sp>
        <p:nvSpPr>
          <p:cNvPr id="27" name="Text 25"/>
          <p:cNvSpPr/>
          <p:nvPr/>
        </p:nvSpPr>
        <p:spPr>
          <a:xfrm>
            <a:off x="6903720" y="340156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Administration, access, monitoring and deployment</a:t>
            </a:r>
            <a:endParaRPr lang="en-US" sz="950" dirty="0"/>
          </a:p>
        </p:txBody>
      </p:sp>
      <p:sp>
        <p:nvSpPr>
          <p:cNvPr id="28" name="Shape 26"/>
          <p:cNvSpPr/>
          <p:nvPr/>
        </p:nvSpPr>
        <p:spPr>
          <a:xfrm>
            <a:off x="6263640" y="3931920"/>
            <a:ext cx="475488" cy="475488"/>
          </a:xfrm>
          <a:prstGeom prst="ellipse">
            <a:avLst/>
          </a:prstGeom>
          <a:solidFill>
            <a:srgbClr val="053057"/>
          </a:solidFill>
          <a:ln/>
        </p:spPr>
      </p:sp>
      <p:sp>
        <p:nvSpPr>
          <p:cNvPr id="29" name="Text 27"/>
          <p:cNvSpPr/>
          <p:nvPr/>
        </p:nvSpPr>
        <p:spPr>
          <a:xfrm>
            <a:off x="6263640" y="391363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0" name="Text 28"/>
          <p:cNvSpPr/>
          <p:nvPr/>
        </p:nvSpPr>
        <p:spPr>
          <a:xfrm>
            <a:off x="6903720" y="390448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Data movement</a:t>
            </a:r>
            <a:endParaRPr lang="en-US" sz="1250" dirty="0"/>
          </a:p>
        </p:txBody>
      </p:sp>
      <p:sp>
        <p:nvSpPr>
          <p:cNvPr id="31" name="Text 29"/>
          <p:cNvSpPr/>
          <p:nvPr/>
        </p:nvSpPr>
        <p:spPr>
          <a:xfrm>
            <a:off x="6903720" y="417880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Extract creation, refresh schedules and failure handling</a:t>
            </a:r>
            <a:endParaRPr lang="en-US" sz="950" dirty="0"/>
          </a:p>
        </p:txBody>
      </p:sp>
      <p:sp>
        <p:nvSpPr>
          <p:cNvPr id="32" name="Shape 30"/>
          <p:cNvSpPr/>
          <p:nvPr/>
        </p:nvSpPr>
        <p:spPr>
          <a:xfrm>
            <a:off x="6263640" y="4709160"/>
            <a:ext cx="475488" cy="475488"/>
          </a:xfrm>
          <a:prstGeom prst="ellipse">
            <a:avLst/>
          </a:prstGeom>
          <a:solidFill>
            <a:srgbClr val="053057"/>
          </a:solidFill>
          <a:ln/>
        </p:spPr>
      </p:sp>
      <p:sp>
        <p:nvSpPr>
          <p:cNvPr id="33" name="Text 31"/>
          <p:cNvSpPr/>
          <p:nvPr/>
        </p:nvSpPr>
        <p:spPr>
          <a:xfrm>
            <a:off x="6263640" y="469087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4" name="Text 32"/>
          <p:cNvSpPr/>
          <p:nvPr/>
        </p:nvSpPr>
        <p:spPr>
          <a:xfrm>
            <a:off x="6903720" y="468172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Logic duplication</a:t>
            </a:r>
            <a:endParaRPr lang="en-US" sz="1250" dirty="0"/>
          </a:p>
        </p:txBody>
      </p:sp>
      <p:sp>
        <p:nvSpPr>
          <p:cNvPr id="35" name="Text 33"/>
          <p:cNvSpPr/>
          <p:nvPr/>
        </p:nvSpPr>
        <p:spPr>
          <a:xfrm>
            <a:off x="6903720" y="495604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Business calculations repeated across ELT and dashboards</a:t>
            </a:r>
            <a:endParaRPr lang="en-US" sz="950" dirty="0"/>
          </a:p>
        </p:txBody>
      </p:sp>
      <p:sp>
        <p:nvSpPr>
          <p:cNvPr id="36" name="Shape 34"/>
          <p:cNvSpPr/>
          <p:nvPr/>
        </p:nvSpPr>
        <p:spPr>
          <a:xfrm>
            <a:off x="6263640" y="5486400"/>
            <a:ext cx="475488" cy="475488"/>
          </a:xfrm>
          <a:prstGeom prst="ellipse">
            <a:avLst/>
          </a:prstGeom>
          <a:solidFill>
            <a:srgbClr val="053057"/>
          </a:solidFill>
          <a:ln/>
        </p:spPr>
      </p:sp>
      <p:sp>
        <p:nvSpPr>
          <p:cNvPr id="37" name="Text 35"/>
          <p:cNvSpPr/>
          <p:nvPr/>
        </p:nvSpPr>
        <p:spPr>
          <a:xfrm>
            <a:off x="6263640" y="5468112"/>
            <a:ext cx="475488" cy="475488"/>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38" name="Text 36"/>
          <p:cNvSpPr/>
          <p:nvPr/>
        </p:nvSpPr>
        <p:spPr>
          <a:xfrm>
            <a:off x="6903720" y="5458968"/>
            <a:ext cx="4663440" cy="292608"/>
          </a:xfrm>
          <a:prstGeom prst="rect">
            <a:avLst/>
          </a:prstGeom>
          <a:noFill/>
          <a:ln/>
        </p:spPr>
        <p:txBody>
          <a:bodyPr wrap="square" rtlCol="0" anchor="ctr"/>
          <a:lstStyle/>
          <a:p>
            <a:pPr indent="0" marL="0">
              <a:buNone/>
            </a:pPr>
            <a:r>
              <a:rPr lang="en-US" sz="1250" b="1" dirty="0">
                <a:solidFill>
                  <a:srgbClr val="053057"/>
                </a:solidFill>
                <a:latin typeface="Montserrat" pitchFamily="34" charset="0"/>
                <a:ea typeface="Montserrat" pitchFamily="34" charset="-122"/>
                <a:cs typeface="Montserrat" pitchFamily="34" charset="-120"/>
              </a:rPr>
              <a:t>Limited extensibility</a:t>
            </a:r>
            <a:endParaRPr lang="en-US" sz="1250" dirty="0"/>
          </a:p>
        </p:txBody>
      </p:sp>
      <p:sp>
        <p:nvSpPr>
          <p:cNvPr id="39" name="Text 37"/>
          <p:cNvSpPr/>
          <p:nvPr/>
        </p:nvSpPr>
        <p:spPr>
          <a:xfrm>
            <a:off x="6903720" y="5733288"/>
            <a:ext cx="4663440" cy="438912"/>
          </a:xfrm>
          <a:prstGeom prst="rect">
            <a:avLst/>
          </a:prstGeom>
          <a:noFill/>
          <a:ln/>
        </p:spPr>
        <p:txBody>
          <a:bodyPr wrap="square" rtlCol="0" anchor="ctr"/>
          <a:lstStyle/>
          <a:p>
            <a:pPr indent="0" marL="0">
              <a:lnSpc>
                <a:spcPct val="110000"/>
              </a:lnSpc>
              <a:buNone/>
            </a:pPr>
            <a:r>
              <a:rPr lang="en-US" sz="950" dirty="0">
                <a:solidFill>
                  <a:srgbClr val="5B6B7A"/>
                </a:solidFill>
                <a:latin typeface="Montserrat" pitchFamily="34" charset="0"/>
                <a:ea typeface="Montserrat" pitchFamily="34" charset="-122"/>
                <a:cs typeface="Montserrat" pitchFamily="34" charset="-120"/>
              </a:rPr>
              <a:t>Additional applications needed beyond dashboard interaction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BI MODERNIZATION · 03</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Modernization creates value beyond visualization</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opportunity is larger than replacing a visualization tool.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03 / 13</a:t>
            </a:r>
            <a:endParaRPr lang="en-US" sz="900" dirty="0"/>
          </a:p>
        </p:txBody>
      </p:sp>
      <p:sp>
        <p:nvSpPr>
          <p:cNvPr id="7" name="Shape 5"/>
          <p:cNvSpPr/>
          <p:nvPr/>
        </p:nvSpPr>
        <p:spPr>
          <a:xfrm>
            <a:off x="502920" y="2148840"/>
            <a:ext cx="2542032" cy="3246120"/>
          </a:xfrm>
          <a:prstGeom prst="roundRect">
            <a:avLst>
              <a:gd name="adj" fmla="val 2518"/>
            </a:avLst>
          </a:prstGeom>
          <a:solidFill>
            <a:srgbClr val="F4F3F0"/>
          </a:solidFill>
          <a:ln/>
        </p:spPr>
      </p:sp>
      <p:sp>
        <p:nvSpPr>
          <p:cNvPr id="8" name="Shape 6"/>
          <p:cNvSpPr/>
          <p:nvPr/>
        </p:nvSpPr>
        <p:spPr>
          <a:xfrm>
            <a:off x="758952" y="2441448"/>
            <a:ext cx="566928" cy="566928"/>
          </a:xfrm>
          <a:prstGeom prst="ellipse">
            <a:avLst/>
          </a:prstGeom>
          <a:solidFill>
            <a:srgbClr val="053057"/>
          </a:solidFill>
          <a:ln/>
        </p:spPr>
      </p:sp>
      <p:sp>
        <p:nvSpPr>
          <p:cNvPr id="9" name="Text 7"/>
          <p:cNvSpPr/>
          <p:nvPr/>
        </p:nvSpPr>
        <p:spPr>
          <a:xfrm>
            <a:off x="7589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0" name="Text 8"/>
          <p:cNvSpPr/>
          <p:nvPr/>
        </p:nvSpPr>
        <p:spPr>
          <a:xfrm>
            <a:off x="7589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Platform economics</a:t>
            </a:r>
            <a:endParaRPr lang="en-US" sz="1400" dirty="0"/>
          </a:p>
        </p:txBody>
      </p:sp>
      <p:sp>
        <p:nvSpPr>
          <p:cNvPr id="11" name="Text 9"/>
          <p:cNvSpPr/>
          <p:nvPr/>
        </p:nvSpPr>
        <p:spPr>
          <a:xfrm>
            <a:off x="7589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LOWER DUPLICATE COST</a:t>
            </a:r>
            <a:endParaRPr lang="en-US" sz="1000" dirty="0"/>
          </a:p>
        </p:txBody>
      </p:sp>
      <p:sp>
        <p:nvSpPr>
          <p:cNvPr id="12" name="Text 10"/>
          <p:cNvSpPr/>
          <p:nvPr/>
        </p:nvSpPr>
        <p:spPr>
          <a:xfrm>
            <a:off x="7589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Potentially reduce Tableau licenses and duplicated platform support for migrated users.</a:t>
            </a:r>
            <a:endParaRPr lang="en-US" sz="1000" dirty="0"/>
          </a:p>
        </p:txBody>
      </p:sp>
      <p:sp>
        <p:nvSpPr>
          <p:cNvPr id="13" name="Shape 11"/>
          <p:cNvSpPr/>
          <p:nvPr/>
        </p:nvSpPr>
        <p:spPr>
          <a:xfrm>
            <a:off x="3246120" y="2148840"/>
            <a:ext cx="2542032" cy="3246120"/>
          </a:xfrm>
          <a:prstGeom prst="roundRect">
            <a:avLst>
              <a:gd name="adj" fmla="val 2518"/>
            </a:avLst>
          </a:prstGeom>
          <a:solidFill>
            <a:srgbClr val="F4F3F0"/>
          </a:solidFill>
          <a:ln/>
        </p:spPr>
      </p:sp>
      <p:sp>
        <p:nvSpPr>
          <p:cNvPr id="14" name="Shape 12"/>
          <p:cNvSpPr/>
          <p:nvPr/>
        </p:nvSpPr>
        <p:spPr>
          <a:xfrm>
            <a:off x="3502152" y="2441448"/>
            <a:ext cx="566928" cy="566928"/>
          </a:xfrm>
          <a:prstGeom prst="ellipse">
            <a:avLst/>
          </a:prstGeom>
          <a:solidFill>
            <a:srgbClr val="053057"/>
          </a:solidFill>
          <a:ln/>
        </p:spPr>
      </p:sp>
      <p:sp>
        <p:nvSpPr>
          <p:cNvPr id="15" name="Text 13"/>
          <p:cNvSpPr/>
          <p:nvPr/>
        </p:nvSpPr>
        <p:spPr>
          <a:xfrm>
            <a:off x="35021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6" name="Text 14"/>
          <p:cNvSpPr/>
          <p:nvPr/>
        </p:nvSpPr>
        <p:spPr>
          <a:xfrm>
            <a:off x="35021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Delivery speed</a:t>
            </a:r>
            <a:endParaRPr lang="en-US" sz="1400" dirty="0"/>
          </a:p>
        </p:txBody>
      </p:sp>
      <p:sp>
        <p:nvSpPr>
          <p:cNvPr id="17" name="Text 15"/>
          <p:cNvSpPr/>
          <p:nvPr/>
        </p:nvSpPr>
        <p:spPr>
          <a:xfrm>
            <a:off x="35021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SHORTER CHANGE CYCLES</a:t>
            </a:r>
            <a:endParaRPr lang="en-US" sz="1000" dirty="0"/>
          </a:p>
        </p:txBody>
      </p:sp>
      <p:sp>
        <p:nvSpPr>
          <p:cNvPr id="18" name="Text 16"/>
          <p:cNvSpPr/>
          <p:nvPr/>
        </p:nvSpPr>
        <p:spPr>
          <a:xfrm>
            <a:off x="35021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Build on governed Snowflake data using reusable Python and Streamlit components.</a:t>
            </a:r>
            <a:endParaRPr lang="en-US" sz="1000" dirty="0"/>
          </a:p>
        </p:txBody>
      </p:sp>
      <p:sp>
        <p:nvSpPr>
          <p:cNvPr id="19" name="Shape 17"/>
          <p:cNvSpPr/>
          <p:nvPr/>
        </p:nvSpPr>
        <p:spPr>
          <a:xfrm>
            <a:off x="5989320" y="2148840"/>
            <a:ext cx="2542032" cy="3246120"/>
          </a:xfrm>
          <a:prstGeom prst="roundRect">
            <a:avLst>
              <a:gd name="adj" fmla="val 2518"/>
            </a:avLst>
          </a:prstGeom>
          <a:solidFill>
            <a:srgbClr val="F4F3F0"/>
          </a:solidFill>
          <a:ln/>
        </p:spPr>
      </p:sp>
      <p:sp>
        <p:nvSpPr>
          <p:cNvPr id="20" name="Shape 18"/>
          <p:cNvSpPr/>
          <p:nvPr/>
        </p:nvSpPr>
        <p:spPr>
          <a:xfrm>
            <a:off x="6245352" y="2441448"/>
            <a:ext cx="566928" cy="566928"/>
          </a:xfrm>
          <a:prstGeom prst="ellipse">
            <a:avLst/>
          </a:prstGeom>
          <a:solidFill>
            <a:srgbClr val="053057"/>
          </a:solidFill>
          <a:ln/>
        </p:spPr>
      </p:sp>
      <p:sp>
        <p:nvSpPr>
          <p:cNvPr id="21" name="Text 19"/>
          <p:cNvSpPr/>
          <p:nvPr/>
        </p:nvSpPr>
        <p:spPr>
          <a:xfrm>
            <a:off x="62453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Text 20"/>
          <p:cNvSpPr/>
          <p:nvPr/>
        </p:nvSpPr>
        <p:spPr>
          <a:xfrm>
            <a:off x="62453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Governance</a:t>
            </a:r>
            <a:endParaRPr lang="en-US" sz="1400" dirty="0"/>
          </a:p>
        </p:txBody>
      </p:sp>
      <p:sp>
        <p:nvSpPr>
          <p:cNvPr id="23" name="Text 21"/>
          <p:cNvSpPr/>
          <p:nvPr/>
        </p:nvSpPr>
        <p:spPr>
          <a:xfrm>
            <a:off x="62453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FEWER CONTROL GAPS</a:t>
            </a:r>
            <a:endParaRPr lang="en-US" sz="1000" dirty="0"/>
          </a:p>
        </p:txBody>
      </p:sp>
      <p:sp>
        <p:nvSpPr>
          <p:cNvPr id="24" name="Text 22"/>
          <p:cNvSpPr/>
          <p:nvPr/>
        </p:nvSpPr>
        <p:spPr>
          <a:xfrm>
            <a:off x="62453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Reuse Snowflake RBAC, masking policies, semantic assets and controlled deployment.</a:t>
            </a:r>
            <a:endParaRPr lang="en-US" sz="1000" dirty="0"/>
          </a:p>
        </p:txBody>
      </p:sp>
      <p:sp>
        <p:nvSpPr>
          <p:cNvPr id="25" name="Shape 23"/>
          <p:cNvSpPr/>
          <p:nvPr/>
        </p:nvSpPr>
        <p:spPr>
          <a:xfrm>
            <a:off x="8732520" y="2148840"/>
            <a:ext cx="2542032" cy="3246120"/>
          </a:xfrm>
          <a:prstGeom prst="roundRect">
            <a:avLst>
              <a:gd name="adj" fmla="val 2518"/>
            </a:avLst>
          </a:prstGeom>
          <a:solidFill>
            <a:srgbClr val="F4F3F0"/>
          </a:solidFill>
          <a:ln/>
        </p:spPr>
      </p:sp>
      <p:sp>
        <p:nvSpPr>
          <p:cNvPr id="26" name="Shape 24"/>
          <p:cNvSpPr/>
          <p:nvPr/>
        </p:nvSpPr>
        <p:spPr>
          <a:xfrm>
            <a:off x="8988552" y="2441448"/>
            <a:ext cx="566928" cy="566928"/>
          </a:xfrm>
          <a:prstGeom prst="ellipse">
            <a:avLst/>
          </a:prstGeom>
          <a:solidFill>
            <a:srgbClr val="053057"/>
          </a:solidFill>
          <a:ln/>
        </p:spPr>
      </p:sp>
      <p:sp>
        <p:nvSpPr>
          <p:cNvPr id="27" name="Text 25"/>
          <p:cNvSpPr/>
          <p:nvPr/>
        </p:nvSpPr>
        <p:spPr>
          <a:xfrm>
            <a:off x="8988552" y="2423160"/>
            <a:ext cx="566928" cy="566928"/>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8" name="Text 26"/>
          <p:cNvSpPr/>
          <p:nvPr/>
        </p:nvSpPr>
        <p:spPr>
          <a:xfrm>
            <a:off x="8988552" y="3172968"/>
            <a:ext cx="2039112" cy="548640"/>
          </a:xfrm>
          <a:prstGeom prst="rect">
            <a:avLst/>
          </a:prstGeom>
          <a:noFill/>
          <a:ln/>
        </p:spPr>
        <p:txBody>
          <a:bodyPr wrap="square" rtlCol="0" anchor="ctr"/>
          <a:lstStyle/>
          <a:p>
            <a:pPr indent="0" marL="0">
              <a:lnSpc>
                <a:spcPct val="105000"/>
              </a:lnSpc>
              <a:buNone/>
            </a:pPr>
            <a:r>
              <a:rPr lang="en-US" sz="1400" b="1" dirty="0">
                <a:solidFill>
                  <a:srgbClr val="053057"/>
                </a:solidFill>
                <a:latin typeface="Montserrat" pitchFamily="34" charset="0"/>
                <a:ea typeface="Montserrat" pitchFamily="34" charset="-122"/>
                <a:cs typeface="Montserrat" pitchFamily="34" charset="-120"/>
              </a:rPr>
              <a:t>AI-ready experiences</a:t>
            </a:r>
            <a:endParaRPr lang="en-US" sz="1400" dirty="0"/>
          </a:p>
        </p:txBody>
      </p:sp>
      <p:sp>
        <p:nvSpPr>
          <p:cNvPr id="29" name="Text 27"/>
          <p:cNvSpPr/>
          <p:nvPr/>
        </p:nvSpPr>
        <p:spPr>
          <a:xfrm>
            <a:off x="8988552" y="3749040"/>
            <a:ext cx="2039112" cy="274320"/>
          </a:xfrm>
          <a:prstGeom prst="rect">
            <a:avLst/>
          </a:prstGeom>
          <a:noFill/>
          <a:ln/>
        </p:spPr>
        <p:txBody>
          <a:bodyPr wrap="square" rtlCol="0" anchor="ctr"/>
          <a:lstStyle/>
          <a:p>
            <a:pPr indent="0" marL="0">
              <a:buNone/>
            </a:pPr>
            <a:r>
              <a:rPr lang="en-US" sz="1000" b="1" spc="80" kern="0" dirty="0">
                <a:solidFill>
                  <a:srgbClr val="007676"/>
                </a:solidFill>
                <a:latin typeface="Montserrat" pitchFamily="34" charset="0"/>
                <a:ea typeface="Montserrat" pitchFamily="34" charset="-122"/>
                <a:cs typeface="Montserrat" pitchFamily="34" charset="-120"/>
              </a:rPr>
              <a:t>NEW CLIENT EXPERIENCES</a:t>
            </a:r>
            <a:endParaRPr lang="en-US" sz="1000" dirty="0"/>
          </a:p>
        </p:txBody>
      </p:sp>
      <p:sp>
        <p:nvSpPr>
          <p:cNvPr id="30" name="Text 28"/>
          <p:cNvSpPr/>
          <p:nvPr/>
        </p:nvSpPr>
        <p:spPr>
          <a:xfrm>
            <a:off x="8988552" y="4069080"/>
            <a:ext cx="2039112" cy="1188720"/>
          </a:xfrm>
          <a:prstGeom prst="rect">
            <a:avLst/>
          </a:prstGeom>
          <a:noFill/>
          <a:ln/>
        </p:spPr>
        <p:txBody>
          <a:bodyPr wrap="square" rtlCol="0" anchor="ctr"/>
          <a:lstStyle/>
          <a:p>
            <a:pPr indent="0" marL="0">
              <a:lnSpc>
                <a:spcPct val="125000"/>
              </a:lnSpc>
              <a:buNone/>
            </a:pPr>
            <a:r>
              <a:rPr lang="en-US" sz="1000" dirty="0">
                <a:solidFill>
                  <a:srgbClr val="5B6B7A"/>
                </a:solidFill>
                <a:latin typeface="Montserrat" pitchFamily="34" charset="0"/>
                <a:ea typeface="Montserrat" pitchFamily="34" charset="-122"/>
                <a:cs typeface="Montserrat" pitchFamily="34" charset="-120"/>
              </a:rPr>
              <a:t>Extend migrated apps with CoCo and add natural-language analytics through Cortex Analyst.</a:t>
            </a:r>
            <a:endParaRPr lang="en-US" sz="1000" dirty="0"/>
          </a:p>
        </p:txBody>
      </p:sp>
      <p:sp>
        <p:nvSpPr>
          <p:cNvPr id="31" name="Shape 29"/>
          <p:cNvSpPr/>
          <p:nvPr/>
        </p:nvSpPr>
        <p:spPr>
          <a:xfrm>
            <a:off x="502920" y="5623560"/>
            <a:ext cx="11201400" cy="685800"/>
          </a:xfrm>
          <a:prstGeom prst="roundRect">
            <a:avLst>
              <a:gd name="adj" fmla="val 10667"/>
            </a:avLst>
          </a:prstGeom>
          <a:solidFill>
            <a:srgbClr val="053057"/>
          </a:solidFill>
          <a:ln/>
        </p:spPr>
      </p:sp>
      <p:sp>
        <p:nvSpPr>
          <p:cNvPr id="32" name="Text 30"/>
          <p:cNvSpPr/>
          <p:nvPr/>
        </p:nvSpPr>
        <p:spPr>
          <a:xfrm>
            <a:off x="777240" y="5623560"/>
            <a:ext cx="10698480" cy="685800"/>
          </a:xfrm>
          <a:prstGeom prst="rect">
            <a:avLst/>
          </a:prstGeom>
          <a:noFill/>
          <a:ln/>
        </p:spPr>
        <p:txBody>
          <a:bodyPr wrap="square" rtlCol="0" anchor="ctr"/>
          <a:lstStyle/>
          <a:p>
            <a:pPr indent="0" marL="0">
              <a:buNone/>
            </a:pPr>
            <a:r>
              <a:rPr lang="en-US" sz="1150" b="1" dirty="0">
                <a:solidFill>
                  <a:srgbClr val="FFFFFF"/>
                </a:solidFill>
                <a:latin typeface="Montserrat" pitchFamily="34" charset="0"/>
                <a:ea typeface="Montserrat" pitchFamily="34" charset="-122"/>
                <a:cs typeface="Montserrat" pitchFamily="34" charset="-120"/>
              </a:rPr>
              <a:t>Measure the business case  —  baseline licenses, platform support, extract operations and dashboard change lead time before the pilot.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AI-ASSISTED BI LIFECYCLE · 04</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The migrated application becomes an AI-assisted product, not a static replica</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Natural-language enhancement changes the economics of maintaining and extending BI applications.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04 / 13</a:t>
            </a:r>
            <a:endParaRPr lang="en-US" sz="900" dirty="0"/>
          </a:p>
        </p:txBody>
      </p:sp>
      <p:sp>
        <p:nvSpPr>
          <p:cNvPr id="7" name="Shape 5"/>
          <p:cNvSpPr/>
          <p:nvPr/>
        </p:nvSpPr>
        <p:spPr>
          <a:xfrm>
            <a:off x="9692640" y="365760"/>
            <a:ext cx="1965960" cy="292608"/>
          </a:xfrm>
          <a:prstGeom prst="roundRect">
            <a:avLst>
              <a:gd name="adj" fmla="val 50000"/>
            </a:avLst>
          </a:prstGeom>
          <a:solidFill>
            <a:srgbClr val="314550"/>
          </a:solidFill>
          <a:ln w="9525">
            <a:solidFill>
              <a:srgbClr val="00EDED"/>
            </a:solidFill>
            <a:prstDash val="solid"/>
          </a:ln>
        </p:spPr>
      </p:sp>
      <p:sp>
        <p:nvSpPr>
          <p:cNvPr id="8" name="Text 6"/>
          <p:cNvSpPr/>
          <p:nvPr/>
        </p:nvSpPr>
        <p:spPr>
          <a:xfrm>
            <a:off x="9692640" y="365760"/>
            <a:ext cx="1965960" cy="292608"/>
          </a:xfrm>
          <a:prstGeom prst="rect">
            <a:avLst/>
          </a:prstGeom>
          <a:noFill/>
          <a:ln/>
        </p:spPr>
        <p:txBody>
          <a:bodyPr wrap="square" rtlCol="0" anchor="ctr"/>
          <a:lstStyle/>
          <a:p>
            <a:pPr algn="ctr" indent="0" marL="0">
              <a:buNone/>
            </a:pPr>
            <a:r>
              <a:rPr lang="en-US" sz="750" b="1" spc="50" kern="0" dirty="0">
                <a:solidFill>
                  <a:srgbClr val="00EDED"/>
                </a:solidFill>
                <a:latin typeface="Montserrat" pitchFamily="34" charset="0"/>
                <a:ea typeface="Montserrat" pitchFamily="34" charset="-122"/>
                <a:cs typeface="Montserrat" pitchFamily="34" charset="-120"/>
              </a:rPr>
              <a:t>VISION · SNOWFLAKE COCO</a:t>
            </a:r>
            <a:endParaRPr lang="en-US" sz="750" dirty="0"/>
          </a:p>
        </p:txBody>
      </p:sp>
      <p:sp>
        <p:nvSpPr>
          <p:cNvPr id="9" name="Shape 7"/>
          <p:cNvSpPr/>
          <p:nvPr/>
        </p:nvSpPr>
        <p:spPr>
          <a:xfrm>
            <a:off x="1197864" y="2569464"/>
            <a:ext cx="8851392" cy="0"/>
          </a:xfrm>
          <a:prstGeom prst="line">
            <a:avLst/>
          </a:prstGeom>
          <a:noFill/>
          <a:ln w="19050">
            <a:solidFill>
              <a:srgbClr val="2C4D71"/>
            </a:solidFill>
            <a:prstDash val="solid"/>
          </a:ln>
        </p:spPr>
      </p:sp>
      <p:sp>
        <p:nvSpPr>
          <p:cNvPr id="10" name="Shape 8"/>
          <p:cNvSpPr/>
          <p:nvPr/>
        </p:nvSpPr>
        <p:spPr>
          <a:xfrm>
            <a:off x="914400" y="2286000"/>
            <a:ext cx="566928" cy="566928"/>
          </a:xfrm>
          <a:prstGeom prst="ellipse">
            <a:avLst/>
          </a:prstGeom>
          <a:solidFill>
            <a:srgbClr val="1A3A5C"/>
          </a:solidFill>
          <a:ln/>
        </p:spPr>
      </p:sp>
      <p:sp>
        <p:nvSpPr>
          <p:cNvPr id="11" name="Text 9"/>
          <p:cNvSpPr/>
          <p:nvPr/>
        </p:nvSpPr>
        <p:spPr>
          <a:xfrm>
            <a:off x="91440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2" name="Text 10"/>
          <p:cNvSpPr/>
          <p:nvPr/>
        </p:nvSpPr>
        <p:spPr>
          <a:xfrm>
            <a:off x="41148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Migrate</a:t>
            </a:r>
            <a:endParaRPr lang="en-US" sz="1200" dirty="0"/>
          </a:p>
        </p:txBody>
      </p:sp>
      <p:sp>
        <p:nvSpPr>
          <p:cNvPr id="13" name="Text 11"/>
          <p:cNvSpPr/>
          <p:nvPr/>
        </p:nvSpPr>
        <p:spPr>
          <a:xfrm>
            <a:off x="41148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Tableau to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Streamlit</a:t>
            </a:r>
            <a:endParaRPr lang="en-US" sz="850" dirty="0"/>
          </a:p>
        </p:txBody>
      </p:sp>
      <p:sp>
        <p:nvSpPr>
          <p:cNvPr id="14" name="Shape 12"/>
          <p:cNvSpPr/>
          <p:nvPr/>
        </p:nvSpPr>
        <p:spPr>
          <a:xfrm>
            <a:off x="3268980" y="2286000"/>
            <a:ext cx="566928" cy="566928"/>
          </a:xfrm>
          <a:prstGeom prst="ellipse">
            <a:avLst/>
          </a:prstGeom>
          <a:solidFill>
            <a:srgbClr val="1A3A5C"/>
          </a:solidFill>
          <a:ln/>
        </p:spPr>
      </p:sp>
      <p:sp>
        <p:nvSpPr>
          <p:cNvPr id="15" name="Text 13"/>
          <p:cNvSpPr/>
          <p:nvPr/>
        </p:nvSpPr>
        <p:spPr>
          <a:xfrm>
            <a:off x="326898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276606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Validate</a:t>
            </a:r>
            <a:endParaRPr lang="en-US" sz="1200" dirty="0"/>
          </a:p>
        </p:txBody>
      </p:sp>
      <p:sp>
        <p:nvSpPr>
          <p:cNvPr id="17" name="Text 15"/>
          <p:cNvSpPr/>
          <p:nvPr/>
        </p:nvSpPr>
        <p:spPr>
          <a:xfrm>
            <a:off x="276606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Visual, data,</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formulas</a:t>
            </a:r>
            <a:endParaRPr lang="en-US" sz="850" dirty="0"/>
          </a:p>
        </p:txBody>
      </p:sp>
      <p:sp>
        <p:nvSpPr>
          <p:cNvPr id="18" name="Shape 16"/>
          <p:cNvSpPr/>
          <p:nvPr/>
        </p:nvSpPr>
        <p:spPr>
          <a:xfrm>
            <a:off x="5623560" y="2286000"/>
            <a:ext cx="566928" cy="566928"/>
          </a:xfrm>
          <a:prstGeom prst="ellipse">
            <a:avLst/>
          </a:prstGeom>
          <a:solidFill>
            <a:srgbClr val="1A3A5C"/>
          </a:solidFill>
          <a:ln/>
        </p:spPr>
      </p:sp>
      <p:sp>
        <p:nvSpPr>
          <p:cNvPr id="19" name="Text 17"/>
          <p:cNvSpPr/>
          <p:nvPr/>
        </p:nvSpPr>
        <p:spPr>
          <a:xfrm>
            <a:off x="562356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0" name="Text 18"/>
          <p:cNvSpPr/>
          <p:nvPr/>
        </p:nvSpPr>
        <p:spPr>
          <a:xfrm>
            <a:off x="512064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Deploy</a:t>
            </a:r>
            <a:endParaRPr lang="en-US" sz="1200" dirty="0"/>
          </a:p>
        </p:txBody>
      </p:sp>
      <p:sp>
        <p:nvSpPr>
          <p:cNvPr id="21" name="Text 19"/>
          <p:cNvSpPr/>
          <p:nvPr/>
        </p:nvSpPr>
        <p:spPr>
          <a:xfrm>
            <a:off x="512064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Governed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SiS app</a:t>
            </a:r>
            <a:endParaRPr lang="en-US" sz="850" dirty="0"/>
          </a:p>
        </p:txBody>
      </p:sp>
      <p:sp>
        <p:nvSpPr>
          <p:cNvPr id="22" name="Shape 20"/>
          <p:cNvSpPr/>
          <p:nvPr/>
        </p:nvSpPr>
        <p:spPr>
          <a:xfrm>
            <a:off x="7978140" y="2286000"/>
            <a:ext cx="566928" cy="566928"/>
          </a:xfrm>
          <a:prstGeom prst="ellipse">
            <a:avLst/>
          </a:prstGeom>
          <a:solidFill>
            <a:srgbClr val="00EDED"/>
          </a:solidFill>
          <a:ln/>
        </p:spPr>
      </p:sp>
      <p:sp>
        <p:nvSpPr>
          <p:cNvPr id="23" name="Text 21"/>
          <p:cNvSpPr/>
          <p:nvPr/>
        </p:nvSpPr>
        <p:spPr>
          <a:xfrm>
            <a:off x="7978140" y="2267712"/>
            <a:ext cx="566928" cy="566928"/>
          </a:xfrm>
          <a:prstGeom prst="rect">
            <a:avLst/>
          </a:prstGeom>
          <a:noFill/>
          <a:ln/>
        </p:spPr>
        <p:txBody>
          <a:bodyPr wrap="square" rtlCol="0" anchor="ctr"/>
          <a:lstStyle/>
          <a:p>
            <a:pPr algn="ctr" indent="0" marL="0">
              <a:buNone/>
            </a:pPr>
            <a:r>
              <a:rPr lang="en-US" sz="1800" b="1" dirty="0">
                <a:solidFill>
                  <a:srgbClr val="053057"/>
                </a:solidFill>
                <a:latin typeface="Montserrat" pitchFamily="34" charset="0"/>
                <a:ea typeface="Montserrat" pitchFamily="34" charset="-122"/>
                <a:cs typeface="Montserrat" pitchFamily="34" charset="-120"/>
              </a:rPr>
              <a:t>4</a:t>
            </a:r>
            <a:endParaRPr lang="en-US" sz="1800" dirty="0"/>
          </a:p>
        </p:txBody>
      </p:sp>
      <p:sp>
        <p:nvSpPr>
          <p:cNvPr id="24" name="Text 22"/>
          <p:cNvSpPr/>
          <p:nvPr/>
        </p:nvSpPr>
        <p:spPr>
          <a:xfrm>
            <a:off x="747522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Enhance</a:t>
            </a:r>
            <a:endParaRPr lang="en-US" sz="1200" dirty="0"/>
          </a:p>
        </p:txBody>
      </p:sp>
      <p:sp>
        <p:nvSpPr>
          <p:cNvPr id="25" name="Text 23"/>
          <p:cNvSpPr/>
          <p:nvPr/>
        </p:nvSpPr>
        <p:spPr>
          <a:xfrm>
            <a:off x="747522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CoCo</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instructions</a:t>
            </a:r>
            <a:endParaRPr lang="en-US" sz="850" dirty="0"/>
          </a:p>
        </p:txBody>
      </p:sp>
      <p:sp>
        <p:nvSpPr>
          <p:cNvPr id="26" name="Shape 24"/>
          <p:cNvSpPr/>
          <p:nvPr/>
        </p:nvSpPr>
        <p:spPr>
          <a:xfrm>
            <a:off x="10332720" y="2286000"/>
            <a:ext cx="566928" cy="566928"/>
          </a:xfrm>
          <a:prstGeom prst="ellipse">
            <a:avLst/>
          </a:prstGeom>
          <a:solidFill>
            <a:srgbClr val="1A3A5C"/>
          </a:solidFill>
          <a:ln/>
        </p:spPr>
      </p:sp>
      <p:sp>
        <p:nvSpPr>
          <p:cNvPr id="27" name="Text 25"/>
          <p:cNvSpPr/>
          <p:nvPr/>
        </p:nvSpPr>
        <p:spPr>
          <a:xfrm>
            <a:off x="10332720" y="2267712"/>
            <a:ext cx="566928" cy="566928"/>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28" name="Text 26"/>
          <p:cNvSpPr/>
          <p:nvPr/>
        </p:nvSpPr>
        <p:spPr>
          <a:xfrm>
            <a:off x="9829800" y="2944368"/>
            <a:ext cx="1572768" cy="292608"/>
          </a:xfrm>
          <a:prstGeom prst="rect">
            <a:avLst/>
          </a:prstGeom>
          <a:noFill/>
          <a:ln/>
        </p:spPr>
        <p:txBody>
          <a:bodyPr wrap="square"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Revalidate</a:t>
            </a:r>
            <a:endParaRPr lang="en-US" sz="1200" dirty="0"/>
          </a:p>
        </p:txBody>
      </p:sp>
      <p:sp>
        <p:nvSpPr>
          <p:cNvPr id="29" name="Text 27"/>
          <p:cNvSpPr/>
          <p:nvPr/>
        </p:nvSpPr>
        <p:spPr>
          <a:xfrm>
            <a:off x="9829800" y="3236976"/>
            <a:ext cx="1572768" cy="502920"/>
          </a:xfrm>
          <a:prstGeom prst="rect">
            <a:avLst/>
          </a:prstGeom>
          <a:noFill/>
          <a:ln/>
        </p:spPr>
        <p:txBody>
          <a:bodyPr wrap="square" rtlCol="0" anchor="ctr"/>
          <a:lstStyle/>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Controlled</a:t>
            </a:r>
            <a:endParaRPr lang="en-US" sz="850" dirty="0"/>
          </a:p>
          <a:p>
            <a:pPr algn="ctr" indent="0" marL="0">
              <a:lnSpc>
                <a:spcPct val="110000"/>
              </a:lnSpc>
              <a:buNone/>
            </a:pPr>
            <a:r>
              <a:rPr lang="en-US" sz="850" dirty="0">
                <a:solidFill>
                  <a:srgbClr val="AFC2D6"/>
                </a:solidFill>
                <a:latin typeface="Montserrat" pitchFamily="34" charset="0"/>
                <a:ea typeface="Montserrat" pitchFamily="34" charset="-122"/>
                <a:cs typeface="Montserrat" pitchFamily="34" charset="-120"/>
              </a:rPr>
              <a:t>release</a:t>
            </a:r>
            <a:endParaRPr lang="en-US" sz="850" dirty="0"/>
          </a:p>
        </p:txBody>
      </p:sp>
      <p:sp>
        <p:nvSpPr>
          <p:cNvPr id="30" name="Shape 28"/>
          <p:cNvSpPr/>
          <p:nvPr/>
        </p:nvSpPr>
        <p:spPr>
          <a:xfrm>
            <a:off x="640080" y="4160520"/>
            <a:ext cx="5577840" cy="1965960"/>
          </a:xfrm>
          <a:prstGeom prst="roundRect">
            <a:avLst>
              <a:gd name="adj" fmla="val 3721"/>
            </a:avLst>
          </a:prstGeom>
          <a:solidFill>
            <a:srgbClr val="314550"/>
          </a:solidFill>
          <a:ln/>
        </p:spPr>
      </p:sp>
      <p:sp>
        <p:nvSpPr>
          <p:cNvPr id="31" name="Text 29"/>
          <p:cNvSpPr/>
          <p:nvPr/>
        </p:nvSpPr>
        <p:spPr>
          <a:xfrm>
            <a:off x="868680" y="4315968"/>
            <a:ext cx="512064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COCO / CORTEX CODE</a:t>
            </a:r>
            <a:endParaRPr lang="en-US" sz="1000" dirty="0"/>
          </a:p>
        </p:txBody>
      </p:sp>
      <p:sp>
        <p:nvSpPr>
          <p:cNvPr id="32" name="Text 30"/>
          <p:cNvSpPr/>
          <p:nvPr/>
        </p:nvSpPr>
        <p:spPr>
          <a:xfrm>
            <a:off x="868680" y="4572000"/>
            <a:ext cx="5120640" cy="41148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Generates reviewable application changes from natural-language requirements.</a:t>
            </a:r>
            <a:endParaRPr lang="en-US" sz="1050" dirty="0"/>
          </a:p>
        </p:txBody>
      </p:sp>
      <p:sp>
        <p:nvSpPr>
          <p:cNvPr id="33" name="Shape 31"/>
          <p:cNvSpPr/>
          <p:nvPr/>
        </p:nvSpPr>
        <p:spPr>
          <a:xfrm>
            <a:off x="868680" y="5029200"/>
            <a:ext cx="5120640" cy="960120"/>
          </a:xfrm>
          <a:prstGeom prst="roundRect">
            <a:avLst>
              <a:gd name="adj" fmla="val 5714"/>
            </a:avLst>
          </a:prstGeom>
          <a:solidFill>
            <a:srgbClr val="053057"/>
          </a:solidFill>
          <a:ln w="9525">
            <a:solidFill>
              <a:srgbClr val="2C4D71"/>
            </a:solidFill>
            <a:prstDash val="solid"/>
          </a:ln>
        </p:spPr>
      </p:sp>
      <p:sp>
        <p:nvSpPr>
          <p:cNvPr id="34" name="Text 32"/>
          <p:cNvSpPr/>
          <p:nvPr/>
        </p:nvSpPr>
        <p:spPr>
          <a:xfrm>
            <a:off x="1051560" y="5029200"/>
            <a:ext cx="4754880" cy="960120"/>
          </a:xfrm>
          <a:prstGeom prst="rect">
            <a:avLst/>
          </a:prstGeom>
          <a:noFill/>
          <a:ln/>
        </p:spPr>
        <p:txBody>
          <a:bodyPr wrap="square" rtlCol="0" anchor="ctr"/>
          <a:lstStyle/>
          <a:p>
            <a:pPr indent="0" marL="0">
              <a:lnSpc>
                <a:spcPct val="120000"/>
              </a:lnSpc>
              <a:buNone/>
            </a:pPr>
            <a:r>
              <a:rPr lang="en-US" sz="1050" i="1" dirty="0">
                <a:solidFill>
                  <a:srgbClr val="FFFFFF"/>
                </a:solidFill>
                <a:latin typeface="Montserrat" pitchFamily="34" charset="0"/>
                <a:ea typeface="Montserrat" pitchFamily="34" charset="-122"/>
                <a:cs typeface="Montserrat" pitchFamily="34" charset="-120"/>
              </a:rPr>
              <a:t>“Add a region filter to every chart, preserve existing calculations, and create a customer-detail view on selection.”</a:t>
            </a:r>
            <a:endParaRPr lang="en-US" sz="1050" dirty="0"/>
          </a:p>
        </p:txBody>
      </p:sp>
      <p:sp>
        <p:nvSpPr>
          <p:cNvPr id="35" name="Shape 33"/>
          <p:cNvSpPr/>
          <p:nvPr/>
        </p:nvSpPr>
        <p:spPr>
          <a:xfrm>
            <a:off x="6446520" y="4160520"/>
            <a:ext cx="5074920" cy="1965960"/>
          </a:xfrm>
          <a:prstGeom prst="roundRect">
            <a:avLst>
              <a:gd name="adj" fmla="val 3721"/>
            </a:avLst>
          </a:prstGeom>
          <a:solidFill>
            <a:srgbClr val="314550"/>
          </a:solidFill>
          <a:ln/>
        </p:spPr>
      </p:sp>
      <p:sp>
        <p:nvSpPr>
          <p:cNvPr id="36" name="Text 34"/>
          <p:cNvSpPr/>
          <p:nvPr/>
        </p:nvSpPr>
        <p:spPr>
          <a:xfrm>
            <a:off x="6675120" y="4315968"/>
            <a:ext cx="4617720" cy="274320"/>
          </a:xfrm>
          <a:prstGeom prst="rect">
            <a:avLst/>
          </a:prstGeom>
          <a:noFill/>
          <a:ln/>
        </p:spPr>
        <p:txBody>
          <a:bodyPr wrap="square" rtlCol="0" anchor="ctr"/>
          <a:lstStyle/>
          <a:p>
            <a:pPr indent="0" marL="0">
              <a:buNone/>
            </a:pPr>
            <a:r>
              <a:rPr lang="en-US" sz="1000" b="1" spc="100" kern="0" dirty="0">
                <a:solidFill>
                  <a:srgbClr val="00EDED"/>
                </a:solidFill>
                <a:latin typeface="Montserrat" pitchFamily="34" charset="0"/>
                <a:ea typeface="Montserrat" pitchFamily="34" charset="-122"/>
                <a:cs typeface="Montserrat" pitchFamily="34" charset="-120"/>
              </a:rPr>
              <a:t>CORTEX ANALYST</a:t>
            </a:r>
            <a:endParaRPr lang="en-US" sz="1000" dirty="0"/>
          </a:p>
        </p:txBody>
      </p:sp>
      <p:sp>
        <p:nvSpPr>
          <p:cNvPr id="37" name="Text 35"/>
          <p:cNvSpPr/>
          <p:nvPr/>
        </p:nvSpPr>
        <p:spPr>
          <a:xfrm>
            <a:off x="6675120" y="4572000"/>
            <a:ext cx="4617720" cy="457200"/>
          </a:xfrm>
          <a:prstGeom prst="rect">
            <a:avLst/>
          </a:prstGeom>
          <a:noFill/>
          <a:ln/>
        </p:spPr>
        <p:txBody>
          <a:bodyPr wrap="square" rtlCol="0" anchor="ctr"/>
          <a:lstStyle/>
          <a:p>
            <a:pPr indent="0" marL="0">
              <a:lnSpc>
                <a:spcPct val="120000"/>
              </a:lnSpc>
              <a:buNone/>
            </a:pPr>
            <a:r>
              <a:rPr lang="en-US" sz="1050" dirty="0">
                <a:solidFill>
                  <a:srgbClr val="AFC2D6"/>
                </a:solidFill>
                <a:latin typeface="Montserrat" pitchFamily="34" charset="0"/>
                <a:ea typeface="Montserrat" pitchFamily="34" charset="-122"/>
                <a:cs typeface="Montserrat" pitchFamily="34" charset="-120"/>
              </a:rPr>
              <a:t>Adds governed natural-language questions over semantic views.</a:t>
            </a:r>
            <a:endParaRPr lang="en-US" sz="1050" dirty="0"/>
          </a:p>
        </p:txBody>
      </p:sp>
      <p:sp>
        <p:nvSpPr>
          <p:cNvPr id="38" name="Text 36"/>
          <p:cNvSpPr/>
          <p:nvPr/>
        </p:nvSpPr>
        <p:spPr>
          <a:xfrm>
            <a:off x="6675120" y="5074920"/>
            <a:ext cx="4617720" cy="914400"/>
          </a:xfrm>
          <a:prstGeom prst="rect">
            <a:avLst/>
          </a:prstGeom>
          <a:noFill/>
          <a:ln/>
        </p:spPr>
        <p:txBody>
          <a:bodyPr wrap="square" rtlCol="0" anchor="ctr"/>
          <a:lstStyle/>
          <a:p>
            <a:pPr indent="0" marL="0">
              <a:lnSpc>
                <a:spcPct val="125000"/>
              </a:lnSpc>
              <a:buNone/>
            </a:pPr>
            <a:r>
              <a:rPr lang="en-US" sz="950" i="1" dirty="0">
                <a:solidFill>
                  <a:srgbClr val="AFC2D6"/>
                </a:solidFill>
                <a:latin typeface="Montserrat" pitchFamily="34" charset="0"/>
                <a:ea typeface="Montserrat" pitchFamily="34" charset="-122"/>
                <a:cs typeface="Montserrat" pitchFamily="34" charset="-120"/>
              </a:rPr>
              <a:t>Every AI-assisted change returns through regression and validation before release — CoCo lowers dependence on specialized coding skills, but production changes are never unreviewed.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ACCELERATOR DEMO · 05</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One workbook moves through five controlled stages</a:t>
            </a:r>
            <a:endParaRPr lang="en-US" sz="2600" dirty="0"/>
          </a:p>
        </p:txBody>
      </p:sp>
      <p:sp>
        <p:nvSpPr>
          <p:cNvPr id="4" name="Text 2"/>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Each stage leaves an inspectable artifact before the next stage proceeds.</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05 / 13</a:t>
            </a:r>
            <a:endParaRPr lang="en-US" sz="900" dirty="0"/>
          </a:p>
        </p:txBody>
      </p:sp>
      <p:sp>
        <p:nvSpPr>
          <p:cNvPr id="7" name="Shape 5"/>
          <p:cNvSpPr/>
          <p:nvPr/>
        </p:nvSpPr>
        <p:spPr>
          <a:xfrm>
            <a:off x="594360" y="2286000"/>
            <a:ext cx="2011680" cy="2606040"/>
          </a:xfrm>
          <a:prstGeom prst="roundRect">
            <a:avLst>
              <a:gd name="adj" fmla="val 3636"/>
            </a:avLst>
          </a:prstGeom>
          <a:solidFill>
            <a:srgbClr val="314550"/>
          </a:solidFill>
          <a:ln/>
        </p:spPr>
      </p:sp>
      <p:sp>
        <p:nvSpPr>
          <p:cNvPr id="8" name="Text 6"/>
          <p:cNvSpPr/>
          <p:nvPr/>
        </p:nvSpPr>
        <p:spPr>
          <a:xfrm>
            <a:off x="758952"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01</a:t>
            </a:r>
            <a:endParaRPr lang="en-US" sz="2200" dirty="0"/>
          </a:p>
        </p:txBody>
      </p:sp>
      <p:sp>
        <p:nvSpPr>
          <p:cNvPr id="9" name="Text 7"/>
          <p:cNvSpPr/>
          <p:nvPr/>
        </p:nvSpPr>
        <p:spPr>
          <a:xfrm>
            <a:off x="758952"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Discovery</a:t>
            </a:r>
            <a:endParaRPr lang="en-US" sz="1400" dirty="0"/>
          </a:p>
        </p:txBody>
      </p:sp>
      <p:sp>
        <p:nvSpPr>
          <p:cNvPr id="10" name="Text 8"/>
          <p:cNvSpPr/>
          <p:nvPr/>
        </p:nvSpPr>
        <p:spPr>
          <a:xfrm>
            <a:off x="758952"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Sources, extracts</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and tables</a:t>
            </a:r>
            <a:endParaRPr lang="en-US" sz="950" dirty="0"/>
          </a:p>
        </p:txBody>
      </p:sp>
      <p:sp>
        <p:nvSpPr>
          <p:cNvPr id="11" name="Text 9"/>
          <p:cNvSpPr/>
          <p:nvPr/>
        </p:nvSpPr>
        <p:spPr>
          <a:xfrm>
            <a:off x="2587752"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2" name="Shape 10"/>
          <p:cNvSpPr/>
          <p:nvPr/>
        </p:nvSpPr>
        <p:spPr>
          <a:xfrm>
            <a:off x="2770632" y="2286000"/>
            <a:ext cx="2011680" cy="2606040"/>
          </a:xfrm>
          <a:prstGeom prst="roundRect">
            <a:avLst>
              <a:gd name="adj" fmla="val 3636"/>
            </a:avLst>
          </a:prstGeom>
          <a:solidFill>
            <a:srgbClr val="314550"/>
          </a:solidFill>
          <a:ln/>
        </p:spPr>
      </p:sp>
      <p:sp>
        <p:nvSpPr>
          <p:cNvPr id="13" name="Text 11"/>
          <p:cNvSpPr/>
          <p:nvPr/>
        </p:nvSpPr>
        <p:spPr>
          <a:xfrm>
            <a:off x="2935224"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02</a:t>
            </a:r>
            <a:endParaRPr lang="en-US" sz="2200" dirty="0"/>
          </a:p>
        </p:txBody>
      </p:sp>
      <p:sp>
        <p:nvSpPr>
          <p:cNvPr id="14" name="Text 12"/>
          <p:cNvSpPr/>
          <p:nvPr/>
        </p:nvSpPr>
        <p:spPr>
          <a:xfrm>
            <a:off x="2935224"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Parsing</a:t>
            </a:r>
            <a:endParaRPr lang="en-US" sz="1400" dirty="0"/>
          </a:p>
        </p:txBody>
      </p:sp>
      <p:sp>
        <p:nvSpPr>
          <p:cNvPr id="15" name="Text 13"/>
          <p:cNvSpPr/>
          <p:nvPr/>
        </p:nvSpPr>
        <p:spPr>
          <a:xfrm>
            <a:off x="2935224"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Workbook to</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migration IR</a:t>
            </a:r>
            <a:endParaRPr lang="en-US" sz="950" dirty="0"/>
          </a:p>
        </p:txBody>
      </p:sp>
      <p:sp>
        <p:nvSpPr>
          <p:cNvPr id="16" name="Text 14"/>
          <p:cNvSpPr/>
          <p:nvPr/>
        </p:nvSpPr>
        <p:spPr>
          <a:xfrm>
            <a:off x="4764024"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17" name="Shape 15"/>
          <p:cNvSpPr/>
          <p:nvPr/>
        </p:nvSpPr>
        <p:spPr>
          <a:xfrm>
            <a:off x="4946904" y="2286000"/>
            <a:ext cx="2011680" cy="2606040"/>
          </a:xfrm>
          <a:prstGeom prst="roundRect">
            <a:avLst>
              <a:gd name="adj" fmla="val 3636"/>
            </a:avLst>
          </a:prstGeom>
          <a:solidFill>
            <a:srgbClr val="314550"/>
          </a:solidFill>
          <a:ln/>
        </p:spPr>
      </p:sp>
      <p:sp>
        <p:nvSpPr>
          <p:cNvPr id="18" name="Text 16"/>
          <p:cNvSpPr/>
          <p:nvPr/>
        </p:nvSpPr>
        <p:spPr>
          <a:xfrm>
            <a:off x="5111496"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03</a:t>
            </a:r>
            <a:endParaRPr lang="en-US" sz="2200" dirty="0"/>
          </a:p>
        </p:txBody>
      </p:sp>
      <p:sp>
        <p:nvSpPr>
          <p:cNvPr id="19" name="Text 17"/>
          <p:cNvSpPr/>
          <p:nvPr/>
        </p:nvSpPr>
        <p:spPr>
          <a:xfrm>
            <a:off x="5111496"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Data model</a:t>
            </a:r>
            <a:endParaRPr lang="en-US" sz="1400" dirty="0"/>
          </a:p>
        </p:txBody>
      </p:sp>
      <p:sp>
        <p:nvSpPr>
          <p:cNvPr id="20" name="Text 18"/>
          <p:cNvSpPr/>
          <p:nvPr/>
        </p:nvSpPr>
        <p:spPr>
          <a:xfrm>
            <a:off x="5111496"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Relations and optional</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semantic view</a:t>
            </a:r>
            <a:endParaRPr lang="en-US" sz="950" dirty="0"/>
          </a:p>
        </p:txBody>
      </p:sp>
      <p:sp>
        <p:nvSpPr>
          <p:cNvPr id="21" name="Text 19"/>
          <p:cNvSpPr/>
          <p:nvPr/>
        </p:nvSpPr>
        <p:spPr>
          <a:xfrm>
            <a:off x="6940296"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2" name="Shape 20"/>
          <p:cNvSpPr/>
          <p:nvPr/>
        </p:nvSpPr>
        <p:spPr>
          <a:xfrm>
            <a:off x="7123176" y="2286000"/>
            <a:ext cx="2011680" cy="2606040"/>
          </a:xfrm>
          <a:prstGeom prst="roundRect">
            <a:avLst>
              <a:gd name="adj" fmla="val 3636"/>
            </a:avLst>
          </a:prstGeom>
          <a:solidFill>
            <a:srgbClr val="314550"/>
          </a:solidFill>
          <a:ln/>
        </p:spPr>
      </p:sp>
      <p:sp>
        <p:nvSpPr>
          <p:cNvPr id="23" name="Text 21"/>
          <p:cNvSpPr/>
          <p:nvPr/>
        </p:nvSpPr>
        <p:spPr>
          <a:xfrm>
            <a:off x="7287768" y="2450592"/>
            <a:ext cx="1682496" cy="457200"/>
          </a:xfrm>
          <a:prstGeom prst="rect">
            <a:avLst/>
          </a:prstGeom>
          <a:noFill/>
          <a:ln/>
        </p:spPr>
        <p:txBody>
          <a:bodyPr wrap="square" rtlCol="0" anchor="ctr"/>
          <a:lstStyle/>
          <a:p>
            <a:pPr indent="0" marL="0">
              <a:buNone/>
            </a:pPr>
            <a:r>
              <a:rPr lang="en-US" sz="2200" b="1" dirty="0">
                <a:solidFill>
                  <a:srgbClr val="3F6C93"/>
                </a:solidFill>
                <a:latin typeface="Montserrat" pitchFamily="34" charset="0"/>
                <a:ea typeface="Montserrat" pitchFamily="34" charset="-122"/>
                <a:cs typeface="Montserrat" pitchFamily="34" charset="-120"/>
              </a:rPr>
              <a:t>04</a:t>
            </a:r>
            <a:endParaRPr lang="en-US" sz="2200" dirty="0"/>
          </a:p>
        </p:txBody>
      </p:sp>
      <p:sp>
        <p:nvSpPr>
          <p:cNvPr id="24" name="Text 22"/>
          <p:cNvSpPr/>
          <p:nvPr/>
        </p:nvSpPr>
        <p:spPr>
          <a:xfrm>
            <a:off x="7287768" y="2971800"/>
            <a:ext cx="1682496" cy="365760"/>
          </a:xfrm>
          <a:prstGeom prst="rect">
            <a:avLst/>
          </a:prstGeom>
          <a:noFill/>
          <a:ln/>
        </p:spPr>
        <p:txBody>
          <a:bodyPr wrap="square" rtlCol="0" anchor="ctr"/>
          <a:lstStyle/>
          <a:p>
            <a:pPr indent="0" marL="0">
              <a:buNone/>
            </a:pPr>
            <a:r>
              <a:rPr lang="en-US" sz="1400" b="1" dirty="0">
                <a:solidFill>
                  <a:srgbClr val="FFFFFF"/>
                </a:solidFill>
                <a:latin typeface="Montserrat" pitchFamily="34" charset="0"/>
                <a:ea typeface="Montserrat" pitchFamily="34" charset="-122"/>
                <a:cs typeface="Montserrat" pitchFamily="34" charset="-120"/>
              </a:rPr>
              <a:t>App creation</a:t>
            </a:r>
            <a:endParaRPr lang="en-US" sz="1400" dirty="0"/>
          </a:p>
        </p:txBody>
      </p:sp>
      <p:sp>
        <p:nvSpPr>
          <p:cNvPr id="25" name="Text 23"/>
          <p:cNvSpPr/>
          <p:nvPr/>
        </p:nvSpPr>
        <p:spPr>
          <a:xfrm>
            <a:off x="7287768" y="3383280"/>
            <a:ext cx="1682496" cy="777240"/>
          </a:xfrm>
          <a:prstGeom prst="rect">
            <a:avLst/>
          </a:prstGeom>
          <a:noFill/>
          <a:ln/>
        </p:spPr>
        <p:txBody>
          <a:bodyPr wrap="square" rtlCol="0" anchor="ctr"/>
          <a:lstStyle/>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Generated Streamlit</a:t>
            </a:r>
            <a:endParaRPr lang="en-US" sz="950" dirty="0"/>
          </a:p>
          <a:p>
            <a:pPr indent="0" marL="0">
              <a:lnSpc>
                <a:spcPct val="115000"/>
              </a:lnSpc>
              <a:buNone/>
            </a:pPr>
            <a:r>
              <a:rPr lang="en-US" sz="950" dirty="0">
                <a:solidFill>
                  <a:srgbClr val="AFC2D6"/>
                </a:solidFill>
                <a:latin typeface="Montserrat" pitchFamily="34" charset="0"/>
                <a:ea typeface="Montserrat" pitchFamily="34" charset="-122"/>
                <a:cs typeface="Montserrat" pitchFamily="34" charset="-120"/>
              </a:rPr>
              <a:t>application</a:t>
            </a:r>
            <a:endParaRPr lang="en-US" sz="950" dirty="0"/>
          </a:p>
        </p:txBody>
      </p:sp>
      <p:sp>
        <p:nvSpPr>
          <p:cNvPr id="26" name="Text 24"/>
          <p:cNvSpPr/>
          <p:nvPr/>
        </p:nvSpPr>
        <p:spPr>
          <a:xfrm>
            <a:off x="9116568" y="3360420"/>
            <a:ext cx="365760" cy="457200"/>
          </a:xfrm>
          <a:prstGeom prst="rect">
            <a:avLst/>
          </a:prstGeom>
          <a:noFill/>
          <a:ln/>
        </p:spPr>
        <p:txBody>
          <a:bodyPr wrap="square" rtlCol="0" anchor="ctr"/>
          <a:lstStyle/>
          <a:p>
            <a:pPr algn="ctr" indent="0" marL="0">
              <a:buNone/>
            </a:pPr>
            <a:r>
              <a:rPr lang="en-US" sz="2000" b="1" dirty="0">
                <a:solidFill>
                  <a:srgbClr val="00EDED"/>
                </a:solidFill>
                <a:latin typeface="Montserrat" pitchFamily="34" charset="0"/>
                <a:ea typeface="Montserrat" pitchFamily="34" charset="-122"/>
                <a:cs typeface="Montserrat" pitchFamily="34" charset="-120"/>
              </a:rPr>
              <a:t>→</a:t>
            </a:r>
            <a:endParaRPr lang="en-US" sz="2000" dirty="0"/>
          </a:p>
        </p:txBody>
      </p:sp>
      <p:sp>
        <p:nvSpPr>
          <p:cNvPr id="27" name="Shape 25"/>
          <p:cNvSpPr/>
          <p:nvPr/>
        </p:nvSpPr>
        <p:spPr>
          <a:xfrm>
            <a:off x="9299448" y="2286000"/>
            <a:ext cx="2011680" cy="2606040"/>
          </a:xfrm>
          <a:prstGeom prst="roundRect">
            <a:avLst>
              <a:gd name="adj" fmla="val 3636"/>
            </a:avLst>
          </a:prstGeom>
          <a:solidFill>
            <a:srgbClr val="00EDED"/>
          </a:solidFill>
          <a:ln/>
        </p:spPr>
      </p:sp>
      <p:sp>
        <p:nvSpPr>
          <p:cNvPr id="28" name="Text 26"/>
          <p:cNvSpPr/>
          <p:nvPr/>
        </p:nvSpPr>
        <p:spPr>
          <a:xfrm>
            <a:off x="9464040" y="2450592"/>
            <a:ext cx="1682496" cy="457200"/>
          </a:xfrm>
          <a:prstGeom prst="rect">
            <a:avLst/>
          </a:prstGeom>
          <a:noFill/>
          <a:ln/>
        </p:spPr>
        <p:txBody>
          <a:bodyPr wrap="square" rtlCol="0" anchor="ctr"/>
          <a:lstStyle/>
          <a:p>
            <a:pPr indent="0" marL="0">
              <a:buNone/>
            </a:pPr>
            <a:r>
              <a:rPr lang="en-US" sz="2200" b="1" dirty="0">
                <a:solidFill>
                  <a:srgbClr val="053057"/>
                </a:solidFill>
                <a:latin typeface="Montserrat" pitchFamily="34" charset="0"/>
                <a:ea typeface="Montserrat" pitchFamily="34" charset="-122"/>
                <a:cs typeface="Montserrat" pitchFamily="34" charset="-120"/>
              </a:rPr>
              <a:t>05</a:t>
            </a:r>
            <a:endParaRPr lang="en-US" sz="2200" dirty="0"/>
          </a:p>
        </p:txBody>
      </p:sp>
      <p:sp>
        <p:nvSpPr>
          <p:cNvPr id="29" name="Text 27"/>
          <p:cNvSpPr/>
          <p:nvPr/>
        </p:nvSpPr>
        <p:spPr>
          <a:xfrm>
            <a:off x="9464040" y="2971800"/>
            <a:ext cx="1682496" cy="36576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Validation</a:t>
            </a:r>
            <a:endParaRPr lang="en-US" sz="1400" dirty="0"/>
          </a:p>
        </p:txBody>
      </p:sp>
      <p:sp>
        <p:nvSpPr>
          <p:cNvPr id="30" name="Text 28"/>
          <p:cNvSpPr/>
          <p:nvPr/>
        </p:nvSpPr>
        <p:spPr>
          <a:xfrm>
            <a:off x="9464040" y="3383280"/>
            <a:ext cx="1682496" cy="777240"/>
          </a:xfrm>
          <a:prstGeom prst="rect">
            <a:avLst/>
          </a:prstGeom>
          <a:noFill/>
          <a:ln/>
        </p:spPr>
        <p:txBody>
          <a:bodyPr wrap="square" rtlCol="0" anchor="ctr"/>
          <a:lstStyle/>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Visual, data and</a:t>
            </a:r>
            <a:endParaRPr lang="en-US" sz="950" dirty="0"/>
          </a:p>
          <a:p>
            <a:pPr indent="0" marL="0">
              <a:lnSpc>
                <a:spcPct val="115000"/>
              </a:lnSpc>
              <a:buNone/>
            </a:pPr>
            <a:r>
              <a:rPr lang="en-US" sz="950" dirty="0">
                <a:solidFill>
                  <a:srgbClr val="0B3A52"/>
                </a:solidFill>
                <a:latin typeface="Montserrat" pitchFamily="34" charset="0"/>
                <a:ea typeface="Montserrat" pitchFamily="34" charset="-122"/>
                <a:cs typeface="Montserrat" pitchFamily="34" charset="-120"/>
              </a:rPr>
              <a:t>formula evidence</a:t>
            </a:r>
            <a:endParaRPr lang="en-US" sz="950" dirty="0"/>
          </a:p>
        </p:txBody>
      </p:sp>
      <p:sp>
        <p:nvSpPr>
          <p:cNvPr id="31" name="Shape 29"/>
          <p:cNvSpPr/>
          <p:nvPr/>
        </p:nvSpPr>
        <p:spPr>
          <a:xfrm>
            <a:off x="594360" y="5212080"/>
            <a:ext cx="11018520" cy="868680"/>
          </a:xfrm>
          <a:prstGeom prst="roundRect">
            <a:avLst>
              <a:gd name="adj" fmla="val 8421"/>
            </a:avLst>
          </a:prstGeom>
          <a:solidFill>
            <a:srgbClr val="314550"/>
          </a:solidFill>
          <a:ln w="12700">
            <a:solidFill>
              <a:srgbClr val="00EDED"/>
            </a:solidFill>
            <a:prstDash val="solid"/>
          </a:ln>
        </p:spPr>
      </p:sp>
      <p:sp>
        <p:nvSpPr>
          <p:cNvPr id="32" name="Text 30"/>
          <p:cNvSpPr/>
          <p:nvPr/>
        </p:nvSpPr>
        <p:spPr>
          <a:xfrm>
            <a:off x="868680" y="5212080"/>
            <a:ext cx="3108960" cy="868680"/>
          </a:xfrm>
          <a:prstGeom prst="rect">
            <a:avLst/>
          </a:prstGeom>
          <a:noFill/>
          <a:ln/>
        </p:spPr>
        <p:txBody>
          <a:bodyPr wrap="square" rtlCol="0" anchor="ctr"/>
          <a:lstStyle/>
          <a:p>
            <a:pPr indent="0" marL="0">
              <a:buNone/>
            </a:pPr>
            <a:r>
              <a:rPr lang="en-US" sz="1250" b="1" dirty="0">
                <a:solidFill>
                  <a:srgbClr val="00EDED"/>
                </a:solidFill>
                <a:latin typeface="Montserrat" pitchFamily="34" charset="0"/>
                <a:ea typeface="Montserrat" pitchFamily="34" charset="-122"/>
                <a:cs typeface="Montserrat" pitchFamily="34" charset="-120"/>
              </a:rPr>
              <a:t>⛓  Human deployment gate</a:t>
            </a:r>
            <a:endParaRPr lang="en-US" sz="1250" dirty="0"/>
          </a:p>
        </p:txBody>
      </p:sp>
      <p:sp>
        <p:nvSpPr>
          <p:cNvPr id="33" name="Text 31"/>
          <p:cNvSpPr/>
          <p:nvPr/>
        </p:nvSpPr>
        <p:spPr>
          <a:xfrm>
            <a:off x="3931920" y="5212080"/>
            <a:ext cx="7498080" cy="868680"/>
          </a:xfrm>
          <a:prstGeom prst="rect">
            <a:avLst/>
          </a:prstGeom>
          <a:noFill/>
          <a:ln/>
        </p:spPr>
        <p:txBody>
          <a:bodyPr wrap="square" rtlCol="0" anchor="ctr"/>
          <a:lstStyle/>
          <a:p>
            <a:pPr indent="0" marL="0">
              <a:buNone/>
            </a:pPr>
            <a:r>
              <a:rPr lang="en-US" sz="1150" dirty="0">
                <a:solidFill>
                  <a:srgbClr val="FFFFFF"/>
                </a:solidFill>
                <a:latin typeface="Montserrat" pitchFamily="34" charset="0"/>
                <a:ea typeface="Montserrat" pitchFamily="34" charset="-122"/>
                <a:cs typeface="Montserrat" pitchFamily="34" charset="-120"/>
              </a:rPr>
              <a:t>The application is deployed only after findings and validation are visible.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06</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Visual parity is reviewed at dashboard level</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first check is immediate: does the migrated tab preserve the same analytical composition?</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06 / 13</a:t>
            </a:r>
            <a:endParaRPr lang="en-US" sz="900" dirty="0"/>
          </a:p>
        </p:txBody>
      </p:sp>
      <p:sp>
        <p:nvSpPr>
          <p:cNvPr id="7" name="Shape 5"/>
          <p:cNvSpPr/>
          <p:nvPr/>
        </p:nvSpPr>
        <p:spPr>
          <a:xfrm>
            <a:off x="640080" y="2286000"/>
            <a:ext cx="5074920" cy="2880360"/>
          </a:xfrm>
          <a:prstGeom prst="roundRect">
            <a:avLst>
              <a:gd name="adj" fmla="val 1905"/>
            </a:avLst>
          </a:prstGeom>
          <a:solidFill>
            <a:srgbClr val="F4F3F0"/>
          </a:solidFill>
          <a:ln w="12700">
            <a:solidFill>
              <a:srgbClr val="D8D6D0"/>
            </a:solidFill>
            <a:prstDash val="solid"/>
          </a:ln>
        </p:spPr>
      </p:sp>
      <p:sp>
        <p:nvSpPr>
          <p:cNvPr id="8" name="Text 6"/>
          <p:cNvSpPr/>
          <p:nvPr/>
        </p:nvSpPr>
        <p:spPr>
          <a:xfrm>
            <a:off x="64008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TABLEAU</a:t>
            </a:r>
            <a:endParaRPr lang="en-US" sz="1000" dirty="0"/>
          </a:p>
        </p:txBody>
      </p:sp>
      <p:sp>
        <p:nvSpPr>
          <p:cNvPr id="9" name="Text 7"/>
          <p:cNvSpPr/>
          <p:nvPr/>
        </p:nvSpPr>
        <p:spPr>
          <a:xfrm>
            <a:off x="64008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0" name="Shape 8"/>
          <p:cNvSpPr/>
          <p:nvPr/>
        </p:nvSpPr>
        <p:spPr>
          <a:xfrm>
            <a:off x="6492240" y="2286000"/>
            <a:ext cx="5074920" cy="2880360"/>
          </a:xfrm>
          <a:prstGeom prst="roundRect">
            <a:avLst>
              <a:gd name="adj" fmla="val 1905"/>
            </a:avLst>
          </a:prstGeom>
          <a:solidFill>
            <a:srgbClr val="F4F3F0"/>
          </a:solidFill>
          <a:ln w="12700">
            <a:solidFill>
              <a:srgbClr val="D8D6D0"/>
            </a:solidFill>
            <a:prstDash val="solid"/>
          </a:ln>
        </p:spPr>
      </p:sp>
      <p:sp>
        <p:nvSpPr>
          <p:cNvPr id="11" name="Text 9"/>
          <p:cNvSpPr/>
          <p:nvPr/>
        </p:nvSpPr>
        <p:spPr>
          <a:xfrm>
            <a:off x="6492240" y="2423160"/>
            <a:ext cx="5074920" cy="274320"/>
          </a:xfrm>
          <a:prstGeom prst="rect">
            <a:avLst/>
          </a:prstGeom>
          <a:noFill/>
          <a:ln/>
        </p:spPr>
        <p:txBody>
          <a:bodyPr wrap="square" rtlCol="0" anchor="ctr"/>
          <a:lstStyle/>
          <a:p>
            <a:pPr algn="ctr" indent="0" marL="0">
              <a:buNone/>
            </a:pPr>
            <a:r>
              <a:rPr lang="en-US" sz="1000" b="1" spc="150" kern="0" dirty="0">
                <a:solidFill>
                  <a:srgbClr val="5B6B7A"/>
                </a:solidFill>
                <a:latin typeface="Montserrat" pitchFamily="34" charset="0"/>
                <a:ea typeface="Montserrat" pitchFamily="34" charset="-122"/>
                <a:cs typeface="Montserrat" pitchFamily="34" charset="-120"/>
              </a:rPr>
              <a:t>STREAMLIT IN SNOWFLAKE</a:t>
            </a:r>
            <a:endParaRPr lang="en-US" sz="1000" dirty="0"/>
          </a:p>
        </p:txBody>
      </p:sp>
      <p:sp>
        <p:nvSpPr>
          <p:cNvPr id="12" name="Text 10"/>
          <p:cNvSpPr/>
          <p:nvPr/>
        </p:nvSpPr>
        <p:spPr>
          <a:xfrm>
            <a:off x="6492240" y="3543300"/>
            <a:ext cx="5074920" cy="365760"/>
          </a:xfrm>
          <a:prstGeom prst="rect">
            <a:avLst/>
          </a:prstGeom>
          <a:noFill/>
          <a:ln/>
        </p:spPr>
        <p:txBody>
          <a:bodyPr wrap="square" rtlCol="0" anchor="ctr"/>
          <a:lstStyle/>
          <a:p>
            <a:pPr algn="ctr" indent="0" marL="0">
              <a:buNone/>
            </a:pPr>
            <a:r>
              <a:rPr lang="en-US" sz="1100" i="1" dirty="0">
                <a:solidFill>
                  <a:srgbClr val="B7BAC0"/>
                </a:solidFill>
                <a:latin typeface="Montserrat" pitchFamily="34" charset="0"/>
                <a:ea typeface="Montserrat" pitchFamily="34" charset="-122"/>
                <a:cs typeface="Montserrat" pitchFamily="34" charset="-120"/>
              </a:rPr>
              <a:t>[ Insert dashboard screenshot ]</a:t>
            </a:r>
            <a:endParaRPr lang="en-US" sz="1100" dirty="0"/>
          </a:p>
        </p:txBody>
      </p:sp>
      <p:sp>
        <p:nvSpPr>
          <p:cNvPr id="13" name="Shape 11"/>
          <p:cNvSpPr/>
          <p:nvPr/>
        </p:nvSpPr>
        <p:spPr>
          <a:xfrm>
            <a:off x="5794096" y="3424428"/>
            <a:ext cx="603504" cy="603504"/>
          </a:xfrm>
          <a:prstGeom prst="ellipse">
            <a:avLst/>
          </a:prstGeom>
          <a:solidFill>
            <a:srgbClr val="053057"/>
          </a:solidFill>
          <a:ln/>
        </p:spPr>
      </p:sp>
      <p:sp>
        <p:nvSpPr>
          <p:cNvPr id="14" name="Text 12"/>
          <p:cNvSpPr/>
          <p:nvPr/>
        </p:nvSpPr>
        <p:spPr>
          <a:xfrm>
            <a:off x="5794096" y="3406140"/>
            <a:ext cx="603504" cy="603504"/>
          </a:xfrm>
          <a:prstGeom prst="rect">
            <a:avLst/>
          </a:prstGeom>
          <a:noFill/>
          <a:ln/>
        </p:spPr>
        <p:txBody>
          <a:bodyPr wrap="square" rtlCol="0" anchor="ctr"/>
          <a:lstStyle/>
          <a:p>
            <a:pPr algn="ctr" indent="0" marL="0">
              <a:buNone/>
            </a:pPr>
            <a:r>
              <a:rPr lang="en-US" sz="2200" b="1" dirty="0">
                <a:solidFill>
                  <a:srgbClr val="00EDED"/>
                </a:solidFill>
                <a:latin typeface="Montserrat" pitchFamily="34" charset="0"/>
                <a:ea typeface="Montserrat" pitchFamily="34" charset="-122"/>
                <a:cs typeface="Montserrat" pitchFamily="34" charset="-120"/>
              </a:rPr>
              <a:t>=</a:t>
            </a:r>
            <a:endParaRPr lang="en-US" sz="2200" dirty="0"/>
          </a:p>
        </p:txBody>
      </p:sp>
      <p:sp>
        <p:nvSpPr>
          <p:cNvPr id="15" name="Shape 13"/>
          <p:cNvSpPr/>
          <p:nvPr/>
        </p:nvSpPr>
        <p:spPr>
          <a:xfrm>
            <a:off x="640080" y="5440680"/>
            <a:ext cx="1783080" cy="384048"/>
          </a:xfrm>
          <a:prstGeom prst="roundRect">
            <a:avLst>
              <a:gd name="adj" fmla="val 50000"/>
            </a:avLst>
          </a:prstGeom>
          <a:solidFill>
            <a:srgbClr val="F4F3F0"/>
          </a:solidFill>
          <a:ln w="9525">
            <a:solidFill>
              <a:srgbClr val="007676"/>
            </a:solidFill>
            <a:prstDash val="solid"/>
          </a:ln>
        </p:spPr>
      </p:sp>
      <p:sp>
        <p:nvSpPr>
          <p:cNvPr id="16" name="Text 14"/>
          <p:cNvSpPr/>
          <p:nvPr/>
        </p:nvSpPr>
        <p:spPr>
          <a:xfrm>
            <a:off x="640080" y="5440680"/>
            <a:ext cx="17830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layout hierarchy</a:t>
            </a:r>
            <a:endParaRPr lang="en-US" sz="950" dirty="0"/>
          </a:p>
        </p:txBody>
      </p:sp>
      <p:sp>
        <p:nvSpPr>
          <p:cNvPr id="17" name="Shape 15"/>
          <p:cNvSpPr/>
          <p:nvPr/>
        </p:nvSpPr>
        <p:spPr>
          <a:xfrm>
            <a:off x="2587752" y="5440680"/>
            <a:ext cx="1417320" cy="384048"/>
          </a:xfrm>
          <a:prstGeom prst="roundRect">
            <a:avLst>
              <a:gd name="adj" fmla="val 50000"/>
            </a:avLst>
          </a:prstGeom>
          <a:solidFill>
            <a:srgbClr val="F4F3F0"/>
          </a:solidFill>
          <a:ln w="9525">
            <a:solidFill>
              <a:srgbClr val="007676"/>
            </a:solidFill>
            <a:prstDash val="solid"/>
          </a:ln>
        </p:spPr>
      </p:sp>
      <p:sp>
        <p:nvSpPr>
          <p:cNvPr id="18" name="Text 16"/>
          <p:cNvSpPr/>
          <p:nvPr/>
        </p:nvSpPr>
        <p:spPr>
          <a:xfrm>
            <a:off x="2587752" y="5440680"/>
            <a:ext cx="14173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KPI presence</a:t>
            </a:r>
            <a:endParaRPr lang="en-US" sz="950" dirty="0"/>
          </a:p>
        </p:txBody>
      </p:sp>
      <p:sp>
        <p:nvSpPr>
          <p:cNvPr id="19" name="Shape 17"/>
          <p:cNvSpPr/>
          <p:nvPr/>
        </p:nvSpPr>
        <p:spPr>
          <a:xfrm>
            <a:off x="4169664" y="5440680"/>
            <a:ext cx="1234440" cy="384048"/>
          </a:xfrm>
          <a:prstGeom prst="roundRect">
            <a:avLst>
              <a:gd name="adj" fmla="val 50000"/>
            </a:avLst>
          </a:prstGeom>
          <a:solidFill>
            <a:srgbClr val="F4F3F0"/>
          </a:solidFill>
          <a:ln w="9525">
            <a:solidFill>
              <a:srgbClr val="007676"/>
            </a:solidFill>
            <a:prstDash val="solid"/>
          </a:ln>
        </p:spPr>
      </p:sp>
      <p:sp>
        <p:nvSpPr>
          <p:cNvPr id="20" name="Text 18"/>
          <p:cNvSpPr/>
          <p:nvPr/>
        </p:nvSpPr>
        <p:spPr>
          <a:xfrm>
            <a:off x="4169664" y="5440680"/>
            <a:ext cx="123444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chart type</a:t>
            </a:r>
            <a:endParaRPr lang="en-US" sz="950" dirty="0"/>
          </a:p>
        </p:txBody>
      </p:sp>
      <p:sp>
        <p:nvSpPr>
          <p:cNvPr id="21" name="Shape 19"/>
          <p:cNvSpPr/>
          <p:nvPr/>
        </p:nvSpPr>
        <p:spPr>
          <a:xfrm>
            <a:off x="5568696" y="5440680"/>
            <a:ext cx="960120" cy="384048"/>
          </a:xfrm>
          <a:prstGeom prst="roundRect">
            <a:avLst>
              <a:gd name="adj" fmla="val 50000"/>
            </a:avLst>
          </a:prstGeom>
          <a:solidFill>
            <a:srgbClr val="F4F3F0"/>
          </a:solidFill>
          <a:ln w="9525">
            <a:solidFill>
              <a:srgbClr val="007676"/>
            </a:solidFill>
            <a:prstDash val="solid"/>
          </a:ln>
        </p:spPr>
      </p:sp>
      <p:sp>
        <p:nvSpPr>
          <p:cNvPr id="22" name="Text 20"/>
          <p:cNvSpPr/>
          <p:nvPr/>
        </p:nvSpPr>
        <p:spPr>
          <a:xfrm>
            <a:off x="5568696" y="5440680"/>
            <a:ext cx="96012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filters</a:t>
            </a:r>
            <a:endParaRPr lang="en-US" sz="950" dirty="0"/>
          </a:p>
        </p:txBody>
      </p:sp>
      <p:sp>
        <p:nvSpPr>
          <p:cNvPr id="23" name="Shape 21"/>
          <p:cNvSpPr/>
          <p:nvPr/>
        </p:nvSpPr>
        <p:spPr>
          <a:xfrm>
            <a:off x="6693408" y="5440680"/>
            <a:ext cx="868680" cy="384048"/>
          </a:xfrm>
          <a:prstGeom prst="roundRect">
            <a:avLst>
              <a:gd name="adj" fmla="val 50000"/>
            </a:avLst>
          </a:prstGeom>
          <a:solidFill>
            <a:srgbClr val="F4F3F0"/>
          </a:solidFill>
          <a:ln w="9525">
            <a:solidFill>
              <a:srgbClr val="007676"/>
            </a:solidFill>
            <a:prstDash val="solid"/>
          </a:ln>
        </p:spPr>
      </p:sp>
      <p:sp>
        <p:nvSpPr>
          <p:cNvPr id="24" name="Text 22"/>
          <p:cNvSpPr/>
          <p:nvPr/>
        </p:nvSpPr>
        <p:spPr>
          <a:xfrm>
            <a:off x="6693408" y="5440680"/>
            <a:ext cx="86868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labels</a:t>
            </a:r>
            <a:endParaRPr lang="en-US" sz="950" dirty="0"/>
          </a:p>
        </p:txBody>
      </p:sp>
      <p:sp>
        <p:nvSpPr>
          <p:cNvPr id="25" name="Shape 23"/>
          <p:cNvSpPr/>
          <p:nvPr/>
        </p:nvSpPr>
        <p:spPr>
          <a:xfrm>
            <a:off x="7726680" y="5440680"/>
            <a:ext cx="1508760" cy="384048"/>
          </a:xfrm>
          <a:prstGeom prst="roundRect">
            <a:avLst>
              <a:gd name="adj" fmla="val 50000"/>
            </a:avLst>
          </a:prstGeom>
          <a:solidFill>
            <a:srgbClr val="F4F3F0"/>
          </a:solidFill>
          <a:ln w="9525">
            <a:solidFill>
              <a:srgbClr val="007676"/>
            </a:solidFill>
            <a:prstDash val="solid"/>
          </a:ln>
        </p:spPr>
      </p:sp>
      <p:sp>
        <p:nvSpPr>
          <p:cNvPr id="26" name="Text 24"/>
          <p:cNvSpPr/>
          <p:nvPr/>
        </p:nvSpPr>
        <p:spPr>
          <a:xfrm>
            <a:off x="7726680" y="5440680"/>
            <a:ext cx="1508760" cy="384048"/>
          </a:xfrm>
          <a:prstGeom prst="rect">
            <a:avLst/>
          </a:prstGeom>
          <a:noFill/>
          <a:ln/>
        </p:spPr>
        <p:txBody>
          <a:bodyPr wrap="square" rtlCol="0" anchor="ctr"/>
          <a:lstStyle/>
          <a:p>
            <a:pPr algn="ctr" indent="0" marL="0">
              <a:buNone/>
            </a:pPr>
            <a:r>
              <a:rPr lang="en-US" sz="950" b="1" dirty="0">
                <a:solidFill>
                  <a:srgbClr val="007676"/>
                </a:solidFill>
                <a:latin typeface="Montserrat" pitchFamily="34" charset="0"/>
                <a:ea typeface="Montserrat" pitchFamily="34" charset="-122"/>
                <a:cs typeface="Montserrat" pitchFamily="34" charset="-120"/>
              </a:rPr>
              <a:t>visible grain</a:t>
            </a:r>
            <a:endParaRPr lang="en-US" sz="950" dirty="0"/>
          </a:p>
        </p:txBody>
      </p:sp>
      <p:sp>
        <p:nvSpPr>
          <p:cNvPr id="27" name="Text 25"/>
          <p:cNvSpPr/>
          <p:nvPr/>
        </p:nvSpPr>
        <p:spPr>
          <a:xfrm>
            <a:off x="640080" y="6035040"/>
            <a:ext cx="10881360" cy="457200"/>
          </a:xfrm>
          <a:prstGeom prst="rect">
            <a:avLst/>
          </a:prstGeom>
          <a:noFill/>
          <a:ln/>
        </p:spPr>
        <p:txBody>
          <a:bodyPr wrap="square" rtlCol="0" anchor="ctr"/>
          <a:lstStyle/>
          <a:p>
            <a:pPr indent="0" marL="0">
              <a:buNone/>
            </a:pPr>
            <a:r>
              <a:rPr lang="en-US" sz="1100" i="1" dirty="0">
                <a:solidFill>
                  <a:srgbClr val="5B6B7A"/>
                </a:solidFill>
                <a:latin typeface="Montserrat" pitchFamily="34" charset="0"/>
                <a:ea typeface="Montserrat" pitchFamily="34" charset="-122"/>
                <a:cs typeface="Montserrat" pitchFamily="34" charset="-120"/>
              </a:rPr>
              <a:t>Review evidence  —  visual similarity alone is not a pass; it is the first evidence layer.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07</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 PASS is earned with chart-grain numbers and formulas</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The displayed visual grain determines the evidence: product rows for a ranked product table, not a dashboard total.</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07 / 13</a:t>
            </a:r>
            <a:endParaRPr lang="en-US" sz="900" dirty="0"/>
          </a:p>
        </p:txBody>
      </p:sp>
      <p:sp>
        <p:nvSpPr>
          <p:cNvPr id="7" name="Text 5"/>
          <p:cNvSpPr/>
          <p:nvPr/>
        </p:nvSpPr>
        <p:spPr>
          <a:xfrm>
            <a:off x="640080" y="2057400"/>
            <a:ext cx="548640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DATA PROOF</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6675120" cy="1554480"/>
        </p:xfrm>
        <a:graphic>
          <a:graphicData uri="http://schemas.openxmlformats.org/drawingml/2006/table">
            <a:tbl>
              <a:tblPr/>
              <a:tblGrid>
                <a:gridCol w="2286000"/>
                <a:gridCol w="1051560"/>
                <a:gridCol w="1051560"/>
                <a:gridCol w="1051560"/>
                <a:gridCol w="640080"/>
                <a:gridCol w="777240"/>
              </a:tblGrid>
              <a:tr h="388620">
                <a:tc>
                  <a:txBody>
                    <a:bodyPr/>
                    <a:lstStyle/>
                    <a:p>
                      <a:pPr algn="l" indent="0" marL="0">
                        <a:buNone/>
                      </a:pPr>
                      <a:r>
                        <a:rPr lang="en-US" sz="1050" b="1" dirty="0">
                          <a:solidFill>
                            <a:srgbClr val="FFFFFF"/>
                          </a:solidFill>
                          <a:latin typeface="Montserrat" pitchFamily="34" charset="0"/>
                          <a:ea typeface="Montserrat" pitchFamily="34" charset="-122"/>
                          <a:cs typeface="Montserrat" pitchFamily="34" charset="-120"/>
                        </a:rPr>
                        <a:t>Product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Tableau</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Streamlit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Backend</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Diff</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050" b="1" dirty="0">
                          <a:solidFill>
                            <a:srgbClr val="FFFFFF"/>
                          </a:solidFill>
                          <a:latin typeface="Montserrat" pitchFamily="34" charset="0"/>
                          <a:ea typeface="Montserrat" pitchFamily="34" charset="-122"/>
                          <a:cs typeface="Montserrat" pitchFamily="34" charset="-120"/>
                        </a:rPr>
                        <a:t>Result</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Canon imageCLASS 2200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$61,600.00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$61,599.82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$0.18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Fellowes PB500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$27,454.00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$27,453.78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$0.22</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r>
              <a:tr h="388620">
                <a:tc>
                  <a:txBody>
                    <a:bodyPr/>
                    <a:lstStyle/>
                    <a:p>
                      <a:pPr algn="l" indent="0" marL="0">
                        <a:buNone/>
                      </a:pPr>
                      <a:r>
                        <a:rPr lang="en-US" sz="1050" dirty="0">
                          <a:solidFill>
                            <a:srgbClr val="053057"/>
                          </a:solidFill>
                          <a:latin typeface="Montserrat" pitchFamily="34" charset="0"/>
                          <a:ea typeface="Montserrat" pitchFamily="34" charset="-122"/>
                          <a:cs typeface="Montserrat" pitchFamily="34" charset="-120"/>
                        </a:rPr>
                        <a:t>Cisco TelePresence</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$22,638.00</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$22,638.28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053057"/>
                          </a:solidFill>
                          <a:latin typeface="Montserrat" pitchFamily="34" charset="0"/>
                          <a:ea typeface="Montserrat" pitchFamily="34" charset="-122"/>
                          <a:cs typeface="Montserrat" pitchFamily="34" charset="-120"/>
                        </a:rPr>
                        <a:t>$0.28</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E8449"/>
                          </a:solidFill>
                          <a:latin typeface="Montserrat" pitchFamily="34" charset="0"/>
                          <a:ea typeface="Montserrat" pitchFamily="34" charset="-122"/>
                          <a:cs typeface="Montserrat" pitchFamily="34" charset="-120"/>
                        </a:rPr>
                        <a:t>PASS</a:t>
                      </a:r>
                      <a:endParaRPr lang="en-US" sz="10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bl>
          </a:graphicData>
        </a:graphic>
      </p:graphicFrame>
      <p:sp>
        <p:nvSpPr>
          <p:cNvPr id="9" name="Text 6"/>
          <p:cNvSpPr/>
          <p:nvPr/>
        </p:nvSpPr>
        <p:spPr>
          <a:xfrm>
            <a:off x="640080" y="4069080"/>
            <a:ext cx="6675120" cy="502920"/>
          </a:xfrm>
          <a:prstGeom prst="rect">
            <a:avLst/>
          </a:prstGeom>
          <a:noFill/>
          <a:ln/>
        </p:spPr>
        <p:txBody>
          <a:bodyPr wrap="square" rtlCol="0" anchor="ctr"/>
          <a:lstStyle/>
          <a:p>
            <a:pPr indent="0" marL="0">
              <a:lnSpc>
                <a:spcPct val="120000"/>
              </a:lnSpc>
              <a:buNone/>
            </a:pPr>
            <a:r>
              <a:rPr lang="en-US" sz="950" i="1" dirty="0">
                <a:solidFill>
                  <a:srgbClr val="5B6B7A"/>
                </a:solidFill>
                <a:latin typeface="Montserrat" pitchFamily="34" charset="0"/>
                <a:ea typeface="Montserrat" pitchFamily="34" charset="-122"/>
                <a:cs typeface="Montserrat" pitchFamily="34" charset="-120"/>
              </a:rPr>
              <a:t>The three displayed rows are representative slide evidence; the downloadable report retains the complete result set and every mismatch.</a:t>
            </a:r>
            <a:endParaRPr lang="en-US" sz="950" dirty="0"/>
          </a:p>
        </p:txBody>
      </p:sp>
      <p:sp>
        <p:nvSpPr>
          <p:cNvPr id="10" name="Text 7"/>
          <p:cNvSpPr/>
          <p:nvPr/>
        </p:nvSpPr>
        <p:spPr>
          <a:xfrm>
            <a:off x="7635240" y="2057400"/>
            <a:ext cx="3931920" cy="274320"/>
          </a:xfrm>
          <a:prstGeom prst="rect">
            <a:avLst/>
          </a:prstGeom>
          <a:noFill/>
          <a:ln/>
        </p:spPr>
        <p:txBody>
          <a:bodyPr wrap="square" rtlCol="0" anchor="ctr"/>
          <a:lstStyle/>
          <a:p>
            <a:pPr indent="0" marL="0">
              <a:buNone/>
            </a:pPr>
            <a:r>
              <a:rPr lang="en-US" sz="1100" b="1" spc="150" kern="0" dirty="0">
                <a:solidFill>
                  <a:srgbClr val="007676"/>
                </a:solidFill>
                <a:latin typeface="Montserrat" pitchFamily="34" charset="0"/>
                <a:ea typeface="Montserrat" pitchFamily="34" charset="-122"/>
                <a:cs typeface="Montserrat" pitchFamily="34" charset="-120"/>
              </a:rPr>
              <a:t>FORMULA PROOF</a:t>
            </a:r>
            <a:endParaRPr lang="en-US" sz="1100" dirty="0"/>
          </a:p>
        </p:txBody>
      </p:sp>
      <p:sp>
        <p:nvSpPr>
          <p:cNvPr id="11" name="Shape 8"/>
          <p:cNvSpPr/>
          <p:nvPr/>
        </p:nvSpPr>
        <p:spPr>
          <a:xfrm>
            <a:off x="7635240" y="2377440"/>
            <a:ext cx="3931920" cy="1828800"/>
          </a:xfrm>
          <a:prstGeom prst="roundRect">
            <a:avLst>
              <a:gd name="adj" fmla="val 3500"/>
            </a:avLst>
          </a:prstGeom>
          <a:solidFill>
            <a:srgbClr val="F4F3F0"/>
          </a:solidFill>
          <a:ln/>
        </p:spPr>
      </p:sp>
      <p:sp>
        <p:nvSpPr>
          <p:cNvPr id="12" name="Text 9"/>
          <p:cNvSpPr/>
          <p:nvPr/>
        </p:nvSpPr>
        <p:spPr>
          <a:xfrm>
            <a:off x="7863840" y="2514600"/>
            <a:ext cx="3474720" cy="292608"/>
          </a:xfrm>
          <a:prstGeom prst="rect">
            <a:avLst/>
          </a:prstGeom>
          <a:noFill/>
          <a:ln/>
        </p:spPr>
        <p:txBody>
          <a:bodyPr wrap="square" rtlCol="0" anchor="ctr"/>
          <a:lstStyle/>
          <a:p>
            <a:pPr indent="0" marL="0">
              <a:buNone/>
            </a:pPr>
            <a:r>
              <a:rPr lang="en-US" sz="1150" b="1" dirty="0">
                <a:solidFill>
                  <a:srgbClr val="053057"/>
                </a:solidFill>
                <a:latin typeface="Montserrat" pitchFamily="34" charset="0"/>
                <a:ea typeface="Montserrat" pitchFamily="34" charset="-122"/>
                <a:cs typeface="Montserrat" pitchFamily="34" charset="-120"/>
              </a:rPr>
              <a:t>Profit Ratio</a:t>
            </a:r>
            <a:endParaRPr lang="en-US" sz="1150" dirty="0"/>
          </a:p>
        </p:txBody>
      </p:sp>
      <p:sp>
        <p:nvSpPr>
          <p:cNvPr id="13" name="Text 10"/>
          <p:cNvSpPr/>
          <p:nvPr/>
        </p:nvSpPr>
        <p:spPr>
          <a:xfrm>
            <a:off x="7863840" y="2852928"/>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TABLEAU</a:t>
            </a:r>
            <a:endParaRPr lang="en-US" sz="850" dirty="0"/>
          </a:p>
        </p:txBody>
      </p:sp>
      <p:sp>
        <p:nvSpPr>
          <p:cNvPr id="14" name="Text 11"/>
          <p:cNvSpPr/>
          <p:nvPr/>
        </p:nvSpPr>
        <p:spPr>
          <a:xfrm>
            <a:off x="7863840" y="3063240"/>
            <a:ext cx="3474720" cy="320040"/>
          </a:xfrm>
          <a:prstGeom prst="rect">
            <a:avLst/>
          </a:prstGeom>
          <a:noFill/>
          <a:ln/>
        </p:spPr>
        <p:txBody>
          <a:bodyPr wrap="square" rtlCol="0" anchor="ctr"/>
          <a:lstStyle/>
          <a:p>
            <a:pPr indent="0" marL="0">
              <a:buNone/>
            </a:pPr>
            <a:r>
              <a:rPr lang="en-US" sz="1000" dirty="0">
                <a:solidFill>
                  <a:srgbClr val="053057"/>
                </a:solidFill>
                <a:latin typeface="Courier New" pitchFamily="34" charset="0"/>
                <a:ea typeface="Courier New" pitchFamily="34" charset="-122"/>
                <a:cs typeface="Courier New" pitchFamily="34" charset="-120"/>
              </a:rPr>
              <a:t>SUM([Profit]) / SUM([Sales])</a:t>
            </a:r>
            <a:endParaRPr lang="en-US" sz="1000" dirty="0"/>
          </a:p>
        </p:txBody>
      </p:sp>
      <p:sp>
        <p:nvSpPr>
          <p:cNvPr id="15" name="Text 12"/>
          <p:cNvSpPr/>
          <p:nvPr/>
        </p:nvSpPr>
        <p:spPr>
          <a:xfrm>
            <a:off x="7863840" y="3456432"/>
            <a:ext cx="3474720" cy="219456"/>
          </a:xfrm>
          <a:prstGeom prst="rect">
            <a:avLst/>
          </a:prstGeom>
          <a:noFill/>
          <a:ln/>
        </p:spPr>
        <p:txBody>
          <a:bodyPr wrap="square" rtlCol="0" anchor="ctr"/>
          <a:lstStyle/>
          <a:p>
            <a:pPr indent="0" marL="0">
              <a:buNone/>
            </a:pPr>
            <a:r>
              <a:rPr lang="en-US" sz="850" b="1" spc="100" kern="0" dirty="0">
                <a:solidFill>
                  <a:srgbClr val="5B6B7A"/>
                </a:solidFill>
                <a:latin typeface="Montserrat" pitchFamily="34" charset="0"/>
                <a:ea typeface="Montserrat" pitchFamily="34" charset="-122"/>
                <a:cs typeface="Montserrat" pitchFamily="34" charset="-120"/>
              </a:rPr>
              <a:t>SNOWFLAKE SQL</a:t>
            </a:r>
            <a:endParaRPr lang="en-US" sz="850" dirty="0"/>
          </a:p>
        </p:txBody>
      </p:sp>
      <p:sp>
        <p:nvSpPr>
          <p:cNvPr id="16" name="Text 13"/>
          <p:cNvSpPr/>
          <p:nvPr/>
        </p:nvSpPr>
        <p:spPr>
          <a:xfrm>
            <a:off x="7863840" y="3657600"/>
            <a:ext cx="3474720" cy="320040"/>
          </a:xfrm>
          <a:prstGeom prst="rect">
            <a:avLst/>
          </a:prstGeom>
          <a:noFill/>
          <a:ln/>
        </p:spPr>
        <p:txBody>
          <a:bodyPr wrap="square" rtlCol="0" anchor="ctr"/>
          <a:lstStyle/>
          <a:p>
            <a:pPr indent="0" marL="0">
              <a:buNone/>
            </a:pPr>
            <a:r>
              <a:rPr lang="en-US" sz="950" dirty="0">
                <a:solidFill>
                  <a:srgbClr val="007676"/>
                </a:solidFill>
                <a:latin typeface="Courier New" pitchFamily="34" charset="0"/>
                <a:ea typeface="Courier New" pitchFamily="34" charset="-122"/>
                <a:cs typeface="Courier New" pitchFamily="34" charset="-120"/>
              </a:rPr>
              <a:t>SUM(PROFIT) / NULLIF(SUM(SALES), 0)</a:t>
            </a:r>
            <a:endParaRPr lang="en-US" sz="950" dirty="0"/>
          </a:p>
        </p:txBody>
      </p:sp>
      <p:sp>
        <p:nvSpPr>
          <p:cNvPr id="17" name="Shape 14"/>
          <p:cNvSpPr/>
          <p:nvPr/>
        </p:nvSpPr>
        <p:spPr>
          <a:xfrm>
            <a:off x="7863840" y="4023360"/>
            <a:ext cx="3474720" cy="292608"/>
          </a:xfrm>
          <a:prstGeom prst="roundRect">
            <a:avLst>
              <a:gd name="adj" fmla="val 50000"/>
            </a:avLst>
          </a:prstGeom>
          <a:solidFill>
            <a:srgbClr val="053057"/>
          </a:solidFill>
          <a:ln/>
        </p:spPr>
      </p:sp>
      <p:sp>
        <p:nvSpPr>
          <p:cNvPr id="18" name="Text 15"/>
          <p:cNvSpPr/>
          <p:nvPr/>
        </p:nvSpPr>
        <p:spPr>
          <a:xfrm>
            <a:off x="7863840" y="4023360"/>
            <a:ext cx="3474720" cy="292608"/>
          </a:xfrm>
          <a:prstGeom prst="rect">
            <a:avLst/>
          </a:prstGeom>
          <a:noFill/>
          <a:ln/>
        </p:spPr>
        <p:txBody>
          <a:bodyPr wrap="square" rtlCol="0" anchor="ctr"/>
          <a:lstStyle/>
          <a:p>
            <a:pPr algn="ctr" indent="0" marL="0">
              <a:buNone/>
            </a:pPr>
            <a:r>
              <a:rPr lang="en-US" sz="850" b="1" dirty="0">
                <a:solidFill>
                  <a:srgbClr val="00EDED"/>
                </a:solidFill>
                <a:latin typeface="Montserrat" pitchFamily="34" charset="0"/>
                <a:ea typeface="Montserrat" pitchFamily="34" charset="-122"/>
                <a:cs typeface="Montserrat" pitchFamily="34" charset="-120"/>
              </a:rPr>
              <a:t>Semantically equivalent + null-safe</a:t>
            </a:r>
            <a:endParaRPr lang="en-US" sz="850" dirty="0"/>
          </a:p>
        </p:txBody>
      </p:sp>
      <p:sp>
        <p:nvSpPr>
          <p:cNvPr id="19" name="Shape 16"/>
          <p:cNvSpPr/>
          <p:nvPr/>
        </p:nvSpPr>
        <p:spPr>
          <a:xfrm>
            <a:off x="640080" y="4892040"/>
            <a:ext cx="10927080" cy="1234440"/>
          </a:xfrm>
          <a:prstGeom prst="roundRect">
            <a:avLst>
              <a:gd name="adj" fmla="val 5926"/>
            </a:avLst>
          </a:prstGeom>
          <a:solidFill>
            <a:srgbClr val="053057"/>
          </a:solidFill>
          <a:ln/>
        </p:spPr>
      </p:sp>
      <p:sp>
        <p:nvSpPr>
          <p:cNvPr id="20" name="Text 17"/>
          <p:cNvSpPr/>
          <p:nvPr/>
        </p:nvSpPr>
        <p:spPr>
          <a:xfrm>
            <a:off x="914400" y="4892040"/>
            <a:ext cx="10378440" cy="1234440"/>
          </a:xfrm>
          <a:prstGeom prst="rect">
            <a:avLst/>
          </a:prstGeom>
          <a:noFill/>
          <a:ln/>
        </p:spPr>
        <p:txBody>
          <a:bodyPr wrap="square" rtlCol="0" anchor="ctr"/>
          <a:lstStyle/>
          <a:p>
            <a:pPr indent="0" marL="0">
              <a:lnSpc>
                <a:spcPct val="125000"/>
              </a:lnSpc>
              <a:buNone/>
            </a:pPr>
            <a:r>
              <a:rPr lang="en-US" sz="1200" i="1" dirty="0">
                <a:solidFill>
                  <a:srgbClr val="FFFFFF"/>
                </a:solidFill>
                <a:latin typeface="Montserrat" pitchFamily="34" charset="0"/>
                <a:ea typeface="Montserrat" pitchFamily="34" charset="-122"/>
                <a:cs typeface="Montserrat" pitchFamily="34" charset="-120"/>
              </a:rPr>
              <a:t>Absolute and relative tolerance are recorded in the downloadable report. Currency tolerance is expressed in currency, not points.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7676"/>
                </a:solidFill>
                <a:latin typeface="Montserrat" pitchFamily="34" charset="0"/>
                <a:ea typeface="Montserrat" pitchFamily="34" charset="-122"/>
                <a:cs typeface="Montserrat" pitchFamily="34" charset="-120"/>
              </a:rPr>
              <a:t>ACCELERATOR DEMO · 08</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Modernize the workloads that benefit; retain the workloads that do not</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5B6B7A"/>
                </a:solidFill>
                <a:latin typeface="Montserrat" pitchFamily="34" charset="0"/>
                <a:ea typeface="Montserrat" pitchFamily="34" charset="-122"/>
                <a:cs typeface="Montserrat" pitchFamily="34" charset="-120"/>
              </a:rPr>
              <a:t>A selective portfolio approach protects value and avoids forcing every Tableau use case into Streamlit.</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08 / 13</a:t>
            </a:r>
            <a:endParaRPr lang="en-US" sz="900" dirty="0"/>
          </a:p>
        </p:txBody>
      </p:sp>
      <p:sp>
        <p:nvSpPr>
          <p:cNvPr id="7" name="Shape 5"/>
          <p:cNvSpPr/>
          <p:nvPr/>
        </p:nvSpPr>
        <p:spPr>
          <a:xfrm>
            <a:off x="640080" y="1965960"/>
            <a:ext cx="5349240" cy="457200"/>
          </a:xfrm>
          <a:prstGeom prst="roundRect">
            <a:avLst>
              <a:gd name="adj" fmla="val 14000"/>
            </a:avLst>
          </a:prstGeom>
          <a:solidFill>
            <a:srgbClr val="053057"/>
          </a:solidFill>
          <a:ln/>
        </p:spPr>
      </p:sp>
      <p:sp>
        <p:nvSpPr>
          <p:cNvPr id="8" name="Text 6"/>
          <p:cNvSpPr/>
          <p:nvPr/>
        </p:nvSpPr>
        <p:spPr>
          <a:xfrm>
            <a:off x="640080" y="1965960"/>
            <a:ext cx="5349240" cy="457200"/>
          </a:xfrm>
          <a:prstGeom prst="rect">
            <a:avLst/>
          </a:prstGeom>
          <a:noFill/>
          <a:ln/>
        </p:spPr>
        <p:txBody>
          <a:bodyPr wrap="square" rtlCol="0" anchor="ctr"/>
          <a:lstStyle/>
          <a:p>
            <a:pPr algn="ctr" indent="0" marL="0">
              <a:buNone/>
            </a:pPr>
            <a:r>
              <a:rPr lang="en-US" sz="1150" b="1" spc="100" kern="0" dirty="0">
                <a:solidFill>
                  <a:srgbClr val="00EDED"/>
                </a:solidFill>
                <a:latin typeface="Montserrat" pitchFamily="34" charset="0"/>
                <a:ea typeface="Montserrat" pitchFamily="34" charset="-122"/>
                <a:cs typeface="Montserrat" pitchFamily="34" charset="-120"/>
              </a:rPr>
              <a:t>STRONG MIGRATION CANDIDATES</a:t>
            </a:r>
            <a:endParaRPr lang="en-US" sz="1150" dirty="0"/>
          </a:p>
        </p:txBody>
      </p:sp>
      <p:sp>
        <p:nvSpPr>
          <p:cNvPr id="9" name="Shape 7"/>
          <p:cNvSpPr/>
          <p:nvPr/>
        </p:nvSpPr>
        <p:spPr>
          <a:xfrm>
            <a:off x="640080" y="2606040"/>
            <a:ext cx="384048" cy="384048"/>
          </a:xfrm>
          <a:prstGeom prst="ellipse">
            <a:avLst/>
          </a:prstGeom>
          <a:solidFill>
            <a:srgbClr val="A2F3F3"/>
          </a:solidFill>
          <a:ln/>
        </p:spPr>
      </p:sp>
      <p:sp>
        <p:nvSpPr>
          <p:cNvPr id="10" name="Text 8"/>
          <p:cNvSpPr/>
          <p:nvPr/>
        </p:nvSpPr>
        <p:spPr>
          <a:xfrm>
            <a:off x="640080" y="2587752"/>
            <a:ext cx="384048" cy="384048"/>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a:t>
            </a:r>
            <a:endParaRPr lang="en-US" sz="1500" dirty="0"/>
          </a:p>
        </p:txBody>
      </p:sp>
      <p:sp>
        <p:nvSpPr>
          <p:cNvPr id="11" name="Text 9"/>
          <p:cNvSpPr/>
          <p:nvPr/>
        </p:nvSpPr>
        <p:spPr>
          <a:xfrm>
            <a:off x="1170432" y="2624328"/>
            <a:ext cx="4754880" cy="384048"/>
          </a:xfrm>
          <a:prstGeom prst="rect">
            <a:avLst/>
          </a:prstGeom>
          <a:noFill/>
          <a:ln/>
        </p:spPr>
        <p:txBody>
          <a:bodyPr wrap="square" rtlCol="0" anchor="ctr"/>
          <a:lstStyle/>
          <a:p>
            <a:pPr indent="0" marL="0">
              <a:buNone/>
            </a:pPr>
            <a:r>
              <a:rPr lang="en-US" sz="1150" dirty="0">
                <a:solidFill>
                  <a:srgbClr val="053057"/>
                </a:solidFill>
                <a:latin typeface="Montserrat" pitchFamily="34" charset="0"/>
                <a:ea typeface="Montserrat" pitchFamily="34" charset="-122"/>
                <a:cs typeface="Montserrat" pitchFamily="34" charset="-120"/>
              </a:rPr>
              <a:t>Snowflake-centric dashboards</a:t>
            </a:r>
            <a:endParaRPr lang="en-US" sz="1150" dirty="0"/>
          </a:p>
        </p:txBody>
      </p:sp>
      <p:sp>
        <p:nvSpPr>
          <p:cNvPr id="12" name="Shape 10"/>
          <p:cNvSpPr/>
          <p:nvPr/>
        </p:nvSpPr>
        <p:spPr>
          <a:xfrm>
            <a:off x="640080" y="3227832"/>
            <a:ext cx="384048" cy="384048"/>
          </a:xfrm>
          <a:prstGeom prst="ellipse">
            <a:avLst/>
          </a:prstGeom>
          <a:solidFill>
            <a:srgbClr val="A2F3F3"/>
          </a:solidFill>
          <a:ln/>
        </p:spPr>
      </p:sp>
      <p:sp>
        <p:nvSpPr>
          <p:cNvPr id="13" name="Text 11"/>
          <p:cNvSpPr/>
          <p:nvPr/>
        </p:nvSpPr>
        <p:spPr>
          <a:xfrm>
            <a:off x="640080" y="3209544"/>
            <a:ext cx="384048" cy="384048"/>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a:t>
            </a:r>
            <a:endParaRPr lang="en-US" sz="1500" dirty="0"/>
          </a:p>
        </p:txBody>
      </p:sp>
      <p:sp>
        <p:nvSpPr>
          <p:cNvPr id="14" name="Text 12"/>
          <p:cNvSpPr/>
          <p:nvPr/>
        </p:nvSpPr>
        <p:spPr>
          <a:xfrm>
            <a:off x="1170432" y="3246120"/>
            <a:ext cx="4754880" cy="384048"/>
          </a:xfrm>
          <a:prstGeom prst="rect">
            <a:avLst/>
          </a:prstGeom>
          <a:noFill/>
          <a:ln/>
        </p:spPr>
        <p:txBody>
          <a:bodyPr wrap="square" rtlCol="0" anchor="ctr"/>
          <a:lstStyle/>
          <a:p>
            <a:pPr indent="0" marL="0">
              <a:buNone/>
            </a:pPr>
            <a:r>
              <a:rPr lang="en-US" sz="1150" dirty="0">
                <a:solidFill>
                  <a:srgbClr val="053057"/>
                </a:solidFill>
                <a:latin typeface="Montserrat" pitchFamily="34" charset="0"/>
                <a:ea typeface="Montserrat" pitchFamily="34" charset="-122"/>
                <a:cs typeface="Montserrat" pitchFamily="34" charset="-120"/>
              </a:rPr>
              <a:t>Operational analytics applications</a:t>
            </a:r>
            <a:endParaRPr lang="en-US" sz="1150" dirty="0"/>
          </a:p>
        </p:txBody>
      </p:sp>
      <p:sp>
        <p:nvSpPr>
          <p:cNvPr id="15" name="Shape 13"/>
          <p:cNvSpPr/>
          <p:nvPr/>
        </p:nvSpPr>
        <p:spPr>
          <a:xfrm>
            <a:off x="640080" y="3849624"/>
            <a:ext cx="384048" cy="384048"/>
          </a:xfrm>
          <a:prstGeom prst="ellipse">
            <a:avLst/>
          </a:prstGeom>
          <a:solidFill>
            <a:srgbClr val="A2F3F3"/>
          </a:solidFill>
          <a:ln/>
        </p:spPr>
      </p:sp>
      <p:sp>
        <p:nvSpPr>
          <p:cNvPr id="16" name="Text 14"/>
          <p:cNvSpPr/>
          <p:nvPr/>
        </p:nvSpPr>
        <p:spPr>
          <a:xfrm>
            <a:off x="640080" y="3831336"/>
            <a:ext cx="384048" cy="384048"/>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a:t>
            </a:r>
            <a:endParaRPr lang="en-US" sz="1500" dirty="0"/>
          </a:p>
        </p:txBody>
      </p:sp>
      <p:sp>
        <p:nvSpPr>
          <p:cNvPr id="17" name="Text 15"/>
          <p:cNvSpPr/>
          <p:nvPr/>
        </p:nvSpPr>
        <p:spPr>
          <a:xfrm>
            <a:off x="1170432" y="3867912"/>
            <a:ext cx="4754880" cy="384048"/>
          </a:xfrm>
          <a:prstGeom prst="rect">
            <a:avLst/>
          </a:prstGeom>
          <a:noFill/>
          <a:ln/>
        </p:spPr>
        <p:txBody>
          <a:bodyPr wrap="square" rtlCol="0" anchor="ctr"/>
          <a:lstStyle/>
          <a:p>
            <a:pPr indent="0" marL="0">
              <a:buNone/>
            </a:pPr>
            <a:r>
              <a:rPr lang="en-US" sz="1150" dirty="0">
                <a:solidFill>
                  <a:srgbClr val="053057"/>
                </a:solidFill>
                <a:latin typeface="Montserrat" pitchFamily="34" charset="0"/>
                <a:ea typeface="Montserrat" pitchFamily="34" charset="-122"/>
                <a:cs typeface="Montserrat" pitchFamily="34" charset="-120"/>
              </a:rPr>
              <a:t>Custom workflows and write-back</a:t>
            </a:r>
            <a:endParaRPr lang="en-US" sz="1150" dirty="0"/>
          </a:p>
        </p:txBody>
      </p:sp>
      <p:sp>
        <p:nvSpPr>
          <p:cNvPr id="18" name="Shape 16"/>
          <p:cNvSpPr/>
          <p:nvPr/>
        </p:nvSpPr>
        <p:spPr>
          <a:xfrm>
            <a:off x="640080" y="4471416"/>
            <a:ext cx="384048" cy="384048"/>
          </a:xfrm>
          <a:prstGeom prst="ellipse">
            <a:avLst/>
          </a:prstGeom>
          <a:solidFill>
            <a:srgbClr val="A2F3F3"/>
          </a:solidFill>
          <a:ln/>
        </p:spPr>
      </p:sp>
      <p:sp>
        <p:nvSpPr>
          <p:cNvPr id="19" name="Text 17"/>
          <p:cNvSpPr/>
          <p:nvPr/>
        </p:nvSpPr>
        <p:spPr>
          <a:xfrm>
            <a:off x="640080" y="4453128"/>
            <a:ext cx="384048" cy="384048"/>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a:t>
            </a:r>
            <a:endParaRPr lang="en-US" sz="1500" dirty="0"/>
          </a:p>
        </p:txBody>
      </p:sp>
      <p:sp>
        <p:nvSpPr>
          <p:cNvPr id="20" name="Text 18"/>
          <p:cNvSpPr/>
          <p:nvPr/>
        </p:nvSpPr>
        <p:spPr>
          <a:xfrm>
            <a:off x="1170432" y="4489704"/>
            <a:ext cx="4754880" cy="384048"/>
          </a:xfrm>
          <a:prstGeom prst="rect">
            <a:avLst/>
          </a:prstGeom>
          <a:noFill/>
          <a:ln/>
        </p:spPr>
        <p:txBody>
          <a:bodyPr wrap="square" rtlCol="0" anchor="ctr"/>
          <a:lstStyle/>
          <a:p>
            <a:pPr indent="0" marL="0">
              <a:buNone/>
            </a:pPr>
            <a:r>
              <a:rPr lang="en-US" sz="1150" dirty="0">
                <a:solidFill>
                  <a:srgbClr val="053057"/>
                </a:solidFill>
                <a:latin typeface="Montserrat" pitchFamily="34" charset="0"/>
                <a:ea typeface="Montserrat" pitchFamily="34" charset="-122"/>
                <a:cs typeface="Montserrat" pitchFamily="34" charset="-120"/>
              </a:rPr>
              <a:t>Cortex-enabled experiences</a:t>
            </a:r>
            <a:endParaRPr lang="en-US" sz="1150" dirty="0"/>
          </a:p>
        </p:txBody>
      </p:sp>
      <p:sp>
        <p:nvSpPr>
          <p:cNvPr id="21" name="Shape 19"/>
          <p:cNvSpPr/>
          <p:nvPr/>
        </p:nvSpPr>
        <p:spPr>
          <a:xfrm>
            <a:off x="640080" y="5093208"/>
            <a:ext cx="384048" cy="384048"/>
          </a:xfrm>
          <a:prstGeom prst="ellipse">
            <a:avLst/>
          </a:prstGeom>
          <a:solidFill>
            <a:srgbClr val="A2F3F3"/>
          </a:solidFill>
          <a:ln/>
        </p:spPr>
      </p:sp>
      <p:sp>
        <p:nvSpPr>
          <p:cNvPr id="22" name="Text 20"/>
          <p:cNvSpPr/>
          <p:nvPr/>
        </p:nvSpPr>
        <p:spPr>
          <a:xfrm>
            <a:off x="640080" y="5074920"/>
            <a:ext cx="384048" cy="384048"/>
          </a:xfrm>
          <a:prstGeom prst="rect">
            <a:avLst/>
          </a:prstGeom>
          <a:noFill/>
          <a:ln/>
        </p:spPr>
        <p:txBody>
          <a:bodyPr wrap="square" rtlCol="0" anchor="ctr"/>
          <a:lstStyle/>
          <a:p>
            <a:pPr algn="ctr" indent="0" marL="0">
              <a:buNone/>
            </a:pPr>
            <a:r>
              <a:rPr lang="en-US" sz="1500" b="1" dirty="0">
                <a:solidFill>
                  <a:srgbClr val="053057"/>
                </a:solidFill>
                <a:latin typeface="Montserrat" pitchFamily="34" charset="0"/>
                <a:ea typeface="Montserrat" pitchFamily="34" charset="-122"/>
                <a:cs typeface="Montserrat" pitchFamily="34" charset="-120"/>
              </a:rPr>
              <a:t>✓</a:t>
            </a:r>
            <a:endParaRPr lang="en-US" sz="1500" dirty="0"/>
          </a:p>
        </p:txBody>
      </p:sp>
      <p:sp>
        <p:nvSpPr>
          <p:cNvPr id="23" name="Text 21"/>
          <p:cNvSpPr/>
          <p:nvPr/>
        </p:nvSpPr>
        <p:spPr>
          <a:xfrm>
            <a:off x="1170432" y="5111496"/>
            <a:ext cx="4754880" cy="384048"/>
          </a:xfrm>
          <a:prstGeom prst="rect">
            <a:avLst/>
          </a:prstGeom>
          <a:noFill/>
          <a:ln/>
        </p:spPr>
        <p:txBody>
          <a:bodyPr wrap="square" rtlCol="0" anchor="ctr"/>
          <a:lstStyle/>
          <a:p>
            <a:pPr indent="0" marL="0">
              <a:buNone/>
            </a:pPr>
            <a:r>
              <a:rPr lang="en-US" sz="1150" dirty="0">
                <a:solidFill>
                  <a:srgbClr val="053057"/>
                </a:solidFill>
                <a:latin typeface="Montserrat" pitchFamily="34" charset="0"/>
                <a:ea typeface="Montserrat" pitchFamily="34" charset="-122"/>
                <a:cs typeface="Montserrat" pitchFamily="34" charset="-120"/>
              </a:rPr>
              <a:t>High duplicated-platform overhead</a:t>
            </a:r>
            <a:endParaRPr lang="en-US" sz="1150" dirty="0"/>
          </a:p>
        </p:txBody>
      </p:sp>
      <p:sp>
        <p:nvSpPr>
          <p:cNvPr id="24" name="Shape 22"/>
          <p:cNvSpPr/>
          <p:nvPr/>
        </p:nvSpPr>
        <p:spPr>
          <a:xfrm>
            <a:off x="6217920" y="1965960"/>
            <a:ext cx="5349240" cy="457200"/>
          </a:xfrm>
          <a:prstGeom prst="roundRect">
            <a:avLst>
              <a:gd name="adj" fmla="val 14000"/>
            </a:avLst>
          </a:prstGeom>
          <a:solidFill>
            <a:srgbClr val="314550"/>
          </a:solidFill>
          <a:ln/>
        </p:spPr>
      </p:sp>
      <p:sp>
        <p:nvSpPr>
          <p:cNvPr id="25" name="Text 23"/>
          <p:cNvSpPr/>
          <p:nvPr/>
        </p:nvSpPr>
        <p:spPr>
          <a:xfrm>
            <a:off x="6217920" y="1965960"/>
            <a:ext cx="5349240" cy="457200"/>
          </a:xfrm>
          <a:prstGeom prst="rect">
            <a:avLst/>
          </a:prstGeom>
          <a:noFill/>
          <a:ln/>
        </p:spPr>
        <p:txBody>
          <a:bodyPr wrap="square" rtlCol="0" anchor="ctr"/>
          <a:lstStyle/>
          <a:p>
            <a:pPr algn="ctr" indent="0" marL="0">
              <a:buNone/>
            </a:pPr>
            <a:r>
              <a:rPr lang="en-US" sz="1150" b="1" spc="100" kern="0" dirty="0">
                <a:solidFill>
                  <a:srgbClr val="FFFFFF"/>
                </a:solidFill>
                <a:latin typeface="Montserrat" pitchFamily="34" charset="0"/>
                <a:ea typeface="Montserrat" pitchFamily="34" charset="-122"/>
                <a:cs typeface="Montserrat" pitchFamily="34" charset="-120"/>
              </a:rPr>
              <a:t>REVIEW CAREFULLY OR RETAIN</a:t>
            </a:r>
            <a:endParaRPr lang="en-US" sz="1150" dirty="0"/>
          </a:p>
        </p:txBody>
      </p:sp>
      <p:sp>
        <p:nvSpPr>
          <p:cNvPr id="26" name="Shape 24"/>
          <p:cNvSpPr/>
          <p:nvPr/>
        </p:nvSpPr>
        <p:spPr>
          <a:xfrm>
            <a:off x="6217920" y="2606040"/>
            <a:ext cx="384048" cy="384048"/>
          </a:xfrm>
          <a:prstGeom prst="ellipse">
            <a:avLst/>
          </a:prstGeom>
          <a:solidFill>
            <a:srgbClr val="F4F3F0"/>
          </a:solidFill>
          <a:ln/>
        </p:spPr>
      </p:sp>
      <p:sp>
        <p:nvSpPr>
          <p:cNvPr id="27" name="Text 25"/>
          <p:cNvSpPr/>
          <p:nvPr/>
        </p:nvSpPr>
        <p:spPr>
          <a:xfrm>
            <a:off x="6217920" y="2587752"/>
            <a:ext cx="384048" cy="384048"/>
          </a:xfrm>
          <a:prstGeom prst="rect">
            <a:avLst/>
          </a:prstGeom>
          <a:noFill/>
          <a:ln/>
        </p:spPr>
        <p:txBody>
          <a:bodyPr wrap="square" rtlCol="0" anchor="ctr"/>
          <a:lstStyle/>
          <a:p>
            <a:pPr algn="ctr" indent="0" marL="0">
              <a:buNone/>
            </a:pPr>
            <a:r>
              <a:rPr lang="en-US" sz="1300" b="1" dirty="0">
                <a:solidFill>
                  <a:srgbClr val="5B6B7A"/>
                </a:solidFill>
                <a:latin typeface="Montserrat" pitchFamily="34" charset="0"/>
                <a:ea typeface="Montserrat" pitchFamily="34" charset="-122"/>
                <a:cs typeface="Montserrat" pitchFamily="34" charset="-120"/>
              </a:rPr>
              <a:t>○</a:t>
            </a:r>
            <a:endParaRPr lang="en-US" sz="1300" dirty="0"/>
          </a:p>
        </p:txBody>
      </p:sp>
      <p:sp>
        <p:nvSpPr>
          <p:cNvPr id="28" name="Text 26"/>
          <p:cNvSpPr/>
          <p:nvPr/>
        </p:nvSpPr>
        <p:spPr>
          <a:xfrm>
            <a:off x="6748272" y="2624328"/>
            <a:ext cx="4754880" cy="384048"/>
          </a:xfrm>
          <a:prstGeom prst="rect">
            <a:avLst/>
          </a:prstGeom>
          <a:noFill/>
          <a:ln/>
        </p:spPr>
        <p:txBody>
          <a:bodyPr wrap="square" rtlCol="0" anchor="ctr"/>
          <a:lstStyle/>
          <a:p>
            <a:pPr indent="0" marL="0">
              <a:buNone/>
            </a:pPr>
            <a:r>
              <a:rPr lang="en-US" sz="1150" dirty="0">
                <a:solidFill>
                  <a:srgbClr val="5B6B7A"/>
                </a:solidFill>
                <a:latin typeface="Montserrat" pitchFamily="34" charset="0"/>
                <a:ea typeface="Montserrat" pitchFamily="34" charset="-122"/>
                <a:cs typeface="Montserrat" pitchFamily="34" charset="-120"/>
              </a:rPr>
              <a:t>Broad self-service authoring</a:t>
            </a:r>
            <a:endParaRPr lang="en-US" sz="1150" dirty="0"/>
          </a:p>
        </p:txBody>
      </p:sp>
      <p:sp>
        <p:nvSpPr>
          <p:cNvPr id="29" name="Shape 27"/>
          <p:cNvSpPr/>
          <p:nvPr/>
        </p:nvSpPr>
        <p:spPr>
          <a:xfrm>
            <a:off x="6217920" y="3227832"/>
            <a:ext cx="384048" cy="384048"/>
          </a:xfrm>
          <a:prstGeom prst="ellipse">
            <a:avLst/>
          </a:prstGeom>
          <a:solidFill>
            <a:srgbClr val="F4F3F0"/>
          </a:solidFill>
          <a:ln/>
        </p:spPr>
      </p:sp>
      <p:sp>
        <p:nvSpPr>
          <p:cNvPr id="30" name="Text 28"/>
          <p:cNvSpPr/>
          <p:nvPr/>
        </p:nvSpPr>
        <p:spPr>
          <a:xfrm>
            <a:off x="6217920" y="3209544"/>
            <a:ext cx="384048" cy="384048"/>
          </a:xfrm>
          <a:prstGeom prst="rect">
            <a:avLst/>
          </a:prstGeom>
          <a:noFill/>
          <a:ln/>
        </p:spPr>
        <p:txBody>
          <a:bodyPr wrap="square" rtlCol="0" anchor="ctr"/>
          <a:lstStyle/>
          <a:p>
            <a:pPr algn="ctr" indent="0" marL="0">
              <a:buNone/>
            </a:pPr>
            <a:r>
              <a:rPr lang="en-US" sz="1300" b="1" dirty="0">
                <a:solidFill>
                  <a:srgbClr val="5B6B7A"/>
                </a:solidFill>
                <a:latin typeface="Montserrat" pitchFamily="34" charset="0"/>
                <a:ea typeface="Montserrat" pitchFamily="34" charset="-122"/>
                <a:cs typeface="Montserrat" pitchFamily="34" charset="-120"/>
              </a:rPr>
              <a:t>○</a:t>
            </a:r>
            <a:endParaRPr lang="en-US" sz="1300" dirty="0"/>
          </a:p>
        </p:txBody>
      </p:sp>
      <p:sp>
        <p:nvSpPr>
          <p:cNvPr id="31" name="Text 29"/>
          <p:cNvSpPr/>
          <p:nvPr/>
        </p:nvSpPr>
        <p:spPr>
          <a:xfrm>
            <a:off x="6748272" y="3246120"/>
            <a:ext cx="4754880" cy="384048"/>
          </a:xfrm>
          <a:prstGeom prst="rect">
            <a:avLst/>
          </a:prstGeom>
          <a:noFill/>
          <a:ln/>
        </p:spPr>
        <p:txBody>
          <a:bodyPr wrap="square" rtlCol="0" anchor="ctr"/>
          <a:lstStyle/>
          <a:p>
            <a:pPr indent="0" marL="0">
              <a:buNone/>
            </a:pPr>
            <a:r>
              <a:rPr lang="en-US" sz="1150" dirty="0">
                <a:solidFill>
                  <a:srgbClr val="5B6B7A"/>
                </a:solidFill>
                <a:latin typeface="Montserrat" pitchFamily="34" charset="0"/>
                <a:ea typeface="Montserrat" pitchFamily="34" charset="-122"/>
                <a:cs typeface="Montserrat" pitchFamily="34" charset="-120"/>
              </a:rPr>
              <a:t>Dashboard actions and stories</a:t>
            </a:r>
            <a:endParaRPr lang="en-US" sz="1150" dirty="0"/>
          </a:p>
        </p:txBody>
      </p:sp>
      <p:sp>
        <p:nvSpPr>
          <p:cNvPr id="32" name="Shape 30"/>
          <p:cNvSpPr/>
          <p:nvPr/>
        </p:nvSpPr>
        <p:spPr>
          <a:xfrm>
            <a:off x="6217920" y="3849624"/>
            <a:ext cx="384048" cy="384048"/>
          </a:xfrm>
          <a:prstGeom prst="ellipse">
            <a:avLst/>
          </a:prstGeom>
          <a:solidFill>
            <a:srgbClr val="F4F3F0"/>
          </a:solidFill>
          <a:ln/>
        </p:spPr>
      </p:sp>
      <p:sp>
        <p:nvSpPr>
          <p:cNvPr id="33" name="Text 31"/>
          <p:cNvSpPr/>
          <p:nvPr/>
        </p:nvSpPr>
        <p:spPr>
          <a:xfrm>
            <a:off x="6217920" y="3831336"/>
            <a:ext cx="384048" cy="384048"/>
          </a:xfrm>
          <a:prstGeom prst="rect">
            <a:avLst/>
          </a:prstGeom>
          <a:noFill/>
          <a:ln/>
        </p:spPr>
        <p:txBody>
          <a:bodyPr wrap="square" rtlCol="0" anchor="ctr"/>
          <a:lstStyle/>
          <a:p>
            <a:pPr algn="ctr" indent="0" marL="0">
              <a:buNone/>
            </a:pPr>
            <a:r>
              <a:rPr lang="en-US" sz="1300" b="1" dirty="0">
                <a:solidFill>
                  <a:srgbClr val="5B6B7A"/>
                </a:solidFill>
                <a:latin typeface="Montserrat" pitchFamily="34" charset="0"/>
                <a:ea typeface="Montserrat" pitchFamily="34" charset="-122"/>
                <a:cs typeface="Montserrat" pitchFamily="34" charset="-120"/>
              </a:rPr>
              <a:t>○</a:t>
            </a:r>
            <a:endParaRPr lang="en-US" sz="1300" dirty="0"/>
          </a:p>
        </p:txBody>
      </p:sp>
      <p:sp>
        <p:nvSpPr>
          <p:cNvPr id="34" name="Text 32"/>
          <p:cNvSpPr/>
          <p:nvPr/>
        </p:nvSpPr>
        <p:spPr>
          <a:xfrm>
            <a:off x="6748272" y="3867912"/>
            <a:ext cx="4754880" cy="384048"/>
          </a:xfrm>
          <a:prstGeom prst="rect">
            <a:avLst/>
          </a:prstGeom>
          <a:noFill/>
          <a:ln/>
        </p:spPr>
        <p:txBody>
          <a:bodyPr wrap="square" rtlCol="0" anchor="ctr"/>
          <a:lstStyle/>
          <a:p>
            <a:pPr indent="0" marL="0">
              <a:buNone/>
            </a:pPr>
            <a:r>
              <a:rPr lang="en-US" sz="1150" dirty="0">
                <a:solidFill>
                  <a:srgbClr val="5B6B7A"/>
                </a:solidFill>
                <a:latin typeface="Montserrat" pitchFamily="34" charset="0"/>
                <a:ea typeface="Montserrat" pitchFamily="34" charset="-122"/>
                <a:cs typeface="Montserrat" pitchFamily="34" charset="-120"/>
              </a:rPr>
              <a:t>Specialist Tableau visualizations</a:t>
            </a:r>
            <a:endParaRPr lang="en-US" sz="1150" dirty="0"/>
          </a:p>
        </p:txBody>
      </p:sp>
      <p:sp>
        <p:nvSpPr>
          <p:cNvPr id="35" name="Shape 33"/>
          <p:cNvSpPr/>
          <p:nvPr/>
        </p:nvSpPr>
        <p:spPr>
          <a:xfrm>
            <a:off x="6217920" y="4471416"/>
            <a:ext cx="384048" cy="384048"/>
          </a:xfrm>
          <a:prstGeom prst="ellipse">
            <a:avLst/>
          </a:prstGeom>
          <a:solidFill>
            <a:srgbClr val="F4F3F0"/>
          </a:solidFill>
          <a:ln/>
        </p:spPr>
      </p:sp>
      <p:sp>
        <p:nvSpPr>
          <p:cNvPr id="36" name="Text 34"/>
          <p:cNvSpPr/>
          <p:nvPr/>
        </p:nvSpPr>
        <p:spPr>
          <a:xfrm>
            <a:off x="6217920" y="4453128"/>
            <a:ext cx="384048" cy="384048"/>
          </a:xfrm>
          <a:prstGeom prst="rect">
            <a:avLst/>
          </a:prstGeom>
          <a:noFill/>
          <a:ln/>
        </p:spPr>
        <p:txBody>
          <a:bodyPr wrap="square" rtlCol="0" anchor="ctr"/>
          <a:lstStyle/>
          <a:p>
            <a:pPr algn="ctr" indent="0" marL="0">
              <a:buNone/>
            </a:pPr>
            <a:r>
              <a:rPr lang="en-US" sz="1300" b="1" dirty="0">
                <a:solidFill>
                  <a:srgbClr val="5B6B7A"/>
                </a:solidFill>
                <a:latin typeface="Montserrat" pitchFamily="34" charset="0"/>
                <a:ea typeface="Montserrat" pitchFamily="34" charset="-122"/>
                <a:cs typeface="Montserrat" pitchFamily="34" charset="-120"/>
              </a:rPr>
              <a:t>○</a:t>
            </a:r>
            <a:endParaRPr lang="en-US" sz="1300" dirty="0"/>
          </a:p>
        </p:txBody>
      </p:sp>
      <p:sp>
        <p:nvSpPr>
          <p:cNvPr id="37" name="Text 35"/>
          <p:cNvSpPr/>
          <p:nvPr/>
        </p:nvSpPr>
        <p:spPr>
          <a:xfrm>
            <a:off x="6748272" y="4489704"/>
            <a:ext cx="4754880" cy="384048"/>
          </a:xfrm>
          <a:prstGeom prst="rect">
            <a:avLst/>
          </a:prstGeom>
          <a:noFill/>
          <a:ln/>
        </p:spPr>
        <p:txBody>
          <a:bodyPr wrap="square" rtlCol="0" anchor="ctr"/>
          <a:lstStyle/>
          <a:p>
            <a:pPr indent="0" marL="0">
              <a:buNone/>
            </a:pPr>
            <a:r>
              <a:rPr lang="en-US" sz="1150" dirty="0">
                <a:solidFill>
                  <a:srgbClr val="5B6B7A"/>
                </a:solidFill>
                <a:latin typeface="Montserrat" pitchFamily="34" charset="0"/>
                <a:ea typeface="Montserrat" pitchFamily="34" charset="-122"/>
                <a:cs typeface="Montserrat" pitchFamily="34" charset="-120"/>
              </a:rPr>
              <a:t>Pixel-specific publications</a:t>
            </a:r>
            <a:endParaRPr lang="en-US" sz="1150" dirty="0"/>
          </a:p>
        </p:txBody>
      </p:sp>
      <p:sp>
        <p:nvSpPr>
          <p:cNvPr id="38" name="Shape 36"/>
          <p:cNvSpPr/>
          <p:nvPr/>
        </p:nvSpPr>
        <p:spPr>
          <a:xfrm>
            <a:off x="6217920" y="5093208"/>
            <a:ext cx="384048" cy="384048"/>
          </a:xfrm>
          <a:prstGeom prst="ellipse">
            <a:avLst/>
          </a:prstGeom>
          <a:solidFill>
            <a:srgbClr val="F4F3F0"/>
          </a:solidFill>
          <a:ln/>
        </p:spPr>
      </p:sp>
      <p:sp>
        <p:nvSpPr>
          <p:cNvPr id="39" name="Text 37"/>
          <p:cNvSpPr/>
          <p:nvPr/>
        </p:nvSpPr>
        <p:spPr>
          <a:xfrm>
            <a:off x="6217920" y="5074920"/>
            <a:ext cx="384048" cy="384048"/>
          </a:xfrm>
          <a:prstGeom prst="rect">
            <a:avLst/>
          </a:prstGeom>
          <a:noFill/>
          <a:ln/>
        </p:spPr>
        <p:txBody>
          <a:bodyPr wrap="square" rtlCol="0" anchor="ctr"/>
          <a:lstStyle/>
          <a:p>
            <a:pPr algn="ctr" indent="0" marL="0">
              <a:buNone/>
            </a:pPr>
            <a:r>
              <a:rPr lang="en-US" sz="1300" b="1" dirty="0">
                <a:solidFill>
                  <a:srgbClr val="5B6B7A"/>
                </a:solidFill>
                <a:latin typeface="Montserrat" pitchFamily="34" charset="0"/>
                <a:ea typeface="Montserrat" pitchFamily="34" charset="-122"/>
                <a:cs typeface="Montserrat" pitchFamily="34" charset="-120"/>
              </a:rPr>
              <a:t>○</a:t>
            </a:r>
            <a:endParaRPr lang="en-US" sz="1300" dirty="0"/>
          </a:p>
        </p:txBody>
      </p:sp>
      <p:sp>
        <p:nvSpPr>
          <p:cNvPr id="40" name="Text 38"/>
          <p:cNvSpPr/>
          <p:nvPr/>
        </p:nvSpPr>
        <p:spPr>
          <a:xfrm>
            <a:off x="6748272" y="5111496"/>
            <a:ext cx="4754880" cy="384048"/>
          </a:xfrm>
          <a:prstGeom prst="rect">
            <a:avLst/>
          </a:prstGeom>
          <a:noFill/>
          <a:ln/>
        </p:spPr>
        <p:txBody>
          <a:bodyPr wrap="square" rtlCol="0" anchor="ctr"/>
          <a:lstStyle/>
          <a:p>
            <a:pPr indent="0" marL="0">
              <a:buNone/>
            </a:pPr>
            <a:r>
              <a:rPr lang="en-US" sz="1150" dirty="0">
                <a:solidFill>
                  <a:srgbClr val="5B6B7A"/>
                </a:solidFill>
                <a:latin typeface="Montserrat" pitchFamily="34" charset="0"/>
                <a:ea typeface="Montserrat" pitchFamily="34" charset="-122"/>
                <a:cs typeface="Montserrat" pitchFamily="34" charset="-120"/>
              </a:rPr>
              <a:t>Unsupported live-source patterns</a:t>
            </a:r>
            <a:endParaRPr lang="en-US" sz="1150" dirty="0"/>
          </a:p>
        </p:txBody>
      </p:sp>
      <p:sp>
        <p:nvSpPr>
          <p:cNvPr id="41" name="Shape 39"/>
          <p:cNvSpPr/>
          <p:nvPr/>
        </p:nvSpPr>
        <p:spPr>
          <a:xfrm>
            <a:off x="640080" y="5897880"/>
            <a:ext cx="10927080" cy="594360"/>
          </a:xfrm>
          <a:prstGeom prst="roundRect">
            <a:avLst>
              <a:gd name="adj" fmla="val 12308"/>
            </a:avLst>
          </a:prstGeom>
          <a:solidFill>
            <a:srgbClr val="F4F3F0"/>
          </a:solidFill>
          <a:ln/>
        </p:spPr>
      </p:sp>
      <p:sp>
        <p:nvSpPr>
          <p:cNvPr id="42" name="Text 40"/>
          <p:cNvSpPr/>
          <p:nvPr/>
        </p:nvSpPr>
        <p:spPr>
          <a:xfrm>
            <a:off x="868680" y="5897880"/>
            <a:ext cx="10424160" cy="594360"/>
          </a:xfrm>
          <a:prstGeom prst="rect">
            <a:avLst/>
          </a:prstGeom>
          <a:noFill/>
          <a:ln/>
        </p:spPr>
        <p:txBody>
          <a:bodyPr wrap="square" rtlCol="0" anchor="ctr"/>
          <a:lstStyle/>
          <a:p>
            <a:pPr indent="0" marL="0">
              <a:buNone/>
            </a:pPr>
            <a:r>
              <a:rPr lang="en-US" sz="1150" b="1" dirty="0">
                <a:solidFill>
                  <a:srgbClr val="053057"/>
                </a:solidFill>
                <a:latin typeface="Montserrat" pitchFamily="34" charset="0"/>
                <a:ea typeface="Montserrat" pitchFamily="34" charset="-122"/>
                <a:cs typeface="Montserrat" pitchFamily="34" charset="-120"/>
              </a:rPr>
              <a:t>Unsupported constructs receive a named outcome before deployment; they are never silently dropped.</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3057"/>
        </a:solidFill>
      </p:bgPr>
    </p:bg>
    <p:spTree>
      <p:nvGrpSpPr>
        <p:cNvPr id="1" name=""/>
        <p:cNvGrpSpPr/>
        <p:nvPr/>
      </p:nvGrpSpPr>
      <p:grpSpPr>
        <a:xfrm>
          <a:off x="0" y="0"/>
          <a:ext cx="0" cy="0"/>
          <a:chOff x="0" y="0"/>
          <a:chExt cx="0" cy="0"/>
        </a:xfrm>
      </p:grpSpPr>
      <p:sp>
        <p:nvSpPr>
          <p:cNvPr id="2" name="Text 0"/>
          <p:cNvSpPr/>
          <p:nvPr/>
        </p:nvSpPr>
        <p:spPr>
          <a:xfrm>
            <a:off x="502920" y="365760"/>
            <a:ext cx="7315200" cy="292608"/>
          </a:xfrm>
          <a:prstGeom prst="rect">
            <a:avLst/>
          </a:prstGeom>
          <a:noFill/>
          <a:ln/>
        </p:spPr>
        <p:txBody>
          <a:bodyPr wrap="square" rtlCol="0" anchor="ctr"/>
          <a:lstStyle/>
          <a:p>
            <a:pPr indent="0" marL="0">
              <a:buNone/>
            </a:pPr>
            <a:r>
              <a:rPr lang="en-US" sz="1100" b="1" spc="200" kern="0" dirty="0">
                <a:solidFill>
                  <a:srgbClr val="00EDED"/>
                </a:solidFill>
                <a:latin typeface="Montserrat" pitchFamily="34" charset="0"/>
                <a:ea typeface="Montserrat" pitchFamily="34" charset="-122"/>
                <a:cs typeface="Montserrat" pitchFamily="34" charset="-120"/>
              </a:rPr>
              <a:t>ACCELERATOR DEMO · 09  ·  CORE PRESENTATION ENDS HERE</a:t>
            </a:r>
            <a:endParaRPr lang="en-US" sz="1100" dirty="0"/>
          </a:p>
        </p:txBody>
      </p:sp>
      <p:sp>
        <p:nvSpPr>
          <p:cNvPr id="3" name="Text 1"/>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A controlled pilot should test trust, not just conversion speed</a:t>
            </a:r>
            <a:endParaRPr lang="en-US" sz="2600" dirty="0"/>
          </a:p>
        </p:txBody>
      </p:sp>
      <p:sp>
        <p:nvSpPr>
          <p:cNvPr id="4" name="Text 2"/>
          <p:cNvSpPr/>
          <p:nvPr/>
        </p:nvSpPr>
        <p:spPr>
          <a:xfrm>
            <a:off x="502920" y="1371600"/>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Proposed decision: approve a representative workbook pilot with explicit acceptance criteria.</a:t>
            </a:r>
            <a:endParaRPr lang="en-US" sz="1300" dirty="0"/>
          </a:p>
        </p:txBody>
      </p:sp>
      <p:sp>
        <p:nvSpPr>
          <p:cNvPr id="5" name="Text 3"/>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6" name="Text 4"/>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09 / 13</a:t>
            </a:r>
            <a:endParaRPr lang="en-US" sz="900" dirty="0"/>
          </a:p>
        </p:txBody>
      </p:sp>
      <p:sp>
        <p:nvSpPr>
          <p:cNvPr id="7" name="Shape 5"/>
          <p:cNvSpPr/>
          <p:nvPr/>
        </p:nvSpPr>
        <p:spPr>
          <a:xfrm>
            <a:off x="594360" y="2240280"/>
            <a:ext cx="2606040" cy="1417320"/>
          </a:xfrm>
          <a:prstGeom prst="roundRect">
            <a:avLst>
              <a:gd name="adj" fmla="val 5161"/>
            </a:avLst>
          </a:prstGeom>
          <a:solidFill>
            <a:srgbClr val="314550"/>
          </a:solidFill>
          <a:ln/>
        </p:spPr>
      </p:sp>
      <p:sp>
        <p:nvSpPr>
          <p:cNvPr id="8" name="Shape 6"/>
          <p:cNvSpPr/>
          <p:nvPr/>
        </p:nvSpPr>
        <p:spPr>
          <a:xfrm>
            <a:off x="594360" y="2240280"/>
            <a:ext cx="2606040" cy="45720"/>
          </a:xfrm>
          <a:prstGeom prst="rect">
            <a:avLst/>
          </a:prstGeom>
          <a:solidFill>
            <a:srgbClr val="00EDED"/>
          </a:solidFill>
          <a:ln/>
        </p:spPr>
      </p:sp>
      <p:sp>
        <p:nvSpPr>
          <p:cNvPr id="9" name="Text 7"/>
          <p:cNvSpPr/>
          <p:nvPr/>
        </p:nvSpPr>
        <p:spPr>
          <a:xfrm>
            <a:off x="777240" y="2377440"/>
            <a:ext cx="2240280" cy="640080"/>
          </a:xfrm>
          <a:prstGeom prst="rect">
            <a:avLst/>
          </a:prstGeom>
          <a:noFill/>
          <a:ln/>
        </p:spPr>
        <p:txBody>
          <a:bodyPr wrap="square" rtlCol="0" anchor="ctr"/>
          <a:lstStyle/>
          <a:p>
            <a:pPr indent="0" marL="0">
              <a:buNone/>
            </a:pPr>
            <a:r>
              <a:rPr lang="en-US" sz="3200" b="1" dirty="0">
                <a:solidFill>
                  <a:srgbClr val="00EDED"/>
                </a:solidFill>
                <a:latin typeface="Montserrat" pitchFamily="34" charset="0"/>
                <a:ea typeface="Montserrat" pitchFamily="34" charset="-122"/>
                <a:cs typeface="Montserrat" pitchFamily="34" charset="-120"/>
              </a:rPr>
              <a:t>5–8</a:t>
            </a:r>
            <a:endParaRPr lang="en-US" sz="3200" dirty="0"/>
          </a:p>
        </p:txBody>
      </p:sp>
      <p:sp>
        <p:nvSpPr>
          <p:cNvPr id="10" name="Text 8"/>
          <p:cNvSpPr/>
          <p:nvPr/>
        </p:nvSpPr>
        <p:spPr>
          <a:xfrm>
            <a:off x="777240" y="3063240"/>
            <a:ext cx="2240280" cy="548640"/>
          </a:xfrm>
          <a:prstGeom prst="rect">
            <a:avLst/>
          </a:prstGeom>
          <a:noFill/>
          <a:ln/>
        </p:spPr>
        <p:txBody>
          <a:bodyPr wrap="square" rtlCol="0" anchor="ctr"/>
          <a:lstStyle/>
          <a:p>
            <a:pPr indent="0" marL="0">
              <a:lnSpc>
                <a:spcPct val="115000"/>
              </a:lnSpc>
              <a:buNone/>
            </a:pPr>
            <a:r>
              <a:rPr lang="en-US" sz="900" dirty="0">
                <a:solidFill>
                  <a:srgbClr val="AFC2D6"/>
                </a:solidFill>
                <a:latin typeface="Montserrat" pitchFamily="34" charset="0"/>
                <a:ea typeface="Montserrat" pitchFamily="34" charset="-122"/>
                <a:cs typeface="Montserrat" pitchFamily="34" charset="-120"/>
              </a:rPr>
              <a:t>workbooks across simple,</a:t>
            </a:r>
            <a:endParaRPr lang="en-US" sz="900" dirty="0"/>
          </a:p>
          <a:p>
            <a:pPr indent="0" marL="0">
              <a:lnSpc>
                <a:spcPct val="115000"/>
              </a:lnSpc>
              <a:buNone/>
            </a:pPr>
            <a:r>
              <a:rPr lang="en-US" sz="900" dirty="0">
                <a:solidFill>
                  <a:srgbClr val="AFC2D6"/>
                </a:solidFill>
                <a:latin typeface="Montserrat" pitchFamily="34" charset="0"/>
                <a:ea typeface="Montserrat" pitchFamily="34" charset="-122"/>
                <a:cs typeface="Montserrat" pitchFamily="34" charset="-120"/>
              </a:rPr>
              <a:t>moderate and complex patterns</a:t>
            </a:r>
            <a:endParaRPr lang="en-US" sz="900" dirty="0"/>
          </a:p>
        </p:txBody>
      </p:sp>
      <p:sp>
        <p:nvSpPr>
          <p:cNvPr id="11" name="Shape 9"/>
          <p:cNvSpPr/>
          <p:nvPr/>
        </p:nvSpPr>
        <p:spPr>
          <a:xfrm>
            <a:off x="3383280" y="2240280"/>
            <a:ext cx="2606040" cy="1417320"/>
          </a:xfrm>
          <a:prstGeom prst="roundRect">
            <a:avLst>
              <a:gd name="adj" fmla="val 5161"/>
            </a:avLst>
          </a:prstGeom>
          <a:solidFill>
            <a:srgbClr val="314550"/>
          </a:solidFill>
          <a:ln/>
        </p:spPr>
      </p:sp>
      <p:sp>
        <p:nvSpPr>
          <p:cNvPr id="12" name="Shape 10"/>
          <p:cNvSpPr/>
          <p:nvPr/>
        </p:nvSpPr>
        <p:spPr>
          <a:xfrm>
            <a:off x="3383280" y="2240280"/>
            <a:ext cx="2606040" cy="45720"/>
          </a:xfrm>
          <a:prstGeom prst="rect">
            <a:avLst/>
          </a:prstGeom>
          <a:solidFill>
            <a:srgbClr val="00EDED"/>
          </a:solidFill>
          <a:ln/>
        </p:spPr>
      </p:sp>
      <p:sp>
        <p:nvSpPr>
          <p:cNvPr id="13" name="Text 11"/>
          <p:cNvSpPr/>
          <p:nvPr/>
        </p:nvSpPr>
        <p:spPr>
          <a:xfrm>
            <a:off x="3566160" y="2377440"/>
            <a:ext cx="2240280" cy="640080"/>
          </a:xfrm>
          <a:prstGeom prst="rect">
            <a:avLst/>
          </a:prstGeom>
          <a:noFill/>
          <a:ln/>
        </p:spPr>
        <p:txBody>
          <a:bodyPr wrap="square" rtlCol="0" anchor="ctr"/>
          <a:lstStyle/>
          <a:p>
            <a:pPr indent="0" marL="0">
              <a:buNone/>
            </a:pPr>
            <a:r>
              <a:rPr lang="en-US" sz="3200" b="1" dirty="0">
                <a:solidFill>
                  <a:srgbClr val="00EDED"/>
                </a:solidFill>
                <a:latin typeface="Montserrat" pitchFamily="34" charset="0"/>
                <a:ea typeface="Montserrat" pitchFamily="34" charset="-122"/>
                <a:cs typeface="Montserrat" pitchFamily="34" charset="-120"/>
              </a:rPr>
              <a:t>100%</a:t>
            </a:r>
            <a:endParaRPr lang="en-US" sz="3200" dirty="0"/>
          </a:p>
        </p:txBody>
      </p:sp>
      <p:sp>
        <p:nvSpPr>
          <p:cNvPr id="14" name="Text 12"/>
          <p:cNvSpPr/>
          <p:nvPr/>
        </p:nvSpPr>
        <p:spPr>
          <a:xfrm>
            <a:off x="3566160" y="3063240"/>
            <a:ext cx="2240280" cy="548640"/>
          </a:xfrm>
          <a:prstGeom prst="rect">
            <a:avLst/>
          </a:prstGeom>
          <a:noFill/>
          <a:ln/>
        </p:spPr>
        <p:txBody>
          <a:bodyPr wrap="square" rtlCol="0" anchor="ctr"/>
          <a:lstStyle/>
          <a:p>
            <a:pPr indent="0" marL="0">
              <a:lnSpc>
                <a:spcPct val="115000"/>
              </a:lnSpc>
              <a:buNone/>
            </a:pPr>
            <a:r>
              <a:rPr lang="en-US" sz="900" dirty="0">
                <a:solidFill>
                  <a:srgbClr val="AFC2D6"/>
                </a:solidFill>
                <a:latin typeface="Montserrat" pitchFamily="34" charset="0"/>
                <a:ea typeface="Montserrat" pitchFamily="34" charset="-122"/>
                <a:cs typeface="Montserrat" pitchFamily="34" charset="-120"/>
              </a:rPr>
              <a:t>unsupported constructs</a:t>
            </a:r>
            <a:endParaRPr lang="en-US" sz="900" dirty="0"/>
          </a:p>
          <a:p>
            <a:pPr indent="0" marL="0">
              <a:lnSpc>
                <a:spcPct val="115000"/>
              </a:lnSpc>
              <a:buNone/>
            </a:pPr>
            <a:r>
              <a:rPr lang="en-US" sz="900" dirty="0">
                <a:solidFill>
                  <a:srgbClr val="AFC2D6"/>
                </a:solidFill>
                <a:latin typeface="Montserrat" pitchFamily="34" charset="0"/>
                <a:ea typeface="Montserrat" pitchFamily="34" charset="-122"/>
                <a:cs typeface="Montserrat" pitchFamily="34" charset="-120"/>
              </a:rPr>
              <a:t>surfaced before deployment</a:t>
            </a:r>
            <a:endParaRPr lang="en-US" sz="900" dirty="0"/>
          </a:p>
        </p:txBody>
      </p:sp>
      <p:sp>
        <p:nvSpPr>
          <p:cNvPr id="15" name="Shape 13"/>
          <p:cNvSpPr/>
          <p:nvPr/>
        </p:nvSpPr>
        <p:spPr>
          <a:xfrm>
            <a:off x="6172200" y="2240280"/>
            <a:ext cx="2606040" cy="1417320"/>
          </a:xfrm>
          <a:prstGeom prst="roundRect">
            <a:avLst>
              <a:gd name="adj" fmla="val 5161"/>
            </a:avLst>
          </a:prstGeom>
          <a:solidFill>
            <a:srgbClr val="314550"/>
          </a:solidFill>
          <a:ln/>
        </p:spPr>
      </p:sp>
      <p:sp>
        <p:nvSpPr>
          <p:cNvPr id="16" name="Shape 14"/>
          <p:cNvSpPr/>
          <p:nvPr/>
        </p:nvSpPr>
        <p:spPr>
          <a:xfrm>
            <a:off x="6172200" y="2240280"/>
            <a:ext cx="2606040" cy="45720"/>
          </a:xfrm>
          <a:prstGeom prst="rect">
            <a:avLst/>
          </a:prstGeom>
          <a:solidFill>
            <a:srgbClr val="00EDED"/>
          </a:solidFill>
          <a:ln/>
        </p:spPr>
      </p:sp>
      <p:sp>
        <p:nvSpPr>
          <p:cNvPr id="17" name="Text 15"/>
          <p:cNvSpPr/>
          <p:nvPr/>
        </p:nvSpPr>
        <p:spPr>
          <a:xfrm>
            <a:off x="6355080" y="2377440"/>
            <a:ext cx="2240280" cy="640080"/>
          </a:xfrm>
          <a:prstGeom prst="rect">
            <a:avLst/>
          </a:prstGeom>
          <a:noFill/>
          <a:ln/>
        </p:spPr>
        <p:txBody>
          <a:bodyPr wrap="square" rtlCol="0" anchor="ctr"/>
          <a:lstStyle/>
          <a:p>
            <a:pPr indent="0" marL="0">
              <a:buNone/>
            </a:pPr>
            <a:r>
              <a:rPr lang="en-US" sz="3200" b="1" dirty="0">
                <a:solidFill>
                  <a:srgbClr val="00EDED"/>
                </a:solidFill>
                <a:latin typeface="Montserrat" pitchFamily="34" charset="0"/>
                <a:ea typeface="Montserrat" pitchFamily="34" charset="-122"/>
                <a:cs typeface="Montserrat" pitchFamily="34" charset="-120"/>
              </a:rPr>
              <a:t>0</a:t>
            </a:r>
            <a:endParaRPr lang="en-US" sz="3200" dirty="0"/>
          </a:p>
        </p:txBody>
      </p:sp>
      <p:sp>
        <p:nvSpPr>
          <p:cNvPr id="18" name="Text 16"/>
          <p:cNvSpPr/>
          <p:nvPr/>
        </p:nvSpPr>
        <p:spPr>
          <a:xfrm>
            <a:off x="6355080" y="3063240"/>
            <a:ext cx="2240280" cy="548640"/>
          </a:xfrm>
          <a:prstGeom prst="rect">
            <a:avLst/>
          </a:prstGeom>
          <a:noFill/>
          <a:ln/>
        </p:spPr>
        <p:txBody>
          <a:bodyPr wrap="square" rtlCol="0" anchor="ctr"/>
          <a:lstStyle/>
          <a:p>
            <a:pPr indent="0" marL="0">
              <a:lnSpc>
                <a:spcPct val="115000"/>
              </a:lnSpc>
              <a:buNone/>
            </a:pPr>
            <a:r>
              <a:rPr lang="en-US" sz="900" dirty="0">
                <a:solidFill>
                  <a:srgbClr val="AFC2D6"/>
                </a:solidFill>
                <a:latin typeface="Montserrat" pitchFamily="34" charset="0"/>
                <a:ea typeface="Montserrat" pitchFamily="34" charset="-122"/>
                <a:cs typeface="Montserrat" pitchFamily="34" charset="-120"/>
              </a:rPr>
              <a:t>unexplained numeric</a:t>
            </a:r>
            <a:endParaRPr lang="en-US" sz="900" dirty="0"/>
          </a:p>
          <a:p>
            <a:pPr indent="0" marL="0">
              <a:lnSpc>
                <a:spcPct val="115000"/>
              </a:lnSpc>
              <a:buNone/>
            </a:pPr>
            <a:r>
              <a:rPr lang="en-US" sz="900" dirty="0">
                <a:solidFill>
                  <a:srgbClr val="AFC2D6"/>
                </a:solidFill>
                <a:latin typeface="Montserrat" pitchFamily="34" charset="0"/>
                <a:ea typeface="Montserrat" pitchFamily="34" charset="-122"/>
                <a:cs typeface="Montserrat" pitchFamily="34" charset="-120"/>
              </a:rPr>
              <a:t>mismatches at accepted tolerance</a:t>
            </a:r>
            <a:endParaRPr lang="en-US" sz="900" dirty="0"/>
          </a:p>
        </p:txBody>
      </p:sp>
      <p:sp>
        <p:nvSpPr>
          <p:cNvPr id="19" name="Shape 17"/>
          <p:cNvSpPr/>
          <p:nvPr/>
        </p:nvSpPr>
        <p:spPr>
          <a:xfrm>
            <a:off x="8961120" y="2240280"/>
            <a:ext cx="2606040" cy="1417320"/>
          </a:xfrm>
          <a:prstGeom prst="roundRect">
            <a:avLst>
              <a:gd name="adj" fmla="val 5161"/>
            </a:avLst>
          </a:prstGeom>
          <a:solidFill>
            <a:srgbClr val="314550"/>
          </a:solidFill>
          <a:ln/>
        </p:spPr>
      </p:sp>
      <p:sp>
        <p:nvSpPr>
          <p:cNvPr id="20" name="Shape 18"/>
          <p:cNvSpPr/>
          <p:nvPr/>
        </p:nvSpPr>
        <p:spPr>
          <a:xfrm>
            <a:off x="8961120" y="2240280"/>
            <a:ext cx="2606040" cy="45720"/>
          </a:xfrm>
          <a:prstGeom prst="rect">
            <a:avLst/>
          </a:prstGeom>
          <a:solidFill>
            <a:srgbClr val="00EDED"/>
          </a:solidFill>
          <a:ln/>
        </p:spPr>
      </p:sp>
      <p:sp>
        <p:nvSpPr>
          <p:cNvPr id="21" name="Text 19"/>
          <p:cNvSpPr/>
          <p:nvPr/>
        </p:nvSpPr>
        <p:spPr>
          <a:xfrm>
            <a:off x="9144000" y="2377440"/>
            <a:ext cx="2240280" cy="640080"/>
          </a:xfrm>
          <a:prstGeom prst="rect">
            <a:avLst/>
          </a:prstGeom>
          <a:noFill/>
          <a:ln/>
        </p:spPr>
        <p:txBody>
          <a:bodyPr wrap="square" rtlCol="0" anchor="ctr"/>
          <a:lstStyle/>
          <a:p>
            <a:pPr indent="0" marL="0">
              <a:buNone/>
            </a:pPr>
            <a:r>
              <a:rPr lang="en-US" sz="3200" b="1" dirty="0">
                <a:solidFill>
                  <a:srgbClr val="00EDED"/>
                </a:solidFill>
                <a:latin typeface="Montserrat" pitchFamily="34" charset="0"/>
                <a:ea typeface="Montserrat" pitchFamily="34" charset="-122"/>
                <a:cs typeface="Montserrat" pitchFamily="34" charset="-120"/>
              </a:rPr>
              <a:t>1</a:t>
            </a:r>
            <a:endParaRPr lang="en-US" sz="3200" dirty="0"/>
          </a:p>
        </p:txBody>
      </p:sp>
      <p:sp>
        <p:nvSpPr>
          <p:cNvPr id="22" name="Text 20"/>
          <p:cNvSpPr/>
          <p:nvPr/>
        </p:nvSpPr>
        <p:spPr>
          <a:xfrm>
            <a:off x="9144000" y="3063240"/>
            <a:ext cx="2240280" cy="548640"/>
          </a:xfrm>
          <a:prstGeom prst="rect">
            <a:avLst/>
          </a:prstGeom>
          <a:noFill/>
          <a:ln/>
        </p:spPr>
        <p:txBody>
          <a:bodyPr wrap="square" rtlCol="0" anchor="ctr"/>
          <a:lstStyle/>
          <a:p>
            <a:pPr indent="0" marL="0">
              <a:lnSpc>
                <a:spcPct val="115000"/>
              </a:lnSpc>
              <a:buNone/>
            </a:pPr>
            <a:r>
              <a:rPr lang="en-US" sz="900" dirty="0">
                <a:solidFill>
                  <a:srgbClr val="AFC2D6"/>
                </a:solidFill>
                <a:latin typeface="Montserrat" pitchFamily="34" charset="0"/>
                <a:ea typeface="Montserrat" pitchFamily="34" charset="-122"/>
                <a:cs typeface="Montserrat" pitchFamily="34" charset="-120"/>
              </a:rPr>
              <a:t>reviewable evidence</a:t>
            </a:r>
            <a:endParaRPr lang="en-US" sz="900" dirty="0"/>
          </a:p>
          <a:p>
            <a:pPr indent="0" marL="0">
              <a:lnSpc>
                <a:spcPct val="115000"/>
              </a:lnSpc>
              <a:buNone/>
            </a:pPr>
            <a:r>
              <a:rPr lang="en-US" sz="900" dirty="0">
                <a:solidFill>
                  <a:srgbClr val="AFC2D6"/>
                </a:solidFill>
                <a:latin typeface="Montserrat" pitchFamily="34" charset="0"/>
                <a:ea typeface="Montserrat" pitchFamily="34" charset="-122"/>
                <a:cs typeface="Montserrat" pitchFamily="34" charset="-120"/>
              </a:rPr>
              <a:t>package per workbook</a:t>
            </a:r>
            <a:endParaRPr lang="en-US" sz="900" dirty="0"/>
          </a:p>
        </p:txBody>
      </p:sp>
      <p:sp>
        <p:nvSpPr>
          <p:cNvPr id="23" name="Text 21"/>
          <p:cNvSpPr/>
          <p:nvPr/>
        </p:nvSpPr>
        <p:spPr>
          <a:xfrm>
            <a:off x="594360" y="3977640"/>
            <a:ext cx="5029200" cy="274320"/>
          </a:xfrm>
          <a:prstGeom prst="rect">
            <a:avLst/>
          </a:prstGeom>
          <a:noFill/>
          <a:ln/>
        </p:spPr>
        <p:txBody>
          <a:bodyPr wrap="square" rtlCol="0" anchor="ctr"/>
          <a:lstStyle/>
          <a:p>
            <a:pPr indent="0" marL="0">
              <a:buNone/>
            </a:pPr>
            <a:r>
              <a:rPr lang="en-US" sz="1050" b="1" spc="150" kern="0" dirty="0">
                <a:solidFill>
                  <a:srgbClr val="00EDED"/>
                </a:solidFill>
                <a:latin typeface="Montserrat" pitchFamily="34" charset="0"/>
                <a:ea typeface="Montserrat" pitchFamily="34" charset="-122"/>
                <a:cs typeface="Montserrat" pitchFamily="34" charset="-120"/>
              </a:rPr>
              <a:t>PILOT OUTPUT</a:t>
            </a:r>
            <a:endParaRPr lang="en-US" sz="1050" dirty="0"/>
          </a:p>
        </p:txBody>
      </p:sp>
      <p:sp>
        <p:nvSpPr>
          <p:cNvPr id="24" name="Text 22"/>
          <p:cNvSpPr/>
          <p:nvPr/>
        </p:nvSpPr>
        <p:spPr>
          <a:xfrm>
            <a:off x="594360" y="4297680"/>
            <a:ext cx="274320" cy="320040"/>
          </a:xfrm>
          <a:prstGeom prst="rect">
            <a:avLst/>
          </a:prstGeom>
          <a:noFill/>
          <a:ln/>
        </p:spPr>
        <p:txBody>
          <a:bodyPr wrap="square" rtlCol="0" anchor="ctr"/>
          <a:lstStyle/>
          <a:p>
            <a:pPr indent="0" marL="0">
              <a:buNone/>
            </a:pPr>
            <a:r>
              <a:rPr lang="en-US" sz="1400" b="1" dirty="0">
                <a:solidFill>
                  <a:srgbClr val="00EDED"/>
                </a:solidFill>
                <a:latin typeface="Montserrat" pitchFamily="34" charset="0"/>
                <a:ea typeface="Montserrat" pitchFamily="34" charset="-122"/>
                <a:cs typeface="Montserrat" pitchFamily="34" charset="-120"/>
              </a:rPr>
              <a:t>•</a:t>
            </a:r>
            <a:endParaRPr lang="en-US" sz="1400" dirty="0"/>
          </a:p>
        </p:txBody>
      </p:sp>
      <p:sp>
        <p:nvSpPr>
          <p:cNvPr id="25" name="Text 23"/>
          <p:cNvSpPr/>
          <p:nvPr/>
        </p:nvSpPr>
        <p:spPr>
          <a:xfrm>
            <a:off x="868680" y="4297680"/>
            <a:ext cx="4754880" cy="32004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Converted SiS app</a:t>
            </a:r>
            <a:endParaRPr lang="en-US" sz="1200" dirty="0"/>
          </a:p>
        </p:txBody>
      </p:sp>
      <p:sp>
        <p:nvSpPr>
          <p:cNvPr id="26" name="Text 24"/>
          <p:cNvSpPr/>
          <p:nvPr/>
        </p:nvSpPr>
        <p:spPr>
          <a:xfrm>
            <a:off x="594360" y="4681728"/>
            <a:ext cx="274320" cy="320040"/>
          </a:xfrm>
          <a:prstGeom prst="rect">
            <a:avLst/>
          </a:prstGeom>
          <a:noFill/>
          <a:ln/>
        </p:spPr>
        <p:txBody>
          <a:bodyPr wrap="square" rtlCol="0" anchor="ctr"/>
          <a:lstStyle/>
          <a:p>
            <a:pPr indent="0" marL="0">
              <a:buNone/>
            </a:pPr>
            <a:r>
              <a:rPr lang="en-US" sz="1400" b="1" dirty="0">
                <a:solidFill>
                  <a:srgbClr val="00EDED"/>
                </a:solidFill>
                <a:latin typeface="Montserrat" pitchFamily="34" charset="0"/>
                <a:ea typeface="Montserrat" pitchFamily="34" charset="-122"/>
                <a:cs typeface="Montserrat" pitchFamily="34" charset="-120"/>
              </a:rPr>
              <a:t>•</a:t>
            </a:r>
            <a:endParaRPr lang="en-US" sz="1400" dirty="0"/>
          </a:p>
        </p:txBody>
      </p:sp>
      <p:sp>
        <p:nvSpPr>
          <p:cNvPr id="27" name="Text 25"/>
          <p:cNvSpPr/>
          <p:nvPr/>
        </p:nvSpPr>
        <p:spPr>
          <a:xfrm>
            <a:off x="868680" y="4681728"/>
            <a:ext cx="4754880" cy="32004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Migration findings</a:t>
            </a:r>
            <a:endParaRPr lang="en-US" sz="1200" dirty="0"/>
          </a:p>
        </p:txBody>
      </p:sp>
      <p:sp>
        <p:nvSpPr>
          <p:cNvPr id="28" name="Text 26"/>
          <p:cNvSpPr/>
          <p:nvPr/>
        </p:nvSpPr>
        <p:spPr>
          <a:xfrm>
            <a:off x="594360" y="5065776"/>
            <a:ext cx="274320" cy="320040"/>
          </a:xfrm>
          <a:prstGeom prst="rect">
            <a:avLst/>
          </a:prstGeom>
          <a:noFill/>
          <a:ln/>
        </p:spPr>
        <p:txBody>
          <a:bodyPr wrap="square" rtlCol="0" anchor="ctr"/>
          <a:lstStyle/>
          <a:p>
            <a:pPr indent="0" marL="0">
              <a:buNone/>
            </a:pPr>
            <a:r>
              <a:rPr lang="en-US" sz="1400" b="1" dirty="0">
                <a:solidFill>
                  <a:srgbClr val="00EDED"/>
                </a:solidFill>
                <a:latin typeface="Montserrat" pitchFamily="34" charset="0"/>
                <a:ea typeface="Montserrat" pitchFamily="34" charset="-122"/>
                <a:cs typeface="Montserrat" pitchFamily="34" charset="-120"/>
              </a:rPr>
              <a:t>•</a:t>
            </a:r>
            <a:endParaRPr lang="en-US" sz="1400" dirty="0"/>
          </a:p>
        </p:txBody>
      </p:sp>
      <p:sp>
        <p:nvSpPr>
          <p:cNvPr id="29" name="Text 27"/>
          <p:cNvSpPr/>
          <p:nvPr/>
        </p:nvSpPr>
        <p:spPr>
          <a:xfrm>
            <a:off x="868680" y="5065776"/>
            <a:ext cx="4754880" cy="32004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Validation report</a:t>
            </a:r>
            <a:endParaRPr lang="en-US" sz="1200" dirty="0"/>
          </a:p>
        </p:txBody>
      </p:sp>
      <p:sp>
        <p:nvSpPr>
          <p:cNvPr id="30" name="Text 28"/>
          <p:cNvSpPr/>
          <p:nvPr/>
        </p:nvSpPr>
        <p:spPr>
          <a:xfrm>
            <a:off x="594360" y="5449824"/>
            <a:ext cx="274320" cy="320040"/>
          </a:xfrm>
          <a:prstGeom prst="rect">
            <a:avLst/>
          </a:prstGeom>
          <a:noFill/>
          <a:ln/>
        </p:spPr>
        <p:txBody>
          <a:bodyPr wrap="square" rtlCol="0" anchor="ctr"/>
          <a:lstStyle/>
          <a:p>
            <a:pPr indent="0" marL="0">
              <a:buNone/>
            </a:pPr>
            <a:r>
              <a:rPr lang="en-US" sz="1400" b="1" dirty="0">
                <a:solidFill>
                  <a:srgbClr val="00EDED"/>
                </a:solidFill>
                <a:latin typeface="Montserrat" pitchFamily="34" charset="0"/>
                <a:ea typeface="Montserrat" pitchFamily="34" charset="-122"/>
                <a:cs typeface="Montserrat" pitchFamily="34" charset="-120"/>
              </a:rPr>
              <a:t>•</a:t>
            </a:r>
            <a:endParaRPr lang="en-US" sz="1400" dirty="0"/>
          </a:p>
        </p:txBody>
      </p:sp>
      <p:sp>
        <p:nvSpPr>
          <p:cNvPr id="31" name="Text 29"/>
          <p:cNvSpPr/>
          <p:nvPr/>
        </p:nvSpPr>
        <p:spPr>
          <a:xfrm>
            <a:off x="868680" y="5449824"/>
            <a:ext cx="4754880" cy="320040"/>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Coverage backlog</a:t>
            </a:r>
            <a:endParaRPr lang="en-US" sz="1200" dirty="0"/>
          </a:p>
        </p:txBody>
      </p:sp>
      <p:sp>
        <p:nvSpPr>
          <p:cNvPr id="32" name="Shape 30"/>
          <p:cNvSpPr/>
          <p:nvPr/>
        </p:nvSpPr>
        <p:spPr>
          <a:xfrm>
            <a:off x="5989320" y="3977640"/>
            <a:ext cx="5623560" cy="2377440"/>
          </a:xfrm>
          <a:prstGeom prst="roundRect">
            <a:avLst>
              <a:gd name="adj" fmla="val 3077"/>
            </a:avLst>
          </a:prstGeom>
          <a:solidFill>
            <a:srgbClr val="0A4360"/>
          </a:solidFill>
          <a:ln w="15875">
            <a:solidFill>
              <a:srgbClr val="00EDED"/>
            </a:solidFill>
            <a:prstDash val="solid"/>
          </a:ln>
        </p:spPr>
      </p:sp>
      <p:sp>
        <p:nvSpPr>
          <p:cNvPr id="33" name="Text 31"/>
          <p:cNvSpPr/>
          <p:nvPr/>
        </p:nvSpPr>
        <p:spPr>
          <a:xfrm>
            <a:off x="6263640" y="4160520"/>
            <a:ext cx="5074920" cy="292608"/>
          </a:xfrm>
          <a:prstGeom prst="rect">
            <a:avLst/>
          </a:prstGeom>
          <a:noFill/>
          <a:ln/>
        </p:spPr>
        <p:txBody>
          <a:bodyPr wrap="square" rtlCol="0" anchor="ctr"/>
          <a:lstStyle/>
          <a:p>
            <a:pPr indent="0" marL="0">
              <a:buNone/>
            </a:pPr>
            <a:r>
              <a:rPr lang="en-US" sz="1100" b="1" spc="150" kern="0" dirty="0">
                <a:solidFill>
                  <a:srgbClr val="00EDED"/>
                </a:solidFill>
                <a:latin typeface="Montserrat" pitchFamily="34" charset="0"/>
                <a:ea typeface="Montserrat" pitchFamily="34" charset="-122"/>
                <a:cs typeface="Montserrat" pitchFamily="34" charset="-120"/>
              </a:rPr>
              <a:t>DECISION REQUIRED</a:t>
            </a:r>
            <a:endParaRPr lang="en-US" sz="1100" dirty="0"/>
          </a:p>
        </p:txBody>
      </p:sp>
      <p:sp>
        <p:nvSpPr>
          <p:cNvPr id="34" name="Text 32"/>
          <p:cNvSpPr/>
          <p:nvPr/>
        </p:nvSpPr>
        <p:spPr>
          <a:xfrm>
            <a:off x="6263640" y="4480560"/>
            <a:ext cx="5074920" cy="548640"/>
          </a:xfrm>
          <a:prstGeom prst="rect">
            <a:avLst/>
          </a:prstGeom>
          <a:noFill/>
          <a:ln/>
        </p:spPr>
        <p:txBody>
          <a:bodyPr wrap="square" rtlCol="0" anchor="ctr"/>
          <a:lstStyle/>
          <a:p>
            <a:pPr indent="0" marL="0">
              <a:lnSpc>
                <a:spcPct val="120000"/>
              </a:lnSpc>
              <a:buNone/>
            </a:pPr>
            <a:r>
              <a:rPr lang="en-US" sz="1300" b="1" dirty="0">
                <a:solidFill>
                  <a:srgbClr val="FFFFFF"/>
                </a:solidFill>
                <a:latin typeface="Montserrat" pitchFamily="34" charset="0"/>
                <a:ea typeface="Montserrat" pitchFamily="34" charset="-122"/>
                <a:cs typeface="Montserrat" pitchFamily="34" charset="-120"/>
              </a:rPr>
              <a:t>Select the pilot workbooks, Snowflake environment, and acceptance owners.</a:t>
            </a:r>
            <a:endParaRPr lang="en-US" sz="1300" dirty="0"/>
          </a:p>
        </p:txBody>
      </p:sp>
      <p:sp>
        <p:nvSpPr>
          <p:cNvPr id="35" name="Text 33"/>
          <p:cNvSpPr/>
          <p:nvPr/>
        </p:nvSpPr>
        <p:spPr>
          <a:xfrm>
            <a:off x="6263640" y="5074920"/>
            <a:ext cx="5074920" cy="1097280"/>
          </a:xfrm>
          <a:prstGeom prst="rect">
            <a:avLst/>
          </a:prstGeom>
          <a:noFill/>
          <a:ln/>
        </p:spPr>
        <p:txBody>
          <a:bodyPr wrap="square" rtlCol="0" anchor="ctr"/>
          <a:lstStyle/>
          <a:p>
            <a:pPr indent="0" marL="0">
              <a:lnSpc>
                <a:spcPct val="125000"/>
              </a:lnSpc>
              <a:buNone/>
            </a:pPr>
            <a:r>
              <a:rPr lang="en-US" sz="1050" i="1" dirty="0">
                <a:solidFill>
                  <a:srgbClr val="AFC2D6"/>
                </a:solidFill>
                <a:latin typeface="Montserrat" pitchFamily="34" charset="0"/>
                <a:ea typeface="Montserrat" pitchFamily="34" charset="-122"/>
                <a:cs typeface="Montserrat" pitchFamily="34" charset="-120"/>
              </a:rPr>
              <a:t>Ask Snowflake to help select the environment and verify the native deployment pattern; ask BI owners to approve semantic and visual evidence.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314550"/>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FFFFFF"/>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Appendix: the corpus tests different migration risks</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10 / 13</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148840"/>
          <a:ext cx="10927080" cy="3291840"/>
        </p:xfrm>
        <a:graphic>
          <a:graphicData uri="http://schemas.openxmlformats.org/drawingml/2006/table">
            <a:tbl>
              <a:tblPr/>
              <a:tblGrid>
                <a:gridCol w="2834640"/>
                <a:gridCol w="1188720"/>
                <a:gridCol w="3794760"/>
                <a:gridCol w="3108960"/>
              </a:tblGrid>
              <a:tr h="457200">
                <a:tc>
                  <a:txBody>
                    <a:bodyP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Workbook</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ctr" indent="0" marL="0">
                        <a:buNone/>
                      </a:pPr>
                      <a:r>
                        <a:rPr lang="en-US" sz="1150" b="1" dirty="0">
                          <a:solidFill>
                            <a:srgbClr val="FFFFFF"/>
                          </a:solidFill>
                          <a:latin typeface="Montserrat" pitchFamily="34" charset="0"/>
                          <a:ea typeface="Montserrat" pitchFamily="34" charset="-122"/>
                          <a:cs typeface="Montserrat" pitchFamily="34" charset="-120"/>
                        </a:rPr>
                        <a:t>Fidelity</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Primary stress case</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c>
                  <a:txBody>
                    <a:bodyPr/>
                    <a:lstStyle/>
                    <a:p>
                      <a:pPr algn="l" indent="0" marL="0">
                        <a:buNone/>
                      </a:pPr>
                      <a:r>
                        <a:rPr lang="en-US" sz="1150" b="1" dirty="0">
                          <a:solidFill>
                            <a:srgbClr val="FFFFFF"/>
                          </a:solidFill>
                          <a:latin typeface="Montserrat" pitchFamily="34" charset="0"/>
                          <a:ea typeface="Montserrat" pitchFamily="34" charset="-122"/>
                          <a:cs typeface="Montserrat" pitchFamily="34" charset="-120"/>
                        </a:rPr>
                        <a:t>Current evidence</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053057"/>
                    </a:solidFill>
                  </a:tcPr>
                </a:tc>
              </a:tr>
              <a:tr h="457200">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Regional Analysis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7676"/>
                          </a:solidFill>
                          <a:latin typeface="Montserrat" pitchFamily="34" charset="0"/>
                          <a:ea typeface="Montserrat" pitchFamily="34" charset="-122"/>
                          <a:cs typeface="Montserrat" pitchFamily="34" charset="-120"/>
                        </a:rPr>
                        <a:t>100%</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Three-table relationship extract</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Assessed clean</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World Indicators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150" dirty="0">
                          <a:solidFill>
                            <a:srgbClr val="007676"/>
                          </a:solidFill>
                          <a:latin typeface="Montserrat" pitchFamily="34" charset="0"/>
                          <a:ea typeface="Montserrat" pitchFamily="34" charset="-122"/>
                          <a:cs typeface="Montserrat" pitchFamily="34" charset="-120"/>
                        </a:rPr>
                        <a:t>99%</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Date-part filters + map</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Regression corpus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r>
              <a:tr h="457200">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Superstore</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7676"/>
                          </a:solidFill>
                          <a:latin typeface="Montserrat" pitchFamily="34" charset="0"/>
                          <a:ea typeface="Montserrat" pitchFamily="34" charset="-122"/>
                          <a:cs typeface="Montserrat" pitchFamily="34" charset="-120"/>
                        </a:rPr>
                        <a:t>96%</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Multi-datasource + parameters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20 sheets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Global Sales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150" dirty="0">
                          <a:solidFill>
                            <a:srgbClr val="007676"/>
                          </a:solidFill>
                          <a:latin typeface="Montserrat" pitchFamily="34" charset="0"/>
                          <a:ea typeface="Montserrat" pitchFamily="34" charset="-122"/>
                          <a:cs typeface="Montserrat" pitchFamily="34" charset="-120"/>
                        </a:rPr>
                        <a:t>95%</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Four datasources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14 of 15</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r>
              <a:tr h="457200">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E-Commerce Software Sales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007676"/>
                          </a:solidFill>
                          <a:latin typeface="Montserrat" pitchFamily="34" charset="0"/>
                          <a:ea typeface="Montserrat" pitchFamily="34" charset="-122"/>
                          <a:cs typeface="Montserrat" pitchFamily="34" charset="-120"/>
                        </a:rPr>
                        <a:t>97%</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Table calcs + 50 sheets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Deployed to SiS</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FFFFF"/>
                    </a:solidFill>
                  </a:tcPr>
                </a:tc>
              </a:tr>
              <a:tr h="457200">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Top-N Measure Swap</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ctr" indent="0" marL="0">
                        <a:buNone/>
                      </a:pPr>
                      <a:r>
                        <a:rPr lang="en-US" sz="1150" dirty="0">
                          <a:solidFill>
                            <a:srgbClr val="007676"/>
                          </a:solidFill>
                          <a:latin typeface="Montserrat" pitchFamily="34" charset="0"/>
                          <a:ea typeface="Montserrat" pitchFamily="34" charset="-122"/>
                          <a:cs typeface="Montserrat" pitchFamily="34" charset="-120"/>
                        </a:rPr>
                        <a:t>100%</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Parameter-driven ranking</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c>
                  <a:txBody>
                    <a:bodyPr/>
                    <a:lstStyle/>
                    <a:p>
                      <a:pPr algn="l" indent="0" marL="0">
                        <a:buNone/>
                      </a:pPr>
                      <a:r>
                        <a:rPr lang="en-US" sz="1150" dirty="0">
                          <a:solidFill>
                            <a:srgbClr val="053057"/>
                          </a:solidFill>
                          <a:latin typeface="Montserrat" pitchFamily="34" charset="0"/>
                          <a:ea typeface="Montserrat" pitchFamily="34" charset="-122"/>
                          <a:cs typeface="Montserrat" pitchFamily="34" charset="-120"/>
                        </a:rPr>
                        <a:t>Numerically exact</a:t>
                      </a:r>
                      <a:endParaRPr lang="en-US" sz="1150" dirty="0">
                        <a:latin typeface="Montserrat" charset="0"/>
                        <a:ea typeface="Montserrat" charset="0"/>
                        <a:cs typeface="Montserrat" charset="0"/>
                      </a:endParaRPr>
                    </a:p>
                  </a:txBody>
                  <a:tcPr marL="91440" marR="91440" marT="45720" marB="4572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solidFill>
                      <a:srgbClr val="F4F3F0"/>
                    </a:solidFill>
                  </a:tcPr>
                </a:tc>
              </a:tr>
            </a:tbl>
          </a:graphicData>
        </a:graphic>
      </p:graphicFrame>
      <p:sp>
        <p:nvSpPr>
          <p:cNvPr id="9" name="Text 6"/>
          <p:cNvSpPr/>
          <p:nvPr/>
        </p:nvSpPr>
        <p:spPr>
          <a:xfrm>
            <a:off x="640080" y="5623560"/>
            <a:ext cx="10927080" cy="365760"/>
          </a:xfrm>
          <a:prstGeom prst="rect">
            <a:avLst/>
          </a:prstGeom>
          <a:noFill/>
          <a:ln/>
        </p:spPr>
        <p:txBody>
          <a:bodyPr wrap="square" rtlCol="0" anchor="ctr"/>
          <a:lstStyle/>
          <a:p>
            <a:pPr indent="0" marL="0">
              <a:buNone/>
            </a:pPr>
            <a:r>
              <a:rPr lang="en-US" sz="1050" i="1" dirty="0">
                <a:solidFill>
                  <a:srgbClr val="5B6B7A"/>
                </a:solidFill>
                <a:latin typeface="Montserrat" pitchFamily="34" charset="0"/>
                <a:ea typeface="Montserrat" pitchFamily="34" charset="-122"/>
                <a:cs typeface="Montserrat" pitchFamily="34" charset="-120"/>
              </a:rPr>
              <a:t>Fidelity is workbook-specific and reflects the recorded project corpus, not a blanket SLA.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Appendix: Cortex assists only where its output can be governed</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11 / 13</a:t>
            </a:r>
            <a:endParaRPr lang="en-US" sz="900" dirty="0"/>
          </a:p>
        </p:txBody>
      </p:sp>
      <p:sp>
        <p:nvSpPr>
          <p:cNvPr id="8" name="Shape 6"/>
          <p:cNvSpPr/>
          <p:nvPr/>
        </p:nvSpPr>
        <p:spPr>
          <a:xfrm>
            <a:off x="640080" y="2103120"/>
            <a:ext cx="5212080" cy="3566160"/>
          </a:xfrm>
          <a:prstGeom prst="roundRect">
            <a:avLst>
              <a:gd name="adj" fmla="val 2051"/>
            </a:avLst>
          </a:prstGeom>
          <a:solidFill>
            <a:srgbClr val="314550"/>
          </a:solidFill>
          <a:ln/>
        </p:spPr>
      </p:sp>
      <p:sp>
        <p:nvSpPr>
          <p:cNvPr id="9" name="Text 7"/>
          <p:cNvSpPr/>
          <p:nvPr/>
        </p:nvSpPr>
        <p:spPr>
          <a:xfrm>
            <a:off x="914400" y="2286000"/>
            <a:ext cx="4663440" cy="320040"/>
          </a:xfrm>
          <a:prstGeom prst="rect">
            <a:avLst/>
          </a:prstGeom>
          <a:noFill/>
          <a:ln/>
        </p:spPr>
        <p:txBody>
          <a:bodyPr wrap="square" rtlCol="0" anchor="ctr"/>
          <a:lstStyle/>
          <a:p>
            <a:pPr indent="0" marL="0">
              <a:buNone/>
            </a:pPr>
            <a:r>
              <a:rPr lang="en-US" sz="1200" b="1" spc="100" kern="0" dirty="0">
                <a:solidFill>
                  <a:srgbClr val="FFFFFF"/>
                </a:solidFill>
                <a:latin typeface="Montserrat" pitchFamily="34" charset="0"/>
                <a:ea typeface="Montserrat" pitchFamily="34" charset="-122"/>
                <a:cs typeface="Montserrat" pitchFamily="34" charset="-120"/>
              </a:rPr>
              <a:t>DETERMINISTIC CORE</a:t>
            </a:r>
            <a:endParaRPr lang="en-US" sz="1200" dirty="0"/>
          </a:p>
        </p:txBody>
      </p:sp>
      <p:sp>
        <p:nvSpPr>
          <p:cNvPr id="10" name="Shape 8"/>
          <p:cNvSpPr/>
          <p:nvPr/>
        </p:nvSpPr>
        <p:spPr>
          <a:xfrm>
            <a:off x="914400" y="2788920"/>
            <a:ext cx="365760" cy="365760"/>
          </a:xfrm>
          <a:prstGeom prst="ellipse">
            <a:avLst/>
          </a:prstGeom>
          <a:solidFill>
            <a:srgbClr val="053057"/>
          </a:solidFill>
          <a:ln/>
        </p:spPr>
      </p:sp>
      <p:sp>
        <p:nvSpPr>
          <p:cNvPr id="11" name="Text 9"/>
          <p:cNvSpPr/>
          <p:nvPr/>
        </p:nvSpPr>
        <p:spPr>
          <a:xfrm>
            <a:off x="914400" y="2770632"/>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1</a:t>
            </a:r>
            <a:endParaRPr lang="en-US" sz="1300" dirty="0"/>
          </a:p>
        </p:txBody>
      </p:sp>
      <p:sp>
        <p:nvSpPr>
          <p:cNvPr id="12" name="Text 10"/>
          <p:cNvSpPr/>
          <p:nvPr/>
        </p:nvSpPr>
        <p:spPr>
          <a:xfrm>
            <a:off x="1417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Workbook parser</a:t>
            </a:r>
            <a:endParaRPr lang="en-US" sz="1200" dirty="0"/>
          </a:p>
        </p:txBody>
      </p:sp>
      <p:sp>
        <p:nvSpPr>
          <p:cNvPr id="13" name="Shape 11"/>
          <p:cNvSpPr/>
          <p:nvPr/>
        </p:nvSpPr>
        <p:spPr>
          <a:xfrm>
            <a:off x="914400" y="3319272"/>
            <a:ext cx="365760" cy="365760"/>
          </a:xfrm>
          <a:prstGeom prst="ellipse">
            <a:avLst/>
          </a:prstGeom>
          <a:solidFill>
            <a:srgbClr val="053057"/>
          </a:solidFill>
          <a:ln/>
        </p:spPr>
      </p:sp>
      <p:sp>
        <p:nvSpPr>
          <p:cNvPr id="14" name="Text 12"/>
          <p:cNvSpPr/>
          <p:nvPr/>
        </p:nvSpPr>
        <p:spPr>
          <a:xfrm>
            <a:off x="914400" y="3300984"/>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2</a:t>
            </a:r>
            <a:endParaRPr lang="en-US" sz="1300" dirty="0"/>
          </a:p>
        </p:txBody>
      </p:sp>
      <p:sp>
        <p:nvSpPr>
          <p:cNvPr id="15" name="Text 13"/>
          <p:cNvSpPr/>
          <p:nvPr/>
        </p:nvSpPr>
        <p:spPr>
          <a:xfrm>
            <a:off x="1417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Intermediate representation</a:t>
            </a:r>
            <a:endParaRPr lang="en-US" sz="1200" dirty="0"/>
          </a:p>
        </p:txBody>
      </p:sp>
      <p:sp>
        <p:nvSpPr>
          <p:cNvPr id="16" name="Shape 14"/>
          <p:cNvSpPr/>
          <p:nvPr/>
        </p:nvSpPr>
        <p:spPr>
          <a:xfrm>
            <a:off x="914400" y="3849624"/>
            <a:ext cx="365760" cy="365760"/>
          </a:xfrm>
          <a:prstGeom prst="ellipse">
            <a:avLst/>
          </a:prstGeom>
          <a:solidFill>
            <a:srgbClr val="053057"/>
          </a:solidFill>
          <a:ln/>
        </p:spPr>
      </p:sp>
      <p:sp>
        <p:nvSpPr>
          <p:cNvPr id="17" name="Text 15"/>
          <p:cNvSpPr/>
          <p:nvPr/>
        </p:nvSpPr>
        <p:spPr>
          <a:xfrm>
            <a:off x="914400" y="3831336"/>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3</a:t>
            </a:r>
            <a:endParaRPr lang="en-US" sz="1300" dirty="0"/>
          </a:p>
        </p:txBody>
      </p:sp>
      <p:sp>
        <p:nvSpPr>
          <p:cNvPr id="18" name="Text 16"/>
          <p:cNvSpPr/>
          <p:nvPr/>
        </p:nvSpPr>
        <p:spPr>
          <a:xfrm>
            <a:off x="1417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Calculation rules</a:t>
            </a:r>
            <a:endParaRPr lang="en-US" sz="1200" dirty="0"/>
          </a:p>
        </p:txBody>
      </p:sp>
      <p:sp>
        <p:nvSpPr>
          <p:cNvPr id="19" name="Shape 17"/>
          <p:cNvSpPr/>
          <p:nvPr/>
        </p:nvSpPr>
        <p:spPr>
          <a:xfrm>
            <a:off x="914400" y="4379976"/>
            <a:ext cx="365760" cy="365760"/>
          </a:xfrm>
          <a:prstGeom prst="ellipse">
            <a:avLst/>
          </a:prstGeom>
          <a:solidFill>
            <a:srgbClr val="053057"/>
          </a:solidFill>
          <a:ln/>
        </p:spPr>
      </p:sp>
      <p:sp>
        <p:nvSpPr>
          <p:cNvPr id="20" name="Text 18"/>
          <p:cNvSpPr/>
          <p:nvPr/>
        </p:nvSpPr>
        <p:spPr>
          <a:xfrm>
            <a:off x="914400" y="4361688"/>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4</a:t>
            </a:r>
            <a:endParaRPr lang="en-US" sz="1300" dirty="0"/>
          </a:p>
        </p:txBody>
      </p:sp>
      <p:sp>
        <p:nvSpPr>
          <p:cNvPr id="21" name="Text 19"/>
          <p:cNvSpPr/>
          <p:nvPr/>
        </p:nvSpPr>
        <p:spPr>
          <a:xfrm>
            <a:off x="1417320" y="4398264"/>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Code generation</a:t>
            </a:r>
            <a:endParaRPr lang="en-US" sz="1200" dirty="0"/>
          </a:p>
        </p:txBody>
      </p:sp>
      <p:sp>
        <p:nvSpPr>
          <p:cNvPr id="22" name="Shape 20"/>
          <p:cNvSpPr/>
          <p:nvPr/>
        </p:nvSpPr>
        <p:spPr>
          <a:xfrm>
            <a:off x="914400" y="4910328"/>
            <a:ext cx="365760" cy="365760"/>
          </a:xfrm>
          <a:prstGeom prst="ellipse">
            <a:avLst/>
          </a:prstGeom>
          <a:solidFill>
            <a:srgbClr val="053057"/>
          </a:solidFill>
          <a:ln/>
        </p:spPr>
      </p:sp>
      <p:sp>
        <p:nvSpPr>
          <p:cNvPr id="23" name="Text 21"/>
          <p:cNvSpPr/>
          <p:nvPr/>
        </p:nvSpPr>
        <p:spPr>
          <a:xfrm>
            <a:off x="914400" y="4892040"/>
            <a:ext cx="365760" cy="365760"/>
          </a:xfrm>
          <a:prstGeom prst="rect">
            <a:avLst/>
          </a:prstGeom>
          <a:noFill/>
          <a:ln/>
        </p:spPr>
        <p:txBody>
          <a:bodyPr wrap="square" rtlCol="0" anchor="ctr"/>
          <a:lstStyle/>
          <a:p>
            <a:pPr algn="ctr" indent="0" marL="0">
              <a:buNone/>
            </a:pPr>
            <a:r>
              <a:rPr lang="en-US" sz="1300" b="1" dirty="0">
                <a:solidFill>
                  <a:srgbClr val="00EDED"/>
                </a:solidFill>
                <a:latin typeface="Montserrat" pitchFamily="34" charset="0"/>
                <a:ea typeface="Montserrat" pitchFamily="34" charset="-122"/>
                <a:cs typeface="Montserrat" pitchFamily="34" charset="-120"/>
              </a:rPr>
              <a:t>5</a:t>
            </a:r>
            <a:endParaRPr lang="en-US" sz="1300" dirty="0"/>
          </a:p>
        </p:txBody>
      </p:sp>
      <p:sp>
        <p:nvSpPr>
          <p:cNvPr id="24" name="Text 22"/>
          <p:cNvSpPr/>
          <p:nvPr/>
        </p:nvSpPr>
        <p:spPr>
          <a:xfrm>
            <a:off x="1417320" y="4928616"/>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Numeric validation</a:t>
            </a:r>
            <a:endParaRPr lang="en-US" sz="1200" dirty="0"/>
          </a:p>
        </p:txBody>
      </p:sp>
      <p:sp>
        <p:nvSpPr>
          <p:cNvPr id="25" name="Text 23"/>
          <p:cNvSpPr/>
          <p:nvPr/>
        </p:nvSpPr>
        <p:spPr>
          <a:xfrm>
            <a:off x="914400" y="5349240"/>
            <a:ext cx="4663440" cy="274320"/>
          </a:xfrm>
          <a:prstGeom prst="rect">
            <a:avLst/>
          </a:prstGeom>
          <a:noFill/>
          <a:ln/>
        </p:spPr>
        <p:txBody>
          <a:bodyPr wrap="square" rtlCol="0" anchor="ctr"/>
          <a:lstStyle/>
          <a:p>
            <a:pPr indent="0" marL="0">
              <a:buNone/>
            </a:pPr>
            <a:r>
              <a:rPr lang="en-US" sz="950" i="1" dirty="0">
                <a:solidFill>
                  <a:srgbClr val="AFC2D6"/>
                </a:solidFill>
                <a:latin typeface="Montserrat" pitchFamily="34" charset="0"/>
                <a:ea typeface="Montserrat" pitchFamily="34" charset="-122"/>
                <a:cs typeface="Montserrat" pitchFamily="34" charset="-120"/>
              </a:rPr>
              <a:t>No model decision is needed for the standard path.</a:t>
            </a:r>
            <a:endParaRPr lang="en-US" sz="950" dirty="0"/>
          </a:p>
        </p:txBody>
      </p:sp>
      <p:sp>
        <p:nvSpPr>
          <p:cNvPr id="26" name="Text 24"/>
          <p:cNvSpPr/>
          <p:nvPr/>
        </p:nvSpPr>
        <p:spPr>
          <a:xfrm>
            <a:off x="5897880" y="3566160"/>
            <a:ext cx="457200" cy="457200"/>
          </a:xfrm>
          <a:prstGeom prst="rect">
            <a:avLst/>
          </a:prstGeom>
          <a:noFill/>
          <a:ln/>
        </p:spPr>
        <p:txBody>
          <a:bodyPr wrap="square" rtlCol="0" anchor="ctr"/>
          <a:lstStyle/>
          <a:p>
            <a:pPr algn="ctr" indent="0" marL="0">
              <a:buNone/>
            </a:pPr>
            <a:r>
              <a:rPr lang="en-US" sz="2400" b="1" dirty="0">
                <a:solidFill>
                  <a:srgbClr val="00EDED"/>
                </a:solidFill>
                <a:latin typeface="Montserrat" pitchFamily="34" charset="0"/>
                <a:ea typeface="Montserrat" pitchFamily="34" charset="-122"/>
                <a:cs typeface="Montserrat" pitchFamily="34" charset="-120"/>
              </a:rPr>
              <a:t>+</a:t>
            </a:r>
            <a:endParaRPr lang="en-US" sz="2400" dirty="0"/>
          </a:p>
        </p:txBody>
      </p:sp>
      <p:sp>
        <p:nvSpPr>
          <p:cNvPr id="27" name="Shape 25"/>
          <p:cNvSpPr/>
          <p:nvPr/>
        </p:nvSpPr>
        <p:spPr>
          <a:xfrm>
            <a:off x="6355080" y="2103120"/>
            <a:ext cx="5212080" cy="3566160"/>
          </a:xfrm>
          <a:prstGeom prst="roundRect">
            <a:avLst>
              <a:gd name="adj" fmla="val 2051"/>
            </a:avLst>
          </a:prstGeom>
          <a:solidFill>
            <a:srgbClr val="0A4360"/>
          </a:solidFill>
          <a:ln w="12700">
            <a:solidFill>
              <a:srgbClr val="00EDED"/>
            </a:solidFill>
            <a:prstDash val="solid"/>
          </a:ln>
        </p:spPr>
      </p:sp>
      <p:sp>
        <p:nvSpPr>
          <p:cNvPr id="28" name="Text 26"/>
          <p:cNvSpPr/>
          <p:nvPr/>
        </p:nvSpPr>
        <p:spPr>
          <a:xfrm>
            <a:off x="6629400" y="2286000"/>
            <a:ext cx="4663440" cy="320040"/>
          </a:xfrm>
          <a:prstGeom prst="rect">
            <a:avLst/>
          </a:prstGeom>
          <a:noFill/>
          <a:ln/>
        </p:spPr>
        <p:txBody>
          <a:bodyPr wrap="square" rtlCol="0" anchor="ctr"/>
          <a:lstStyle/>
          <a:p>
            <a:pPr indent="0" marL="0">
              <a:buNone/>
            </a:pPr>
            <a:r>
              <a:rPr lang="en-US" sz="1200" b="1" spc="100" kern="0" dirty="0">
                <a:solidFill>
                  <a:srgbClr val="00EDED"/>
                </a:solidFill>
                <a:latin typeface="Montserrat" pitchFamily="34" charset="0"/>
                <a:ea typeface="Montserrat" pitchFamily="34" charset="-122"/>
                <a:cs typeface="Montserrat" pitchFamily="34" charset="-120"/>
              </a:rPr>
              <a:t>OPTIONAL CORTEX ASSISTANCE</a:t>
            </a:r>
            <a:endParaRPr lang="en-US" sz="1200" dirty="0"/>
          </a:p>
        </p:txBody>
      </p:sp>
      <p:sp>
        <p:nvSpPr>
          <p:cNvPr id="29" name="Shape 27"/>
          <p:cNvSpPr/>
          <p:nvPr/>
        </p:nvSpPr>
        <p:spPr>
          <a:xfrm>
            <a:off x="6629400" y="2788920"/>
            <a:ext cx="365760" cy="365760"/>
          </a:xfrm>
          <a:prstGeom prst="ellipse">
            <a:avLst/>
          </a:prstGeom>
          <a:solidFill>
            <a:srgbClr val="00EDED"/>
          </a:solidFill>
          <a:ln/>
        </p:spPr>
      </p:sp>
      <p:sp>
        <p:nvSpPr>
          <p:cNvPr id="30" name="Text 28"/>
          <p:cNvSpPr/>
          <p:nvPr/>
        </p:nvSpPr>
        <p:spPr>
          <a:xfrm>
            <a:off x="6629400" y="2770632"/>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1" name="Text 29"/>
          <p:cNvSpPr/>
          <p:nvPr/>
        </p:nvSpPr>
        <p:spPr>
          <a:xfrm>
            <a:off x="7132320" y="2807208"/>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Semantic view generation</a:t>
            </a:r>
            <a:endParaRPr lang="en-US" sz="1200" dirty="0"/>
          </a:p>
        </p:txBody>
      </p:sp>
      <p:sp>
        <p:nvSpPr>
          <p:cNvPr id="32" name="Shape 30"/>
          <p:cNvSpPr/>
          <p:nvPr/>
        </p:nvSpPr>
        <p:spPr>
          <a:xfrm>
            <a:off x="6629400" y="3319272"/>
            <a:ext cx="365760" cy="365760"/>
          </a:xfrm>
          <a:prstGeom prst="ellipse">
            <a:avLst/>
          </a:prstGeom>
          <a:solidFill>
            <a:srgbClr val="00EDED"/>
          </a:solidFill>
          <a:ln/>
        </p:spPr>
      </p:sp>
      <p:sp>
        <p:nvSpPr>
          <p:cNvPr id="33" name="Text 31"/>
          <p:cNvSpPr/>
          <p:nvPr/>
        </p:nvSpPr>
        <p:spPr>
          <a:xfrm>
            <a:off x="6629400" y="3300984"/>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4" name="Text 32"/>
          <p:cNvSpPr/>
          <p:nvPr/>
        </p:nvSpPr>
        <p:spPr>
          <a:xfrm>
            <a:off x="7132320" y="3337560"/>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Guarded calculation proposal</a:t>
            </a:r>
            <a:endParaRPr lang="en-US" sz="1200" dirty="0"/>
          </a:p>
        </p:txBody>
      </p:sp>
      <p:sp>
        <p:nvSpPr>
          <p:cNvPr id="35" name="Shape 33"/>
          <p:cNvSpPr/>
          <p:nvPr/>
        </p:nvSpPr>
        <p:spPr>
          <a:xfrm>
            <a:off x="6629400" y="3849624"/>
            <a:ext cx="365760" cy="365760"/>
          </a:xfrm>
          <a:prstGeom prst="ellipse">
            <a:avLst/>
          </a:prstGeom>
          <a:solidFill>
            <a:srgbClr val="00EDED"/>
          </a:solidFill>
          <a:ln/>
        </p:spPr>
      </p:sp>
      <p:sp>
        <p:nvSpPr>
          <p:cNvPr id="36" name="Text 34"/>
          <p:cNvSpPr/>
          <p:nvPr/>
        </p:nvSpPr>
        <p:spPr>
          <a:xfrm>
            <a:off x="6629400" y="3831336"/>
            <a:ext cx="365760" cy="365760"/>
          </a:xfrm>
          <a:prstGeom prst="rect">
            <a:avLst/>
          </a:prstGeom>
          <a:noFill/>
          <a:ln/>
        </p:spPr>
        <p:txBody>
          <a:bodyPr wrap="square" rtlCol="0" anchor="ctr"/>
          <a:lstStyle/>
          <a:p>
            <a:pPr algn="ctr" indent="0" marL="0">
              <a:buNone/>
            </a:pPr>
            <a:r>
              <a:rPr lang="en-US" sz="1300" b="1" dirty="0">
                <a:solidFill>
                  <a:srgbClr val="053057"/>
                </a:solidFill>
                <a:latin typeface="Montserrat" pitchFamily="34" charset="0"/>
                <a:ea typeface="Montserrat" pitchFamily="34" charset="-122"/>
                <a:cs typeface="Montserrat" pitchFamily="34" charset="-120"/>
              </a:rPr>
              <a:t>✦</a:t>
            </a:r>
            <a:endParaRPr lang="en-US" sz="1300" dirty="0"/>
          </a:p>
        </p:txBody>
      </p:sp>
      <p:sp>
        <p:nvSpPr>
          <p:cNvPr id="37" name="Text 35"/>
          <p:cNvSpPr/>
          <p:nvPr/>
        </p:nvSpPr>
        <p:spPr>
          <a:xfrm>
            <a:off x="7132320" y="3867912"/>
            <a:ext cx="4206240" cy="347472"/>
          </a:xfrm>
          <a:prstGeom prst="rect">
            <a:avLst/>
          </a:prstGeom>
          <a:noFill/>
          <a:ln/>
        </p:spPr>
        <p:txBody>
          <a:bodyPr wrap="square" rtlCol="0" anchor="ctr"/>
          <a:lstStyle/>
          <a:p>
            <a:pPr indent="0" marL="0">
              <a:buNone/>
            </a:pPr>
            <a:r>
              <a:rPr lang="en-US" sz="1200" dirty="0">
                <a:solidFill>
                  <a:srgbClr val="FFFFFF"/>
                </a:solidFill>
                <a:latin typeface="Montserrat" pitchFamily="34" charset="0"/>
                <a:ea typeface="Montserrat" pitchFamily="34" charset="-122"/>
                <a:cs typeface="Montserrat" pitchFamily="34" charset="-120"/>
              </a:rPr>
              <a:t>Narrative validation summary</a:t>
            </a:r>
            <a:endParaRPr lang="en-US" sz="1200" dirty="0"/>
          </a:p>
        </p:txBody>
      </p:sp>
      <p:sp>
        <p:nvSpPr>
          <p:cNvPr id="38" name="Shape 36"/>
          <p:cNvSpPr/>
          <p:nvPr/>
        </p:nvSpPr>
        <p:spPr>
          <a:xfrm>
            <a:off x="6629400" y="4434840"/>
            <a:ext cx="1965960" cy="310896"/>
          </a:xfrm>
          <a:prstGeom prst="roundRect">
            <a:avLst>
              <a:gd name="adj" fmla="val 50000"/>
            </a:avLst>
          </a:prstGeom>
          <a:solidFill>
            <a:srgbClr val="053057"/>
          </a:solidFill>
          <a:ln/>
        </p:spPr>
      </p:sp>
      <p:sp>
        <p:nvSpPr>
          <p:cNvPr id="39" name="Text 37"/>
          <p:cNvSpPr/>
          <p:nvPr/>
        </p:nvSpPr>
        <p:spPr>
          <a:xfrm>
            <a:off x="6629400" y="4434840"/>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Execution-gated</a:t>
            </a:r>
            <a:endParaRPr lang="en-US" sz="900" dirty="0"/>
          </a:p>
        </p:txBody>
      </p:sp>
      <p:sp>
        <p:nvSpPr>
          <p:cNvPr id="40" name="Shape 38"/>
          <p:cNvSpPr/>
          <p:nvPr/>
        </p:nvSpPr>
        <p:spPr>
          <a:xfrm>
            <a:off x="6629400" y="4818888"/>
            <a:ext cx="1965960" cy="310896"/>
          </a:xfrm>
          <a:prstGeom prst="roundRect">
            <a:avLst>
              <a:gd name="adj" fmla="val 50000"/>
            </a:avLst>
          </a:prstGeom>
          <a:solidFill>
            <a:srgbClr val="053057"/>
          </a:solidFill>
          <a:ln/>
        </p:spPr>
      </p:sp>
      <p:sp>
        <p:nvSpPr>
          <p:cNvPr id="41" name="Text 39"/>
          <p:cNvSpPr/>
          <p:nvPr/>
        </p:nvSpPr>
        <p:spPr>
          <a:xfrm>
            <a:off x="6629400" y="4818888"/>
            <a:ext cx="1965960" cy="310896"/>
          </a:xfrm>
          <a:prstGeom prst="rect">
            <a:avLst/>
          </a:prstGeom>
          <a:noFill/>
          <a:ln/>
        </p:spPr>
        <p:txBody>
          <a:bodyPr wrap="square" rtlCol="0" anchor="ctr"/>
          <a:lstStyle/>
          <a:p>
            <a:pPr algn="ctr" indent="0" marL="0">
              <a:buNone/>
            </a:pPr>
            <a:r>
              <a:rPr lang="en-US" sz="900" b="1" dirty="0">
                <a:solidFill>
                  <a:srgbClr val="00EDED"/>
                </a:solidFill>
                <a:latin typeface="Montserrat" pitchFamily="34" charset="0"/>
                <a:ea typeface="Montserrat" pitchFamily="34" charset="-122"/>
                <a:cs typeface="Montserrat" pitchFamily="34" charset="-120"/>
              </a:rPr>
              <a:t>Human-reviewed</a:t>
            </a:r>
            <a:endParaRPr lang="en-US" sz="900" dirty="0"/>
          </a:p>
        </p:txBody>
      </p:sp>
      <p:sp>
        <p:nvSpPr>
          <p:cNvPr id="42" name="Text 40"/>
          <p:cNvSpPr/>
          <p:nvPr/>
        </p:nvSpPr>
        <p:spPr>
          <a:xfrm>
            <a:off x="6629400" y="5257800"/>
            <a:ext cx="4663440" cy="365760"/>
          </a:xfrm>
          <a:prstGeom prst="rect">
            <a:avLst/>
          </a:prstGeom>
          <a:noFill/>
          <a:ln/>
        </p:spPr>
        <p:txBody>
          <a:bodyPr wrap="square" rtlCol="0" anchor="ctr"/>
          <a:lstStyle/>
          <a:p>
            <a:pPr indent="0" marL="0">
              <a:lnSpc>
                <a:spcPct val="120000"/>
              </a:lnSpc>
              <a:buNone/>
            </a:pPr>
            <a:r>
              <a:rPr lang="en-US" sz="950" i="1" dirty="0">
                <a:solidFill>
                  <a:srgbClr val="AFC2D6"/>
                </a:solidFill>
                <a:latin typeface="Montserrat" pitchFamily="34" charset="0"/>
                <a:ea typeface="Montserrat" pitchFamily="34" charset="-122"/>
                <a:cs typeface="Montserrat" pitchFamily="34" charset="-120"/>
              </a:rPr>
              <a:t>Cortex cannot convert a deterministic mismatch into a PASS.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314550"/>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FFFFFF"/>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960120"/>
          </a:xfrm>
          <a:prstGeom prst="rect">
            <a:avLst/>
          </a:prstGeom>
          <a:noFill/>
          <a:ln/>
        </p:spPr>
        <p:txBody>
          <a:bodyPr wrap="square" rtlCol="0" anchor="ctr"/>
          <a:lstStyle/>
          <a:p>
            <a:pPr indent="0" marL="0">
              <a:lnSpc>
                <a:spcPct val="105000"/>
              </a:lnSpc>
              <a:buNone/>
            </a:pPr>
            <a:r>
              <a:rPr lang="en-US" sz="2600" b="1" dirty="0">
                <a:solidFill>
                  <a:srgbClr val="053057"/>
                </a:solidFill>
                <a:latin typeface="Montserrat" pitchFamily="34" charset="0"/>
                <a:ea typeface="Montserrat" pitchFamily="34" charset="-122"/>
                <a:cs typeface="Montserrat" pitchFamily="34" charset="-120"/>
              </a:rPr>
              <a:t>Appendix: every dashboard tab receives the same evidence contract</a:t>
            </a:r>
            <a:endParaRPr lang="en-US" sz="2600" dirty="0"/>
          </a:p>
        </p:txBody>
      </p:sp>
      <p:sp>
        <p:nvSpPr>
          <p:cNvPr id="6" name="Text 4"/>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53057"/>
                </a:solidFill>
                <a:latin typeface="Montserrat" pitchFamily="34" charset="0"/>
                <a:ea typeface="Montserrat" pitchFamily="34" charset="-122"/>
                <a:cs typeface="Montserrat" pitchFamily="34" charset="-120"/>
              </a:rPr>
              <a:t>BLEND360</a:t>
            </a:r>
            <a:endParaRPr lang="en-US" sz="1000" dirty="0"/>
          </a:p>
        </p:txBody>
      </p:sp>
      <p:sp>
        <p:nvSpPr>
          <p:cNvPr id="7" name="Text 5"/>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9AA7B2"/>
                </a:solidFill>
                <a:latin typeface="Montserrat" pitchFamily="34" charset="0"/>
                <a:ea typeface="Montserrat" pitchFamily="34" charset="-122"/>
                <a:cs typeface="Montserrat" pitchFamily="34" charset="-120"/>
              </a:rPr>
              <a:t>12 / 13</a:t>
            </a:r>
            <a:endParaRPr lang="en-US" sz="900" dirty="0"/>
          </a:p>
        </p:txBody>
      </p:sp>
      <p:sp>
        <p:nvSpPr>
          <p:cNvPr id="8" name="Shape 6"/>
          <p:cNvSpPr/>
          <p:nvPr/>
        </p:nvSpPr>
        <p:spPr>
          <a:xfrm>
            <a:off x="640080" y="2148840"/>
            <a:ext cx="3520440" cy="1737360"/>
          </a:xfrm>
          <a:prstGeom prst="roundRect">
            <a:avLst>
              <a:gd name="adj" fmla="val 3684"/>
            </a:avLst>
          </a:prstGeom>
          <a:solidFill>
            <a:srgbClr val="F4F3F0"/>
          </a:solidFill>
          <a:ln/>
        </p:spPr>
      </p:sp>
      <p:sp>
        <p:nvSpPr>
          <p:cNvPr id="9" name="Shape 7"/>
          <p:cNvSpPr/>
          <p:nvPr/>
        </p:nvSpPr>
        <p:spPr>
          <a:xfrm>
            <a:off x="868680" y="2377440"/>
            <a:ext cx="502920" cy="502920"/>
          </a:xfrm>
          <a:prstGeom prst="ellipse">
            <a:avLst/>
          </a:prstGeom>
          <a:solidFill>
            <a:srgbClr val="053057"/>
          </a:solidFill>
          <a:ln/>
        </p:spPr>
      </p:sp>
      <p:sp>
        <p:nvSpPr>
          <p:cNvPr id="10" name="Text 8"/>
          <p:cNvSpPr/>
          <p:nvPr/>
        </p:nvSpPr>
        <p:spPr>
          <a:xfrm>
            <a:off x="86868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1</a:t>
            </a:r>
            <a:endParaRPr lang="en-US" sz="1800" dirty="0"/>
          </a:p>
        </p:txBody>
      </p:sp>
      <p:sp>
        <p:nvSpPr>
          <p:cNvPr id="11" name="Text 9"/>
          <p:cNvSpPr/>
          <p:nvPr/>
        </p:nvSpPr>
        <p:spPr>
          <a:xfrm>
            <a:off x="150876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Summary</a:t>
            </a:r>
            <a:endParaRPr lang="en-US" sz="1400" dirty="0"/>
          </a:p>
        </p:txBody>
      </p:sp>
      <p:sp>
        <p:nvSpPr>
          <p:cNvPr id="12" name="Text 10"/>
          <p:cNvSpPr/>
          <p:nvPr/>
        </p:nvSpPr>
        <p:spPr>
          <a:xfrm>
            <a:off x="86868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Dashboard and sheet verdicts with reasons</a:t>
            </a:r>
            <a:endParaRPr lang="en-US" sz="1000" dirty="0"/>
          </a:p>
        </p:txBody>
      </p:sp>
      <p:sp>
        <p:nvSpPr>
          <p:cNvPr id="13" name="Shape 11"/>
          <p:cNvSpPr/>
          <p:nvPr/>
        </p:nvSpPr>
        <p:spPr>
          <a:xfrm>
            <a:off x="4343400" y="2148840"/>
            <a:ext cx="3520440" cy="1737360"/>
          </a:xfrm>
          <a:prstGeom prst="roundRect">
            <a:avLst>
              <a:gd name="adj" fmla="val 3684"/>
            </a:avLst>
          </a:prstGeom>
          <a:solidFill>
            <a:srgbClr val="F4F3F0"/>
          </a:solidFill>
          <a:ln/>
        </p:spPr>
      </p:sp>
      <p:sp>
        <p:nvSpPr>
          <p:cNvPr id="14" name="Shape 12"/>
          <p:cNvSpPr/>
          <p:nvPr/>
        </p:nvSpPr>
        <p:spPr>
          <a:xfrm>
            <a:off x="4572000" y="2377440"/>
            <a:ext cx="502920" cy="502920"/>
          </a:xfrm>
          <a:prstGeom prst="ellipse">
            <a:avLst/>
          </a:prstGeom>
          <a:solidFill>
            <a:srgbClr val="053057"/>
          </a:solidFill>
          <a:ln/>
        </p:spPr>
      </p:sp>
      <p:sp>
        <p:nvSpPr>
          <p:cNvPr id="15" name="Text 13"/>
          <p:cNvSpPr/>
          <p:nvPr/>
        </p:nvSpPr>
        <p:spPr>
          <a:xfrm>
            <a:off x="457200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2</a:t>
            </a:r>
            <a:endParaRPr lang="en-US" sz="1800" dirty="0"/>
          </a:p>
        </p:txBody>
      </p:sp>
      <p:sp>
        <p:nvSpPr>
          <p:cNvPr id="16" name="Text 14"/>
          <p:cNvSpPr/>
          <p:nvPr/>
        </p:nvSpPr>
        <p:spPr>
          <a:xfrm>
            <a:off x="521208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Visual</a:t>
            </a:r>
            <a:endParaRPr lang="en-US" sz="1400" dirty="0"/>
          </a:p>
        </p:txBody>
      </p:sp>
      <p:sp>
        <p:nvSpPr>
          <p:cNvPr id="17" name="Text 15"/>
          <p:cNvSpPr/>
          <p:nvPr/>
        </p:nvSpPr>
        <p:spPr>
          <a:xfrm>
            <a:off x="457200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and Streamlit tab comparison when source capture is available</a:t>
            </a:r>
            <a:endParaRPr lang="en-US" sz="1000" dirty="0"/>
          </a:p>
        </p:txBody>
      </p:sp>
      <p:sp>
        <p:nvSpPr>
          <p:cNvPr id="18" name="Shape 16"/>
          <p:cNvSpPr/>
          <p:nvPr/>
        </p:nvSpPr>
        <p:spPr>
          <a:xfrm>
            <a:off x="8046720" y="2148840"/>
            <a:ext cx="3520440" cy="1737360"/>
          </a:xfrm>
          <a:prstGeom prst="roundRect">
            <a:avLst>
              <a:gd name="adj" fmla="val 3684"/>
            </a:avLst>
          </a:prstGeom>
          <a:solidFill>
            <a:srgbClr val="F4F3F0"/>
          </a:solidFill>
          <a:ln/>
        </p:spPr>
      </p:sp>
      <p:sp>
        <p:nvSpPr>
          <p:cNvPr id="19" name="Shape 17"/>
          <p:cNvSpPr/>
          <p:nvPr/>
        </p:nvSpPr>
        <p:spPr>
          <a:xfrm>
            <a:off x="8275320" y="2377440"/>
            <a:ext cx="502920" cy="502920"/>
          </a:xfrm>
          <a:prstGeom prst="ellipse">
            <a:avLst/>
          </a:prstGeom>
          <a:solidFill>
            <a:srgbClr val="053057"/>
          </a:solidFill>
          <a:ln/>
        </p:spPr>
      </p:sp>
      <p:sp>
        <p:nvSpPr>
          <p:cNvPr id="20" name="Text 18"/>
          <p:cNvSpPr/>
          <p:nvPr/>
        </p:nvSpPr>
        <p:spPr>
          <a:xfrm>
            <a:off x="8275320" y="235915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3</a:t>
            </a:r>
            <a:endParaRPr lang="en-US" sz="1800" dirty="0"/>
          </a:p>
        </p:txBody>
      </p:sp>
      <p:sp>
        <p:nvSpPr>
          <p:cNvPr id="21" name="Text 19"/>
          <p:cNvSpPr/>
          <p:nvPr/>
        </p:nvSpPr>
        <p:spPr>
          <a:xfrm>
            <a:off x="8915400" y="237744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Chart data</a:t>
            </a:r>
            <a:endParaRPr lang="en-US" sz="1400" dirty="0"/>
          </a:p>
        </p:txBody>
      </p:sp>
      <p:sp>
        <p:nvSpPr>
          <p:cNvPr id="22" name="Text 20"/>
          <p:cNvSpPr/>
          <p:nvPr/>
        </p:nvSpPr>
        <p:spPr>
          <a:xfrm>
            <a:off x="8275320" y="301752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Every displayed key compared across Tableau, Streamlit and backend</a:t>
            </a:r>
            <a:endParaRPr lang="en-US" sz="1000" dirty="0"/>
          </a:p>
        </p:txBody>
      </p:sp>
      <p:sp>
        <p:nvSpPr>
          <p:cNvPr id="23" name="Shape 21"/>
          <p:cNvSpPr/>
          <p:nvPr/>
        </p:nvSpPr>
        <p:spPr>
          <a:xfrm>
            <a:off x="640080" y="4114800"/>
            <a:ext cx="3520440" cy="1737360"/>
          </a:xfrm>
          <a:prstGeom prst="roundRect">
            <a:avLst>
              <a:gd name="adj" fmla="val 3684"/>
            </a:avLst>
          </a:prstGeom>
          <a:solidFill>
            <a:srgbClr val="F4F3F0"/>
          </a:solidFill>
          <a:ln/>
        </p:spPr>
      </p:sp>
      <p:sp>
        <p:nvSpPr>
          <p:cNvPr id="24" name="Shape 22"/>
          <p:cNvSpPr/>
          <p:nvPr/>
        </p:nvSpPr>
        <p:spPr>
          <a:xfrm>
            <a:off x="868680" y="4343400"/>
            <a:ext cx="502920" cy="502920"/>
          </a:xfrm>
          <a:prstGeom prst="ellipse">
            <a:avLst/>
          </a:prstGeom>
          <a:solidFill>
            <a:srgbClr val="053057"/>
          </a:solidFill>
          <a:ln/>
        </p:spPr>
      </p:sp>
      <p:sp>
        <p:nvSpPr>
          <p:cNvPr id="25" name="Text 23"/>
          <p:cNvSpPr/>
          <p:nvPr/>
        </p:nvSpPr>
        <p:spPr>
          <a:xfrm>
            <a:off x="86868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4</a:t>
            </a:r>
            <a:endParaRPr lang="en-US" sz="1800" dirty="0"/>
          </a:p>
        </p:txBody>
      </p:sp>
      <p:sp>
        <p:nvSpPr>
          <p:cNvPr id="26" name="Text 24"/>
          <p:cNvSpPr/>
          <p:nvPr/>
        </p:nvSpPr>
        <p:spPr>
          <a:xfrm>
            <a:off x="150876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Formulas</a:t>
            </a:r>
            <a:endParaRPr lang="en-US" sz="1400" dirty="0"/>
          </a:p>
        </p:txBody>
      </p:sp>
      <p:sp>
        <p:nvSpPr>
          <p:cNvPr id="27" name="Text 25"/>
          <p:cNvSpPr/>
          <p:nvPr/>
        </p:nvSpPr>
        <p:spPr>
          <a:xfrm>
            <a:off x="86868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Tableau calculation mapped to generated Snowflake SQL</a:t>
            </a:r>
            <a:endParaRPr lang="en-US" sz="1000" dirty="0"/>
          </a:p>
        </p:txBody>
      </p:sp>
      <p:sp>
        <p:nvSpPr>
          <p:cNvPr id="28" name="Shape 26"/>
          <p:cNvSpPr/>
          <p:nvPr/>
        </p:nvSpPr>
        <p:spPr>
          <a:xfrm>
            <a:off x="4343400" y="4114800"/>
            <a:ext cx="3520440" cy="1737360"/>
          </a:xfrm>
          <a:prstGeom prst="roundRect">
            <a:avLst>
              <a:gd name="adj" fmla="val 3684"/>
            </a:avLst>
          </a:prstGeom>
          <a:solidFill>
            <a:srgbClr val="F4F3F0"/>
          </a:solidFill>
          <a:ln/>
        </p:spPr>
      </p:sp>
      <p:sp>
        <p:nvSpPr>
          <p:cNvPr id="29" name="Shape 27"/>
          <p:cNvSpPr/>
          <p:nvPr/>
        </p:nvSpPr>
        <p:spPr>
          <a:xfrm>
            <a:off x="4572000" y="4343400"/>
            <a:ext cx="502920" cy="502920"/>
          </a:xfrm>
          <a:prstGeom prst="ellipse">
            <a:avLst/>
          </a:prstGeom>
          <a:solidFill>
            <a:srgbClr val="053057"/>
          </a:solidFill>
          <a:ln/>
        </p:spPr>
      </p:sp>
      <p:sp>
        <p:nvSpPr>
          <p:cNvPr id="30" name="Text 28"/>
          <p:cNvSpPr/>
          <p:nvPr/>
        </p:nvSpPr>
        <p:spPr>
          <a:xfrm>
            <a:off x="457200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5</a:t>
            </a:r>
            <a:endParaRPr lang="en-US" sz="1800" dirty="0"/>
          </a:p>
        </p:txBody>
      </p:sp>
      <p:sp>
        <p:nvSpPr>
          <p:cNvPr id="31" name="Text 29"/>
          <p:cNvSpPr/>
          <p:nvPr/>
        </p:nvSpPr>
        <p:spPr>
          <a:xfrm>
            <a:off x="521208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Interactions</a:t>
            </a:r>
            <a:endParaRPr lang="en-US" sz="1400" dirty="0"/>
          </a:p>
        </p:txBody>
      </p:sp>
      <p:sp>
        <p:nvSpPr>
          <p:cNvPr id="32" name="Text 30"/>
          <p:cNvSpPr/>
          <p:nvPr/>
        </p:nvSpPr>
        <p:spPr>
          <a:xfrm>
            <a:off x="457200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Filters, parameters, sorting and tooltip behavior checked</a:t>
            </a:r>
            <a:endParaRPr lang="en-US" sz="1000" dirty="0"/>
          </a:p>
        </p:txBody>
      </p:sp>
      <p:sp>
        <p:nvSpPr>
          <p:cNvPr id="33" name="Shape 31"/>
          <p:cNvSpPr/>
          <p:nvPr/>
        </p:nvSpPr>
        <p:spPr>
          <a:xfrm>
            <a:off x="8046720" y="4114800"/>
            <a:ext cx="3520440" cy="1737360"/>
          </a:xfrm>
          <a:prstGeom prst="roundRect">
            <a:avLst>
              <a:gd name="adj" fmla="val 3684"/>
            </a:avLst>
          </a:prstGeom>
          <a:solidFill>
            <a:srgbClr val="F4F3F0"/>
          </a:solidFill>
          <a:ln/>
        </p:spPr>
      </p:sp>
      <p:sp>
        <p:nvSpPr>
          <p:cNvPr id="34" name="Shape 32"/>
          <p:cNvSpPr/>
          <p:nvPr/>
        </p:nvSpPr>
        <p:spPr>
          <a:xfrm>
            <a:off x="8275320" y="4343400"/>
            <a:ext cx="502920" cy="502920"/>
          </a:xfrm>
          <a:prstGeom prst="ellipse">
            <a:avLst/>
          </a:prstGeom>
          <a:solidFill>
            <a:srgbClr val="053057"/>
          </a:solidFill>
          <a:ln/>
        </p:spPr>
      </p:sp>
      <p:sp>
        <p:nvSpPr>
          <p:cNvPr id="35" name="Text 33"/>
          <p:cNvSpPr/>
          <p:nvPr/>
        </p:nvSpPr>
        <p:spPr>
          <a:xfrm>
            <a:off x="8275320" y="4325112"/>
            <a:ext cx="502920" cy="502920"/>
          </a:xfrm>
          <a:prstGeom prst="rect">
            <a:avLst/>
          </a:prstGeom>
          <a:noFill/>
          <a:ln/>
        </p:spPr>
        <p:txBody>
          <a:bodyPr wrap="square" rtlCol="0" anchor="ctr"/>
          <a:lstStyle/>
          <a:p>
            <a:pPr algn="ctr" indent="0" marL="0">
              <a:buNone/>
            </a:pPr>
            <a:r>
              <a:rPr lang="en-US" sz="1800" b="1" dirty="0">
                <a:solidFill>
                  <a:srgbClr val="00EDED"/>
                </a:solidFill>
                <a:latin typeface="Montserrat" pitchFamily="34" charset="0"/>
                <a:ea typeface="Montserrat" pitchFamily="34" charset="-122"/>
                <a:cs typeface="Montserrat" pitchFamily="34" charset="-120"/>
              </a:rPr>
              <a:t>6</a:t>
            </a:r>
            <a:endParaRPr lang="en-US" sz="1800" dirty="0"/>
          </a:p>
        </p:txBody>
      </p:sp>
      <p:sp>
        <p:nvSpPr>
          <p:cNvPr id="36" name="Text 34"/>
          <p:cNvSpPr/>
          <p:nvPr/>
        </p:nvSpPr>
        <p:spPr>
          <a:xfrm>
            <a:off x="8915400" y="4343400"/>
            <a:ext cx="2468880" cy="502920"/>
          </a:xfrm>
          <a:prstGeom prst="rect">
            <a:avLst/>
          </a:prstGeom>
          <a:noFill/>
          <a:ln/>
        </p:spPr>
        <p:txBody>
          <a:bodyPr wrap="square" rtlCol="0" anchor="ctr"/>
          <a:lstStyle/>
          <a:p>
            <a:pPr indent="0" marL="0">
              <a:buNone/>
            </a:pPr>
            <a:r>
              <a:rPr lang="en-US" sz="1400" b="1" dirty="0">
                <a:solidFill>
                  <a:srgbClr val="053057"/>
                </a:solidFill>
                <a:latin typeface="Montserrat" pitchFamily="34" charset="0"/>
                <a:ea typeface="Montserrat" pitchFamily="34" charset="-122"/>
                <a:cs typeface="Montserrat" pitchFamily="34" charset="-120"/>
              </a:rPr>
              <a:t>Artifacts</a:t>
            </a:r>
            <a:endParaRPr lang="en-US" sz="1400" dirty="0"/>
          </a:p>
        </p:txBody>
      </p:sp>
      <p:sp>
        <p:nvSpPr>
          <p:cNvPr id="37" name="Text 35"/>
          <p:cNvSpPr/>
          <p:nvPr/>
        </p:nvSpPr>
        <p:spPr>
          <a:xfrm>
            <a:off x="8275320" y="4983480"/>
            <a:ext cx="3063240" cy="777240"/>
          </a:xfrm>
          <a:prstGeom prst="rect">
            <a:avLst/>
          </a:prstGeom>
          <a:noFill/>
          <a:ln/>
        </p:spPr>
        <p:txBody>
          <a:bodyPr wrap="square" rtlCol="0" anchor="ctr"/>
          <a:lstStyle/>
          <a:p>
            <a:pPr indent="0" marL="0">
              <a:lnSpc>
                <a:spcPct val="120000"/>
              </a:lnSpc>
              <a:buNone/>
            </a:pPr>
            <a:r>
              <a:rPr lang="en-US" sz="1000" dirty="0">
                <a:solidFill>
                  <a:srgbClr val="5B6B7A"/>
                </a:solidFill>
                <a:latin typeface="Montserrat" pitchFamily="34" charset="0"/>
                <a:ea typeface="Montserrat" pitchFamily="34" charset="-122"/>
                <a:cs typeface="Montserrat" pitchFamily="34" charset="-120"/>
              </a:rPr>
              <a:t>Full rows, mismatches, queries and notebook retained for audit</a:t>
            </a:r>
            <a:endParaRPr lang="en-US" sz="1000" dirty="0"/>
          </a:p>
        </p:txBody>
      </p:sp>
      <p:sp>
        <p:nvSpPr>
          <p:cNvPr id="38" name="Text 36"/>
          <p:cNvSpPr/>
          <p:nvPr/>
        </p:nvSpPr>
        <p:spPr>
          <a:xfrm>
            <a:off x="640080" y="6035040"/>
            <a:ext cx="10927080" cy="365760"/>
          </a:xfrm>
          <a:prstGeom prst="rect">
            <a:avLst/>
          </a:prstGeom>
          <a:noFill/>
          <a:ln/>
        </p:spPr>
        <p:txBody>
          <a:bodyPr wrap="square" rtlCol="0" anchor="ctr"/>
          <a:lstStyle/>
          <a:p>
            <a:pPr indent="0" marL="0">
              <a:buNone/>
            </a:pPr>
            <a:r>
              <a:rPr lang="en-US" sz="1050" i="1" dirty="0">
                <a:solidFill>
                  <a:srgbClr val="5B6B7A"/>
                </a:solidFill>
                <a:latin typeface="Montserrat" pitchFamily="34" charset="0"/>
                <a:ea typeface="Montserrat" pitchFamily="34" charset="-122"/>
                <a:cs typeface="Montserrat" pitchFamily="34" charset="-120"/>
              </a:rPr>
              <a:t>The HTML report is the readable entry point; the notebook and row-level artifacts provide the complete proof set.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53057"/>
        </a:solidFill>
      </p:bgPr>
    </p:bg>
    <p:spTree>
      <p:nvGrpSpPr>
        <p:cNvPr id="1" name=""/>
        <p:cNvGrpSpPr/>
        <p:nvPr/>
      </p:nvGrpSpPr>
      <p:grpSpPr>
        <a:xfrm>
          <a:off x="0" y="0"/>
          <a:ext cx="0" cy="0"/>
          <a:chOff x="0" y="0"/>
          <a:chExt cx="0" cy="0"/>
        </a:xfrm>
      </p:grpSpPr>
      <p:sp>
        <p:nvSpPr>
          <p:cNvPr id="2" name="Shape 0"/>
          <p:cNvSpPr/>
          <p:nvPr/>
        </p:nvSpPr>
        <p:spPr>
          <a:xfrm>
            <a:off x="502920" y="365760"/>
            <a:ext cx="1417320" cy="310896"/>
          </a:xfrm>
          <a:prstGeom prst="roundRect">
            <a:avLst>
              <a:gd name="adj" fmla="val 17647"/>
            </a:avLst>
          </a:prstGeom>
          <a:solidFill>
            <a:srgbClr val="00EDED"/>
          </a:solidFill>
          <a:ln/>
        </p:spPr>
      </p:sp>
      <p:sp>
        <p:nvSpPr>
          <p:cNvPr id="3" name="Text 1"/>
          <p:cNvSpPr/>
          <p:nvPr/>
        </p:nvSpPr>
        <p:spPr>
          <a:xfrm>
            <a:off x="502920" y="365760"/>
            <a:ext cx="1417320" cy="310896"/>
          </a:xfrm>
          <a:prstGeom prst="rect">
            <a:avLst/>
          </a:prstGeom>
          <a:noFill/>
          <a:ln/>
        </p:spPr>
        <p:txBody>
          <a:bodyPr wrap="square" rtlCol="0" anchor="ctr"/>
          <a:lstStyle/>
          <a:p>
            <a:pPr algn="ctr" indent="0" marL="0">
              <a:buNone/>
            </a:pPr>
            <a:r>
              <a:rPr lang="en-US" sz="950" b="1" spc="100" kern="0" dirty="0">
                <a:solidFill>
                  <a:srgbClr val="053057"/>
                </a:solidFill>
                <a:latin typeface="Montserrat" pitchFamily="34" charset="0"/>
                <a:ea typeface="Montserrat" pitchFamily="34" charset="-122"/>
                <a:cs typeface="Montserrat" pitchFamily="34" charset="-120"/>
              </a:rPr>
              <a:t>APPENDIX</a:t>
            </a:r>
            <a:endParaRPr lang="en-US" sz="950" dirty="0"/>
          </a:p>
        </p:txBody>
      </p:sp>
      <p:sp>
        <p:nvSpPr>
          <p:cNvPr id="4" name="Text 2"/>
          <p:cNvSpPr/>
          <p:nvPr/>
        </p:nvSpPr>
        <p:spPr>
          <a:xfrm>
            <a:off x="502920" y="365760"/>
            <a:ext cx="7315200" cy="292608"/>
          </a:xfrm>
          <a:prstGeom prst="rect">
            <a:avLst/>
          </a:prstGeom>
          <a:noFill/>
          <a:ln/>
        </p:spPr>
        <p:txBody>
          <a:bodyPr wrap="square" rtlCol="0" anchor="ctr"/>
          <a:lstStyle/>
          <a:p>
            <a:pPr indent="0" marL="0">
              <a:buNone/>
            </a:pPr>
            <a:endParaRPr lang="en-US" sz="1100" dirty="0"/>
          </a:p>
        </p:txBody>
      </p:sp>
      <p:sp>
        <p:nvSpPr>
          <p:cNvPr id="5" name="Text 3"/>
          <p:cNvSpPr/>
          <p:nvPr/>
        </p:nvSpPr>
        <p:spPr>
          <a:xfrm>
            <a:off x="502920" y="658368"/>
            <a:ext cx="10607040" cy="777240"/>
          </a:xfrm>
          <a:prstGeom prst="rect">
            <a:avLst/>
          </a:prstGeom>
          <a:noFill/>
          <a:ln/>
        </p:spPr>
        <p:txBody>
          <a:bodyPr wrap="square" rtlCol="0" anchor="ctr"/>
          <a:lstStyle/>
          <a:p>
            <a:pPr indent="0" marL="0">
              <a:lnSpc>
                <a:spcPct val="105000"/>
              </a:lnSpc>
              <a:buNone/>
            </a:pPr>
            <a:r>
              <a:rPr lang="en-US" sz="2600" b="1" dirty="0">
                <a:solidFill>
                  <a:srgbClr val="FFFFFF"/>
                </a:solidFill>
                <a:latin typeface="Montserrat" pitchFamily="34" charset="0"/>
                <a:ea typeface="Montserrat" pitchFamily="34" charset="-122"/>
                <a:cs typeface="Montserrat" pitchFamily="34" charset="-120"/>
              </a:rPr>
              <a:t>Appendix: how the pipeline is actually built</a:t>
            </a:r>
            <a:endParaRPr lang="en-US" sz="2600" dirty="0"/>
          </a:p>
        </p:txBody>
      </p:sp>
      <p:sp>
        <p:nvSpPr>
          <p:cNvPr id="6" name="Text 4"/>
          <p:cNvSpPr/>
          <p:nvPr/>
        </p:nvSpPr>
        <p:spPr>
          <a:xfrm>
            <a:off x="502920" y="1298448"/>
            <a:ext cx="10881360" cy="457200"/>
          </a:xfrm>
          <a:prstGeom prst="rect">
            <a:avLst/>
          </a:prstGeom>
          <a:noFill/>
          <a:ln/>
        </p:spPr>
        <p:txBody>
          <a:bodyPr wrap="square" rtlCol="0" anchor="ctr"/>
          <a:lstStyle/>
          <a:p>
            <a:pPr indent="0" marL="0">
              <a:buNone/>
            </a:pPr>
            <a:r>
              <a:rPr lang="en-US" sz="1300" dirty="0">
                <a:solidFill>
                  <a:srgbClr val="AFC2D6"/>
                </a:solidFill>
                <a:latin typeface="Montserrat" pitchFamily="34" charset="0"/>
                <a:ea typeface="Montserrat" pitchFamily="34" charset="-122"/>
                <a:cs typeface="Montserrat" pitchFamily="34" charset="-120"/>
              </a:rPr>
              <a:t>One deterministic pipeline; Cortex is an opt-in branch, never a dependency in it.</a:t>
            </a:r>
            <a:endParaRPr lang="en-US" sz="1300" dirty="0"/>
          </a:p>
        </p:txBody>
      </p:sp>
      <p:sp>
        <p:nvSpPr>
          <p:cNvPr id="7" name="Text 5"/>
          <p:cNvSpPr/>
          <p:nvPr/>
        </p:nvSpPr>
        <p:spPr>
          <a:xfrm>
            <a:off x="9814255" y="347472"/>
            <a:ext cx="1920240" cy="274320"/>
          </a:xfrm>
          <a:prstGeom prst="rect">
            <a:avLst/>
          </a:prstGeom>
          <a:noFill/>
          <a:ln/>
        </p:spPr>
        <p:txBody>
          <a:bodyPr wrap="square" rtlCol="0" anchor="ctr"/>
          <a:lstStyle/>
          <a:p>
            <a:pPr algn="r" indent="0" marL="0">
              <a:buNone/>
            </a:pPr>
            <a:r>
              <a:rPr lang="en-US" sz="1000" b="1" spc="200" kern="0" dirty="0">
                <a:solidFill>
                  <a:srgbClr val="00EDED"/>
                </a:solidFill>
                <a:latin typeface="Montserrat" pitchFamily="34" charset="0"/>
                <a:ea typeface="Montserrat" pitchFamily="34" charset="-122"/>
                <a:cs typeface="Montserrat" pitchFamily="34" charset="-120"/>
              </a:rPr>
              <a:t>BLEND360</a:t>
            </a:r>
            <a:endParaRPr lang="en-US" sz="1000" dirty="0"/>
          </a:p>
        </p:txBody>
      </p:sp>
      <p:sp>
        <p:nvSpPr>
          <p:cNvPr id="8" name="Text 6"/>
          <p:cNvSpPr/>
          <p:nvPr/>
        </p:nvSpPr>
        <p:spPr>
          <a:xfrm>
            <a:off x="9814255" y="6400800"/>
            <a:ext cx="1920240" cy="274320"/>
          </a:xfrm>
          <a:prstGeom prst="rect">
            <a:avLst/>
          </a:prstGeom>
          <a:noFill/>
          <a:ln/>
        </p:spPr>
        <p:txBody>
          <a:bodyPr wrap="square" rtlCol="0" anchor="ctr"/>
          <a:lstStyle/>
          <a:p>
            <a:pPr algn="r" indent="0" marL="0">
              <a:buNone/>
            </a:pPr>
            <a:r>
              <a:rPr lang="en-US" sz="900" dirty="0">
                <a:solidFill>
                  <a:srgbClr val="5D7391"/>
                </a:solidFill>
                <a:latin typeface="Montserrat" pitchFamily="34" charset="0"/>
                <a:ea typeface="Montserrat" pitchFamily="34" charset="-122"/>
                <a:cs typeface="Montserrat" pitchFamily="34" charset="-120"/>
              </a:rPr>
              <a:t>13 / 13</a:t>
            </a:r>
            <a:endParaRPr lang="en-US" sz="900" dirty="0"/>
          </a:p>
        </p:txBody>
      </p:sp>
      <p:sp>
        <p:nvSpPr>
          <p:cNvPr id="9" name="Shape 7"/>
          <p:cNvSpPr/>
          <p:nvPr/>
        </p:nvSpPr>
        <p:spPr>
          <a:xfrm>
            <a:off x="594360" y="2423160"/>
            <a:ext cx="3246120" cy="868680"/>
          </a:xfrm>
          <a:prstGeom prst="roundRect">
            <a:avLst>
              <a:gd name="adj" fmla="val 7368"/>
            </a:avLst>
          </a:prstGeom>
          <a:solidFill>
            <a:srgbClr val="314550"/>
          </a:solidFill>
          <a:ln w="9525">
            <a:solidFill>
              <a:srgbClr val="00EDED"/>
            </a:solidFill>
            <a:prstDash val="solid"/>
          </a:ln>
        </p:spPr>
      </p:sp>
      <p:sp>
        <p:nvSpPr>
          <p:cNvPr id="10" name="Text 8"/>
          <p:cNvSpPr/>
          <p:nvPr/>
        </p:nvSpPr>
        <p:spPr>
          <a:xfrm>
            <a:off x="777240" y="2532888"/>
            <a:ext cx="2880360" cy="292608"/>
          </a:xfrm>
          <a:prstGeom prst="rect">
            <a:avLst/>
          </a:prstGeom>
          <a:noFill/>
          <a:ln/>
        </p:spPr>
        <p:txBody>
          <a:bodyPr wrap="square" rtlCol="0" anchor="ctr"/>
          <a:lstStyle/>
          <a:p>
            <a:pPr indent="0" marL="0">
              <a:buNone/>
            </a:pPr>
            <a:r>
              <a:rPr lang="en-US" sz="1150" b="1" dirty="0">
                <a:solidFill>
                  <a:srgbClr val="00EDED"/>
                </a:solidFill>
                <a:latin typeface="Montserrat" pitchFamily="34" charset="0"/>
                <a:ea typeface="Montserrat" pitchFamily="34" charset="-122"/>
                <a:cs typeface="Montserrat" pitchFamily="34" charset="-120"/>
              </a:rPr>
              <a:t>1 · PARSE</a:t>
            </a:r>
            <a:endParaRPr lang="en-US" sz="1150" dirty="0"/>
          </a:p>
        </p:txBody>
      </p:sp>
      <p:sp>
        <p:nvSpPr>
          <p:cNvPr id="11" name="Text 9"/>
          <p:cNvSpPr/>
          <p:nvPr/>
        </p:nvSpPr>
        <p:spPr>
          <a:xfrm>
            <a:off x="777240" y="2862072"/>
            <a:ext cx="2880360" cy="365760"/>
          </a:xfrm>
          <a:prstGeom prst="rect">
            <a:avLst/>
          </a:prstGeom>
          <a:noFill/>
          <a:ln/>
        </p:spPr>
        <p:txBody>
          <a:bodyPr wrap="square" rtlCol="0" anchor="ctr"/>
          <a:lstStyle/>
          <a:p>
            <a:pPr indent="0" marL="0">
              <a:buNone/>
            </a:pPr>
            <a:r>
              <a:rPr lang="en-US" sz="1000" dirty="0">
                <a:solidFill>
                  <a:srgbClr val="AFC2D6"/>
                </a:solidFill>
                <a:latin typeface="Montserrat" pitchFamily="34" charset="0"/>
                <a:ea typeface="Montserrat" pitchFamily="34" charset="-122"/>
                <a:cs typeface="Montserrat" pitchFamily="34" charset="-120"/>
              </a:rPr>
              <a:t>workbook → IR</a:t>
            </a:r>
            <a:endParaRPr lang="en-US" sz="1000" dirty="0"/>
          </a:p>
        </p:txBody>
      </p:sp>
      <p:sp>
        <p:nvSpPr>
          <p:cNvPr id="12" name="Text 10"/>
          <p:cNvSpPr/>
          <p:nvPr/>
        </p:nvSpPr>
        <p:spPr>
          <a:xfrm>
            <a:off x="3794760" y="2674620"/>
            <a:ext cx="320040" cy="365760"/>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3" name="Shape 11"/>
          <p:cNvSpPr/>
          <p:nvPr/>
        </p:nvSpPr>
        <p:spPr>
          <a:xfrm>
            <a:off x="3977640" y="2423160"/>
            <a:ext cx="3246120" cy="868680"/>
          </a:xfrm>
          <a:prstGeom prst="roundRect">
            <a:avLst>
              <a:gd name="adj" fmla="val 7368"/>
            </a:avLst>
          </a:prstGeom>
          <a:solidFill>
            <a:srgbClr val="314550"/>
          </a:solidFill>
          <a:ln w="9525">
            <a:solidFill>
              <a:srgbClr val="00EDED"/>
            </a:solidFill>
            <a:prstDash val="solid"/>
          </a:ln>
        </p:spPr>
      </p:sp>
      <p:sp>
        <p:nvSpPr>
          <p:cNvPr id="14" name="Text 12"/>
          <p:cNvSpPr/>
          <p:nvPr/>
        </p:nvSpPr>
        <p:spPr>
          <a:xfrm>
            <a:off x="4160520" y="2532888"/>
            <a:ext cx="2880360" cy="292608"/>
          </a:xfrm>
          <a:prstGeom prst="rect">
            <a:avLst/>
          </a:prstGeom>
          <a:noFill/>
          <a:ln/>
        </p:spPr>
        <p:txBody>
          <a:bodyPr wrap="square" rtlCol="0" anchor="ctr"/>
          <a:lstStyle/>
          <a:p>
            <a:pPr indent="0" marL="0">
              <a:buNone/>
            </a:pPr>
            <a:r>
              <a:rPr lang="en-US" sz="1150" b="1" dirty="0">
                <a:solidFill>
                  <a:srgbClr val="00EDED"/>
                </a:solidFill>
                <a:latin typeface="Montserrat" pitchFamily="34" charset="0"/>
                <a:ea typeface="Montserrat" pitchFamily="34" charset="-122"/>
                <a:cs typeface="Montserrat" pitchFamily="34" charset="-120"/>
              </a:rPr>
              <a:t>2 · TRANSLATE</a:t>
            </a:r>
            <a:endParaRPr lang="en-US" sz="1150" dirty="0"/>
          </a:p>
        </p:txBody>
      </p:sp>
      <p:sp>
        <p:nvSpPr>
          <p:cNvPr id="15" name="Text 13"/>
          <p:cNvSpPr/>
          <p:nvPr/>
        </p:nvSpPr>
        <p:spPr>
          <a:xfrm>
            <a:off x="4160520" y="2862072"/>
            <a:ext cx="2880360" cy="365760"/>
          </a:xfrm>
          <a:prstGeom prst="rect">
            <a:avLst/>
          </a:prstGeom>
          <a:noFill/>
          <a:ln/>
        </p:spPr>
        <p:txBody>
          <a:bodyPr wrap="square" rtlCol="0" anchor="ctr"/>
          <a:lstStyle/>
          <a:p>
            <a:pPr indent="0" marL="0">
              <a:buNone/>
            </a:pPr>
            <a:r>
              <a:rPr lang="en-US" sz="1000" dirty="0">
                <a:solidFill>
                  <a:srgbClr val="AFC2D6"/>
                </a:solidFill>
                <a:latin typeface="Montserrat" pitchFamily="34" charset="0"/>
                <a:ea typeface="Montserrat" pitchFamily="34" charset="-122"/>
                <a:cs typeface="Montserrat" pitchFamily="34" charset="-120"/>
              </a:rPr>
              <a:t>→ Snowflake SQL, by rule</a:t>
            </a:r>
            <a:endParaRPr lang="en-US" sz="1000" dirty="0"/>
          </a:p>
        </p:txBody>
      </p:sp>
      <p:sp>
        <p:nvSpPr>
          <p:cNvPr id="16" name="Text 14"/>
          <p:cNvSpPr/>
          <p:nvPr/>
        </p:nvSpPr>
        <p:spPr>
          <a:xfrm>
            <a:off x="7178040" y="2674620"/>
            <a:ext cx="320040" cy="365760"/>
          </a:xfrm>
          <a:prstGeom prst="rect">
            <a:avLst/>
          </a:prstGeom>
          <a:noFill/>
          <a:ln/>
        </p:spPr>
        <p:txBody>
          <a:bodyPr wrap="square" rtlCol="0" anchor="ctr"/>
          <a:lstStyle/>
          <a:p>
            <a:pPr algn="ctr" indent="0" marL="0">
              <a:buNone/>
            </a:pPr>
            <a:r>
              <a:rPr lang="en-US" sz="1600" b="1" dirty="0">
                <a:solidFill>
                  <a:srgbClr val="00EDED"/>
                </a:solidFill>
                <a:latin typeface="Montserrat" pitchFamily="34" charset="0"/>
                <a:ea typeface="Montserrat" pitchFamily="34" charset="-122"/>
                <a:cs typeface="Montserrat" pitchFamily="34" charset="-120"/>
              </a:rPr>
              <a:t>→</a:t>
            </a:r>
            <a:endParaRPr lang="en-US" sz="1600" dirty="0"/>
          </a:p>
        </p:txBody>
      </p:sp>
      <p:sp>
        <p:nvSpPr>
          <p:cNvPr id="17" name="Shape 15"/>
          <p:cNvSpPr/>
          <p:nvPr/>
        </p:nvSpPr>
        <p:spPr>
          <a:xfrm>
            <a:off x="7360920" y="2423160"/>
            <a:ext cx="3246120" cy="868680"/>
          </a:xfrm>
          <a:prstGeom prst="roundRect">
            <a:avLst>
              <a:gd name="adj" fmla="val 7368"/>
            </a:avLst>
          </a:prstGeom>
          <a:solidFill>
            <a:srgbClr val="314550"/>
          </a:solidFill>
          <a:ln w="9525">
            <a:solidFill>
              <a:srgbClr val="00EDED"/>
            </a:solidFill>
            <a:prstDash val="solid"/>
          </a:ln>
        </p:spPr>
      </p:sp>
      <p:sp>
        <p:nvSpPr>
          <p:cNvPr id="18" name="Text 16"/>
          <p:cNvSpPr/>
          <p:nvPr/>
        </p:nvSpPr>
        <p:spPr>
          <a:xfrm>
            <a:off x="7543800" y="2532888"/>
            <a:ext cx="2880360" cy="292608"/>
          </a:xfrm>
          <a:prstGeom prst="rect">
            <a:avLst/>
          </a:prstGeom>
          <a:noFill/>
          <a:ln/>
        </p:spPr>
        <p:txBody>
          <a:bodyPr wrap="square" rtlCol="0" anchor="ctr"/>
          <a:lstStyle/>
          <a:p>
            <a:pPr indent="0" marL="0">
              <a:buNone/>
            </a:pPr>
            <a:r>
              <a:rPr lang="en-US" sz="1150" b="1" dirty="0">
                <a:solidFill>
                  <a:srgbClr val="00EDED"/>
                </a:solidFill>
                <a:latin typeface="Montserrat" pitchFamily="34" charset="0"/>
                <a:ea typeface="Montserrat" pitchFamily="34" charset="-122"/>
                <a:cs typeface="Montserrat" pitchFamily="34" charset="-120"/>
              </a:rPr>
              <a:t>3 · GENERATE</a:t>
            </a:r>
            <a:endParaRPr lang="en-US" sz="1150" dirty="0"/>
          </a:p>
        </p:txBody>
      </p:sp>
      <p:sp>
        <p:nvSpPr>
          <p:cNvPr id="19" name="Text 17"/>
          <p:cNvSpPr/>
          <p:nvPr/>
        </p:nvSpPr>
        <p:spPr>
          <a:xfrm>
            <a:off x="7543800" y="2862072"/>
            <a:ext cx="2880360" cy="365760"/>
          </a:xfrm>
          <a:prstGeom prst="rect">
            <a:avLst/>
          </a:prstGeom>
          <a:noFill/>
          <a:ln/>
        </p:spPr>
        <p:txBody>
          <a:bodyPr wrap="square" rtlCol="0" anchor="ctr"/>
          <a:lstStyle/>
          <a:p>
            <a:pPr indent="0" marL="0">
              <a:buNone/>
            </a:pPr>
            <a:r>
              <a:rPr lang="en-US" sz="1000" dirty="0">
                <a:solidFill>
                  <a:srgbClr val="AFC2D6"/>
                </a:solidFill>
                <a:latin typeface="Montserrat" pitchFamily="34" charset="0"/>
                <a:ea typeface="Montserrat" pitchFamily="34" charset="-122"/>
                <a:cs typeface="Montserrat" pitchFamily="34" charset="-120"/>
              </a:rPr>
              <a:t>→ verified app.py</a:t>
            </a:r>
            <a:endParaRPr lang="en-US" sz="1000" dirty="0"/>
          </a:p>
        </p:txBody>
      </p:sp>
      <p:sp>
        <p:nvSpPr>
          <p:cNvPr id="20" name="Shape 18"/>
          <p:cNvSpPr/>
          <p:nvPr/>
        </p:nvSpPr>
        <p:spPr>
          <a:xfrm>
            <a:off x="2926080" y="3566160"/>
            <a:ext cx="6309360" cy="685800"/>
          </a:xfrm>
          <a:prstGeom prst="roundRect">
            <a:avLst>
              <a:gd name="adj" fmla="val 10667"/>
            </a:avLst>
          </a:prstGeom>
          <a:solidFill>
            <a:srgbClr val="00EDED"/>
          </a:solidFill>
          <a:ln/>
        </p:spPr>
      </p:sp>
      <p:sp>
        <p:nvSpPr>
          <p:cNvPr id="21" name="Text 19"/>
          <p:cNvSpPr/>
          <p:nvPr/>
        </p:nvSpPr>
        <p:spPr>
          <a:xfrm>
            <a:off x="2926080" y="3566160"/>
            <a:ext cx="6309360" cy="685800"/>
          </a:xfrm>
          <a:prstGeom prst="rect">
            <a:avLst/>
          </a:prstGeom>
          <a:noFill/>
          <a:ln/>
        </p:spPr>
        <p:txBody>
          <a:bodyPr wrap="square" rtlCol="0" anchor="ctr"/>
          <a:lstStyle/>
          <a:p>
            <a:pPr algn="ctr" indent="0" marL="0">
              <a:buNone/>
            </a:pPr>
            <a:r>
              <a:rPr lang="en-US" sz="1150" b="1" dirty="0">
                <a:solidFill>
                  <a:srgbClr val="053057"/>
                </a:solidFill>
                <a:latin typeface="Montserrat" pitchFamily="34" charset="0"/>
                <a:ea typeface="Montserrat" pitchFamily="34" charset="-122"/>
                <a:cs typeface="Montserrat" pitchFamily="34" charset="-120"/>
              </a:rPr>
              <a:t>RENDERING ENGINE  —  19 chart types · layout · filters · live parameters</a:t>
            </a:r>
            <a:endParaRPr lang="en-US" sz="1150" dirty="0"/>
          </a:p>
        </p:txBody>
      </p:sp>
      <p:sp>
        <p:nvSpPr>
          <p:cNvPr id="22" name="Shape 20"/>
          <p:cNvSpPr/>
          <p:nvPr/>
        </p:nvSpPr>
        <p:spPr>
          <a:xfrm>
            <a:off x="594360" y="4526280"/>
            <a:ext cx="3794760" cy="868680"/>
          </a:xfrm>
          <a:prstGeom prst="roundRect">
            <a:avLst>
              <a:gd name="adj" fmla="val 7368"/>
            </a:avLst>
          </a:prstGeom>
          <a:solidFill>
            <a:srgbClr val="314550"/>
          </a:solidFill>
          <a:ln/>
        </p:spPr>
      </p:sp>
      <p:sp>
        <p:nvSpPr>
          <p:cNvPr id="23" name="Text 21"/>
          <p:cNvSpPr/>
          <p:nvPr/>
        </p:nvSpPr>
        <p:spPr>
          <a:xfrm>
            <a:off x="822960" y="4645152"/>
            <a:ext cx="3337560" cy="274320"/>
          </a:xfrm>
          <a:prstGeom prst="rect">
            <a:avLst/>
          </a:prstGeom>
          <a:noFill/>
          <a:ln/>
        </p:spPr>
        <p:txBody>
          <a:bodyPr wrap="square" rtlCol="0" anchor="ctr"/>
          <a:lstStyle/>
          <a:p>
            <a:pPr indent="0" marL="0">
              <a:buNone/>
            </a:pPr>
            <a:r>
              <a:rPr lang="en-US" sz="1100" b="1" dirty="0">
                <a:solidFill>
                  <a:srgbClr val="FFFFFF"/>
                </a:solidFill>
                <a:latin typeface="Montserrat" pitchFamily="34" charset="0"/>
                <a:ea typeface="Montserrat" pitchFamily="34" charset="-122"/>
                <a:cs typeface="Montserrat" pitchFamily="34" charset="-120"/>
              </a:rPr>
              <a:t>LOCAL · DUCKDB</a:t>
            </a:r>
            <a:endParaRPr lang="en-US" sz="1100" dirty="0"/>
          </a:p>
        </p:txBody>
      </p:sp>
      <p:sp>
        <p:nvSpPr>
          <p:cNvPr id="24" name="Text 22"/>
          <p:cNvSpPr/>
          <p:nvPr/>
        </p:nvSpPr>
        <p:spPr>
          <a:xfrm>
            <a:off x="822960" y="4937760"/>
            <a:ext cx="3337560" cy="365760"/>
          </a:xfrm>
          <a:prstGeom prst="rect">
            <a:avLst/>
          </a:prstGeom>
          <a:noFill/>
          <a:ln/>
        </p:spPr>
        <p:txBody>
          <a:bodyPr wrap="square" rtlCol="0" anchor="ctr"/>
          <a:lstStyle/>
          <a:p>
            <a:pPr indent="0" marL="0">
              <a:buNone/>
            </a:pPr>
            <a:r>
              <a:rPr lang="en-US" sz="900" dirty="0">
                <a:solidFill>
                  <a:srgbClr val="AFC2D6"/>
                </a:solidFill>
                <a:latin typeface="Montserrat" pitchFamily="34" charset="0"/>
                <a:ea typeface="Montserrat" pitchFamily="34" charset="-122"/>
                <a:cs typeface="Montserrat" pitchFamily="34" charset="-120"/>
              </a:rPr>
              <a:t>identical SQL, for build and testing</a:t>
            </a:r>
            <a:endParaRPr lang="en-US" sz="900" dirty="0"/>
          </a:p>
        </p:txBody>
      </p:sp>
      <p:sp>
        <p:nvSpPr>
          <p:cNvPr id="25" name="Shape 23"/>
          <p:cNvSpPr/>
          <p:nvPr/>
        </p:nvSpPr>
        <p:spPr>
          <a:xfrm>
            <a:off x="4663440" y="4526280"/>
            <a:ext cx="3794760" cy="868680"/>
          </a:xfrm>
          <a:prstGeom prst="roundRect">
            <a:avLst>
              <a:gd name="adj" fmla="val 7368"/>
            </a:avLst>
          </a:prstGeom>
          <a:solidFill>
            <a:srgbClr val="0A4360"/>
          </a:solidFill>
          <a:ln w="12700">
            <a:solidFill>
              <a:srgbClr val="00EDED"/>
            </a:solidFill>
            <a:prstDash val="solid"/>
          </a:ln>
        </p:spPr>
      </p:sp>
      <p:sp>
        <p:nvSpPr>
          <p:cNvPr id="26" name="Text 24"/>
          <p:cNvSpPr/>
          <p:nvPr/>
        </p:nvSpPr>
        <p:spPr>
          <a:xfrm>
            <a:off x="4892040" y="4645152"/>
            <a:ext cx="3337560" cy="274320"/>
          </a:xfrm>
          <a:prstGeom prst="rect">
            <a:avLst/>
          </a:prstGeom>
          <a:noFill/>
          <a:ln/>
        </p:spPr>
        <p:txBody>
          <a:bodyPr wrap="square" rtlCol="0" anchor="ctr"/>
          <a:lstStyle/>
          <a:p>
            <a:pPr indent="0" marL="0">
              <a:buNone/>
            </a:pPr>
            <a:r>
              <a:rPr lang="en-US" sz="1100" b="1" dirty="0">
                <a:solidFill>
                  <a:srgbClr val="00EDED"/>
                </a:solidFill>
                <a:latin typeface="Montserrat" pitchFamily="34" charset="0"/>
                <a:ea typeface="Montserrat" pitchFamily="34" charset="-122"/>
                <a:cs typeface="Montserrat" pitchFamily="34" charset="-120"/>
              </a:rPr>
              <a:t>SNOWFLAKE · SiS</a:t>
            </a:r>
            <a:endParaRPr lang="en-US" sz="1100" dirty="0"/>
          </a:p>
        </p:txBody>
      </p:sp>
      <p:sp>
        <p:nvSpPr>
          <p:cNvPr id="27" name="Text 25"/>
          <p:cNvSpPr/>
          <p:nvPr/>
        </p:nvSpPr>
        <p:spPr>
          <a:xfrm>
            <a:off x="4892040" y="4937760"/>
            <a:ext cx="3337560" cy="365760"/>
          </a:xfrm>
          <a:prstGeom prst="rect">
            <a:avLst/>
          </a:prstGeom>
          <a:noFill/>
          <a:ln/>
        </p:spPr>
        <p:txBody>
          <a:bodyPr wrap="square" rtlCol="0" anchor="ctr"/>
          <a:lstStyle/>
          <a:p>
            <a:pPr indent="0" marL="0">
              <a:buNone/>
            </a:pPr>
            <a:r>
              <a:rPr lang="en-US" sz="900" dirty="0">
                <a:solidFill>
                  <a:srgbClr val="AFC2D6"/>
                </a:solidFill>
                <a:latin typeface="Montserrat" pitchFamily="34" charset="0"/>
                <a:ea typeface="Montserrat" pitchFamily="34" charset="-122"/>
                <a:cs typeface="Montserrat" pitchFamily="34" charset="-120"/>
              </a:rPr>
              <a:t>identical SQL, inside the account, governed by the app's own role</a:t>
            </a:r>
            <a:endParaRPr lang="en-US" sz="900" dirty="0"/>
          </a:p>
        </p:txBody>
      </p:sp>
      <p:sp>
        <p:nvSpPr>
          <p:cNvPr id="28" name="Shape 26"/>
          <p:cNvSpPr/>
          <p:nvPr/>
        </p:nvSpPr>
        <p:spPr>
          <a:xfrm>
            <a:off x="8732520" y="4526280"/>
            <a:ext cx="2880360" cy="1691640"/>
          </a:xfrm>
          <a:prstGeom prst="roundRect">
            <a:avLst>
              <a:gd name="adj" fmla="val 3784"/>
            </a:avLst>
          </a:prstGeom>
          <a:solidFill>
            <a:srgbClr val="314550"/>
          </a:solidFill>
          <a:ln w="12700">
            <a:solidFill>
              <a:srgbClr val="00EDED"/>
            </a:solidFill>
            <a:prstDash val="dash"/>
          </a:ln>
        </p:spPr>
      </p:sp>
      <p:sp>
        <p:nvSpPr>
          <p:cNvPr id="29" name="Text 27"/>
          <p:cNvSpPr/>
          <p:nvPr/>
        </p:nvSpPr>
        <p:spPr>
          <a:xfrm>
            <a:off x="8915400" y="4663440"/>
            <a:ext cx="2514600" cy="274320"/>
          </a:xfrm>
          <a:prstGeom prst="rect">
            <a:avLst/>
          </a:prstGeom>
          <a:noFill/>
          <a:ln/>
        </p:spPr>
        <p:txBody>
          <a:bodyPr wrap="square" rtlCol="0" anchor="ctr"/>
          <a:lstStyle/>
          <a:p>
            <a:pPr indent="0" marL="0">
              <a:buNone/>
            </a:pPr>
            <a:r>
              <a:rPr lang="en-US" sz="1050" b="1" dirty="0">
                <a:solidFill>
                  <a:srgbClr val="00EDED"/>
                </a:solidFill>
                <a:latin typeface="Montserrat" pitchFamily="34" charset="0"/>
                <a:ea typeface="Montserrat" pitchFamily="34" charset="-122"/>
                <a:cs typeface="Montserrat" pitchFamily="34" charset="-120"/>
              </a:rPr>
              <a:t>CORTEX AI · OPT-IN</a:t>
            </a:r>
            <a:endParaRPr lang="en-US" sz="1050" dirty="0"/>
          </a:p>
        </p:txBody>
      </p:sp>
      <p:sp>
        <p:nvSpPr>
          <p:cNvPr id="30" name="Text 28"/>
          <p:cNvSpPr/>
          <p:nvPr/>
        </p:nvSpPr>
        <p:spPr>
          <a:xfrm>
            <a:off x="8915400" y="4937760"/>
            <a:ext cx="2514600" cy="502920"/>
          </a:xfrm>
          <a:prstGeom prst="rect">
            <a:avLst/>
          </a:prstGeom>
          <a:noFill/>
          <a:ln/>
        </p:spPr>
        <p:txBody>
          <a:bodyPr wrap="square" rtlCol="0" anchor="ctr"/>
          <a:lstStyle/>
          <a:p>
            <a:pPr indent="0" marL="0">
              <a:lnSpc>
                <a:spcPct val="120000"/>
              </a:lnSpc>
              <a:buNone/>
            </a:pPr>
            <a:r>
              <a:rPr lang="en-US" sz="850" dirty="0">
                <a:solidFill>
                  <a:srgbClr val="AFC2D6"/>
                </a:solidFill>
                <a:latin typeface="Montserrat" pitchFamily="34" charset="0"/>
                <a:ea typeface="Montserrat" pitchFamily="34" charset="-122"/>
                <a:cs typeface="Montserrat" pitchFamily="34" charset="-120"/>
              </a:rPr>
              <a:t>hard calcs · semantic view · ask-your-data</a:t>
            </a:r>
            <a:endParaRPr lang="en-US" sz="850" dirty="0"/>
          </a:p>
        </p:txBody>
      </p:sp>
      <p:sp>
        <p:nvSpPr>
          <p:cNvPr id="31" name="Text 29"/>
          <p:cNvSpPr/>
          <p:nvPr/>
        </p:nvSpPr>
        <p:spPr>
          <a:xfrm>
            <a:off x="8915400" y="5486400"/>
            <a:ext cx="2514600" cy="594360"/>
          </a:xfrm>
          <a:prstGeom prst="rect">
            <a:avLst/>
          </a:prstGeom>
          <a:noFill/>
          <a:ln/>
        </p:spPr>
        <p:txBody>
          <a:bodyPr wrap="square" rtlCol="0" anchor="ctr"/>
          <a:lstStyle/>
          <a:p>
            <a:pPr indent="0" marL="0">
              <a:lnSpc>
                <a:spcPct val="120000"/>
              </a:lnSpc>
              <a:buNone/>
            </a:pPr>
            <a:r>
              <a:rPr lang="en-US" sz="850" i="1" dirty="0">
                <a:solidFill>
                  <a:srgbClr val="AFC2D6"/>
                </a:solidFill>
                <a:latin typeface="Montserrat" pitchFamily="34" charset="0"/>
                <a:ea typeface="Montserrat" pitchFamily="34" charset="-122"/>
                <a:cs typeface="Montserrat" pitchFamily="34" charset="-120"/>
              </a:rPr>
              <a:t>execution-tested,</a:t>
            </a:r>
            <a:endParaRPr lang="en-US" sz="850" dirty="0"/>
          </a:p>
          <a:p>
            <a:pPr indent="0" marL="0">
              <a:lnSpc>
                <a:spcPct val="120000"/>
              </a:lnSpc>
              <a:buNone/>
            </a:pPr>
            <a:r>
              <a:rPr lang="en-US" sz="850" i="1" dirty="0">
                <a:solidFill>
                  <a:srgbClr val="AFC2D6"/>
                </a:solidFill>
                <a:latin typeface="Montserrat" pitchFamily="34" charset="0"/>
                <a:ea typeface="Montserrat" pitchFamily="34" charset="-122"/>
                <a:cs typeface="Montserrat" pitchFamily="34" charset="-120"/>
              </a:rPr>
              <a:t>then human-reviewed</a:t>
            </a:r>
            <a:endParaRPr lang="en-US" sz="850" dirty="0"/>
          </a:p>
        </p:txBody>
      </p:sp>
      <p:sp>
        <p:nvSpPr>
          <p:cNvPr id="32" name="Text 30"/>
          <p:cNvSpPr/>
          <p:nvPr/>
        </p:nvSpPr>
        <p:spPr>
          <a:xfrm>
            <a:off x="594360" y="6263640"/>
            <a:ext cx="10972800" cy="365760"/>
          </a:xfrm>
          <a:prstGeom prst="rect">
            <a:avLst/>
          </a:prstGeom>
          <a:noFill/>
          <a:ln/>
        </p:spPr>
        <p:txBody>
          <a:bodyPr wrap="square" rtlCol="0" anchor="ctr"/>
          <a:lstStyle/>
          <a:p>
            <a:pPr indent="0" marL="0">
              <a:buNone/>
            </a:pPr>
            <a:r>
              <a:rPr lang="en-US" sz="1000" i="1" dirty="0">
                <a:solidFill>
                  <a:srgbClr val="AFC2D6"/>
                </a:solidFill>
                <a:latin typeface="Montserrat" pitchFamily="34" charset="0"/>
                <a:ea typeface="Montserrat" pitchFamily="34" charset="-122"/>
                <a:cs typeface="Montserrat" pitchFamily="34" charset="-120"/>
              </a:rPr>
              <a:t>Because no AI writes the app, the same workbook produces the same result every run.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Blend360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to Streamlit-in-Snowflake Accelerator</dc:title>
  <dc:subject>PptxGenJS Presentation</dc:subject>
  <dc:creator>Blend360</dc:creator>
  <cp:lastModifiedBy>Blend360</cp:lastModifiedBy>
  <cp:revision>1</cp:revision>
  <dcterms:created xsi:type="dcterms:W3CDTF">2026-08-05T15:54:51Z</dcterms:created>
  <dcterms:modified xsi:type="dcterms:W3CDTF">2026-08-05T15:54:51Z</dcterms:modified>
</cp:coreProperties>
</file>