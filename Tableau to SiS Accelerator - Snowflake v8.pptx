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697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cost conversation. Three recurring costs: the licence, the specialist skill, and the second platform. The middle column is what most customers actually do — renew, hire more, and maintain both — which changes nothing. Only the third column removes the spend rather than moving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Cyan-bordered stages are where Cortex does the work — three of the five. Human-in-the-loop is an enterprise control, not a caveat: the AI proposes, it is proven against real data, a person signs it off, and the decision is audited. Mention assessment — a customer can see what a migration involves before committing to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worked example — it makes Cortex's contribution concrete: a genuinely hard Tableau construct, the SQL Cortex produced, and the fact it was executed and checked against an independent ground truth before anyone accepted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on speed and confidence, not savings — the cost argument is already made on slide 1, so this slide is about what the customer gets. The four headline cards are the value message: the majority converts automatically, a workbook becomes a live app in a single run, every measure is tied out with evidence, and the estate is assessed before anyone commits. Then show both value columns — the business case that wins the account on the left, and the reason to co-sell it on the right.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close and it is the slide the rest of the deck exists to earn. Three reasons this is worth Snowflake's time — repeatable rather than bespoke, displacement of a competing stack, and pull-through of several products in one motion — then three specific asks. Do not leave the room without a response to the first ask: named accounts is the one that turns this into a pipeline.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a:effectLst/>
      </p:bgPr>
    </p:bg>
    <p:spTree>
      <p:nvGrpSpPr>
        <p:cNvPr id="1" name=""/>
        <p:cNvGrpSpPr/>
        <p:nvPr/>
      </p:nvGrpSpPr>
      <p:grpSpPr>
        <a:xfrm>
          <a:off x="0" y="0"/>
          <a:ext cx="0" cy="0"/>
          <a:chOff x="0" y="0"/>
          <a:chExt cx="0" cy="0"/>
        </a:xfrm>
      </p:grpSpPr>
      <p:sp>
        <p:nvSpPr>
          <p:cNvPr id="2" name="Shape 0"/>
          <p:cNvSpPr/>
          <p:nvPr/>
        </p:nvSpPr>
        <p:spPr>
          <a:xfrm>
            <a:off x="548640" y="237744"/>
            <a:ext cx="3950208" cy="310896"/>
          </a:xfrm>
          <a:prstGeom prst="roundRect">
            <a:avLst>
              <a:gd name="adj" fmla="val 17647"/>
            </a:avLst>
          </a:prstGeom>
          <a:solidFill>
            <a:srgbClr val="053057"/>
          </a:solidFill>
          <a:ln w="12700">
            <a:solidFill>
              <a:srgbClr val="053057"/>
            </a:solidFill>
            <a:prstDash val="solid"/>
          </a:ln>
        </p:spPr>
        <p:txBody>
          <a:bodyPr/>
          <a:lstStyle/>
          <a:p>
            <a:endParaRPr lang="en-IN"/>
          </a:p>
        </p:txBody>
      </p:sp>
      <p:sp>
        <p:nvSpPr>
          <p:cNvPr id="3" name="Text 1"/>
          <p:cNvSpPr/>
          <p:nvPr/>
        </p:nvSpPr>
        <p:spPr>
          <a:xfrm>
            <a:off x="548640" y="237744"/>
            <a:ext cx="3950208" cy="310896"/>
          </a:xfrm>
          <a:prstGeom prst="rect">
            <a:avLst/>
          </a:prstGeom>
          <a:noFill/>
          <a:ln/>
        </p:spPr>
        <p:txBody>
          <a:bodyPr wrap="square" lIns="0" tIns="0" rIns="0" bIns="0" rtlCol="0" anchor="ctr"/>
          <a:lstStyle/>
          <a:p>
            <a:pPr marL="0" indent="0" algn="ctr">
              <a:buNone/>
            </a:pPr>
            <a:r>
              <a:rPr lang="en-US" sz="1000" b="1" kern="0" spc="140" dirty="0">
                <a:solidFill>
                  <a:srgbClr val="00EDED"/>
                </a:solidFill>
                <a:latin typeface="Montserrat" pitchFamily="34" charset="0"/>
                <a:ea typeface="Montserrat" pitchFamily="34" charset="-122"/>
                <a:cs typeface="Montserrat" pitchFamily="34" charset="-120"/>
              </a:rPr>
              <a:t>TABLEAU  →  STREAMLIT IN SNOWFLAKE</a:t>
            </a:r>
            <a:endParaRPr lang="en-US" sz="1000" dirty="0"/>
          </a:p>
        </p:txBody>
      </p:sp>
      <p:sp>
        <p:nvSpPr>
          <p:cNvPr id="4" name="Text 2"/>
          <p:cNvSpPr/>
          <p:nvPr/>
        </p:nvSpPr>
        <p:spPr>
          <a:xfrm>
            <a:off x="548640" y="621792"/>
            <a:ext cx="11064240" cy="493776"/>
          </a:xfrm>
          <a:prstGeom prst="rect">
            <a:avLst/>
          </a:prstGeom>
          <a:noFill/>
          <a:ln/>
        </p:spPr>
        <p:txBody>
          <a:bodyPr wrap="square" lIns="0" tIns="0" rIns="0" bIns="0" rtlCol="0" anchor="ctr"/>
          <a:lstStyle/>
          <a:p>
            <a:pPr marL="0" indent="0">
              <a:buNone/>
            </a:pPr>
            <a:r>
              <a:rPr lang="en-US" sz="3000" b="1" dirty="0">
                <a:solidFill>
                  <a:srgbClr val="053057"/>
                </a:solidFill>
                <a:latin typeface="Montserrat" pitchFamily="34" charset="0"/>
                <a:ea typeface="Montserrat" pitchFamily="34" charset="-122"/>
                <a:cs typeface="Montserrat" pitchFamily="34" charset="-120"/>
              </a:rPr>
              <a:t>Tableau Dashboards, Rebuilt Natively in Snowflake</a:t>
            </a:r>
            <a:endParaRPr lang="en-US" sz="3000" dirty="0"/>
          </a:p>
        </p:txBody>
      </p:sp>
      <p:sp>
        <p:nvSpPr>
          <p:cNvPr id="5" name="Text 3"/>
          <p:cNvSpPr/>
          <p:nvPr/>
        </p:nvSpPr>
        <p:spPr>
          <a:xfrm>
            <a:off x="548640" y="1115568"/>
            <a:ext cx="11064240" cy="274320"/>
          </a:xfrm>
          <a:prstGeom prst="rect">
            <a:avLst/>
          </a:prstGeom>
          <a:noFill/>
          <a:ln/>
        </p:spPr>
        <p:txBody>
          <a:bodyPr wrap="square" lIns="0" tIns="0" rIns="0" bIns="0" rtlCol="0" anchor="ctr"/>
          <a:lstStyle/>
          <a:p>
            <a:pPr marL="0" indent="0">
              <a:buNone/>
            </a:pPr>
            <a:r>
              <a:rPr lang="en-US" sz="1350" dirty="0">
                <a:solidFill>
                  <a:srgbClr val="6B7C88"/>
                </a:solidFill>
                <a:latin typeface="Montserrat" pitchFamily="34" charset="0"/>
                <a:ea typeface="Montserrat" pitchFamily="34" charset="-122"/>
                <a:cs typeface="Montserrat" pitchFamily="34" charset="-120"/>
              </a:rPr>
              <a:t>Retire the separate BI platform — the same dashboards, running on the data Snowflake already holds</a:t>
            </a:r>
            <a:endParaRPr lang="en-US" sz="1350" dirty="0"/>
          </a:p>
        </p:txBody>
      </p:sp>
      <p:sp>
        <p:nvSpPr>
          <p:cNvPr id="6" name="Text 4"/>
          <p:cNvSpPr/>
          <p:nvPr/>
        </p:nvSpPr>
        <p:spPr>
          <a:xfrm>
            <a:off x="548640" y="1426464"/>
            <a:ext cx="3575304" cy="256032"/>
          </a:xfrm>
          <a:prstGeom prst="rect">
            <a:avLst/>
          </a:prstGeom>
          <a:noFill/>
          <a:ln/>
        </p:spPr>
        <p:txBody>
          <a:bodyPr wrap="square" lIns="0" tIns="0" rIns="0" bIns="0" rtlCol="0" anchor="ctr"/>
          <a:lstStyle/>
          <a:p>
            <a:pPr marL="0" indent="0">
              <a:buNone/>
            </a:pPr>
            <a:r>
              <a:rPr lang="en-US" sz="1000" b="1" kern="0" spc="120" dirty="0">
                <a:solidFill>
                  <a:srgbClr val="6B7C88"/>
                </a:solidFill>
                <a:latin typeface="Montserrat" pitchFamily="34" charset="0"/>
                <a:ea typeface="Montserrat" pitchFamily="34" charset="-122"/>
                <a:cs typeface="Montserrat" pitchFamily="34" charset="-120"/>
              </a:rPr>
              <a:t>THE CHALLENGE — TABLEAU TODAY</a:t>
            </a:r>
            <a:endParaRPr lang="en-US" sz="1000" dirty="0"/>
          </a:p>
        </p:txBody>
      </p:sp>
      <p:sp>
        <p:nvSpPr>
          <p:cNvPr id="7" name="Text 5"/>
          <p:cNvSpPr/>
          <p:nvPr/>
        </p:nvSpPr>
        <p:spPr>
          <a:xfrm>
            <a:off x="4306824" y="1426464"/>
            <a:ext cx="3575304" cy="256032"/>
          </a:xfrm>
          <a:prstGeom prst="rect">
            <a:avLst/>
          </a:prstGeom>
          <a:noFill/>
          <a:ln/>
        </p:spPr>
        <p:txBody>
          <a:bodyPr wrap="square" lIns="0" tIns="0" rIns="0" bIns="0" rtlCol="0" anchor="ctr"/>
          <a:lstStyle/>
          <a:p>
            <a:pPr marL="0" indent="0">
              <a:buNone/>
            </a:pPr>
            <a:r>
              <a:rPr lang="en-US" sz="1000" b="1" kern="0" spc="120" dirty="0">
                <a:solidFill>
                  <a:srgbClr val="6B7C88"/>
                </a:solidFill>
                <a:latin typeface="Montserrat" pitchFamily="34" charset="0"/>
                <a:ea typeface="Montserrat" pitchFamily="34" charset="-122"/>
                <a:cs typeface="Montserrat" pitchFamily="34" charset="-120"/>
              </a:rPr>
              <a:t>TRADITIONAL SOLUTION</a:t>
            </a:r>
            <a:endParaRPr lang="en-US" sz="1000" dirty="0"/>
          </a:p>
        </p:txBody>
      </p:sp>
      <p:sp>
        <p:nvSpPr>
          <p:cNvPr id="8" name="Text 6"/>
          <p:cNvSpPr/>
          <p:nvPr/>
        </p:nvSpPr>
        <p:spPr>
          <a:xfrm>
            <a:off x="8065008" y="1426464"/>
            <a:ext cx="3575304" cy="256032"/>
          </a:xfrm>
          <a:prstGeom prst="rect">
            <a:avLst/>
          </a:prstGeom>
          <a:noFill/>
          <a:ln/>
        </p:spPr>
        <p:txBody>
          <a:bodyPr wrap="square" lIns="0" tIns="0" rIns="0" bIns="0" rtlCol="0" anchor="ctr"/>
          <a:lstStyle/>
          <a:p>
            <a:pPr marL="0" indent="0">
              <a:buNone/>
            </a:pPr>
            <a:r>
              <a:rPr lang="en-US" sz="1000" b="1" kern="0" spc="120" dirty="0">
                <a:solidFill>
                  <a:srgbClr val="053057"/>
                </a:solidFill>
                <a:latin typeface="Montserrat" pitchFamily="34" charset="0"/>
                <a:ea typeface="Montserrat" pitchFamily="34" charset="-122"/>
                <a:cs typeface="Montserrat" pitchFamily="34" charset="-120"/>
              </a:rPr>
              <a:t>TABLEAU → STREAMLIT IN SNOWFLAKE</a:t>
            </a:r>
            <a:endParaRPr lang="en-US" sz="1000" dirty="0"/>
          </a:p>
        </p:txBody>
      </p:sp>
      <p:sp>
        <p:nvSpPr>
          <p:cNvPr id="9" name="Shape 7"/>
          <p:cNvSpPr/>
          <p:nvPr/>
        </p:nvSpPr>
        <p:spPr>
          <a:xfrm>
            <a:off x="548640" y="17007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10" name="Text 8"/>
          <p:cNvSpPr/>
          <p:nvPr/>
        </p:nvSpPr>
        <p:spPr>
          <a:xfrm>
            <a:off x="786384" y="1847088"/>
            <a:ext cx="3099816" cy="329184"/>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Licences on top of Snowflake</a:t>
            </a:r>
            <a:endParaRPr lang="en-US" sz="1250" dirty="0"/>
          </a:p>
        </p:txBody>
      </p:sp>
      <p:sp>
        <p:nvSpPr>
          <p:cNvPr id="11" name="Text 9"/>
          <p:cNvSpPr/>
          <p:nvPr/>
        </p:nvSpPr>
        <p:spPr>
          <a:xfrm>
            <a:off x="786384" y="2231136"/>
            <a:ext cx="3099816" cy="621792"/>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Creator and viewer licences billed per user, every year, for a presentation layer sitting on data Snowflake already holds.</a:t>
            </a:r>
            <a:endParaRPr lang="en-US" sz="950" dirty="0"/>
          </a:p>
        </p:txBody>
      </p:sp>
      <p:sp>
        <p:nvSpPr>
          <p:cNvPr id="12" name="Shape 10"/>
          <p:cNvSpPr/>
          <p:nvPr/>
        </p:nvSpPr>
        <p:spPr>
          <a:xfrm>
            <a:off x="4306824" y="17007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13" name="Text 11"/>
          <p:cNvSpPr/>
          <p:nvPr/>
        </p:nvSpPr>
        <p:spPr>
          <a:xfrm>
            <a:off x="4544568" y="1847088"/>
            <a:ext cx="3099816" cy="329184"/>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Renew, and keep paying</a:t>
            </a:r>
            <a:endParaRPr lang="en-US" sz="1250" dirty="0"/>
          </a:p>
        </p:txBody>
      </p:sp>
      <p:sp>
        <p:nvSpPr>
          <p:cNvPr id="14" name="Text 12"/>
          <p:cNvSpPr/>
          <p:nvPr/>
        </p:nvSpPr>
        <p:spPr>
          <a:xfrm>
            <a:off x="4544568" y="2231136"/>
            <a:ext cx="3099816" cy="621792"/>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The licence renews because the dashboards live there. Cost grows with every viewer added.</a:t>
            </a:r>
            <a:endParaRPr lang="en-US" sz="950" dirty="0"/>
          </a:p>
        </p:txBody>
      </p:sp>
      <p:sp>
        <p:nvSpPr>
          <p:cNvPr id="15" name="Shape 13"/>
          <p:cNvSpPr/>
          <p:nvPr/>
        </p:nvSpPr>
        <p:spPr>
          <a:xfrm>
            <a:off x="8065008" y="1700784"/>
            <a:ext cx="3575304" cy="1261872"/>
          </a:xfrm>
          <a:prstGeom prst="roundRect">
            <a:avLst>
              <a:gd name="adj" fmla="val 5797"/>
            </a:avLst>
          </a:prstGeom>
          <a:solidFill>
            <a:srgbClr val="053057"/>
          </a:solidFill>
          <a:ln w="12700">
            <a:solidFill>
              <a:srgbClr val="053057"/>
            </a:solidFill>
            <a:prstDash val="solid"/>
          </a:ln>
        </p:spPr>
        <p:txBody>
          <a:bodyPr/>
          <a:lstStyle/>
          <a:p>
            <a:endParaRPr lang="en-IN"/>
          </a:p>
        </p:txBody>
      </p:sp>
      <p:sp>
        <p:nvSpPr>
          <p:cNvPr id="16" name="Shape 14"/>
          <p:cNvSpPr/>
          <p:nvPr/>
        </p:nvSpPr>
        <p:spPr>
          <a:xfrm>
            <a:off x="8302752" y="1901952"/>
            <a:ext cx="237744" cy="237744"/>
          </a:xfrm>
          <a:prstGeom prst="ellipse">
            <a:avLst/>
          </a:prstGeom>
          <a:solidFill>
            <a:srgbClr val="00EDED"/>
          </a:solidFill>
          <a:ln/>
        </p:spPr>
        <p:txBody>
          <a:bodyPr/>
          <a:lstStyle/>
          <a:p>
            <a:endParaRPr lang="en-IN"/>
          </a:p>
        </p:txBody>
      </p:sp>
      <p:sp>
        <p:nvSpPr>
          <p:cNvPr id="17" name="Text 15"/>
          <p:cNvSpPr/>
          <p:nvPr/>
        </p:nvSpPr>
        <p:spPr>
          <a:xfrm>
            <a:off x="8631936" y="1847088"/>
            <a:ext cx="2770632" cy="329184"/>
          </a:xfrm>
          <a:prstGeom prst="rect">
            <a:avLst/>
          </a:prstGeom>
          <a:noFill/>
          <a:ln/>
        </p:spPr>
        <p:txBody>
          <a:bodyPr wrap="square" lIns="0" tIns="0" rIns="0" bIns="0" rtlCol="0" anchor="ctr"/>
          <a:lstStyle/>
          <a:p>
            <a:pPr marL="0" indent="0">
              <a:buNone/>
            </a:pPr>
            <a:r>
              <a:rPr lang="en-US" sz="1250" b="1" dirty="0">
                <a:solidFill>
                  <a:srgbClr val="FFFFFF"/>
                </a:solidFill>
                <a:latin typeface="Montserrat" pitchFamily="34" charset="0"/>
                <a:ea typeface="Montserrat" pitchFamily="34" charset="-122"/>
                <a:cs typeface="Montserrat" pitchFamily="34" charset="-120"/>
              </a:rPr>
              <a:t>Dashboards move to what you own</a:t>
            </a:r>
            <a:endParaRPr lang="en-US" sz="1250" dirty="0"/>
          </a:p>
        </p:txBody>
      </p:sp>
      <p:sp>
        <p:nvSpPr>
          <p:cNvPr id="18" name="Text 16"/>
          <p:cNvSpPr/>
          <p:nvPr/>
        </p:nvSpPr>
        <p:spPr>
          <a:xfrm>
            <a:off x="8302752" y="2231136"/>
            <a:ext cx="3099816" cy="621792"/>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Streamlit is already part of Snowflake. The same dashboards run with no BI licence underneath them.</a:t>
            </a:r>
            <a:endParaRPr lang="en-US" sz="950" dirty="0"/>
          </a:p>
        </p:txBody>
      </p:sp>
      <p:sp>
        <p:nvSpPr>
          <p:cNvPr id="19" name="Shape 17"/>
          <p:cNvSpPr/>
          <p:nvPr/>
        </p:nvSpPr>
        <p:spPr>
          <a:xfrm>
            <a:off x="548640" y="30723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20" name="Text 18"/>
          <p:cNvSpPr/>
          <p:nvPr/>
        </p:nvSpPr>
        <p:spPr>
          <a:xfrm>
            <a:off x="786384" y="3218688"/>
            <a:ext cx="3099816" cy="329184"/>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A specialist skill to hire for</a:t>
            </a:r>
            <a:endParaRPr lang="en-US" sz="1250" dirty="0"/>
          </a:p>
        </p:txBody>
      </p:sp>
      <p:sp>
        <p:nvSpPr>
          <p:cNvPr id="21" name="Text 19"/>
          <p:cNvSpPr/>
          <p:nvPr/>
        </p:nvSpPr>
        <p:spPr>
          <a:xfrm>
            <a:off x="786384" y="3602736"/>
            <a:ext cx="3099816" cy="621792"/>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Tableau development is its own discipline — its own hiring line, contractors, and a handoff on every model change.</a:t>
            </a:r>
            <a:endParaRPr lang="en-US" sz="950" dirty="0"/>
          </a:p>
        </p:txBody>
      </p:sp>
      <p:sp>
        <p:nvSpPr>
          <p:cNvPr id="22" name="Shape 20"/>
          <p:cNvSpPr/>
          <p:nvPr/>
        </p:nvSpPr>
        <p:spPr>
          <a:xfrm>
            <a:off x="4306824" y="30723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23" name="Text 21"/>
          <p:cNvSpPr/>
          <p:nvPr/>
        </p:nvSpPr>
        <p:spPr>
          <a:xfrm>
            <a:off x="4544568" y="3218688"/>
            <a:ext cx="3099816" cy="329184"/>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Hire or contract more of it</a:t>
            </a:r>
            <a:endParaRPr lang="en-US" sz="1250" dirty="0"/>
          </a:p>
        </p:txBody>
      </p:sp>
      <p:sp>
        <p:nvSpPr>
          <p:cNvPr id="24" name="Text 22"/>
          <p:cNvSpPr/>
          <p:nvPr/>
        </p:nvSpPr>
        <p:spPr>
          <a:xfrm>
            <a:off x="4544568" y="3602736"/>
            <a:ext cx="3099816" cy="621792"/>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Capacity is bought in and the dependency deepens with each new dashboard.</a:t>
            </a:r>
            <a:endParaRPr lang="en-US" sz="950" dirty="0"/>
          </a:p>
        </p:txBody>
      </p:sp>
      <p:sp>
        <p:nvSpPr>
          <p:cNvPr id="25" name="Shape 23"/>
          <p:cNvSpPr/>
          <p:nvPr/>
        </p:nvSpPr>
        <p:spPr>
          <a:xfrm>
            <a:off x="8065008" y="3072384"/>
            <a:ext cx="3575304" cy="1261872"/>
          </a:xfrm>
          <a:prstGeom prst="roundRect">
            <a:avLst>
              <a:gd name="adj" fmla="val 5797"/>
            </a:avLst>
          </a:prstGeom>
          <a:solidFill>
            <a:srgbClr val="053057"/>
          </a:solidFill>
          <a:ln w="12700">
            <a:solidFill>
              <a:srgbClr val="053057"/>
            </a:solidFill>
            <a:prstDash val="solid"/>
          </a:ln>
        </p:spPr>
        <p:txBody>
          <a:bodyPr/>
          <a:lstStyle/>
          <a:p>
            <a:endParaRPr lang="en-IN"/>
          </a:p>
        </p:txBody>
      </p:sp>
      <p:sp>
        <p:nvSpPr>
          <p:cNvPr id="26" name="Shape 24"/>
          <p:cNvSpPr/>
          <p:nvPr/>
        </p:nvSpPr>
        <p:spPr>
          <a:xfrm>
            <a:off x="8302752" y="3273552"/>
            <a:ext cx="237744" cy="237744"/>
          </a:xfrm>
          <a:prstGeom prst="ellipse">
            <a:avLst/>
          </a:prstGeom>
          <a:solidFill>
            <a:srgbClr val="00EDED"/>
          </a:solidFill>
          <a:ln/>
        </p:spPr>
        <p:txBody>
          <a:bodyPr/>
          <a:lstStyle/>
          <a:p>
            <a:endParaRPr lang="en-IN"/>
          </a:p>
        </p:txBody>
      </p:sp>
      <p:sp>
        <p:nvSpPr>
          <p:cNvPr id="27" name="Text 25"/>
          <p:cNvSpPr/>
          <p:nvPr/>
        </p:nvSpPr>
        <p:spPr>
          <a:xfrm>
            <a:off x="8631936" y="3218688"/>
            <a:ext cx="2770632" cy="329184"/>
          </a:xfrm>
          <a:prstGeom prst="rect">
            <a:avLst/>
          </a:prstGeom>
          <a:noFill/>
          <a:ln/>
        </p:spPr>
        <p:txBody>
          <a:bodyPr wrap="square" lIns="0" tIns="0" rIns="0" bIns="0" rtlCol="0" anchor="ctr"/>
          <a:lstStyle/>
          <a:p>
            <a:pPr marL="0" indent="0">
              <a:buNone/>
            </a:pPr>
            <a:r>
              <a:rPr lang="en-US" sz="1250" b="1" dirty="0">
                <a:solidFill>
                  <a:srgbClr val="FFFFFF"/>
                </a:solidFill>
                <a:latin typeface="Montserrat" pitchFamily="34" charset="0"/>
                <a:ea typeface="Montserrat" pitchFamily="34" charset="-122"/>
                <a:cs typeface="Montserrat" pitchFamily="34" charset="-120"/>
              </a:rPr>
              <a:t>Your data team already has it</a:t>
            </a:r>
            <a:endParaRPr lang="en-US" sz="1250" dirty="0"/>
          </a:p>
        </p:txBody>
      </p:sp>
      <p:sp>
        <p:nvSpPr>
          <p:cNvPr id="28" name="Text 26"/>
          <p:cNvSpPr/>
          <p:nvPr/>
        </p:nvSpPr>
        <p:spPr>
          <a:xfrm>
            <a:off x="8302752" y="3602736"/>
            <a:ext cx="3099816" cy="621792"/>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Streamlit is Python. The engineers already on the platform own the whole path, table to dashboard.</a:t>
            </a:r>
            <a:endParaRPr lang="en-US" sz="950" dirty="0"/>
          </a:p>
        </p:txBody>
      </p:sp>
      <p:sp>
        <p:nvSpPr>
          <p:cNvPr id="29" name="Shape 27"/>
          <p:cNvSpPr/>
          <p:nvPr/>
        </p:nvSpPr>
        <p:spPr>
          <a:xfrm>
            <a:off x="548640" y="44439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30" name="Text 28"/>
          <p:cNvSpPr/>
          <p:nvPr/>
        </p:nvSpPr>
        <p:spPr>
          <a:xfrm>
            <a:off x="786384" y="4590288"/>
            <a:ext cx="3099816" cy="329184"/>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A second platform to run</a:t>
            </a:r>
            <a:endParaRPr lang="en-US" sz="1250" dirty="0"/>
          </a:p>
        </p:txBody>
      </p:sp>
      <p:sp>
        <p:nvSpPr>
          <p:cNvPr id="31" name="Text 29"/>
          <p:cNvSpPr/>
          <p:nvPr/>
        </p:nvSpPr>
        <p:spPr>
          <a:xfrm>
            <a:off x="786384" y="4974336"/>
            <a:ext cx="3099816" cy="621792"/>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Another environment to host, upgrade and support, with access rules re-implemented away from the data.</a:t>
            </a:r>
            <a:endParaRPr lang="en-US" sz="950" dirty="0"/>
          </a:p>
        </p:txBody>
      </p:sp>
      <p:sp>
        <p:nvSpPr>
          <p:cNvPr id="32" name="Shape 30"/>
          <p:cNvSpPr/>
          <p:nvPr/>
        </p:nvSpPr>
        <p:spPr>
          <a:xfrm>
            <a:off x="4306824" y="4443984"/>
            <a:ext cx="3575304" cy="1261872"/>
          </a:xfrm>
          <a:prstGeom prst="roundRect">
            <a:avLst>
              <a:gd name="adj" fmla="val 5797"/>
            </a:avLst>
          </a:prstGeom>
          <a:solidFill>
            <a:srgbClr val="FFFFFF"/>
          </a:solidFill>
          <a:ln w="12700">
            <a:solidFill>
              <a:srgbClr val="DFE3E6"/>
            </a:solidFill>
            <a:prstDash val="solid"/>
          </a:ln>
        </p:spPr>
        <p:txBody>
          <a:bodyPr/>
          <a:lstStyle/>
          <a:p>
            <a:endParaRPr lang="en-IN"/>
          </a:p>
        </p:txBody>
      </p:sp>
      <p:sp>
        <p:nvSpPr>
          <p:cNvPr id="33" name="Text 31"/>
          <p:cNvSpPr/>
          <p:nvPr/>
        </p:nvSpPr>
        <p:spPr>
          <a:xfrm>
            <a:off x="4544568" y="4590288"/>
            <a:ext cx="3099816" cy="329184"/>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Maintain both, indefinitely</a:t>
            </a:r>
            <a:endParaRPr lang="en-US" sz="1250" dirty="0"/>
          </a:p>
        </p:txBody>
      </p:sp>
      <p:sp>
        <p:nvSpPr>
          <p:cNvPr id="34" name="Text 32"/>
          <p:cNvSpPr/>
          <p:nvPr/>
        </p:nvSpPr>
        <p:spPr>
          <a:xfrm>
            <a:off x="4544568" y="4974336"/>
            <a:ext cx="3099816" cy="621792"/>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Two platforms, two governance models, two support lines, permanently.</a:t>
            </a:r>
            <a:endParaRPr lang="en-US" sz="950" dirty="0"/>
          </a:p>
        </p:txBody>
      </p:sp>
      <p:sp>
        <p:nvSpPr>
          <p:cNvPr id="35" name="Shape 33"/>
          <p:cNvSpPr/>
          <p:nvPr/>
        </p:nvSpPr>
        <p:spPr>
          <a:xfrm>
            <a:off x="8065008" y="4443984"/>
            <a:ext cx="3575304" cy="1261872"/>
          </a:xfrm>
          <a:prstGeom prst="roundRect">
            <a:avLst>
              <a:gd name="adj" fmla="val 5797"/>
            </a:avLst>
          </a:prstGeom>
          <a:solidFill>
            <a:srgbClr val="053057"/>
          </a:solidFill>
          <a:ln w="12700">
            <a:solidFill>
              <a:srgbClr val="053057"/>
            </a:solidFill>
            <a:prstDash val="solid"/>
          </a:ln>
        </p:spPr>
        <p:txBody>
          <a:bodyPr/>
          <a:lstStyle/>
          <a:p>
            <a:endParaRPr lang="en-IN"/>
          </a:p>
        </p:txBody>
      </p:sp>
      <p:sp>
        <p:nvSpPr>
          <p:cNvPr id="36" name="Shape 34"/>
          <p:cNvSpPr/>
          <p:nvPr/>
        </p:nvSpPr>
        <p:spPr>
          <a:xfrm>
            <a:off x="8302752" y="4645152"/>
            <a:ext cx="237744" cy="237744"/>
          </a:xfrm>
          <a:prstGeom prst="ellipse">
            <a:avLst/>
          </a:prstGeom>
          <a:solidFill>
            <a:srgbClr val="00EDED"/>
          </a:solidFill>
          <a:ln/>
        </p:spPr>
        <p:txBody>
          <a:bodyPr/>
          <a:lstStyle/>
          <a:p>
            <a:endParaRPr lang="en-IN"/>
          </a:p>
        </p:txBody>
      </p:sp>
      <p:sp>
        <p:nvSpPr>
          <p:cNvPr id="37" name="Text 35"/>
          <p:cNvSpPr/>
          <p:nvPr/>
        </p:nvSpPr>
        <p:spPr>
          <a:xfrm>
            <a:off x="8631936" y="4590288"/>
            <a:ext cx="2770632" cy="329184"/>
          </a:xfrm>
          <a:prstGeom prst="rect">
            <a:avLst/>
          </a:prstGeom>
          <a:noFill/>
          <a:ln/>
        </p:spPr>
        <p:txBody>
          <a:bodyPr wrap="square" lIns="0" tIns="0" rIns="0" bIns="0" rtlCol="0" anchor="ctr"/>
          <a:lstStyle/>
          <a:p>
            <a:pPr marL="0" indent="0">
              <a:buNone/>
            </a:pPr>
            <a:r>
              <a:rPr lang="en-US" sz="1250" b="1" dirty="0">
                <a:solidFill>
                  <a:srgbClr val="FFFFFF"/>
                </a:solidFill>
                <a:latin typeface="Montserrat" pitchFamily="34" charset="0"/>
                <a:ea typeface="Montserrat" pitchFamily="34" charset="-122"/>
                <a:cs typeface="Montserrat" pitchFamily="34" charset="-120"/>
              </a:rPr>
              <a:t>One platform, one set of roles</a:t>
            </a:r>
            <a:endParaRPr lang="en-US" sz="1250" dirty="0"/>
          </a:p>
        </p:txBody>
      </p:sp>
      <p:sp>
        <p:nvSpPr>
          <p:cNvPr id="38" name="Text 36"/>
          <p:cNvSpPr/>
          <p:nvPr/>
        </p:nvSpPr>
        <p:spPr>
          <a:xfrm>
            <a:off x="8302752" y="4974336"/>
            <a:ext cx="3099816" cy="621792"/>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Serverless inside Snowflake, governed by the roles already managed there.</a:t>
            </a:r>
            <a:endParaRPr lang="en-US" sz="950" dirty="0"/>
          </a:p>
        </p:txBody>
      </p:sp>
      <p:sp>
        <p:nvSpPr>
          <p:cNvPr id="39" name="Shape 37"/>
          <p:cNvSpPr/>
          <p:nvPr/>
        </p:nvSpPr>
        <p:spPr>
          <a:xfrm>
            <a:off x="548640" y="5870448"/>
            <a:ext cx="11091672" cy="731520"/>
          </a:xfrm>
          <a:prstGeom prst="roundRect">
            <a:avLst>
              <a:gd name="adj" fmla="val 10000"/>
            </a:avLst>
          </a:prstGeom>
          <a:solidFill>
            <a:srgbClr val="053057"/>
          </a:solidFill>
          <a:ln w="15875">
            <a:solidFill>
              <a:srgbClr val="00EDED"/>
            </a:solidFill>
            <a:prstDash val="solid"/>
          </a:ln>
        </p:spPr>
        <p:txBody>
          <a:bodyPr/>
          <a:lstStyle/>
          <a:p>
            <a:endParaRPr lang="en-IN"/>
          </a:p>
        </p:txBody>
      </p:sp>
      <p:sp>
        <p:nvSpPr>
          <p:cNvPr id="40" name="Text 38"/>
          <p:cNvSpPr/>
          <p:nvPr/>
        </p:nvSpPr>
        <p:spPr>
          <a:xfrm>
            <a:off x="841248" y="5980176"/>
            <a:ext cx="10515600" cy="530352"/>
          </a:xfrm>
          <a:prstGeom prst="rect">
            <a:avLst/>
          </a:prstGeom>
          <a:noFill/>
          <a:ln/>
        </p:spPr>
        <p:txBody>
          <a:bodyPr wrap="square" lIns="0" tIns="0" rIns="0" bIns="0" rtlCol="0" anchor="ctr"/>
          <a:lstStyle/>
          <a:p>
            <a:pPr marL="0" indent="0">
              <a:buNone/>
            </a:pPr>
            <a:r>
              <a:rPr lang="en-US" sz="1050" b="1" dirty="0">
                <a:solidFill>
                  <a:srgbClr val="00EDED"/>
                </a:solidFill>
                <a:latin typeface="Montserrat" pitchFamily="34" charset="0"/>
                <a:ea typeface="Montserrat" pitchFamily="34" charset="-122"/>
                <a:cs typeface="Montserrat" pitchFamily="34" charset="-120"/>
              </a:rPr>
              <a:t>The dashboards were never the problem — the platform underneath them was.  </a:t>
            </a:r>
            <a:r>
              <a:rPr lang="en-US" sz="1050" dirty="0">
                <a:solidFill>
                  <a:srgbClr val="D6E6F0"/>
                </a:solidFill>
                <a:latin typeface="Montserrat" pitchFamily="34" charset="0"/>
                <a:ea typeface="Montserrat" pitchFamily="34" charset="-122"/>
                <a:cs typeface="Montserrat" pitchFamily="34" charset="-120"/>
              </a:rPr>
              <a:t>Snowflake already stores the data, runs every query, and now hosts the dashboards and the AI as well. The one thing that kept the BI tool in place was the cost of rebuilding what it holds.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3057"/>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FFFFFF"/>
                </a:solidFill>
                <a:latin typeface="Montserrat" pitchFamily="34" charset="0"/>
                <a:ea typeface="Montserrat" pitchFamily="34" charset="-122"/>
                <a:cs typeface="Montserrat" pitchFamily="34" charset="-120"/>
              </a:rPr>
              <a:t>AI-Accelerated Migration, With Human Oversight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A2F3F3"/>
                </a:solidFill>
                <a:latin typeface="Montserrat" pitchFamily="34" charset="0"/>
                <a:ea typeface="Montserrat" pitchFamily="34" charset="-122"/>
                <a:cs typeface="Montserrat" pitchFamily="34" charset="-120"/>
              </a:rPr>
              <a:t>Five stages, executing inside the customer's own Snowflake account</a:t>
            </a:r>
            <a:endParaRPr lang="en-US" sz="1400" dirty="0"/>
          </a:p>
        </p:txBody>
      </p:sp>
      <p:sp>
        <p:nvSpPr>
          <p:cNvPr id="4" name="Shape 2"/>
          <p:cNvSpPr/>
          <p:nvPr/>
        </p:nvSpPr>
        <p:spPr>
          <a:xfrm>
            <a:off x="548640" y="1225296"/>
            <a:ext cx="2103120" cy="2048256"/>
          </a:xfrm>
          <a:prstGeom prst="roundRect">
            <a:avLst>
              <a:gd name="adj" fmla="val 3571"/>
            </a:avLst>
          </a:prstGeom>
          <a:solidFill>
            <a:srgbClr val="0A3E6B"/>
          </a:solidFill>
          <a:ln w="12700">
            <a:solidFill>
              <a:srgbClr val="17517F"/>
            </a:solidFill>
            <a:prstDash val="solid"/>
          </a:ln>
        </p:spPr>
        <p:txBody>
          <a:bodyPr/>
          <a:lstStyle/>
          <a:p>
            <a:endParaRPr lang="en-IN"/>
          </a:p>
        </p:txBody>
      </p:sp>
      <p:sp>
        <p:nvSpPr>
          <p:cNvPr id="5" name="Text 3"/>
          <p:cNvSpPr/>
          <p:nvPr/>
        </p:nvSpPr>
        <p:spPr>
          <a:xfrm>
            <a:off x="731520" y="1371600"/>
            <a:ext cx="1737360" cy="219456"/>
          </a:xfrm>
          <a:prstGeom prst="rect">
            <a:avLst/>
          </a:prstGeom>
          <a:noFill/>
          <a:ln/>
        </p:spPr>
        <p:txBody>
          <a:bodyPr wrap="square" lIns="0" tIns="0" rIns="0" bIns="0" rtlCol="0" anchor="ctr"/>
          <a:lstStyle/>
          <a:p>
            <a:pPr marL="0" indent="0">
              <a:buNone/>
            </a:pPr>
            <a:r>
              <a:rPr lang="en-US" sz="900" b="1" kern="0" spc="100" dirty="0">
                <a:solidFill>
                  <a:srgbClr val="6B7C88"/>
                </a:solidFill>
                <a:latin typeface="Montserrat" pitchFamily="34" charset="0"/>
                <a:ea typeface="Montserrat" pitchFamily="34" charset="-122"/>
                <a:cs typeface="Montserrat" pitchFamily="34" charset="-120"/>
              </a:rPr>
              <a:t>Stage 1</a:t>
            </a:r>
            <a:endParaRPr lang="en-US" sz="900" dirty="0"/>
          </a:p>
        </p:txBody>
      </p:sp>
      <p:sp>
        <p:nvSpPr>
          <p:cNvPr id="6" name="Text 4"/>
          <p:cNvSpPr/>
          <p:nvPr/>
        </p:nvSpPr>
        <p:spPr>
          <a:xfrm>
            <a:off x="731520"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Discovery</a:t>
            </a:r>
            <a:endParaRPr lang="en-US" sz="1300" dirty="0"/>
          </a:p>
        </p:txBody>
      </p:sp>
      <p:sp>
        <p:nvSpPr>
          <p:cNvPr id="7" name="Text 5"/>
          <p:cNvSpPr/>
          <p:nvPr/>
        </p:nvSpPr>
        <p:spPr>
          <a:xfrm>
            <a:off x="731520"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850" dirty="0"/>
          </a:p>
        </p:txBody>
      </p:sp>
      <p:sp>
        <p:nvSpPr>
          <p:cNvPr id="8" name="Shape 6"/>
          <p:cNvSpPr/>
          <p:nvPr/>
        </p:nvSpPr>
        <p:spPr>
          <a:xfrm>
            <a:off x="2816352" y="1225296"/>
            <a:ext cx="2103120" cy="2048256"/>
          </a:xfrm>
          <a:prstGeom prst="roundRect">
            <a:avLst>
              <a:gd name="adj" fmla="val 3571"/>
            </a:avLst>
          </a:prstGeom>
          <a:solidFill>
            <a:srgbClr val="0A3E6B"/>
          </a:solidFill>
          <a:ln w="12700">
            <a:solidFill>
              <a:srgbClr val="17517F"/>
            </a:solidFill>
            <a:prstDash val="solid"/>
          </a:ln>
        </p:spPr>
        <p:txBody>
          <a:bodyPr/>
          <a:lstStyle/>
          <a:p>
            <a:endParaRPr lang="en-IN"/>
          </a:p>
        </p:txBody>
      </p:sp>
      <p:sp>
        <p:nvSpPr>
          <p:cNvPr id="9" name="Text 7"/>
          <p:cNvSpPr/>
          <p:nvPr/>
        </p:nvSpPr>
        <p:spPr>
          <a:xfrm>
            <a:off x="2999232" y="1371600"/>
            <a:ext cx="1737360" cy="219456"/>
          </a:xfrm>
          <a:prstGeom prst="rect">
            <a:avLst/>
          </a:prstGeom>
          <a:noFill/>
          <a:ln/>
        </p:spPr>
        <p:txBody>
          <a:bodyPr wrap="square" lIns="0" tIns="0" rIns="0" bIns="0" rtlCol="0" anchor="ctr"/>
          <a:lstStyle/>
          <a:p>
            <a:pPr marL="0" indent="0">
              <a:buNone/>
            </a:pPr>
            <a:r>
              <a:rPr lang="en-US" sz="900" b="1" kern="0" spc="100" dirty="0">
                <a:solidFill>
                  <a:srgbClr val="6B7C88"/>
                </a:solidFill>
                <a:latin typeface="Montserrat" pitchFamily="34" charset="0"/>
                <a:ea typeface="Montserrat" pitchFamily="34" charset="-122"/>
                <a:cs typeface="Montserrat" pitchFamily="34" charset="-120"/>
              </a:rPr>
              <a:t>Stage 2</a:t>
            </a:r>
            <a:endParaRPr lang="en-US" sz="900" dirty="0"/>
          </a:p>
        </p:txBody>
      </p:sp>
      <p:sp>
        <p:nvSpPr>
          <p:cNvPr id="10" name="Text 8"/>
          <p:cNvSpPr/>
          <p:nvPr/>
        </p:nvSpPr>
        <p:spPr>
          <a:xfrm>
            <a:off x="2999232"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Model Extraction</a:t>
            </a:r>
            <a:endParaRPr lang="en-US" sz="1300" dirty="0"/>
          </a:p>
        </p:txBody>
      </p:sp>
      <p:sp>
        <p:nvSpPr>
          <p:cNvPr id="11" name="Text 9"/>
          <p:cNvSpPr/>
          <p:nvPr/>
        </p:nvSpPr>
        <p:spPr>
          <a:xfrm>
            <a:off x="2999232"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850" dirty="0"/>
          </a:p>
        </p:txBody>
      </p:sp>
      <p:sp>
        <p:nvSpPr>
          <p:cNvPr id="12" name="Shape 10"/>
          <p:cNvSpPr/>
          <p:nvPr/>
        </p:nvSpPr>
        <p:spPr>
          <a:xfrm>
            <a:off x="5084064"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13" name="Text 11"/>
          <p:cNvSpPr/>
          <p:nvPr/>
        </p:nvSpPr>
        <p:spPr>
          <a:xfrm>
            <a:off x="5266944" y="1371600"/>
            <a:ext cx="1737360" cy="219456"/>
          </a:xfrm>
          <a:prstGeom prst="rect">
            <a:avLst/>
          </a:prstGeom>
          <a:noFill/>
          <a:ln/>
        </p:spPr>
        <p:txBody>
          <a:bodyPr wrap="square" lIns="0" tIns="0" rIns="0" bIns="0" rtlCol="0" anchor="ctr"/>
          <a:lstStyle/>
          <a:p>
            <a:pPr marL="0" indent="0">
              <a:buNone/>
            </a:pPr>
            <a:r>
              <a:rPr lang="en-US" sz="900" b="1" kern="0" spc="100" dirty="0">
                <a:solidFill>
                  <a:srgbClr val="00EDED"/>
                </a:solidFill>
                <a:latin typeface="Montserrat" pitchFamily="34" charset="0"/>
                <a:ea typeface="Montserrat" pitchFamily="34" charset="-122"/>
                <a:cs typeface="Montserrat" pitchFamily="34" charset="-120"/>
              </a:rPr>
              <a:t>Stage 3</a:t>
            </a:r>
            <a:endParaRPr lang="en-US" sz="900" dirty="0"/>
          </a:p>
        </p:txBody>
      </p:sp>
      <p:sp>
        <p:nvSpPr>
          <p:cNvPr id="14" name="Text 12"/>
          <p:cNvSpPr/>
          <p:nvPr/>
        </p:nvSpPr>
        <p:spPr>
          <a:xfrm>
            <a:off x="5266944"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Cortex Translation</a:t>
            </a:r>
            <a:endParaRPr lang="en-US" sz="1300" dirty="0"/>
          </a:p>
        </p:txBody>
      </p:sp>
      <p:sp>
        <p:nvSpPr>
          <p:cNvPr id="15" name="Text 13"/>
          <p:cNvSpPr/>
          <p:nvPr/>
        </p:nvSpPr>
        <p:spPr>
          <a:xfrm>
            <a:off x="5266944"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850" dirty="0"/>
          </a:p>
        </p:txBody>
      </p:sp>
      <p:sp>
        <p:nvSpPr>
          <p:cNvPr id="16" name="Shape 14"/>
          <p:cNvSpPr/>
          <p:nvPr/>
        </p:nvSpPr>
        <p:spPr>
          <a:xfrm>
            <a:off x="7351776"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17" name="Text 15"/>
          <p:cNvSpPr/>
          <p:nvPr/>
        </p:nvSpPr>
        <p:spPr>
          <a:xfrm>
            <a:off x="7534656" y="1371600"/>
            <a:ext cx="1737360" cy="219456"/>
          </a:xfrm>
          <a:prstGeom prst="rect">
            <a:avLst/>
          </a:prstGeom>
          <a:noFill/>
          <a:ln/>
        </p:spPr>
        <p:txBody>
          <a:bodyPr wrap="square" lIns="0" tIns="0" rIns="0" bIns="0" rtlCol="0" anchor="ctr"/>
          <a:lstStyle/>
          <a:p>
            <a:pPr marL="0" indent="0">
              <a:buNone/>
            </a:pPr>
            <a:r>
              <a:rPr lang="en-US" sz="900" b="1" kern="0" spc="100" dirty="0">
                <a:solidFill>
                  <a:srgbClr val="00EDED"/>
                </a:solidFill>
                <a:latin typeface="Montserrat" pitchFamily="34" charset="0"/>
                <a:ea typeface="Montserrat" pitchFamily="34" charset="-122"/>
                <a:cs typeface="Montserrat" pitchFamily="34" charset="-120"/>
              </a:rPr>
              <a:t>Stage 4</a:t>
            </a:r>
            <a:endParaRPr lang="en-US" sz="900" dirty="0"/>
          </a:p>
        </p:txBody>
      </p:sp>
      <p:sp>
        <p:nvSpPr>
          <p:cNvPr id="18" name="Text 16"/>
          <p:cNvSpPr/>
          <p:nvPr/>
        </p:nvSpPr>
        <p:spPr>
          <a:xfrm>
            <a:off x="7534656"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Semantic + App</a:t>
            </a:r>
            <a:endParaRPr lang="en-US" sz="1300" dirty="0"/>
          </a:p>
        </p:txBody>
      </p:sp>
      <p:sp>
        <p:nvSpPr>
          <p:cNvPr id="19" name="Text 17"/>
          <p:cNvSpPr/>
          <p:nvPr/>
        </p:nvSpPr>
        <p:spPr>
          <a:xfrm>
            <a:off x="7534656"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850" dirty="0"/>
          </a:p>
        </p:txBody>
      </p:sp>
      <p:sp>
        <p:nvSpPr>
          <p:cNvPr id="20" name="Shape 18"/>
          <p:cNvSpPr/>
          <p:nvPr/>
        </p:nvSpPr>
        <p:spPr>
          <a:xfrm>
            <a:off x="9619488"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21" name="Text 19"/>
          <p:cNvSpPr/>
          <p:nvPr/>
        </p:nvSpPr>
        <p:spPr>
          <a:xfrm>
            <a:off x="9802368" y="1371600"/>
            <a:ext cx="1737360" cy="219456"/>
          </a:xfrm>
          <a:prstGeom prst="rect">
            <a:avLst/>
          </a:prstGeom>
          <a:noFill/>
          <a:ln/>
        </p:spPr>
        <p:txBody>
          <a:bodyPr wrap="square" lIns="0" tIns="0" rIns="0" bIns="0" rtlCol="0" anchor="ctr"/>
          <a:lstStyle/>
          <a:p>
            <a:pPr marL="0" indent="0">
              <a:buNone/>
            </a:pPr>
            <a:r>
              <a:rPr lang="en-US" sz="900" b="1" kern="0" spc="100" dirty="0">
                <a:solidFill>
                  <a:srgbClr val="00EDED"/>
                </a:solidFill>
                <a:latin typeface="Montserrat" pitchFamily="34" charset="0"/>
                <a:ea typeface="Montserrat" pitchFamily="34" charset="-122"/>
                <a:cs typeface="Montserrat" pitchFamily="34" charset="-120"/>
              </a:rPr>
              <a:t>Stage 5</a:t>
            </a:r>
            <a:endParaRPr lang="en-US" sz="900" dirty="0"/>
          </a:p>
        </p:txBody>
      </p:sp>
      <p:sp>
        <p:nvSpPr>
          <p:cNvPr id="22" name="Text 20"/>
          <p:cNvSpPr/>
          <p:nvPr/>
        </p:nvSpPr>
        <p:spPr>
          <a:xfrm>
            <a:off x="9802368"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Cortex Validation</a:t>
            </a:r>
            <a:endParaRPr lang="en-US" sz="1300" dirty="0"/>
          </a:p>
        </p:txBody>
      </p:sp>
      <p:sp>
        <p:nvSpPr>
          <p:cNvPr id="23" name="Text 21"/>
          <p:cNvSpPr/>
          <p:nvPr/>
        </p:nvSpPr>
        <p:spPr>
          <a:xfrm>
            <a:off x="9802368"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850" dirty="0"/>
          </a:p>
        </p:txBody>
      </p:sp>
      <p:sp>
        <p:nvSpPr>
          <p:cNvPr id="24" name="Shape 22"/>
          <p:cNvSpPr/>
          <p:nvPr/>
        </p:nvSpPr>
        <p:spPr>
          <a:xfrm>
            <a:off x="548640" y="3401568"/>
            <a:ext cx="11091672" cy="420624"/>
          </a:xfrm>
          <a:prstGeom prst="roundRect">
            <a:avLst>
              <a:gd name="adj" fmla="val 13043"/>
            </a:avLst>
          </a:prstGeom>
          <a:solidFill>
            <a:srgbClr val="0A3E6B"/>
          </a:solidFill>
          <a:ln w="12700">
            <a:solidFill>
              <a:srgbClr val="17517F"/>
            </a:solidFill>
            <a:prstDash val="solid"/>
          </a:ln>
        </p:spPr>
        <p:txBody>
          <a:bodyPr/>
          <a:lstStyle/>
          <a:p>
            <a:endParaRPr lang="en-IN"/>
          </a:p>
        </p:txBody>
      </p:sp>
      <p:sp>
        <p:nvSpPr>
          <p:cNvPr id="25" name="Text 23"/>
          <p:cNvSpPr/>
          <p:nvPr/>
        </p:nvSpPr>
        <p:spPr>
          <a:xfrm>
            <a:off x="548640" y="3401568"/>
            <a:ext cx="11091672" cy="420624"/>
          </a:xfrm>
          <a:prstGeom prst="rect">
            <a:avLst/>
          </a:prstGeom>
          <a:noFill/>
          <a:ln/>
        </p:spPr>
        <p:txBody>
          <a:bodyPr wrap="square" lIns="0" tIns="0" rIns="0" bIns="0" rtlCol="0" anchor="ctr"/>
          <a:lstStyle/>
          <a:p>
            <a:pPr marL="0" indent="0" algn="ctr">
              <a:buNone/>
            </a:pPr>
            <a:r>
              <a:rPr lang="en-US" sz="1100" b="1" kern="0" spc="60" dirty="0">
                <a:solidFill>
                  <a:srgbClr val="00EDED"/>
                </a:solidFill>
                <a:latin typeface="Montserrat" pitchFamily="34" charset="0"/>
                <a:ea typeface="Montserrat" pitchFamily="34" charset="-122"/>
                <a:cs typeface="Montserrat" pitchFamily="34" charset="-120"/>
              </a:rPr>
              <a:t>Streamlit in Snowflake   |   Cortex AI   |   Cortex Analyst   |   Native Semantic Views   |   Snowpark</a:t>
            </a:r>
            <a:endParaRPr lang="en-US" sz="1100" dirty="0"/>
          </a:p>
        </p:txBody>
      </p:sp>
      <p:sp>
        <p:nvSpPr>
          <p:cNvPr id="26" name="Shape 24"/>
          <p:cNvSpPr/>
          <p:nvPr/>
        </p:nvSpPr>
        <p:spPr>
          <a:xfrm>
            <a:off x="548640" y="4005072"/>
            <a:ext cx="5431536" cy="1371600"/>
          </a:xfrm>
          <a:prstGeom prst="roundRect">
            <a:avLst>
              <a:gd name="adj" fmla="val 5333"/>
            </a:avLst>
          </a:prstGeom>
          <a:solidFill>
            <a:srgbClr val="0A3E6B"/>
          </a:solidFill>
          <a:ln w="15875">
            <a:solidFill>
              <a:srgbClr val="00EDED"/>
            </a:solidFill>
            <a:prstDash val="solid"/>
          </a:ln>
        </p:spPr>
        <p:txBody>
          <a:bodyPr/>
          <a:lstStyle/>
          <a:p>
            <a:endParaRPr lang="en-IN"/>
          </a:p>
        </p:txBody>
      </p:sp>
      <p:sp>
        <p:nvSpPr>
          <p:cNvPr id="27" name="Text 25"/>
          <p:cNvSpPr/>
          <p:nvPr/>
        </p:nvSpPr>
        <p:spPr>
          <a:xfrm>
            <a:off x="841248" y="4151376"/>
            <a:ext cx="4846320" cy="256032"/>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Human-in-the-Loop</a:t>
            </a:r>
            <a:endParaRPr lang="en-US" sz="1250" dirty="0"/>
          </a:p>
        </p:txBody>
      </p:sp>
      <p:sp>
        <p:nvSpPr>
          <p:cNvPr id="28" name="Text 26"/>
          <p:cNvSpPr/>
          <p:nvPr/>
        </p:nvSpPr>
        <p:spPr>
          <a:xfrm>
            <a:off x="841248" y="4443984"/>
            <a:ext cx="4846320" cy="822960"/>
          </a:xfrm>
          <a:prstGeom prst="rect">
            <a:avLst/>
          </a:prstGeom>
          <a:noFill/>
          <a:ln/>
        </p:spPr>
        <p:txBody>
          <a:bodyPr wrap="square" lIns="0" tIns="0" rIns="0" bIns="0" rtlCol="0" anchor="ctr"/>
          <a:lstStyle/>
          <a:p>
            <a:pPr marL="0" indent="0">
              <a:buNone/>
            </a:pPr>
            <a:r>
              <a:rPr lang="en-US" sz="950" dirty="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a:t>
            </a:r>
            <a:endParaRPr lang="en-US" sz="950" dirty="0"/>
          </a:p>
        </p:txBody>
      </p:sp>
      <p:sp>
        <p:nvSpPr>
          <p:cNvPr id="29" name="Shape 27"/>
          <p:cNvSpPr/>
          <p:nvPr/>
        </p:nvSpPr>
        <p:spPr>
          <a:xfrm>
            <a:off x="6208776" y="4005072"/>
            <a:ext cx="5431536" cy="1371600"/>
          </a:xfrm>
          <a:prstGeom prst="roundRect">
            <a:avLst>
              <a:gd name="adj" fmla="val 5333"/>
            </a:avLst>
          </a:prstGeom>
          <a:solidFill>
            <a:srgbClr val="0A3E6B"/>
          </a:solidFill>
          <a:ln w="15875">
            <a:solidFill>
              <a:srgbClr val="00EDED"/>
            </a:solidFill>
            <a:prstDash val="solid"/>
          </a:ln>
        </p:spPr>
        <p:txBody>
          <a:bodyPr/>
          <a:lstStyle/>
          <a:p>
            <a:endParaRPr lang="en-IN"/>
          </a:p>
        </p:txBody>
      </p:sp>
      <p:sp>
        <p:nvSpPr>
          <p:cNvPr id="30" name="Text 28"/>
          <p:cNvSpPr/>
          <p:nvPr/>
        </p:nvSpPr>
        <p:spPr>
          <a:xfrm>
            <a:off x="6501384" y="4151376"/>
            <a:ext cx="4846320" cy="256032"/>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Everything Runs In-Account</a:t>
            </a:r>
            <a:endParaRPr lang="en-US" sz="1250" dirty="0"/>
          </a:p>
        </p:txBody>
      </p:sp>
      <p:sp>
        <p:nvSpPr>
          <p:cNvPr id="31" name="Text 29"/>
          <p:cNvSpPr/>
          <p:nvPr/>
        </p:nvSpPr>
        <p:spPr>
          <a:xfrm>
            <a:off x="6501384" y="4443984"/>
            <a:ext cx="4846320" cy="822960"/>
          </a:xfrm>
          <a:prstGeom prst="rect">
            <a:avLst/>
          </a:prstGeom>
          <a:noFill/>
          <a:ln/>
        </p:spPr>
        <p:txBody>
          <a:bodyPr wrap="square" lIns="0" tIns="0" rIns="0" bIns="0" rtlCol="0" anchor="ctr"/>
          <a:lstStyle/>
          <a:p>
            <a:pPr marL="0" indent="0">
              <a:buNone/>
            </a:pPr>
            <a:r>
              <a:rPr lang="en-US" sz="950" dirty="0">
                <a:solidFill>
                  <a:srgbClr val="D6E6F0"/>
                </a:solidFill>
                <a:latin typeface="Montserrat" pitchFamily="34" charset="0"/>
                <a:ea typeface="Montserrat" pitchFamily="34" charset="-122"/>
                <a:cs typeface="Montserrat" pitchFamily="34" charset="-120"/>
              </a:rPr>
              <a:t>Cortex calls, semantic view creation, table loads and the finished dashboard all execute on Snowflake compute under the customer's own roles. No data leaves the account.</a:t>
            </a:r>
            <a:endParaRPr lang="en-US" sz="950" dirty="0"/>
          </a:p>
        </p:txBody>
      </p:sp>
      <p:sp>
        <p:nvSpPr>
          <p:cNvPr id="32" name="Text 30"/>
          <p:cNvSpPr/>
          <p:nvPr/>
        </p:nvSpPr>
        <p:spPr>
          <a:xfrm>
            <a:off x="548640" y="5541264"/>
            <a:ext cx="11091672" cy="457200"/>
          </a:xfrm>
          <a:prstGeom prst="rect">
            <a:avLst/>
          </a:prstGeom>
          <a:noFill/>
          <a:ln/>
        </p:spPr>
        <p:txBody>
          <a:bodyPr wrap="square" lIns="0" tIns="0" rIns="0" bIns="0" rtlCol="0" anchor="ctr"/>
          <a:lstStyle/>
          <a:p>
            <a:pPr marL="0" indent="0">
              <a:buNone/>
            </a:pPr>
            <a:r>
              <a:rPr lang="en-US" sz="1000" i="1" dirty="0">
                <a:solidFill>
                  <a:srgbClr val="A2F3F3"/>
                </a:solidFill>
                <a:latin typeface="Montserrat" pitchFamily="34" charset="0"/>
                <a:ea typeface="Montserrat" pitchFamily="34" charset="-122"/>
                <a:cs typeface="Montserrat" pitchFamily="34" charset="-120"/>
              </a:rPr>
              <a:t>Assessment first: before any conversion, the workbook is scanned and a migration-readiness report is produced — what converts, what needs attention, and where the effort sits.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053057"/>
                </a:solidFill>
                <a:latin typeface="Montserrat" pitchFamily="34" charset="0"/>
                <a:ea typeface="Montserrat" pitchFamily="34" charset="-122"/>
                <a:cs typeface="Montserrat" pitchFamily="34" charset="-120"/>
              </a:rPr>
              <a:t>What Cortex Does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6B7C88"/>
                </a:solidFill>
                <a:latin typeface="Montserrat" pitchFamily="34" charset="0"/>
                <a:ea typeface="Montserrat" pitchFamily="34" charset="-122"/>
                <a:cs typeface="Montserrat" pitchFamily="34" charset="-120"/>
              </a:rPr>
              <a:t>Claude models running inside the customer's Snowflake account</a:t>
            </a:r>
            <a:endParaRPr lang="en-US" sz="1400" dirty="0"/>
          </a:p>
        </p:txBody>
      </p:sp>
      <p:sp>
        <p:nvSpPr>
          <p:cNvPr id="4" name="Shape 2"/>
          <p:cNvSpPr/>
          <p:nvPr/>
        </p:nvSpPr>
        <p:spPr>
          <a:xfrm>
            <a:off x="548640"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5" name="Shape 3"/>
          <p:cNvSpPr/>
          <p:nvPr/>
        </p:nvSpPr>
        <p:spPr>
          <a:xfrm>
            <a:off x="768096" y="1536192"/>
            <a:ext cx="402336" cy="402336"/>
          </a:xfrm>
          <a:prstGeom prst="ellipse">
            <a:avLst/>
          </a:prstGeom>
          <a:solidFill>
            <a:srgbClr val="00EDED"/>
          </a:solidFill>
          <a:ln/>
        </p:spPr>
        <p:txBody>
          <a:bodyPr/>
          <a:lstStyle/>
          <a:p>
            <a:endParaRPr lang="en-IN"/>
          </a:p>
        </p:txBody>
      </p:sp>
      <p:sp>
        <p:nvSpPr>
          <p:cNvPr id="6" name="Text 4"/>
          <p:cNvSpPr/>
          <p:nvPr/>
        </p:nvSpPr>
        <p:spPr>
          <a:xfrm>
            <a:off x="768096"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1</a:t>
            </a:r>
            <a:endParaRPr lang="en-US" sz="1300" dirty="0"/>
          </a:p>
        </p:txBody>
      </p:sp>
      <p:sp>
        <p:nvSpPr>
          <p:cNvPr id="7" name="Text 5"/>
          <p:cNvSpPr/>
          <p:nvPr/>
        </p:nvSpPr>
        <p:spPr>
          <a:xfrm>
            <a:off x="768096"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Translates the complex calculations</a:t>
            </a:r>
            <a:endParaRPr lang="en-US" sz="1250" dirty="0"/>
          </a:p>
        </p:txBody>
      </p:sp>
      <p:sp>
        <p:nvSpPr>
          <p:cNvPr id="8" name="Text 6"/>
          <p:cNvSpPr/>
          <p:nvPr/>
        </p:nvSpPr>
        <p:spPr>
          <a:xfrm>
            <a:off x="768096"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Nested level-of-detail expressions and blended, cross-source measures become Snowflake SQL — then execute against the real table to confirm they run and return the right values.</a:t>
            </a:r>
            <a:endParaRPr lang="en-US" sz="900" dirty="0"/>
          </a:p>
        </p:txBody>
      </p:sp>
      <p:sp>
        <p:nvSpPr>
          <p:cNvPr id="9" name="Shape 7"/>
          <p:cNvSpPr/>
          <p:nvPr/>
        </p:nvSpPr>
        <p:spPr>
          <a:xfrm>
            <a:off x="3502152"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10" name="Shape 8"/>
          <p:cNvSpPr/>
          <p:nvPr/>
        </p:nvSpPr>
        <p:spPr>
          <a:xfrm>
            <a:off x="3721608" y="1536192"/>
            <a:ext cx="402336" cy="402336"/>
          </a:xfrm>
          <a:prstGeom prst="ellipse">
            <a:avLst/>
          </a:prstGeom>
          <a:solidFill>
            <a:srgbClr val="00EDED"/>
          </a:solidFill>
          <a:ln/>
        </p:spPr>
        <p:txBody>
          <a:bodyPr/>
          <a:lstStyle/>
          <a:p>
            <a:endParaRPr lang="en-IN"/>
          </a:p>
        </p:txBody>
      </p:sp>
      <p:sp>
        <p:nvSpPr>
          <p:cNvPr id="11" name="Text 9"/>
          <p:cNvSpPr/>
          <p:nvPr/>
        </p:nvSpPr>
        <p:spPr>
          <a:xfrm>
            <a:off x="3721608"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2</a:t>
            </a:r>
            <a:endParaRPr lang="en-US" sz="1300" dirty="0"/>
          </a:p>
        </p:txBody>
      </p:sp>
      <p:sp>
        <p:nvSpPr>
          <p:cNvPr id="12" name="Text 10"/>
          <p:cNvSpPr/>
          <p:nvPr/>
        </p:nvSpPr>
        <p:spPr>
          <a:xfrm>
            <a:off x="3721608"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Builds the governed semantic model</a:t>
            </a:r>
            <a:endParaRPr lang="en-US" sz="1250" dirty="0"/>
          </a:p>
        </p:txBody>
      </p:sp>
      <p:sp>
        <p:nvSpPr>
          <p:cNvPr id="13" name="Text 11"/>
          <p:cNvSpPr/>
          <p:nvPr/>
        </p:nvSpPr>
        <p:spPr>
          <a:xfrm>
            <a:off x="3721608"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The workbook's verified measures become a native semantic view: Tableau measures as Snowflake metrics, business captions as synonyms, identifiers read from the live tables.</a:t>
            </a:r>
            <a:endParaRPr lang="en-US" sz="900" dirty="0"/>
          </a:p>
        </p:txBody>
      </p:sp>
      <p:sp>
        <p:nvSpPr>
          <p:cNvPr id="14" name="Shape 12"/>
          <p:cNvSpPr/>
          <p:nvPr/>
        </p:nvSpPr>
        <p:spPr>
          <a:xfrm>
            <a:off x="6455664"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15" name="Shape 13"/>
          <p:cNvSpPr/>
          <p:nvPr/>
        </p:nvSpPr>
        <p:spPr>
          <a:xfrm>
            <a:off x="6675120" y="1536192"/>
            <a:ext cx="402336" cy="402336"/>
          </a:xfrm>
          <a:prstGeom prst="ellipse">
            <a:avLst/>
          </a:prstGeom>
          <a:solidFill>
            <a:srgbClr val="00EDED"/>
          </a:solidFill>
          <a:ln/>
        </p:spPr>
        <p:txBody>
          <a:bodyPr/>
          <a:lstStyle/>
          <a:p>
            <a:endParaRPr lang="en-IN"/>
          </a:p>
        </p:txBody>
      </p:sp>
      <p:sp>
        <p:nvSpPr>
          <p:cNvPr id="16" name="Text 14"/>
          <p:cNvSpPr/>
          <p:nvPr/>
        </p:nvSpPr>
        <p:spPr>
          <a:xfrm>
            <a:off x="6675120"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3</a:t>
            </a:r>
            <a:endParaRPr lang="en-US" sz="1300" dirty="0"/>
          </a:p>
        </p:txBody>
      </p:sp>
      <p:sp>
        <p:nvSpPr>
          <p:cNvPr id="17" name="Text 15"/>
          <p:cNvSpPr/>
          <p:nvPr/>
        </p:nvSpPr>
        <p:spPr>
          <a:xfrm>
            <a:off x="6675120"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Serves natural-language questions</a:t>
            </a:r>
            <a:endParaRPr lang="en-US" sz="1250" dirty="0"/>
          </a:p>
        </p:txBody>
      </p:sp>
      <p:sp>
        <p:nvSpPr>
          <p:cNvPr id="18" name="Text 16"/>
          <p:cNvSpPr/>
          <p:nvPr/>
        </p:nvSpPr>
        <p:spPr>
          <a:xfrm>
            <a:off x="6675120"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Cortex Analyst answers business questions over that same governed model, so exploration uses the definitions the migrated dashboards already use.</a:t>
            </a:r>
            <a:endParaRPr lang="en-US" sz="900" dirty="0"/>
          </a:p>
        </p:txBody>
      </p:sp>
      <p:sp>
        <p:nvSpPr>
          <p:cNvPr id="19" name="Shape 17"/>
          <p:cNvSpPr/>
          <p:nvPr/>
        </p:nvSpPr>
        <p:spPr>
          <a:xfrm>
            <a:off x="9409176"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20" name="Shape 18"/>
          <p:cNvSpPr/>
          <p:nvPr/>
        </p:nvSpPr>
        <p:spPr>
          <a:xfrm>
            <a:off x="9628632" y="1536192"/>
            <a:ext cx="402336" cy="402336"/>
          </a:xfrm>
          <a:prstGeom prst="ellipse">
            <a:avLst/>
          </a:prstGeom>
          <a:solidFill>
            <a:srgbClr val="00EDED"/>
          </a:solidFill>
          <a:ln/>
        </p:spPr>
        <p:txBody>
          <a:bodyPr/>
          <a:lstStyle/>
          <a:p>
            <a:endParaRPr lang="en-IN"/>
          </a:p>
        </p:txBody>
      </p:sp>
      <p:sp>
        <p:nvSpPr>
          <p:cNvPr id="21" name="Text 19"/>
          <p:cNvSpPr/>
          <p:nvPr/>
        </p:nvSpPr>
        <p:spPr>
          <a:xfrm>
            <a:off x="9628632"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4</a:t>
            </a:r>
            <a:endParaRPr lang="en-US" sz="1300" dirty="0"/>
          </a:p>
        </p:txBody>
      </p:sp>
      <p:sp>
        <p:nvSpPr>
          <p:cNvPr id="22" name="Text 20"/>
          <p:cNvSpPr/>
          <p:nvPr/>
        </p:nvSpPr>
        <p:spPr>
          <a:xfrm>
            <a:off x="9628632"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Validates the migration</a:t>
            </a:r>
            <a:endParaRPr lang="en-US" sz="1250" dirty="0"/>
          </a:p>
        </p:txBody>
      </p:sp>
      <p:sp>
        <p:nvSpPr>
          <p:cNvPr id="23" name="Text 21"/>
          <p:cNvSpPr/>
          <p:nvPr/>
        </p:nvSpPr>
        <p:spPr>
          <a:xfrm>
            <a:off x="9628632"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Cortex reads the source workbook and compares it against the generated app section by section, producing the evidence pack that closes the migration.</a:t>
            </a:r>
            <a:endParaRPr lang="en-US" sz="900" dirty="0"/>
          </a:p>
        </p:txBody>
      </p:sp>
      <p:sp>
        <p:nvSpPr>
          <p:cNvPr id="24" name="Text 22"/>
          <p:cNvSpPr/>
          <p:nvPr/>
        </p:nvSpPr>
        <p:spPr>
          <a:xfrm>
            <a:off x="548640" y="3913632"/>
            <a:ext cx="11091672" cy="292608"/>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Worked example — a calculation Cortex converted and proved</a:t>
            </a:r>
            <a:endParaRPr lang="en-US" sz="1250" dirty="0"/>
          </a:p>
        </p:txBody>
      </p:sp>
      <p:sp>
        <p:nvSpPr>
          <p:cNvPr id="25" name="Shape 23"/>
          <p:cNvSpPr/>
          <p:nvPr/>
        </p:nvSpPr>
        <p:spPr>
          <a:xfrm>
            <a:off x="548640" y="4279392"/>
            <a:ext cx="3575304" cy="1572768"/>
          </a:xfrm>
          <a:prstGeom prst="roundRect">
            <a:avLst>
              <a:gd name="adj" fmla="val 4651"/>
            </a:avLst>
          </a:prstGeom>
          <a:solidFill>
            <a:srgbClr val="FFFFFF"/>
          </a:solidFill>
          <a:ln w="12700">
            <a:solidFill>
              <a:srgbClr val="DFE3E6"/>
            </a:solidFill>
            <a:prstDash val="solid"/>
          </a:ln>
        </p:spPr>
        <p:txBody>
          <a:bodyPr/>
          <a:lstStyle/>
          <a:p>
            <a:endParaRPr lang="en-IN"/>
          </a:p>
        </p:txBody>
      </p:sp>
      <p:sp>
        <p:nvSpPr>
          <p:cNvPr id="26" name="Text 24"/>
          <p:cNvSpPr/>
          <p:nvPr/>
        </p:nvSpPr>
        <p:spPr>
          <a:xfrm>
            <a:off x="786384" y="4443984"/>
            <a:ext cx="3099816" cy="237744"/>
          </a:xfrm>
          <a:prstGeom prst="rect">
            <a:avLst/>
          </a:prstGeom>
          <a:noFill/>
          <a:ln/>
        </p:spPr>
        <p:txBody>
          <a:bodyPr wrap="square" lIns="0" tIns="0" rIns="0" bIns="0" rtlCol="0" anchor="ctr"/>
          <a:lstStyle/>
          <a:p>
            <a:pPr marL="0" indent="0">
              <a:buNone/>
            </a:pPr>
            <a:r>
              <a:rPr lang="en-US" sz="900" b="1" kern="0" spc="140" dirty="0">
                <a:solidFill>
                  <a:srgbClr val="6B7C88"/>
                </a:solidFill>
                <a:latin typeface="Montserrat" pitchFamily="34" charset="0"/>
                <a:ea typeface="Montserrat" pitchFamily="34" charset="-122"/>
                <a:cs typeface="Montserrat" pitchFamily="34" charset="-120"/>
              </a:rPr>
              <a:t>TABLEAU SOURCE</a:t>
            </a:r>
            <a:endParaRPr lang="en-US" sz="900" dirty="0"/>
          </a:p>
        </p:txBody>
      </p:sp>
      <p:sp>
        <p:nvSpPr>
          <p:cNvPr id="27" name="Text 25"/>
          <p:cNvSpPr/>
          <p:nvPr/>
        </p:nvSpPr>
        <p:spPr>
          <a:xfrm>
            <a:off x="786384" y="4718304"/>
            <a:ext cx="3099816" cy="603504"/>
          </a:xfrm>
          <a:prstGeom prst="rect">
            <a:avLst/>
          </a:prstGeom>
          <a:noFill/>
          <a:ln/>
        </p:spPr>
        <p:txBody>
          <a:bodyPr wrap="square" lIns="0" tIns="0" rIns="0" bIns="0" rtlCol="0" anchor="ctr"/>
          <a:lstStyle/>
          <a:p>
            <a:pPr marL="0" indent="0">
              <a:buNone/>
            </a:pPr>
            <a:r>
              <a:rPr lang="en-US" sz="900" dirty="0">
                <a:solidFill>
                  <a:srgbClr val="314550"/>
                </a:solidFill>
                <a:latin typeface="Montserrat" pitchFamily="34" charset="0"/>
                <a:ea typeface="Montserrat" pitchFamily="34" charset="-122"/>
                <a:cs typeface="Montserrat" pitchFamily="34" charset="-120"/>
              </a:rPr>
              <a:t>{ FIXED [Region] : AVG( { FIXED [Region],[Sub-Category] : SUM([Sales]) } ) }</a:t>
            </a:r>
            <a:endParaRPr lang="en-US" sz="900" dirty="0"/>
          </a:p>
        </p:txBody>
      </p:sp>
      <p:sp>
        <p:nvSpPr>
          <p:cNvPr id="28" name="Text 26"/>
          <p:cNvSpPr/>
          <p:nvPr/>
        </p:nvSpPr>
        <p:spPr>
          <a:xfrm>
            <a:off x="786384" y="5358384"/>
            <a:ext cx="3099816" cy="420624"/>
          </a:xfrm>
          <a:prstGeom prst="rect">
            <a:avLst/>
          </a:prstGeom>
          <a:noFill/>
          <a:ln/>
        </p:spPr>
        <p:txBody>
          <a:bodyPr wrap="square" lIns="0" tIns="0" rIns="0" bIns="0" rtlCol="0" anchor="ctr"/>
          <a:lstStyle/>
          <a:p>
            <a:pPr marL="0" indent="0">
              <a:buNone/>
            </a:pPr>
            <a:r>
              <a:rPr lang="en-US" sz="850" dirty="0">
                <a:solidFill>
                  <a:srgbClr val="6B7C88"/>
                </a:solidFill>
                <a:latin typeface="Montserrat" pitchFamily="34" charset="0"/>
                <a:ea typeface="Montserrat" pitchFamily="34" charset="-122"/>
                <a:cs typeface="Montserrat" pitchFamily="34" charset="-120"/>
              </a:rPr>
              <a:t>A nested level-of-detail expression — an average of an average, at two different grains.</a:t>
            </a:r>
            <a:endParaRPr lang="en-US" sz="850" dirty="0"/>
          </a:p>
        </p:txBody>
      </p:sp>
      <p:sp>
        <p:nvSpPr>
          <p:cNvPr id="29" name="Shape 27"/>
          <p:cNvSpPr/>
          <p:nvPr/>
        </p:nvSpPr>
        <p:spPr>
          <a:xfrm>
            <a:off x="4306824" y="4279392"/>
            <a:ext cx="3575304" cy="1572768"/>
          </a:xfrm>
          <a:prstGeom prst="roundRect">
            <a:avLst>
              <a:gd name="adj" fmla="val 4651"/>
            </a:avLst>
          </a:prstGeom>
          <a:solidFill>
            <a:srgbClr val="FFFFFF"/>
          </a:solidFill>
          <a:ln w="12700">
            <a:solidFill>
              <a:srgbClr val="DFE3E6"/>
            </a:solidFill>
            <a:prstDash val="solid"/>
          </a:ln>
        </p:spPr>
        <p:txBody>
          <a:bodyPr/>
          <a:lstStyle/>
          <a:p>
            <a:endParaRPr lang="en-IN"/>
          </a:p>
        </p:txBody>
      </p:sp>
      <p:sp>
        <p:nvSpPr>
          <p:cNvPr id="30" name="Text 28"/>
          <p:cNvSpPr/>
          <p:nvPr/>
        </p:nvSpPr>
        <p:spPr>
          <a:xfrm>
            <a:off x="4544568" y="4443984"/>
            <a:ext cx="3099816" cy="237744"/>
          </a:xfrm>
          <a:prstGeom prst="rect">
            <a:avLst/>
          </a:prstGeom>
          <a:noFill/>
          <a:ln/>
        </p:spPr>
        <p:txBody>
          <a:bodyPr wrap="square" lIns="0" tIns="0" rIns="0" bIns="0" rtlCol="0" anchor="ctr"/>
          <a:lstStyle/>
          <a:p>
            <a:pPr marL="0" indent="0">
              <a:buNone/>
            </a:pPr>
            <a:r>
              <a:rPr lang="en-US" sz="900" b="1" kern="0" spc="140" dirty="0">
                <a:solidFill>
                  <a:srgbClr val="6B7C88"/>
                </a:solidFill>
                <a:latin typeface="Montserrat" pitchFamily="34" charset="0"/>
                <a:ea typeface="Montserrat" pitchFamily="34" charset="-122"/>
                <a:cs typeface="Montserrat" pitchFamily="34" charset="-120"/>
              </a:rPr>
              <a:t>CORTEX OUTPUT</a:t>
            </a:r>
            <a:endParaRPr lang="en-US" sz="900" dirty="0"/>
          </a:p>
        </p:txBody>
      </p:sp>
      <p:sp>
        <p:nvSpPr>
          <p:cNvPr id="31" name="Text 29"/>
          <p:cNvSpPr/>
          <p:nvPr/>
        </p:nvSpPr>
        <p:spPr>
          <a:xfrm>
            <a:off x="4544568" y="4718304"/>
            <a:ext cx="3099816" cy="603504"/>
          </a:xfrm>
          <a:prstGeom prst="rect">
            <a:avLst/>
          </a:prstGeom>
          <a:noFill/>
          <a:ln/>
        </p:spPr>
        <p:txBody>
          <a:bodyPr wrap="square" lIns="0" tIns="0" rIns="0" bIns="0" rtlCol="0" anchor="ctr"/>
          <a:lstStyle/>
          <a:p>
            <a:pPr marL="0" indent="0">
              <a:buNone/>
            </a:pPr>
            <a:r>
              <a:rPr lang="en-US" sz="900" dirty="0">
                <a:solidFill>
                  <a:srgbClr val="314550"/>
                </a:solidFill>
                <a:latin typeface="Montserrat" pitchFamily="34" charset="0"/>
                <a:ea typeface="Montserrat" pitchFamily="34" charset="-122"/>
                <a:cs typeface="Montserrat" pitchFamily="34" charset="-120"/>
              </a:rPr>
              <a:t>WITH inner AS ( SELECT region, sub_category, SUM(sales) … )  SELECT region, AVG(v) …</a:t>
            </a:r>
            <a:endParaRPr lang="en-US" sz="900" dirty="0"/>
          </a:p>
        </p:txBody>
      </p:sp>
      <p:sp>
        <p:nvSpPr>
          <p:cNvPr id="32" name="Text 30"/>
          <p:cNvSpPr/>
          <p:nvPr/>
        </p:nvSpPr>
        <p:spPr>
          <a:xfrm>
            <a:off x="4544568" y="5358384"/>
            <a:ext cx="3099816" cy="420624"/>
          </a:xfrm>
          <a:prstGeom prst="rect">
            <a:avLst/>
          </a:prstGeom>
          <a:noFill/>
          <a:ln/>
        </p:spPr>
        <p:txBody>
          <a:bodyPr wrap="square" lIns="0" tIns="0" rIns="0" bIns="0" rtlCol="0" anchor="ctr"/>
          <a:lstStyle/>
          <a:p>
            <a:pPr marL="0" indent="0">
              <a:buNone/>
            </a:pPr>
            <a:r>
              <a:rPr lang="en-US" sz="850" dirty="0">
                <a:solidFill>
                  <a:srgbClr val="6B7C88"/>
                </a:solidFill>
                <a:latin typeface="Montserrat" pitchFamily="34" charset="0"/>
                <a:ea typeface="Montserrat" pitchFamily="34" charset="-122"/>
                <a:cs typeface="Montserrat" pitchFamily="34" charset="-120"/>
              </a:rPr>
              <a:t>Rewritten as layered CTEs that Snowflake executes directly.</a:t>
            </a:r>
            <a:endParaRPr lang="en-US" sz="850" dirty="0"/>
          </a:p>
        </p:txBody>
      </p:sp>
      <p:sp>
        <p:nvSpPr>
          <p:cNvPr id="33" name="Shape 31"/>
          <p:cNvSpPr/>
          <p:nvPr/>
        </p:nvSpPr>
        <p:spPr>
          <a:xfrm>
            <a:off x="8065008" y="4279392"/>
            <a:ext cx="3575304" cy="1572768"/>
          </a:xfrm>
          <a:prstGeom prst="roundRect">
            <a:avLst>
              <a:gd name="adj" fmla="val 4651"/>
            </a:avLst>
          </a:prstGeom>
          <a:solidFill>
            <a:srgbClr val="053057"/>
          </a:solidFill>
          <a:ln w="12700">
            <a:solidFill>
              <a:srgbClr val="053057"/>
            </a:solidFill>
            <a:prstDash val="solid"/>
          </a:ln>
        </p:spPr>
        <p:txBody>
          <a:bodyPr/>
          <a:lstStyle/>
          <a:p>
            <a:endParaRPr lang="en-IN"/>
          </a:p>
        </p:txBody>
      </p:sp>
      <p:sp>
        <p:nvSpPr>
          <p:cNvPr id="34" name="Text 32"/>
          <p:cNvSpPr/>
          <p:nvPr/>
        </p:nvSpPr>
        <p:spPr>
          <a:xfrm>
            <a:off x="8302752" y="4443984"/>
            <a:ext cx="3099816" cy="237744"/>
          </a:xfrm>
          <a:prstGeom prst="rect">
            <a:avLst/>
          </a:prstGeom>
          <a:noFill/>
          <a:ln/>
        </p:spPr>
        <p:txBody>
          <a:bodyPr wrap="square" lIns="0" tIns="0" rIns="0" bIns="0" rtlCol="0" anchor="ctr"/>
          <a:lstStyle/>
          <a:p>
            <a:pPr marL="0" indent="0">
              <a:buNone/>
            </a:pPr>
            <a:r>
              <a:rPr lang="en-US" sz="900" b="1" kern="0" spc="140" dirty="0">
                <a:solidFill>
                  <a:srgbClr val="00EDED"/>
                </a:solidFill>
                <a:latin typeface="Montserrat" pitchFamily="34" charset="0"/>
                <a:ea typeface="Montserrat" pitchFamily="34" charset="-122"/>
                <a:cs typeface="Montserrat" pitchFamily="34" charset="-120"/>
              </a:rPr>
              <a:t>PROVEN</a:t>
            </a:r>
            <a:endParaRPr lang="en-US" sz="900" dirty="0"/>
          </a:p>
        </p:txBody>
      </p:sp>
      <p:sp>
        <p:nvSpPr>
          <p:cNvPr id="35" name="Text 33"/>
          <p:cNvSpPr/>
          <p:nvPr/>
        </p:nvSpPr>
        <p:spPr>
          <a:xfrm>
            <a:off x="8302752" y="4718304"/>
            <a:ext cx="3099816" cy="603504"/>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4 of 4 region values exact</a:t>
            </a:r>
            <a:endParaRPr lang="en-US" sz="1300" dirty="0"/>
          </a:p>
        </p:txBody>
      </p:sp>
      <p:sp>
        <p:nvSpPr>
          <p:cNvPr id="36" name="Text 34"/>
          <p:cNvSpPr/>
          <p:nvPr/>
        </p:nvSpPr>
        <p:spPr>
          <a:xfrm>
            <a:off x="8302752" y="5358384"/>
            <a:ext cx="3099816" cy="420624"/>
          </a:xfrm>
          <a:prstGeom prst="rect">
            <a:avLst/>
          </a:prstGeom>
          <a:noFill/>
          <a:ln/>
        </p:spPr>
        <p:txBody>
          <a:bodyPr wrap="square" lIns="0" tIns="0" rIns="0" bIns="0" rtlCol="0" anchor="ctr"/>
          <a:lstStyle/>
          <a:p>
            <a:pPr marL="0" indent="0">
              <a:buNone/>
            </a:pPr>
            <a:r>
              <a:rPr lang="en-US" sz="850" dirty="0">
                <a:solidFill>
                  <a:srgbClr val="A2F3F3"/>
                </a:solidFill>
                <a:latin typeface="Montserrat" pitchFamily="34" charset="0"/>
                <a:ea typeface="Montserrat" pitchFamily="34" charset="-122"/>
                <a:cs typeface="Montserrat" pitchFamily="34" charset="-120"/>
              </a:rPr>
              <a:t>Executed against the real table and checked against an independent ground truth before acceptance.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053057"/>
                </a:solidFill>
                <a:latin typeface="Montserrat" pitchFamily="34" charset="0"/>
                <a:ea typeface="Montserrat" pitchFamily="34" charset="-122"/>
                <a:cs typeface="Montserrat" pitchFamily="34" charset="-120"/>
              </a:rPr>
              <a:t>Impact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6B7C88"/>
                </a:solidFill>
                <a:latin typeface="Montserrat" pitchFamily="34" charset="0"/>
                <a:ea typeface="Montserrat" pitchFamily="34" charset="-122"/>
                <a:cs typeface="Montserrat" pitchFamily="34" charset="-120"/>
              </a:rPr>
              <a:t>Faster time to value — and a migration the business can trust</a:t>
            </a:r>
            <a:endParaRPr lang="en-US" sz="1400" dirty="0"/>
          </a:p>
        </p:txBody>
      </p:sp>
      <p:sp>
        <p:nvSpPr>
          <p:cNvPr id="4" name="Shape 2"/>
          <p:cNvSpPr/>
          <p:nvPr/>
        </p:nvSpPr>
        <p:spPr>
          <a:xfrm>
            <a:off x="548640" y="1243584"/>
            <a:ext cx="2724912" cy="1591056"/>
          </a:xfrm>
          <a:prstGeom prst="roundRect">
            <a:avLst>
              <a:gd name="adj" fmla="val 4598"/>
            </a:avLst>
          </a:prstGeom>
          <a:solidFill>
            <a:srgbClr val="053057"/>
          </a:solidFill>
          <a:ln w="12700">
            <a:solidFill>
              <a:srgbClr val="053057"/>
            </a:solidFill>
            <a:prstDash val="solid"/>
          </a:ln>
        </p:spPr>
        <p:txBody>
          <a:bodyPr/>
          <a:lstStyle/>
          <a:p>
            <a:endParaRPr lang="en-IN"/>
          </a:p>
        </p:txBody>
      </p:sp>
      <p:sp>
        <p:nvSpPr>
          <p:cNvPr id="5" name="Text 3"/>
          <p:cNvSpPr/>
          <p:nvPr/>
        </p:nvSpPr>
        <p:spPr>
          <a:xfrm>
            <a:off x="768096" y="1371600"/>
            <a:ext cx="2286000" cy="475488"/>
          </a:xfrm>
          <a:prstGeom prst="rect">
            <a:avLst/>
          </a:prstGeom>
          <a:noFill/>
          <a:ln/>
        </p:spPr>
        <p:txBody>
          <a:bodyPr wrap="square" lIns="0" tIns="0" rIns="0" bIns="0" rtlCol="0" anchor="ctr"/>
          <a:lstStyle/>
          <a:p>
            <a:pPr marL="0" indent="0">
              <a:buNone/>
            </a:pPr>
            <a:r>
              <a:rPr lang="en-US" sz="3000" b="1" dirty="0">
                <a:solidFill>
                  <a:srgbClr val="00EDED"/>
                </a:solidFill>
                <a:latin typeface="Montserrat" pitchFamily="34" charset="0"/>
                <a:ea typeface="Montserrat" pitchFamily="34" charset="-122"/>
                <a:cs typeface="Montserrat" pitchFamily="34" charset="-120"/>
              </a:rPr>
              <a:t>90%+</a:t>
            </a:r>
            <a:endParaRPr lang="en-US" sz="3000" dirty="0"/>
          </a:p>
        </p:txBody>
      </p:sp>
      <p:sp>
        <p:nvSpPr>
          <p:cNvPr id="6" name="Text 4"/>
          <p:cNvSpPr/>
          <p:nvPr/>
        </p:nvSpPr>
        <p:spPr>
          <a:xfrm>
            <a:off x="768096" y="1865376"/>
            <a:ext cx="2286000" cy="256032"/>
          </a:xfrm>
          <a:prstGeom prst="rect">
            <a:avLst/>
          </a:prstGeom>
          <a:noFill/>
          <a:ln/>
        </p:spPr>
        <p:txBody>
          <a:bodyPr wrap="square" lIns="0" tIns="0" rIns="0" bIns="0" rtlCol="0" anchor="ctr"/>
          <a:lstStyle/>
          <a:p>
            <a:pPr marL="0" indent="0">
              <a:buNone/>
            </a:pPr>
            <a:r>
              <a:rPr lang="en-US" sz="1100" b="1" dirty="0">
                <a:solidFill>
                  <a:srgbClr val="FFFFFF"/>
                </a:solidFill>
                <a:latin typeface="Montserrat" pitchFamily="34" charset="0"/>
                <a:ea typeface="Montserrat" pitchFamily="34" charset="-122"/>
                <a:cs typeface="Montserrat" pitchFamily="34" charset="-120"/>
              </a:rPr>
              <a:t>converted automatically</a:t>
            </a:r>
            <a:endParaRPr lang="en-US" sz="1100" dirty="0"/>
          </a:p>
        </p:txBody>
      </p:sp>
      <p:sp>
        <p:nvSpPr>
          <p:cNvPr id="7" name="Text 5"/>
          <p:cNvSpPr/>
          <p:nvPr/>
        </p:nvSpPr>
        <p:spPr>
          <a:xfrm>
            <a:off x="768096" y="2139696"/>
            <a:ext cx="2286000" cy="640080"/>
          </a:xfrm>
          <a:prstGeom prst="rect">
            <a:avLst/>
          </a:prstGeom>
          <a:noFill/>
          <a:ln/>
        </p:spPr>
        <p:txBody>
          <a:bodyPr wrap="square" lIns="0" tIns="0" rIns="0" bIns="0" rtlCol="0" anchor="ctr"/>
          <a:lstStyle/>
          <a:p>
            <a:pPr marL="0" indent="0">
              <a:lnSpc>
                <a:spcPct val="104000"/>
              </a:lnSpc>
              <a:buNone/>
            </a:pPr>
            <a:r>
              <a:rPr lang="en-US" sz="900" dirty="0">
                <a:solidFill>
                  <a:srgbClr val="A2F3F3"/>
                </a:solidFill>
                <a:latin typeface="Montserrat" pitchFamily="34" charset="0"/>
                <a:ea typeface="Montserrat" pitchFamily="34" charset="-122"/>
                <a:cs typeface="Montserrat" pitchFamily="34" charset="-120"/>
              </a:rPr>
              <a:t>The common majority of every dashboard — charts, calculations, filters and layout — without a developer rebuilding it by hand.</a:t>
            </a:r>
            <a:endParaRPr lang="en-US" sz="900" dirty="0"/>
          </a:p>
        </p:txBody>
      </p:sp>
      <p:sp>
        <p:nvSpPr>
          <p:cNvPr id="8" name="Shape 6"/>
          <p:cNvSpPr/>
          <p:nvPr/>
        </p:nvSpPr>
        <p:spPr>
          <a:xfrm>
            <a:off x="3502152" y="1243584"/>
            <a:ext cx="2724912" cy="1591056"/>
          </a:xfrm>
          <a:prstGeom prst="roundRect">
            <a:avLst>
              <a:gd name="adj" fmla="val 4598"/>
            </a:avLst>
          </a:prstGeom>
          <a:solidFill>
            <a:srgbClr val="053057"/>
          </a:solidFill>
          <a:ln w="12700">
            <a:solidFill>
              <a:srgbClr val="053057"/>
            </a:solidFill>
            <a:prstDash val="solid"/>
          </a:ln>
        </p:spPr>
        <p:txBody>
          <a:bodyPr/>
          <a:lstStyle/>
          <a:p>
            <a:endParaRPr lang="en-IN"/>
          </a:p>
        </p:txBody>
      </p:sp>
      <p:sp>
        <p:nvSpPr>
          <p:cNvPr id="9" name="Text 7"/>
          <p:cNvSpPr/>
          <p:nvPr/>
        </p:nvSpPr>
        <p:spPr>
          <a:xfrm>
            <a:off x="3721608" y="1371600"/>
            <a:ext cx="2286000" cy="475488"/>
          </a:xfrm>
          <a:prstGeom prst="rect">
            <a:avLst/>
          </a:prstGeom>
          <a:noFill/>
          <a:ln/>
        </p:spPr>
        <p:txBody>
          <a:bodyPr wrap="square" lIns="0" tIns="0" rIns="0" bIns="0" rtlCol="0" anchor="ctr"/>
          <a:lstStyle/>
          <a:p>
            <a:pPr marL="0" indent="0">
              <a:buNone/>
            </a:pPr>
            <a:r>
              <a:rPr lang="en-US" sz="3000" b="1" dirty="0">
                <a:solidFill>
                  <a:srgbClr val="00EDED"/>
                </a:solidFill>
                <a:latin typeface="Montserrat" pitchFamily="34" charset="0"/>
                <a:ea typeface="Montserrat" pitchFamily="34" charset="-122"/>
                <a:cs typeface="Montserrat" pitchFamily="34" charset="-120"/>
              </a:rPr>
              <a:t>Minutes</a:t>
            </a:r>
            <a:endParaRPr lang="en-US" sz="3000" dirty="0"/>
          </a:p>
        </p:txBody>
      </p:sp>
      <p:sp>
        <p:nvSpPr>
          <p:cNvPr id="10" name="Text 8"/>
          <p:cNvSpPr/>
          <p:nvPr/>
        </p:nvSpPr>
        <p:spPr>
          <a:xfrm>
            <a:off x="3721608" y="1865376"/>
            <a:ext cx="2286000" cy="256032"/>
          </a:xfrm>
          <a:prstGeom prst="rect">
            <a:avLst/>
          </a:prstGeom>
          <a:noFill/>
          <a:ln/>
        </p:spPr>
        <p:txBody>
          <a:bodyPr wrap="square" lIns="0" tIns="0" rIns="0" bIns="0" rtlCol="0" anchor="ctr"/>
          <a:lstStyle/>
          <a:p>
            <a:pPr marL="0" indent="0">
              <a:buNone/>
            </a:pPr>
            <a:r>
              <a:rPr lang="en-US" sz="1100" b="1" dirty="0">
                <a:solidFill>
                  <a:srgbClr val="FFFFFF"/>
                </a:solidFill>
                <a:latin typeface="Montserrat" pitchFamily="34" charset="0"/>
                <a:ea typeface="Montserrat" pitchFamily="34" charset="-122"/>
                <a:cs typeface="Montserrat" pitchFamily="34" charset="-120"/>
              </a:rPr>
              <a:t>from workbook to live app</a:t>
            </a:r>
            <a:endParaRPr lang="en-US" sz="1100" dirty="0"/>
          </a:p>
        </p:txBody>
      </p:sp>
      <p:sp>
        <p:nvSpPr>
          <p:cNvPr id="11" name="Text 9"/>
          <p:cNvSpPr/>
          <p:nvPr/>
        </p:nvSpPr>
        <p:spPr>
          <a:xfrm>
            <a:off x="3721608" y="2139696"/>
            <a:ext cx="2286000" cy="640080"/>
          </a:xfrm>
          <a:prstGeom prst="rect">
            <a:avLst/>
          </a:prstGeom>
          <a:noFill/>
          <a:ln/>
        </p:spPr>
        <p:txBody>
          <a:bodyPr wrap="square" lIns="0" tIns="0" rIns="0" bIns="0" rtlCol="0" anchor="ctr"/>
          <a:lstStyle/>
          <a:p>
            <a:pPr marL="0" indent="0">
              <a:lnSpc>
                <a:spcPct val="104000"/>
              </a:lnSpc>
              <a:buNone/>
            </a:pPr>
            <a:r>
              <a:rPr lang="en-US" sz="900" dirty="0">
                <a:solidFill>
                  <a:srgbClr val="A2F3F3"/>
                </a:solidFill>
                <a:latin typeface="Montserrat" pitchFamily="34" charset="0"/>
                <a:ea typeface="Montserrat" pitchFamily="34" charset="-122"/>
                <a:cs typeface="Montserrat" pitchFamily="34" charset="-120"/>
              </a:rPr>
              <a:t>One run inside the Snowflake account, not a rebuild project measured in sprints and handoffs.</a:t>
            </a:r>
            <a:endParaRPr lang="en-US" sz="900" dirty="0"/>
          </a:p>
        </p:txBody>
      </p:sp>
      <p:sp>
        <p:nvSpPr>
          <p:cNvPr id="12" name="Shape 10"/>
          <p:cNvSpPr/>
          <p:nvPr/>
        </p:nvSpPr>
        <p:spPr>
          <a:xfrm>
            <a:off x="6455664" y="1243584"/>
            <a:ext cx="2724912" cy="1591056"/>
          </a:xfrm>
          <a:prstGeom prst="roundRect">
            <a:avLst>
              <a:gd name="adj" fmla="val 4598"/>
            </a:avLst>
          </a:prstGeom>
          <a:solidFill>
            <a:srgbClr val="FFFFFF"/>
          </a:solidFill>
          <a:ln w="12700">
            <a:solidFill>
              <a:srgbClr val="DFE3E6"/>
            </a:solidFill>
            <a:prstDash val="solid"/>
          </a:ln>
        </p:spPr>
        <p:txBody>
          <a:bodyPr/>
          <a:lstStyle/>
          <a:p>
            <a:endParaRPr lang="en-IN"/>
          </a:p>
        </p:txBody>
      </p:sp>
      <p:sp>
        <p:nvSpPr>
          <p:cNvPr id="13" name="Text 11"/>
          <p:cNvSpPr/>
          <p:nvPr/>
        </p:nvSpPr>
        <p:spPr>
          <a:xfrm>
            <a:off x="6675120" y="1371600"/>
            <a:ext cx="2286000" cy="475488"/>
          </a:xfrm>
          <a:prstGeom prst="rect">
            <a:avLst/>
          </a:prstGeom>
          <a:noFill/>
          <a:ln/>
        </p:spPr>
        <p:txBody>
          <a:bodyPr wrap="square" lIns="0" tIns="0" rIns="0" bIns="0" rtlCol="0" anchor="ctr"/>
          <a:lstStyle/>
          <a:p>
            <a:pPr marL="0" indent="0">
              <a:buNone/>
            </a:pPr>
            <a:r>
              <a:rPr lang="en-US" sz="1900" b="1" dirty="0">
                <a:solidFill>
                  <a:srgbClr val="053057"/>
                </a:solidFill>
                <a:latin typeface="Montserrat" pitchFamily="34" charset="0"/>
                <a:ea typeface="Montserrat" pitchFamily="34" charset="-122"/>
                <a:cs typeface="Montserrat" pitchFamily="34" charset="-120"/>
              </a:rPr>
              <a:t>Every measure</a:t>
            </a:r>
            <a:endParaRPr lang="en-US" sz="1900" dirty="0"/>
          </a:p>
        </p:txBody>
      </p:sp>
      <p:sp>
        <p:nvSpPr>
          <p:cNvPr id="14" name="Text 12"/>
          <p:cNvSpPr/>
          <p:nvPr/>
        </p:nvSpPr>
        <p:spPr>
          <a:xfrm>
            <a:off x="6675120" y="1865376"/>
            <a:ext cx="2286000" cy="256032"/>
          </a:xfrm>
          <a:prstGeom prst="rect">
            <a:avLst/>
          </a:prstGeom>
          <a:noFill/>
          <a:ln/>
        </p:spPr>
        <p:txBody>
          <a:bodyPr wrap="square" lIns="0" tIns="0" rIns="0" bIns="0" rtlCol="0" anchor="ctr"/>
          <a:lstStyle/>
          <a:p>
            <a:pPr marL="0" indent="0">
              <a:buNone/>
            </a:pPr>
            <a:r>
              <a:rPr lang="en-US" sz="1100" b="1" dirty="0">
                <a:solidFill>
                  <a:srgbClr val="314550"/>
                </a:solidFill>
                <a:latin typeface="Montserrat" pitchFamily="34" charset="0"/>
                <a:ea typeface="Montserrat" pitchFamily="34" charset="-122"/>
                <a:cs typeface="Montserrat" pitchFamily="34" charset="-120"/>
              </a:rPr>
              <a:t>tied out to the source</a:t>
            </a:r>
            <a:endParaRPr lang="en-US" sz="1100" dirty="0"/>
          </a:p>
        </p:txBody>
      </p:sp>
      <p:sp>
        <p:nvSpPr>
          <p:cNvPr id="15" name="Text 13"/>
          <p:cNvSpPr/>
          <p:nvPr/>
        </p:nvSpPr>
        <p:spPr>
          <a:xfrm>
            <a:off x="6675120" y="2139696"/>
            <a:ext cx="2286000" cy="640080"/>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Validated automatically as part of the migration, with downloadable evidence rather than an assurance.</a:t>
            </a:r>
            <a:endParaRPr lang="en-US" sz="900" dirty="0"/>
          </a:p>
        </p:txBody>
      </p:sp>
      <p:sp>
        <p:nvSpPr>
          <p:cNvPr id="16" name="Shape 14"/>
          <p:cNvSpPr/>
          <p:nvPr/>
        </p:nvSpPr>
        <p:spPr>
          <a:xfrm>
            <a:off x="9409176" y="1243584"/>
            <a:ext cx="2724912" cy="1591056"/>
          </a:xfrm>
          <a:prstGeom prst="roundRect">
            <a:avLst>
              <a:gd name="adj" fmla="val 4598"/>
            </a:avLst>
          </a:prstGeom>
          <a:solidFill>
            <a:srgbClr val="FFFFFF"/>
          </a:solidFill>
          <a:ln w="12700">
            <a:solidFill>
              <a:srgbClr val="DFE3E6"/>
            </a:solidFill>
            <a:prstDash val="solid"/>
          </a:ln>
        </p:spPr>
        <p:txBody>
          <a:bodyPr/>
          <a:lstStyle/>
          <a:p>
            <a:endParaRPr lang="en-IN"/>
          </a:p>
        </p:txBody>
      </p:sp>
      <p:sp>
        <p:nvSpPr>
          <p:cNvPr id="17" name="Text 15"/>
          <p:cNvSpPr/>
          <p:nvPr/>
        </p:nvSpPr>
        <p:spPr>
          <a:xfrm>
            <a:off x="9628632" y="1371600"/>
            <a:ext cx="2286000" cy="475488"/>
          </a:xfrm>
          <a:prstGeom prst="rect">
            <a:avLst/>
          </a:prstGeom>
          <a:noFill/>
          <a:ln/>
        </p:spPr>
        <p:txBody>
          <a:bodyPr wrap="square" lIns="0" tIns="0" rIns="0" bIns="0" rtlCol="0" anchor="ctr"/>
          <a:lstStyle/>
          <a:p>
            <a:pPr marL="0" indent="0">
              <a:buNone/>
            </a:pPr>
            <a:r>
              <a:rPr lang="en-US" sz="1900" b="1" dirty="0">
                <a:solidFill>
                  <a:srgbClr val="053057"/>
                </a:solidFill>
                <a:latin typeface="Montserrat" pitchFamily="34" charset="0"/>
                <a:ea typeface="Montserrat" pitchFamily="34" charset="-122"/>
                <a:cs typeface="Montserrat" pitchFamily="34" charset="-120"/>
              </a:rPr>
              <a:t>Before you commit</a:t>
            </a:r>
            <a:endParaRPr lang="en-US" sz="1900" dirty="0"/>
          </a:p>
        </p:txBody>
      </p:sp>
      <p:sp>
        <p:nvSpPr>
          <p:cNvPr id="18" name="Text 16"/>
          <p:cNvSpPr/>
          <p:nvPr/>
        </p:nvSpPr>
        <p:spPr>
          <a:xfrm>
            <a:off x="9628632" y="1865376"/>
            <a:ext cx="2286000" cy="256032"/>
          </a:xfrm>
          <a:prstGeom prst="rect">
            <a:avLst/>
          </a:prstGeom>
          <a:noFill/>
          <a:ln/>
        </p:spPr>
        <p:txBody>
          <a:bodyPr wrap="square" lIns="0" tIns="0" rIns="0" bIns="0" rtlCol="0" anchor="ctr"/>
          <a:lstStyle/>
          <a:p>
            <a:pPr marL="0" indent="0">
              <a:buNone/>
            </a:pPr>
            <a:r>
              <a:rPr lang="en-US" sz="1100" b="1" dirty="0">
                <a:solidFill>
                  <a:srgbClr val="314550"/>
                </a:solidFill>
                <a:latin typeface="Montserrat" pitchFamily="34" charset="0"/>
                <a:ea typeface="Montserrat" pitchFamily="34" charset="-122"/>
                <a:cs typeface="Montserrat" pitchFamily="34" charset="-120"/>
              </a:rPr>
              <a:t>assessment comes first</a:t>
            </a:r>
            <a:endParaRPr lang="en-US" sz="1100" dirty="0"/>
          </a:p>
        </p:txBody>
      </p:sp>
      <p:sp>
        <p:nvSpPr>
          <p:cNvPr id="19" name="Text 17"/>
          <p:cNvSpPr/>
          <p:nvPr/>
        </p:nvSpPr>
        <p:spPr>
          <a:xfrm>
            <a:off x="9628632" y="2139696"/>
            <a:ext cx="2286000" cy="640080"/>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The estate is scanned and scored up front, so what converts — and what needs attention — is known before the work starts.</a:t>
            </a:r>
            <a:endParaRPr lang="en-US" sz="900" dirty="0"/>
          </a:p>
        </p:txBody>
      </p:sp>
      <p:sp>
        <p:nvSpPr>
          <p:cNvPr id="20" name="Shape 18"/>
          <p:cNvSpPr/>
          <p:nvPr/>
        </p:nvSpPr>
        <p:spPr>
          <a:xfrm>
            <a:off x="548640" y="2980944"/>
            <a:ext cx="5431536" cy="2011680"/>
          </a:xfrm>
          <a:prstGeom prst="roundRect">
            <a:avLst>
              <a:gd name="adj" fmla="val 3636"/>
            </a:avLst>
          </a:prstGeom>
          <a:solidFill>
            <a:srgbClr val="FFFFFF"/>
          </a:solidFill>
          <a:ln w="12700">
            <a:solidFill>
              <a:srgbClr val="DFE3E6"/>
            </a:solidFill>
            <a:prstDash val="solid"/>
          </a:ln>
        </p:spPr>
        <p:txBody>
          <a:bodyPr/>
          <a:lstStyle/>
          <a:p>
            <a:endParaRPr lang="en-IN"/>
          </a:p>
        </p:txBody>
      </p:sp>
      <p:sp>
        <p:nvSpPr>
          <p:cNvPr id="21" name="Text 19"/>
          <p:cNvSpPr/>
          <p:nvPr/>
        </p:nvSpPr>
        <p:spPr>
          <a:xfrm>
            <a:off x="841248" y="3145536"/>
            <a:ext cx="4846320" cy="237744"/>
          </a:xfrm>
          <a:prstGeom prst="rect">
            <a:avLst/>
          </a:prstGeom>
          <a:noFill/>
          <a:ln/>
        </p:spPr>
        <p:txBody>
          <a:bodyPr wrap="square" lIns="0" tIns="0" rIns="0" bIns="0" rtlCol="0" anchor="ctr"/>
          <a:lstStyle/>
          <a:p>
            <a:pPr marL="0" indent="0">
              <a:buNone/>
            </a:pPr>
            <a:r>
              <a:rPr lang="en-US" sz="1050" b="1" kern="0" spc="150" dirty="0">
                <a:solidFill>
                  <a:srgbClr val="6B7C88"/>
                </a:solidFill>
                <a:latin typeface="Montserrat" pitchFamily="34" charset="0"/>
                <a:ea typeface="Montserrat" pitchFamily="34" charset="-122"/>
                <a:cs typeface="Montserrat" pitchFamily="34" charset="-120"/>
              </a:rPr>
              <a:t>VALUE TO THE BUSINESS</a:t>
            </a:r>
            <a:endParaRPr lang="en-US" sz="1050" dirty="0"/>
          </a:p>
        </p:txBody>
      </p:sp>
      <p:sp>
        <p:nvSpPr>
          <p:cNvPr id="22" name="Shape 20"/>
          <p:cNvSpPr/>
          <p:nvPr/>
        </p:nvSpPr>
        <p:spPr>
          <a:xfrm>
            <a:off x="896112" y="3602736"/>
            <a:ext cx="128016" cy="128016"/>
          </a:xfrm>
          <a:prstGeom prst="ellipse">
            <a:avLst/>
          </a:prstGeom>
          <a:solidFill>
            <a:srgbClr val="C3CBD1"/>
          </a:solidFill>
          <a:ln/>
        </p:spPr>
        <p:txBody>
          <a:bodyPr/>
          <a:lstStyle/>
          <a:p>
            <a:endParaRPr lang="en-IN"/>
          </a:p>
        </p:txBody>
      </p:sp>
      <p:sp>
        <p:nvSpPr>
          <p:cNvPr id="23" name="Text 21"/>
          <p:cNvSpPr/>
          <p:nvPr/>
        </p:nvSpPr>
        <p:spPr>
          <a:xfrm>
            <a:off x="1170432" y="3529584"/>
            <a:ext cx="4553712" cy="329184"/>
          </a:xfrm>
          <a:prstGeom prst="rect">
            <a:avLst/>
          </a:prstGeom>
          <a:noFill/>
          <a:ln/>
        </p:spPr>
        <p:txBody>
          <a:bodyPr wrap="square" lIns="0" tIns="0" rIns="0" bIns="0" rtlCol="0" anchor="ctr"/>
          <a:lstStyle/>
          <a:p>
            <a:pPr marL="0" indent="0">
              <a:buNone/>
            </a:pPr>
            <a:r>
              <a:rPr lang="en-US" sz="1000" dirty="0">
                <a:solidFill>
                  <a:srgbClr val="6B7C88"/>
                </a:solidFill>
                <a:latin typeface="Montserrat" pitchFamily="34" charset="0"/>
                <a:ea typeface="Montserrat" pitchFamily="34" charset="-122"/>
                <a:cs typeface="Montserrat" pitchFamily="34" charset="-120"/>
              </a:rPr>
              <a:t>Dashboards live in days, not development cycles</a:t>
            </a:r>
            <a:endParaRPr lang="en-US" sz="1000" dirty="0"/>
          </a:p>
        </p:txBody>
      </p:sp>
      <p:sp>
        <p:nvSpPr>
          <p:cNvPr id="24" name="Shape 22"/>
          <p:cNvSpPr/>
          <p:nvPr/>
        </p:nvSpPr>
        <p:spPr>
          <a:xfrm>
            <a:off x="896112" y="3968496"/>
            <a:ext cx="128016" cy="128016"/>
          </a:xfrm>
          <a:prstGeom prst="ellipse">
            <a:avLst/>
          </a:prstGeom>
          <a:solidFill>
            <a:srgbClr val="C3CBD1"/>
          </a:solidFill>
          <a:ln/>
        </p:spPr>
        <p:txBody>
          <a:bodyPr/>
          <a:lstStyle/>
          <a:p>
            <a:endParaRPr lang="en-IN"/>
          </a:p>
        </p:txBody>
      </p:sp>
      <p:sp>
        <p:nvSpPr>
          <p:cNvPr id="25" name="Text 23"/>
          <p:cNvSpPr/>
          <p:nvPr/>
        </p:nvSpPr>
        <p:spPr>
          <a:xfrm>
            <a:off x="1170432" y="3895344"/>
            <a:ext cx="4553712" cy="329184"/>
          </a:xfrm>
          <a:prstGeom prst="rect">
            <a:avLst/>
          </a:prstGeom>
          <a:noFill/>
          <a:ln/>
        </p:spPr>
        <p:txBody>
          <a:bodyPr wrap="square" lIns="0" tIns="0" rIns="0" bIns="0" rtlCol="0" anchor="ctr"/>
          <a:lstStyle/>
          <a:p>
            <a:pPr marL="0" indent="0">
              <a:buNone/>
            </a:pPr>
            <a:r>
              <a:rPr lang="en-US" sz="1000" dirty="0">
                <a:solidFill>
                  <a:srgbClr val="6B7C88"/>
                </a:solidFill>
                <a:latin typeface="Montserrat" pitchFamily="34" charset="0"/>
                <a:ea typeface="Montserrat" pitchFamily="34" charset="-122"/>
                <a:cs typeface="Montserrat" pitchFamily="34" charset="-120"/>
              </a:rPr>
              <a:t>The data team owns the whole path — no specialist queue, and no second platform to run</a:t>
            </a:r>
            <a:endParaRPr lang="en-US" sz="1000" dirty="0"/>
          </a:p>
        </p:txBody>
      </p:sp>
      <p:sp>
        <p:nvSpPr>
          <p:cNvPr id="26" name="Shape 24"/>
          <p:cNvSpPr/>
          <p:nvPr/>
        </p:nvSpPr>
        <p:spPr>
          <a:xfrm>
            <a:off x="896112" y="4334256"/>
            <a:ext cx="128016" cy="128016"/>
          </a:xfrm>
          <a:prstGeom prst="ellipse">
            <a:avLst/>
          </a:prstGeom>
          <a:solidFill>
            <a:srgbClr val="C3CBD1"/>
          </a:solidFill>
          <a:ln/>
        </p:spPr>
        <p:txBody>
          <a:bodyPr/>
          <a:lstStyle/>
          <a:p>
            <a:endParaRPr lang="en-IN"/>
          </a:p>
        </p:txBody>
      </p:sp>
      <p:sp>
        <p:nvSpPr>
          <p:cNvPr id="27" name="Text 25"/>
          <p:cNvSpPr/>
          <p:nvPr/>
        </p:nvSpPr>
        <p:spPr>
          <a:xfrm>
            <a:off x="1170432" y="4261104"/>
            <a:ext cx="4553712" cy="329184"/>
          </a:xfrm>
          <a:prstGeom prst="rect">
            <a:avLst/>
          </a:prstGeom>
          <a:noFill/>
          <a:ln/>
        </p:spPr>
        <p:txBody>
          <a:bodyPr wrap="square" lIns="0" tIns="0" rIns="0" bIns="0" rtlCol="0" anchor="ctr"/>
          <a:lstStyle/>
          <a:p>
            <a:pPr marL="0" indent="0">
              <a:buNone/>
            </a:pPr>
            <a:r>
              <a:rPr lang="en-US" sz="1000" dirty="0">
                <a:solidFill>
                  <a:srgbClr val="6B7C88"/>
                </a:solidFill>
                <a:latin typeface="Montserrat" pitchFamily="34" charset="0"/>
                <a:ea typeface="Montserrat" pitchFamily="34" charset="-122"/>
                <a:cs typeface="Montserrat" pitchFamily="34" charset="-120"/>
              </a:rPr>
              <a:t>Governance stays with the data — access rules and row-level security inherited, not rebuilt</a:t>
            </a:r>
            <a:endParaRPr lang="en-US" sz="1000" dirty="0"/>
          </a:p>
        </p:txBody>
      </p:sp>
      <p:sp>
        <p:nvSpPr>
          <p:cNvPr id="28" name="Shape 26"/>
          <p:cNvSpPr/>
          <p:nvPr/>
        </p:nvSpPr>
        <p:spPr>
          <a:xfrm>
            <a:off x="896112" y="4700016"/>
            <a:ext cx="128016" cy="128016"/>
          </a:xfrm>
          <a:prstGeom prst="ellipse">
            <a:avLst/>
          </a:prstGeom>
          <a:solidFill>
            <a:srgbClr val="C3CBD1"/>
          </a:solidFill>
          <a:ln/>
        </p:spPr>
        <p:txBody>
          <a:bodyPr/>
          <a:lstStyle/>
          <a:p>
            <a:endParaRPr lang="en-IN"/>
          </a:p>
        </p:txBody>
      </p:sp>
      <p:sp>
        <p:nvSpPr>
          <p:cNvPr id="29" name="Text 27"/>
          <p:cNvSpPr/>
          <p:nvPr/>
        </p:nvSpPr>
        <p:spPr>
          <a:xfrm>
            <a:off x="1170432" y="4626864"/>
            <a:ext cx="4553712" cy="329184"/>
          </a:xfrm>
          <a:prstGeom prst="rect">
            <a:avLst/>
          </a:prstGeom>
          <a:noFill/>
          <a:ln/>
        </p:spPr>
        <p:txBody>
          <a:bodyPr wrap="square" lIns="0" tIns="0" rIns="0" bIns="0" rtlCol="0" anchor="ctr"/>
          <a:lstStyle/>
          <a:p>
            <a:pPr marL="0" indent="0">
              <a:buNone/>
            </a:pPr>
            <a:r>
              <a:rPr lang="en-US" sz="1000" dirty="0">
                <a:solidFill>
                  <a:srgbClr val="6B7C88"/>
                </a:solidFill>
                <a:latin typeface="Montserrat" pitchFamily="34" charset="0"/>
                <a:ea typeface="Montserrat" pitchFamily="34" charset="-122"/>
                <a:cs typeface="Montserrat" pitchFamily="34" charset="-120"/>
              </a:rPr>
              <a:t>Anything that cannot convert is surfaced up front, never discovered late</a:t>
            </a:r>
            <a:endParaRPr lang="en-US" sz="1000" dirty="0"/>
          </a:p>
        </p:txBody>
      </p:sp>
      <p:sp>
        <p:nvSpPr>
          <p:cNvPr id="30" name="Shape 28"/>
          <p:cNvSpPr/>
          <p:nvPr/>
        </p:nvSpPr>
        <p:spPr>
          <a:xfrm>
            <a:off x="6208776" y="2980944"/>
            <a:ext cx="5431536" cy="2011680"/>
          </a:xfrm>
          <a:prstGeom prst="roundRect">
            <a:avLst>
              <a:gd name="adj" fmla="val 3636"/>
            </a:avLst>
          </a:prstGeom>
          <a:solidFill>
            <a:srgbClr val="053057"/>
          </a:solidFill>
          <a:ln w="15875">
            <a:solidFill>
              <a:srgbClr val="00EDED"/>
            </a:solidFill>
            <a:prstDash val="solid"/>
          </a:ln>
        </p:spPr>
        <p:txBody>
          <a:bodyPr/>
          <a:lstStyle/>
          <a:p>
            <a:endParaRPr lang="en-IN"/>
          </a:p>
        </p:txBody>
      </p:sp>
      <p:sp>
        <p:nvSpPr>
          <p:cNvPr id="31" name="Text 29"/>
          <p:cNvSpPr/>
          <p:nvPr/>
        </p:nvSpPr>
        <p:spPr>
          <a:xfrm>
            <a:off x="6501384" y="3145536"/>
            <a:ext cx="4846320" cy="237744"/>
          </a:xfrm>
          <a:prstGeom prst="rect">
            <a:avLst/>
          </a:prstGeom>
          <a:noFill/>
          <a:ln/>
        </p:spPr>
        <p:txBody>
          <a:bodyPr wrap="square" lIns="0" tIns="0" rIns="0" bIns="0" rtlCol="0" anchor="ctr"/>
          <a:lstStyle/>
          <a:p>
            <a:pPr marL="0" indent="0">
              <a:buNone/>
            </a:pPr>
            <a:r>
              <a:rPr lang="en-US" sz="1050" b="1" kern="0" spc="150" dirty="0">
                <a:solidFill>
                  <a:srgbClr val="00EDED"/>
                </a:solidFill>
                <a:latin typeface="Montserrat" pitchFamily="34" charset="0"/>
                <a:ea typeface="Montserrat" pitchFamily="34" charset="-122"/>
                <a:cs typeface="Montserrat" pitchFamily="34" charset="-120"/>
              </a:rPr>
              <a:t>VALUE TO SNOWFLAKE</a:t>
            </a:r>
            <a:endParaRPr lang="en-US" sz="1050" dirty="0"/>
          </a:p>
        </p:txBody>
      </p:sp>
      <p:sp>
        <p:nvSpPr>
          <p:cNvPr id="32" name="Shape 30"/>
          <p:cNvSpPr/>
          <p:nvPr/>
        </p:nvSpPr>
        <p:spPr>
          <a:xfrm>
            <a:off x="6556248" y="3602736"/>
            <a:ext cx="128016" cy="128016"/>
          </a:xfrm>
          <a:prstGeom prst="ellipse">
            <a:avLst/>
          </a:prstGeom>
          <a:solidFill>
            <a:srgbClr val="00EDED"/>
          </a:solidFill>
          <a:ln/>
        </p:spPr>
        <p:txBody>
          <a:bodyPr/>
          <a:lstStyle/>
          <a:p>
            <a:endParaRPr lang="en-IN"/>
          </a:p>
        </p:txBody>
      </p:sp>
      <p:sp>
        <p:nvSpPr>
          <p:cNvPr id="33" name="Text 31"/>
          <p:cNvSpPr/>
          <p:nvPr/>
        </p:nvSpPr>
        <p:spPr>
          <a:xfrm>
            <a:off x="6830568" y="3529584"/>
            <a:ext cx="4553712" cy="329184"/>
          </a:xfrm>
          <a:prstGeom prst="rect">
            <a:avLst/>
          </a:prstGeom>
          <a:noFill/>
          <a:ln/>
        </p:spPr>
        <p:txBody>
          <a:bodyPr wrap="square" lIns="0" tIns="0" rIns="0" bIns="0" rtlCol="0" anchor="ctr"/>
          <a:lstStyle/>
          <a:p>
            <a:pPr marL="0" indent="0">
              <a:buNone/>
            </a:pPr>
            <a:r>
              <a:rPr lang="en-US" sz="1000" dirty="0">
                <a:solidFill>
                  <a:srgbClr val="A2F3F3"/>
                </a:solidFill>
                <a:latin typeface="Montserrat" pitchFamily="34" charset="0"/>
                <a:ea typeface="Montserrat" pitchFamily="34" charset="-122"/>
                <a:cs typeface="Montserrat" pitchFamily="34" charset="-120"/>
              </a:rPr>
              <a:t>Warehouse compute on every dashboard view, where an extract served it before</a:t>
            </a:r>
            <a:endParaRPr lang="en-US" sz="1000" dirty="0"/>
          </a:p>
        </p:txBody>
      </p:sp>
      <p:sp>
        <p:nvSpPr>
          <p:cNvPr id="34" name="Shape 32"/>
          <p:cNvSpPr/>
          <p:nvPr/>
        </p:nvSpPr>
        <p:spPr>
          <a:xfrm>
            <a:off x="6556248" y="3968496"/>
            <a:ext cx="128016" cy="128016"/>
          </a:xfrm>
          <a:prstGeom prst="ellipse">
            <a:avLst/>
          </a:prstGeom>
          <a:solidFill>
            <a:srgbClr val="00EDED"/>
          </a:solidFill>
          <a:ln/>
        </p:spPr>
        <p:txBody>
          <a:bodyPr/>
          <a:lstStyle/>
          <a:p>
            <a:endParaRPr lang="en-IN"/>
          </a:p>
        </p:txBody>
      </p:sp>
      <p:sp>
        <p:nvSpPr>
          <p:cNvPr id="35" name="Text 33"/>
          <p:cNvSpPr/>
          <p:nvPr/>
        </p:nvSpPr>
        <p:spPr>
          <a:xfrm>
            <a:off x="6830568" y="3895344"/>
            <a:ext cx="4553712" cy="329184"/>
          </a:xfrm>
          <a:prstGeom prst="rect">
            <a:avLst/>
          </a:prstGeom>
          <a:noFill/>
          <a:ln/>
        </p:spPr>
        <p:txBody>
          <a:bodyPr wrap="square" lIns="0" tIns="0" rIns="0" bIns="0" rtlCol="0" anchor="ctr"/>
          <a:lstStyle/>
          <a:p>
            <a:pPr marL="0" indent="0">
              <a:buNone/>
            </a:pPr>
            <a:r>
              <a:rPr lang="en-US" sz="1000" dirty="0">
                <a:solidFill>
                  <a:srgbClr val="A2F3F3"/>
                </a:solidFill>
                <a:latin typeface="Montserrat" pitchFamily="34" charset="0"/>
                <a:ea typeface="Montserrat" pitchFamily="34" charset="-122"/>
                <a:cs typeface="Montserrat" pitchFamily="34" charset="-120"/>
              </a:rPr>
              <a:t>Cortex consumption on every workbook migrated</a:t>
            </a:r>
            <a:endParaRPr lang="en-US" sz="1000" dirty="0"/>
          </a:p>
        </p:txBody>
      </p:sp>
      <p:sp>
        <p:nvSpPr>
          <p:cNvPr id="36" name="Shape 34"/>
          <p:cNvSpPr/>
          <p:nvPr/>
        </p:nvSpPr>
        <p:spPr>
          <a:xfrm>
            <a:off x="6556248" y="4334256"/>
            <a:ext cx="128016" cy="128016"/>
          </a:xfrm>
          <a:prstGeom prst="ellipse">
            <a:avLst/>
          </a:prstGeom>
          <a:solidFill>
            <a:srgbClr val="00EDED"/>
          </a:solidFill>
          <a:ln/>
        </p:spPr>
        <p:txBody>
          <a:bodyPr/>
          <a:lstStyle/>
          <a:p>
            <a:endParaRPr lang="en-IN"/>
          </a:p>
        </p:txBody>
      </p:sp>
      <p:sp>
        <p:nvSpPr>
          <p:cNvPr id="37" name="Text 35"/>
          <p:cNvSpPr/>
          <p:nvPr/>
        </p:nvSpPr>
        <p:spPr>
          <a:xfrm>
            <a:off x="6830568" y="4261104"/>
            <a:ext cx="4553712" cy="329184"/>
          </a:xfrm>
          <a:prstGeom prst="rect">
            <a:avLst/>
          </a:prstGeom>
          <a:noFill/>
          <a:ln/>
        </p:spPr>
        <p:txBody>
          <a:bodyPr wrap="square" lIns="0" tIns="0" rIns="0" bIns="0" rtlCol="0" anchor="ctr"/>
          <a:lstStyle/>
          <a:p>
            <a:pPr marL="0" indent="0">
              <a:buNone/>
            </a:pPr>
            <a:r>
              <a:rPr lang="en-US" sz="1000" dirty="0">
                <a:solidFill>
                  <a:srgbClr val="A2F3F3"/>
                </a:solidFill>
                <a:latin typeface="Montserrat" pitchFamily="34" charset="0"/>
                <a:ea typeface="Montserrat" pitchFamily="34" charset="-122"/>
                <a:cs typeface="Montserrat" pitchFamily="34" charset="-120"/>
              </a:rPr>
              <a:t>The semantic layer adopted as the governed model, feeding Cortex Analyst</a:t>
            </a:r>
            <a:endParaRPr lang="en-US" sz="1000" dirty="0"/>
          </a:p>
        </p:txBody>
      </p:sp>
      <p:sp>
        <p:nvSpPr>
          <p:cNvPr id="38" name="Shape 36"/>
          <p:cNvSpPr/>
          <p:nvPr/>
        </p:nvSpPr>
        <p:spPr>
          <a:xfrm>
            <a:off x="6556248" y="4700016"/>
            <a:ext cx="128016" cy="128016"/>
          </a:xfrm>
          <a:prstGeom prst="ellipse">
            <a:avLst/>
          </a:prstGeom>
          <a:solidFill>
            <a:srgbClr val="00EDED"/>
          </a:solidFill>
          <a:ln/>
        </p:spPr>
        <p:txBody>
          <a:bodyPr/>
          <a:lstStyle/>
          <a:p>
            <a:endParaRPr lang="en-IN"/>
          </a:p>
        </p:txBody>
      </p:sp>
      <p:sp>
        <p:nvSpPr>
          <p:cNvPr id="39" name="Text 37"/>
          <p:cNvSpPr/>
          <p:nvPr/>
        </p:nvSpPr>
        <p:spPr>
          <a:xfrm>
            <a:off x="6830568" y="4626864"/>
            <a:ext cx="4553712" cy="329184"/>
          </a:xfrm>
          <a:prstGeom prst="rect">
            <a:avLst/>
          </a:prstGeom>
          <a:noFill/>
          <a:ln/>
        </p:spPr>
        <p:txBody>
          <a:bodyPr wrap="square" lIns="0" tIns="0" rIns="0" bIns="0" rtlCol="0" anchor="ctr"/>
          <a:lstStyle/>
          <a:p>
            <a:pPr marL="0" indent="0">
              <a:buNone/>
            </a:pPr>
            <a:r>
              <a:rPr lang="en-US" sz="1000" dirty="0">
                <a:solidFill>
                  <a:srgbClr val="A2F3F3"/>
                </a:solidFill>
                <a:latin typeface="Montserrat" pitchFamily="34" charset="0"/>
                <a:ea typeface="Montserrat" pitchFamily="34" charset="-122"/>
                <a:cs typeface="Montserrat" pitchFamily="34" charset="-120"/>
              </a:rPr>
              <a:t>BI workload consolidated onto the platform, and share taken from a competing stack</a:t>
            </a:r>
            <a:endParaRPr lang="en-US" sz="1000" dirty="0"/>
          </a:p>
        </p:txBody>
      </p:sp>
      <p:sp>
        <p:nvSpPr>
          <p:cNvPr id="40" name="Shape 38"/>
          <p:cNvSpPr/>
          <p:nvPr/>
        </p:nvSpPr>
        <p:spPr>
          <a:xfrm>
            <a:off x="548640" y="5157216"/>
            <a:ext cx="11091672" cy="932688"/>
          </a:xfrm>
          <a:prstGeom prst="roundRect">
            <a:avLst>
              <a:gd name="adj" fmla="val 7843"/>
            </a:avLst>
          </a:prstGeom>
          <a:solidFill>
            <a:srgbClr val="053057"/>
          </a:solidFill>
          <a:ln w="15875">
            <a:solidFill>
              <a:srgbClr val="00EDED"/>
            </a:solidFill>
            <a:prstDash val="solid"/>
          </a:ln>
        </p:spPr>
        <p:txBody>
          <a:bodyPr/>
          <a:lstStyle/>
          <a:p>
            <a:endParaRPr lang="en-IN"/>
          </a:p>
        </p:txBody>
      </p:sp>
      <p:sp>
        <p:nvSpPr>
          <p:cNvPr id="41" name="Text 39"/>
          <p:cNvSpPr/>
          <p:nvPr/>
        </p:nvSpPr>
        <p:spPr>
          <a:xfrm>
            <a:off x="841248" y="5285232"/>
            <a:ext cx="10515600" cy="274320"/>
          </a:xfrm>
          <a:prstGeom prst="rect">
            <a:avLst/>
          </a:prstGeom>
          <a:noFill/>
          <a:ln/>
        </p:spPr>
        <p:txBody>
          <a:bodyPr wrap="square" lIns="0" tIns="0" rIns="0" bIns="0" rtlCol="0" anchor="ctr"/>
          <a:lstStyle/>
          <a:p>
            <a:pPr marL="0" indent="0">
              <a:buNone/>
            </a:pPr>
            <a:r>
              <a:rPr lang="en-US" sz="1300" b="1" dirty="0">
                <a:solidFill>
                  <a:srgbClr val="00EDED"/>
                </a:solidFill>
                <a:latin typeface="Montserrat" pitchFamily="34" charset="0"/>
                <a:ea typeface="Montserrat" pitchFamily="34" charset="-122"/>
                <a:cs typeface="Montserrat" pitchFamily="34" charset="-120"/>
              </a:rPr>
              <a:t>An extract sends Snowflake no query workload at all</a:t>
            </a:r>
            <a:endParaRPr lang="en-US" sz="1300" dirty="0"/>
          </a:p>
        </p:txBody>
      </p:sp>
      <p:sp>
        <p:nvSpPr>
          <p:cNvPr id="42" name="Text 40"/>
          <p:cNvSpPr/>
          <p:nvPr/>
        </p:nvSpPr>
        <p:spPr>
          <a:xfrm>
            <a:off x="841248" y="5596128"/>
            <a:ext cx="10515600" cy="402336"/>
          </a:xfrm>
          <a:prstGeom prst="rect">
            <a:avLst/>
          </a:prstGeom>
          <a:noFill/>
          <a:ln/>
        </p:spPr>
        <p:txBody>
          <a:bodyPr wrap="square" lIns="0" tIns="0" rIns="0" bIns="0" rtlCol="0" anchor="ctr"/>
          <a:lstStyle/>
          <a:p>
            <a:pPr marL="0" indent="0">
              <a:buNone/>
            </a:pPr>
            <a:r>
              <a:rPr lang="en-US" sz="1050" dirty="0">
                <a:solidFill>
                  <a:srgbClr val="D6E6F0"/>
                </a:solidFill>
                <a:latin typeface="Montserrat" pitchFamily="34" charset="0"/>
                <a:ea typeface="Montserrat" pitchFamily="34" charset="-122"/>
                <a:cs typeface="Montserrat" pitchFamily="34" charset="-120"/>
              </a:rPr>
              <a:t>Tableau's own engine serves it, so those dashboard views never reach the warehouse. Migrated, every single view becomes warehouse compute and every migration becomes Cortex consumption — on data that never leaves the account.</a:t>
            </a:r>
            <a:endParaRPr lang="en-US" sz="1050" dirty="0"/>
          </a:p>
        </p:txBody>
      </p:sp>
      <p:sp>
        <p:nvSpPr>
          <p:cNvPr id="43" name="Shape 41"/>
          <p:cNvSpPr/>
          <p:nvPr/>
        </p:nvSpPr>
        <p:spPr>
          <a:xfrm>
            <a:off x="548640" y="6236208"/>
            <a:ext cx="11091672" cy="420624"/>
          </a:xfrm>
          <a:prstGeom prst="roundRect">
            <a:avLst>
              <a:gd name="adj" fmla="val 13043"/>
            </a:avLst>
          </a:prstGeom>
          <a:solidFill>
            <a:srgbClr val="053057"/>
          </a:solidFill>
          <a:ln w="12700">
            <a:solidFill>
              <a:srgbClr val="053057"/>
            </a:solidFill>
            <a:prstDash val="solid"/>
          </a:ln>
        </p:spPr>
        <p:txBody>
          <a:bodyPr/>
          <a:lstStyle/>
          <a:p>
            <a:endParaRPr lang="en-IN"/>
          </a:p>
        </p:txBody>
      </p:sp>
      <p:sp>
        <p:nvSpPr>
          <p:cNvPr id="44" name="Text 42"/>
          <p:cNvSpPr/>
          <p:nvPr/>
        </p:nvSpPr>
        <p:spPr>
          <a:xfrm>
            <a:off x="548640" y="6236208"/>
            <a:ext cx="11091672" cy="420624"/>
          </a:xfrm>
          <a:prstGeom prst="rect">
            <a:avLst/>
          </a:prstGeom>
          <a:noFill/>
          <a:ln/>
        </p:spPr>
        <p:txBody>
          <a:bodyPr wrap="square" lIns="0" tIns="0" rIns="0" bIns="0" rtlCol="0" anchor="ctr"/>
          <a:lstStyle/>
          <a:p>
            <a:pPr marL="0" indent="0" algn="ctr">
              <a:buNone/>
            </a:pPr>
            <a:r>
              <a:rPr lang="en-US" sz="1100" b="1" kern="0" spc="6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FFFFFF"/>
                </a:solidFill>
                <a:latin typeface="Montserrat" pitchFamily="34" charset="0"/>
                <a:ea typeface="Montserrat" pitchFamily="34" charset="-122"/>
                <a:cs typeface="Montserrat" pitchFamily="34" charset="-120"/>
              </a:rPr>
              <a:t>A Repeatable Co-Sell Motion</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A2F3F3"/>
                </a:solidFill>
                <a:latin typeface="Montserrat" pitchFamily="34" charset="0"/>
                <a:ea typeface="Montserrat" pitchFamily="34" charset="-122"/>
                <a:cs typeface="Montserrat" pitchFamily="34" charset="-120"/>
              </a:rPr>
              <a:t>Partner-delivered, aimed at the long tail of enterprise Tableau estates</a:t>
            </a:r>
            <a:endParaRPr lang="en-US" sz="1400" dirty="0"/>
          </a:p>
        </p:txBody>
      </p:sp>
      <p:sp>
        <p:nvSpPr>
          <p:cNvPr id="4" name="Shape 2"/>
          <p:cNvSpPr/>
          <p:nvPr/>
        </p:nvSpPr>
        <p:spPr>
          <a:xfrm>
            <a:off x="548640" y="1371600"/>
            <a:ext cx="3538728" cy="2157984"/>
          </a:xfrm>
          <a:prstGeom prst="roundRect">
            <a:avLst>
              <a:gd name="adj" fmla="val 3390"/>
            </a:avLst>
          </a:prstGeom>
          <a:solidFill>
            <a:srgbClr val="0A3E6B"/>
          </a:solidFill>
          <a:ln w="12700">
            <a:solidFill>
              <a:srgbClr val="17517F"/>
            </a:solidFill>
            <a:prstDash val="solid"/>
          </a:ln>
        </p:spPr>
        <p:txBody>
          <a:bodyPr/>
          <a:lstStyle/>
          <a:p>
            <a:endParaRPr lang="en-IN"/>
          </a:p>
        </p:txBody>
      </p:sp>
      <p:sp>
        <p:nvSpPr>
          <p:cNvPr id="5" name="Shape 3"/>
          <p:cNvSpPr/>
          <p:nvPr/>
        </p:nvSpPr>
        <p:spPr>
          <a:xfrm>
            <a:off x="786384" y="1572768"/>
            <a:ext cx="384048" cy="384048"/>
          </a:xfrm>
          <a:prstGeom prst="ellipse">
            <a:avLst/>
          </a:prstGeom>
          <a:solidFill>
            <a:srgbClr val="00EDED"/>
          </a:solidFill>
          <a:ln/>
        </p:spPr>
        <p:txBody>
          <a:bodyPr/>
          <a:lstStyle/>
          <a:p>
            <a:endParaRPr lang="en-IN"/>
          </a:p>
        </p:txBody>
      </p:sp>
      <p:sp>
        <p:nvSpPr>
          <p:cNvPr id="6" name="Text 4"/>
          <p:cNvSpPr/>
          <p:nvPr/>
        </p:nvSpPr>
        <p:spPr>
          <a:xfrm>
            <a:off x="786384" y="1632204"/>
            <a:ext cx="384048" cy="274320"/>
          </a:xfrm>
          <a:prstGeom prst="rect">
            <a:avLst/>
          </a:prstGeom>
          <a:noFill/>
          <a:ln/>
        </p:spPr>
        <p:txBody>
          <a:bodyPr wrap="square" lIns="0" tIns="0" rIns="0" bIns="0" rtlCol="0" anchor="ctr"/>
          <a:lstStyle/>
          <a:p>
            <a:pPr marL="0" indent="0" algn="ctr">
              <a:buNone/>
            </a:pPr>
            <a:r>
              <a:rPr lang="en-US" sz="1250" b="1" dirty="0">
                <a:solidFill>
                  <a:srgbClr val="053057"/>
                </a:solidFill>
                <a:latin typeface="Montserrat" pitchFamily="34" charset="0"/>
                <a:ea typeface="Montserrat" pitchFamily="34" charset="-122"/>
                <a:cs typeface="Montserrat" pitchFamily="34" charset="-120"/>
              </a:rPr>
              <a:t>1</a:t>
            </a:r>
            <a:endParaRPr lang="en-US" sz="1250" dirty="0"/>
          </a:p>
        </p:txBody>
      </p:sp>
      <p:sp>
        <p:nvSpPr>
          <p:cNvPr id="7" name="Text 5"/>
          <p:cNvSpPr/>
          <p:nvPr/>
        </p:nvSpPr>
        <p:spPr>
          <a:xfrm>
            <a:off x="786384" y="2066544"/>
            <a:ext cx="3063240" cy="310896"/>
          </a:xfrm>
          <a:prstGeom prst="rect">
            <a:avLst/>
          </a:prstGeom>
          <a:noFill/>
          <a:ln/>
        </p:spPr>
        <p:txBody>
          <a:bodyPr wrap="square" lIns="0" tIns="0" rIns="0" bIns="0" rtlCol="0" anchor="ctr"/>
          <a:lstStyle/>
          <a:p>
            <a:pPr marL="0" indent="0">
              <a:buNone/>
            </a:pPr>
            <a:r>
              <a:rPr lang="en-US" sz="1350" b="1" dirty="0">
                <a:solidFill>
                  <a:srgbClr val="00EDED"/>
                </a:solidFill>
                <a:latin typeface="Montserrat" pitchFamily="34" charset="0"/>
                <a:ea typeface="Montserrat" pitchFamily="34" charset="-122"/>
                <a:cs typeface="Montserrat" pitchFamily="34" charset="-120"/>
              </a:rPr>
              <a:t>Repeatable, not bespoke</a:t>
            </a:r>
            <a:endParaRPr lang="en-US" sz="1350" dirty="0"/>
          </a:p>
        </p:txBody>
      </p:sp>
      <p:sp>
        <p:nvSpPr>
          <p:cNvPr id="8" name="Text 6"/>
          <p:cNvSpPr/>
          <p:nvPr/>
        </p:nvSpPr>
        <p:spPr>
          <a:xfrm>
            <a:off x="786384" y="2414016"/>
            <a:ext cx="3063240" cy="1024128"/>
          </a:xfrm>
          <a:prstGeom prst="rect">
            <a:avLst/>
          </a:prstGeom>
          <a:noFill/>
          <a:ln/>
        </p:spPr>
        <p:txBody>
          <a:bodyPr wrap="square" lIns="0" tIns="0" rIns="0" bIns="0" rtlCol="0" anchor="ctr"/>
          <a:lstStyle/>
          <a:p>
            <a:pPr marL="0" indent="0">
              <a:lnSpc>
                <a:spcPct val="104000"/>
              </a:lnSpc>
              <a:buNone/>
            </a:pPr>
            <a:r>
              <a:rPr lang="en-US" sz="950" dirty="0">
                <a:solidFill>
                  <a:srgbClr val="D6E6F0"/>
                </a:solidFill>
                <a:latin typeface="Montserrat" pitchFamily="34" charset="0"/>
                <a:ea typeface="Montserrat" pitchFamily="34" charset="-122"/>
                <a:cs typeface="Montserrat" pitchFamily="34" charset="-120"/>
              </a:rPr>
              <a:t>The accelerator is workbook-agnostic and assessment-first: point it at an estate and it reports what converts before anyone commits. The same pipeline runs in any account.</a:t>
            </a:r>
            <a:endParaRPr lang="en-US" sz="950" dirty="0"/>
          </a:p>
        </p:txBody>
      </p:sp>
      <p:sp>
        <p:nvSpPr>
          <p:cNvPr id="9" name="Shape 7"/>
          <p:cNvSpPr/>
          <p:nvPr/>
        </p:nvSpPr>
        <p:spPr>
          <a:xfrm>
            <a:off x="4325112" y="1371600"/>
            <a:ext cx="3538728" cy="2157984"/>
          </a:xfrm>
          <a:prstGeom prst="roundRect">
            <a:avLst>
              <a:gd name="adj" fmla="val 3390"/>
            </a:avLst>
          </a:prstGeom>
          <a:solidFill>
            <a:srgbClr val="0A3E6B"/>
          </a:solidFill>
          <a:ln w="12700">
            <a:solidFill>
              <a:srgbClr val="17517F"/>
            </a:solidFill>
            <a:prstDash val="solid"/>
          </a:ln>
        </p:spPr>
        <p:txBody>
          <a:bodyPr/>
          <a:lstStyle/>
          <a:p>
            <a:endParaRPr lang="en-IN"/>
          </a:p>
        </p:txBody>
      </p:sp>
      <p:sp>
        <p:nvSpPr>
          <p:cNvPr id="10" name="Shape 8"/>
          <p:cNvSpPr/>
          <p:nvPr/>
        </p:nvSpPr>
        <p:spPr>
          <a:xfrm>
            <a:off x="4562856" y="1572768"/>
            <a:ext cx="384048" cy="384048"/>
          </a:xfrm>
          <a:prstGeom prst="ellipse">
            <a:avLst/>
          </a:prstGeom>
          <a:solidFill>
            <a:srgbClr val="00EDED"/>
          </a:solidFill>
          <a:ln/>
        </p:spPr>
        <p:txBody>
          <a:bodyPr/>
          <a:lstStyle/>
          <a:p>
            <a:endParaRPr lang="en-IN"/>
          </a:p>
        </p:txBody>
      </p:sp>
      <p:sp>
        <p:nvSpPr>
          <p:cNvPr id="11" name="Text 9"/>
          <p:cNvSpPr/>
          <p:nvPr/>
        </p:nvSpPr>
        <p:spPr>
          <a:xfrm>
            <a:off x="4562856" y="1632204"/>
            <a:ext cx="384048" cy="274320"/>
          </a:xfrm>
          <a:prstGeom prst="rect">
            <a:avLst/>
          </a:prstGeom>
          <a:noFill/>
          <a:ln/>
        </p:spPr>
        <p:txBody>
          <a:bodyPr wrap="square" lIns="0" tIns="0" rIns="0" bIns="0" rtlCol="0" anchor="ctr"/>
          <a:lstStyle/>
          <a:p>
            <a:pPr marL="0" indent="0" algn="ctr">
              <a:buNone/>
            </a:pPr>
            <a:r>
              <a:rPr lang="en-US" sz="1250" b="1" dirty="0">
                <a:solidFill>
                  <a:srgbClr val="053057"/>
                </a:solidFill>
                <a:latin typeface="Montserrat" pitchFamily="34" charset="0"/>
                <a:ea typeface="Montserrat" pitchFamily="34" charset="-122"/>
                <a:cs typeface="Montserrat" pitchFamily="34" charset="-120"/>
              </a:rPr>
              <a:t>2</a:t>
            </a:r>
            <a:endParaRPr lang="en-US" sz="1250" dirty="0"/>
          </a:p>
        </p:txBody>
      </p:sp>
      <p:sp>
        <p:nvSpPr>
          <p:cNvPr id="12" name="Text 10"/>
          <p:cNvSpPr/>
          <p:nvPr/>
        </p:nvSpPr>
        <p:spPr>
          <a:xfrm>
            <a:off x="4562856" y="2066544"/>
            <a:ext cx="3063240" cy="310896"/>
          </a:xfrm>
          <a:prstGeom prst="rect">
            <a:avLst/>
          </a:prstGeom>
          <a:noFill/>
          <a:ln/>
        </p:spPr>
        <p:txBody>
          <a:bodyPr wrap="square" lIns="0" tIns="0" rIns="0" bIns="0" rtlCol="0" anchor="ctr"/>
          <a:lstStyle/>
          <a:p>
            <a:pPr marL="0" indent="0">
              <a:buNone/>
            </a:pPr>
            <a:r>
              <a:rPr lang="en-US" sz="1350" b="1" dirty="0">
                <a:solidFill>
                  <a:srgbClr val="00EDED"/>
                </a:solidFill>
                <a:latin typeface="Montserrat" pitchFamily="34" charset="0"/>
                <a:ea typeface="Montserrat" pitchFamily="34" charset="-122"/>
                <a:cs typeface="Montserrat" pitchFamily="34" charset="-120"/>
              </a:rPr>
              <a:t>Competitive displacement</a:t>
            </a:r>
            <a:endParaRPr lang="en-US" sz="1350" dirty="0"/>
          </a:p>
        </p:txBody>
      </p:sp>
      <p:sp>
        <p:nvSpPr>
          <p:cNvPr id="13" name="Text 11"/>
          <p:cNvSpPr/>
          <p:nvPr/>
        </p:nvSpPr>
        <p:spPr>
          <a:xfrm>
            <a:off x="4562856" y="2414016"/>
            <a:ext cx="3063240" cy="1024128"/>
          </a:xfrm>
          <a:prstGeom prst="rect">
            <a:avLst/>
          </a:prstGeom>
          <a:noFill/>
          <a:ln/>
        </p:spPr>
        <p:txBody>
          <a:bodyPr wrap="square" lIns="0" tIns="0" rIns="0" bIns="0" rtlCol="0" anchor="ctr"/>
          <a:lstStyle/>
          <a:p>
            <a:pPr marL="0" indent="0">
              <a:lnSpc>
                <a:spcPct val="104000"/>
              </a:lnSpc>
              <a:buNone/>
            </a:pPr>
            <a:r>
              <a:rPr lang="en-US" sz="950" dirty="0">
                <a:solidFill>
                  <a:srgbClr val="D6E6F0"/>
                </a:solidFill>
                <a:latin typeface="Montserrat" pitchFamily="34" charset="0"/>
                <a:ea typeface="Montserrat" pitchFamily="34" charset="-122"/>
                <a:cs typeface="Montserrat" pitchFamily="34" charset="-120"/>
              </a:rPr>
              <a:t>Every estate migrated moves an analytics workload off a competing BI stack and onto Snowflake — licence spend converted into platform consumption.</a:t>
            </a:r>
            <a:endParaRPr lang="en-US" sz="950" dirty="0"/>
          </a:p>
        </p:txBody>
      </p:sp>
      <p:sp>
        <p:nvSpPr>
          <p:cNvPr id="14" name="Shape 12"/>
          <p:cNvSpPr/>
          <p:nvPr/>
        </p:nvSpPr>
        <p:spPr>
          <a:xfrm>
            <a:off x="8101584" y="1371600"/>
            <a:ext cx="3538728" cy="2157984"/>
          </a:xfrm>
          <a:prstGeom prst="roundRect">
            <a:avLst>
              <a:gd name="adj" fmla="val 3390"/>
            </a:avLst>
          </a:prstGeom>
          <a:solidFill>
            <a:srgbClr val="0A3E6B"/>
          </a:solidFill>
          <a:ln w="12700">
            <a:solidFill>
              <a:srgbClr val="17517F"/>
            </a:solidFill>
            <a:prstDash val="solid"/>
          </a:ln>
        </p:spPr>
        <p:txBody>
          <a:bodyPr/>
          <a:lstStyle/>
          <a:p>
            <a:endParaRPr lang="en-IN"/>
          </a:p>
        </p:txBody>
      </p:sp>
      <p:sp>
        <p:nvSpPr>
          <p:cNvPr id="15" name="Shape 13"/>
          <p:cNvSpPr/>
          <p:nvPr/>
        </p:nvSpPr>
        <p:spPr>
          <a:xfrm>
            <a:off x="8339328" y="1572768"/>
            <a:ext cx="384048" cy="384048"/>
          </a:xfrm>
          <a:prstGeom prst="ellipse">
            <a:avLst/>
          </a:prstGeom>
          <a:solidFill>
            <a:srgbClr val="00EDED"/>
          </a:solidFill>
          <a:ln/>
        </p:spPr>
        <p:txBody>
          <a:bodyPr/>
          <a:lstStyle/>
          <a:p>
            <a:endParaRPr lang="en-IN"/>
          </a:p>
        </p:txBody>
      </p:sp>
      <p:sp>
        <p:nvSpPr>
          <p:cNvPr id="16" name="Text 14"/>
          <p:cNvSpPr/>
          <p:nvPr/>
        </p:nvSpPr>
        <p:spPr>
          <a:xfrm>
            <a:off x="8339328" y="1632204"/>
            <a:ext cx="384048" cy="274320"/>
          </a:xfrm>
          <a:prstGeom prst="rect">
            <a:avLst/>
          </a:prstGeom>
          <a:noFill/>
          <a:ln/>
        </p:spPr>
        <p:txBody>
          <a:bodyPr wrap="square" lIns="0" tIns="0" rIns="0" bIns="0" rtlCol="0" anchor="ctr"/>
          <a:lstStyle/>
          <a:p>
            <a:pPr marL="0" indent="0" algn="ctr">
              <a:buNone/>
            </a:pPr>
            <a:r>
              <a:rPr lang="en-US" sz="1250" b="1" dirty="0">
                <a:solidFill>
                  <a:srgbClr val="053057"/>
                </a:solidFill>
                <a:latin typeface="Montserrat" pitchFamily="34" charset="0"/>
                <a:ea typeface="Montserrat" pitchFamily="34" charset="-122"/>
                <a:cs typeface="Montserrat" pitchFamily="34" charset="-120"/>
              </a:rPr>
              <a:t>3</a:t>
            </a:r>
            <a:endParaRPr lang="en-US" sz="1250" dirty="0"/>
          </a:p>
        </p:txBody>
      </p:sp>
      <p:sp>
        <p:nvSpPr>
          <p:cNvPr id="17" name="Text 15"/>
          <p:cNvSpPr/>
          <p:nvPr/>
        </p:nvSpPr>
        <p:spPr>
          <a:xfrm>
            <a:off x="8339328" y="2066544"/>
            <a:ext cx="3063240" cy="310896"/>
          </a:xfrm>
          <a:prstGeom prst="rect">
            <a:avLst/>
          </a:prstGeom>
          <a:noFill/>
          <a:ln/>
        </p:spPr>
        <p:txBody>
          <a:bodyPr wrap="square" lIns="0" tIns="0" rIns="0" bIns="0" rtlCol="0" anchor="ctr"/>
          <a:lstStyle/>
          <a:p>
            <a:pPr marL="0" indent="0">
              <a:buNone/>
            </a:pPr>
            <a:r>
              <a:rPr lang="en-US" sz="1350" b="1" dirty="0">
                <a:solidFill>
                  <a:srgbClr val="00EDED"/>
                </a:solidFill>
                <a:latin typeface="Montserrat" pitchFamily="34" charset="0"/>
                <a:ea typeface="Montserrat" pitchFamily="34" charset="-122"/>
                <a:cs typeface="Montserrat" pitchFamily="34" charset="-120"/>
              </a:rPr>
              <a:t>Product pull-through</a:t>
            </a:r>
            <a:endParaRPr lang="en-US" sz="1350" dirty="0"/>
          </a:p>
        </p:txBody>
      </p:sp>
      <p:sp>
        <p:nvSpPr>
          <p:cNvPr id="18" name="Text 16"/>
          <p:cNvSpPr/>
          <p:nvPr/>
        </p:nvSpPr>
        <p:spPr>
          <a:xfrm>
            <a:off x="8339328" y="2414016"/>
            <a:ext cx="3063240" cy="1024128"/>
          </a:xfrm>
          <a:prstGeom prst="rect">
            <a:avLst/>
          </a:prstGeom>
          <a:noFill/>
          <a:ln/>
        </p:spPr>
        <p:txBody>
          <a:bodyPr wrap="square" lIns="0" tIns="0" rIns="0" bIns="0" rtlCol="0" anchor="ctr"/>
          <a:lstStyle/>
          <a:p>
            <a:pPr marL="0" indent="0">
              <a:lnSpc>
                <a:spcPct val="104000"/>
              </a:lnSpc>
              <a:buNone/>
            </a:pPr>
            <a:r>
              <a:rPr lang="en-US" sz="950" dirty="0">
                <a:solidFill>
                  <a:srgbClr val="D6E6F0"/>
                </a:solidFill>
                <a:latin typeface="Montserrat" pitchFamily="34" charset="0"/>
                <a:ea typeface="Montserrat" pitchFamily="34" charset="-122"/>
                <a:cs typeface="Montserrat" pitchFamily="34" charset="-120"/>
              </a:rPr>
              <a:t>One motion lands Streamlit in Snowflake, Cortex AI, native semantic views, Cortex Analyst and Snowpark together, in the customer's own account.</a:t>
            </a:r>
            <a:endParaRPr lang="en-US" sz="950" dirty="0"/>
          </a:p>
        </p:txBody>
      </p:sp>
      <p:sp>
        <p:nvSpPr>
          <p:cNvPr id="19" name="Text 17"/>
          <p:cNvSpPr/>
          <p:nvPr/>
        </p:nvSpPr>
        <p:spPr>
          <a:xfrm>
            <a:off x="548640" y="3712464"/>
            <a:ext cx="11091672" cy="256032"/>
          </a:xfrm>
          <a:prstGeom prst="rect">
            <a:avLst/>
          </a:prstGeom>
          <a:noFill/>
          <a:ln/>
        </p:spPr>
        <p:txBody>
          <a:bodyPr wrap="square" lIns="0" tIns="0" rIns="0" bIns="0" rtlCol="0" anchor="ctr"/>
          <a:lstStyle/>
          <a:p>
            <a:pPr marL="0" indent="0">
              <a:buNone/>
            </a:pPr>
            <a:r>
              <a:rPr lang="en-US" sz="1100" b="1" kern="0" spc="180" dirty="0">
                <a:solidFill>
                  <a:srgbClr val="00EDED"/>
                </a:solidFill>
                <a:latin typeface="Montserrat" pitchFamily="34" charset="0"/>
                <a:ea typeface="Montserrat" pitchFamily="34" charset="-122"/>
                <a:cs typeface="Montserrat" pitchFamily="34" charset="-120"/>
              </a:rPr>
              <a:t>WHAT WE'RE ASKING FOR</a:t>
            </a:r>
            <a:endParaRPr lang="en-US" sz="1100" dirty="0"/>
          </a:p>
        </p:txBody>
      </p:sp>
      <p:sp>
        <p:nvSpPr>
          <p:cNvPr id="20" name="Shape 18"/>
          <p:cNvSpPr/>
          <p:nvPr/>
        </p:nvSpPr>
        <p:spPr>
          <a:xfrm>
            <a:off x="548640" y="4023360"/>
            <a:ext cx="3538728" cy="1115568"/>
          </a:xfrm>
          <a:prstGeom prst="roundRect">
            <a:avLst>
              <a:gd name="adj" fmla="val 6557"/>
            </a:avLst>
          </a:prstGeom>
          <a:solidFill>
            <a:srgbClr val="0A3E6B"/>
          </a:solidFill>
          <a:ln w="15875">
            <a:solidFill>
              <a:srgbClr val="00EDED"/>
            </a:solidFill>
            <a:prstDash val="solid"/>
          </a:ln>
        </p:spPr>
        <p:txBody>
          <a:bodyPr/>
          <a:lstStyle/>
          <a:p>
            <a:endParaRPr lang="en-IN"/>
          </a:p>
        </p:txBody>
      </p:sp>
      <p:sp>
        <p:nvSpPr>
          <p:cNvPr id="21" name="Text 19"/>
          <p:cNvSpPr/>
          <p:nvPr/>
        </p:nvSpPr>
        <p:spPr>
          <a:xfrm>
            <a:off x="786384" y="4187952"/>
            <a:ext cx="3063240" cy="27432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Named accounts</a:t>
            </a:r>
            <a:endParaRPr lang="en-US" sz="1300" dirty="0"/>
          </a:p>
        </p:txBody>
      </p:sp>
      <p:sp>
        <p:nvSpPr>
          <p:cNvPr id="22" name="Text 20"/>
          <p:cNvSpPr/>
          <p:nvPr/>
        </p:nvSpPr>
        <p:spPr>
          <a:xfrm>
            <a:off x="786384" y="4480560"/>
            <a:ext cx="3063240" cy="56692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Tableau-heavy Snowflake customers where this lands, to co-sell into together</a:t>
            </a:r>
            <a:endParaRPr lang="en-US" sz="950" dirty="0"/>
          </a:p>
        </p:txBody>
      </p:sp>
      <p:sp>
        <p:nvSpPr>
          <p:cNvPr id="23" name="Shape 21"/>
          <p:cNvSpPr/>
          <p:nvPr/>
        </p:nvSpPr>
        <p:spPr>
          <a:xfrm>
            <a:off x="4325112" y="4023360"/>
            <a:ext cx="3538728" cy="1115568"/>
          </a:xfrm>
          <a:prstGeom prst="roundRect">
            <a:avLst>
              <a:gd name="adj" fmla="val 6557"/>
            </a:avLst>
          </a:prstGeom>
          <a:solidFill>
            <a:srgbClr val="0A3E6B"/>
          </a:solidFill>
          <a:ln w="15875">
            <a:solidFill>
              <a:srgbClr val="00EDED"/>
            </a:solidFill>
            <a:prstDash val="solid"/>
          </a:ln>
        </p:spPr>
        <p:txBody>
          <a:bodyPr/>
          <a:lstStyle/>
          <a:p>
            <a:endParaRPr lang="en-IN"/>
          </a:p>
        </p:txBody>
      </p:sp>
      <p:sp>
        <p:nvSpPr>
          <p:cNvPr id="24" name="Text 22"/>
          <p:cNvSpPr/>
          <p:nvPr/>
        </p:nvSpPr>
        <p:spPr>
          <a:xfrm>
            <a:off x="4562856" y="4187952"/>
            <a:ext cx="3063240" cy="27432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A joint first migration</a:t>
            </a:r>
            <a:endParaRPr lang="en-US" sz="1300" dirty="0"/>
          </a:p>
        </p:txBody>
      </p:sp>
      <p:sp>
        <p:nvSpPr>
          <p:cNvPr id="25" name="Text 23"/>
          <p:cNvSpPr/>
          <p:nvPr/>
        </p:nvSpPr>
        <p:spPr>
          <a:xfrm>
            <a:off x="4562856" y="4480560"/>
            <a:ext cx="3063240" cy="56692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SE engagement alongside our team to validate it in a live account</a:t>
            </a:r>
            <a:endParaRPr lang="en-US" sz="950" dirty="0"/>
          </a:p>
        </p:txBody>
      </p:sp>
      <p:sp>
        <p:nvSpPr>
          <p:cNvPr id="26" name="Shape 24"/>
          <p:cNvSpPr/>
          <p:nvPr/>
        </p:nvSpPr>
        <p:spPr>
          <a:xfrm>
            <a:off x="8101584" y="4023360"/>
            <a:ext cx="3538728" cy="1115568"/>
          </a:xfrm>
          <a:prstGeom prst="roundRect">
            <a:avLst>
              <a:gd name="adj" fmla="val 6557"/>
            </a:avLst>
          </a:prstGeom>
          <a:solidFill>
            <a:srgbClr val="0A3E6B"/>
          </a:solidFill>
          <a:ln w="15875">
            <a:solidFill>
              <a:srgbClr val="00EDED"/>
            </a:solidFill>
            <a:prstDash val="solid"/>
          </a:ln>
        </p:spPr>
        <p:txBody>
          <a:bodyPr/>
          <a:lstStyle/>
          <a:p>
            <a:endParaRPr lang="en-IN"/>
          </a:p>
        </p:txBody>
      </p:sp>
      <p:sp>
        <p:nvSpPr>
          <p:cNvPr id="27" name="Text 25"/>
          <p:cNvSpPr/>
          <p:nvPr/>
        </p:nvSpPr>
        <p:spPr>
          <a:xfrm>
            <a:off x="8339328" y="4187952"/>
            <a:ext cx="3063240" cy="27432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A route to the field</a:t>
            </a:r>
            <a:endParaRPr lang="en-US" sz="1300" dirty="0"/>
          </a:p>
        </p:txBody>
      </p:sp>
      <p:sp>
        <p:nvSpPr>
          <p:cNvPr id="28" name="Text 26"/>
          <p:cNvSpPr/>
          <p:nvPr/>
        </p:nvSpPr>
        <p:spPr>
          <a:xfrm>
            <a:off x="8339328" y="4480560"/>
            <a:ext cx="3063240" cy="56692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A partner or Marketplace listing so your team can find and reuse it</a:t>
            </a:r>
            <a:endParaRPr lang="en-US" sz="950" dirty="0"/>
          </a:p>
        </p:txBody>
      </p:sp>
      <p:sp>
        <p:nvSpPr>
          <p:cNvPr id="29" name="Text 27"/>
          <p:cNvSpPr/>
          <p:nvPr/>
        </p:nvSpPr>
        <p:spPr>
          <a:xfrm>
            <a:off x="548640" y="5321808"/>
            <a:ext cx="11091672" cy="365760"/>
          </a:xfrm>
          <a:prstGeom prst="rect">
            <a:avLst/>
          </a:prstGeom>
          <a:noFill/>
          <a:ln/>
        </p:spPr>
        <p:txBody>
          <a:bodyPr wrap="square" lIns="0" tIns="0" rIns="0" bIns="0" rtlCol="0" anchor="ctr"/>
          <a:lstStyle/>
          <a:p>
            <a:pPr marL="0" indent="0">
              <a:buNone/>
            </a:pPr>
            <a:r>
              <a:rPr lang="en-US" sz="1100" i="1" dirty="0">
                <a:solidFill>
                  <a:srgbClr val="A2F3F3"/>
                </a:solidFill>
                <a:latin typeface="Montserrat" pitchFamily="34" charset="0"/>
                <a:ea typeface="Montserrat" pitchFamily="34" charset="-122"/>
                <a:cs typeface="Montserrat" pitchFamily="34" charset="-120"/>
              </a:rPr>
              <a:t>Demo on request: upload a workbook and watch all five stages execute live in a Snowflake account — every statement visible in Query History.</a:t>
            </a:r>
            <a:endParaRPr lang="en-US" sz="1100" dirty="0"/>
          </a:p>
        </p:txBody>
      </p:sp>
      <p:sp>
        <p:nvSpPr>
          <p:cNvPr id="30" name="Shape 28"/>
          <p:cNvSpPr/>
          <p:nvPr/>
        </p:nvSpPr>
        <p:spPr>
          <a:xfrm>
            <a:off x="548640" y="5815584"/>
            <a:ext cx="11091672" cy="420624"/>
          </a:xfrm>
          <a:prstGeom prst="roundRect">
            <a:avLst>
              <a:gd name="adj" fmla="val 13043"/>
            </a:avLst>
          </a:prstGeom>
          <a:solidFill>
            <a:srgbClr val="0A3E6B"/>
          </a:solidFill>
          <a:ln w="12700">
            <a:solidFill>
              <a:srgbClr val="17517F"/>
            </a:solidFill>
            <a:prstDash val="solid"/>
          </a:ln>
        </p:spPr>
        <p:txBody>
          <a:bodyPr/>
          <a:lstStyle/>
          <a:p>
            <a:endParaRPr lang="en-IN"/>
          </a:p>
        </p:txBody>
      </p:sp>
      <p:sp>
        <p:nvSpPr>
          <p:cNvPr id="31" name="Text 29"/>
          <p:cNvSpPr/>
          <p:nvPr/>
        </p:nvSpPr>
        <p:spPr>
          <a:xfrm>
            <a:off x="548640" y="5815584"/>
            <a:ext cx="11091672" cy="420624"/>
          </a:xfrm>
          <a:prstGeom prst="rect">
            <a:avLst/>
          </a:prstGeom>
          <a:noFill/>
          <a:ln/>
        </p:spPr>
        <p:txBody>
          <a:bodyPr wrap="square" lIns="0" tIns="0" rIns="0" bIns="0" rtlCol="0" anchor="ctr"/>
          <a:lstStyle/>
          <a:p>
            <a:pPr marL="0" indent="0" algn="ctr">
              <a:buNone/>
            </a:pPr>
            <a:r>
              <a:rPr lang="en-US" sz="1100" b="1" kern="0" spc="6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1585</Words>
  <Application>Microsoft Office PowerPoint</Application>
  <PresentationFormat>Widescreen</PresentationFormat>
  <Paragraphs>129</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Montserrat</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 Kammari</cp:lastModifiedBy>
  <cp:revision>2</cp:revision>
  <dcterms:created xsi:type="dcterms:W3CDTF">2026-07-23T09:13:21Z</dcterms:created>
  <dcterms:modified xsi:type="dcterms:W3CDTF">2026-07-23T09:15:14Z</dcterms:modified>
</cp:coreProperties>
</file>