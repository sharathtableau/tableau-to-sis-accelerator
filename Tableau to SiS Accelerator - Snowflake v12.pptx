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8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framing: this modernizes the analytics stack in place — the customer's existing Tableau dashboards, rebuilt natively on the platform that already holds the data. The product strip at the bottom is the only place the full stack is listed; the rest of the deck stays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Kept to one line per cell, per the feedback. The subtitle is the modernization framing: the stack is modernized in place — same dashboards, native on the platform that already holds the data. If asked what changes for end users: the dashboards look and answer the same; what disappears is the licence, the specialist queue, and the second governance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 live here now, merged from the old Impact slide, matching the reference deck's pattern. All four are defensible: 90%+ is the design target the corpus exceeds, minutes-per-workbook is the real hosted-app runtime, and every-measure validation is the Stage 5 parity check. The human gate line is deliberately one sentence — an enterprise control, not a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absorbs the old What-Cortex-Does and value columns — six cards, one line each. The closing italic line is the consumption point for this audience: an extract-served dashboard sends Snowflake no query workload at all; migrated, every view is warehouse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the hosted app — the Snowsight URL and chrome are visible in both. Land on the left first: nine dashboards, twenty sheets, one run, thirteen of thirteen measures tying out. Offer to run it live; open Query History alongside if anyone questions where it is executing.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Tableau-vs-Power-BI comparison slide from the reference deck. Both sides show the SAME dashboard — Superstore Customer Analysis — and the numbers match cell for cell: West 686 customers, Sales $739,814, Sean Miller top-ranked at $25,043. Let the images do the talking; the one-line caption is the only claim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22860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to Snowflake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310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Analytics Platform Modernization Accelerator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Tableau  →  Streamlit in Snowflake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5760720"/>
            <a:ext cx="10607040" cy="420624"/>
          </a:xfrm>
          <a:prstGeom prst="roundRect">
            <a:avLst>
              <a:gd name="adj" fmla="val 1304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57607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in Snowflake   |   Cortex AI   |   Cortex Analyst   |   Native Semantic Views   |   Snowpark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Accelerator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Modernize the analytics stack — the same dashboards, running natively on the data Snowflake already holds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08776" y="1481328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ACCELERATOR SOLUTION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Licences on Top of Snowflake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Paying a second platform to display data Snowflake already holds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08776" y="1847088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46520" y="2084832"/>
            <a:ext cx="219456" cy="219456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84848" y="2029968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Move to What You Own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4848" y="2395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is already part of Snowflake — no BI licence underneath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3273552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Separate, Scarce Skill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dashboard waits on Tableau specialists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3090672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46520" y="3328416"/>
            <a:ext cx="219456" cy="219456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84848" y="3273552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Data Team Owns 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84848" y="363931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is Python — built by the engineers already on the platform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517136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Platforms, Two Governance Models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488289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rules rebuilt away from the data they protect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334256"/>
            <a:ext cx="5431536" cy="1078992"/>
          </a:xfrm>
          <a:prstGeom prst="roundRect">
            <a:avLst>
              <a:gd name="adj" fmla="val 678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46520" y="4572000"/>
            <a:ext cx="219456" cy="219456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84848" y="4517136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Platform, One Set of Roles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84848" y="4882896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inherited from Snowflake, not re-implemented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797296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Modernisation here removes a layer instead of adding one — the barrier was only ever the cost of rebuilding the dashboards by hand, and that is what the accelerator automates.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automated stages inside the customer's Snowflake account — with a human gate before anything 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every datasource and loads the data into Snowflake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16352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17520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17520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charts, calculations, filters and layout from the workbook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84064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9050">
            <a:solidFill>
              <a:srgbClr val="00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85232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5232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Translation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85232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AI converts the complex calculations into Snowflake SQL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51776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9050">
            <a:solidFill>
              <a:srgbClr val="00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52944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52944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+ App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52944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Deploys a native semantic view and generates the Streamlit app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19488" y="1389888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A3E6B"/>
          </a:solidFill>
          <a:ln w="19050">
            <a:solidFill>
              <a:srgbClr val="00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820656" y="15544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20656" y="18470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820656" y="234086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Ties every measure back to the source, with evidence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3101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in the loop — every Cortex proposal is executed against the real data, then reviewed and approved before it ships. All decisions audited.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85616"/>
            <a:ext cx="2724912" cy="1188720"/>
          </a:xfrm>
          <a:prstGeom prst="roundRect">
            <a:avLst>
              <a:gd name="adj" fmla="val 6154"/>
            </a:avLst>
          </a:prstGeom>
          <a:solidFill>
            <a:srgbClr val="0A3E6B"/>
          </a:solidFill>
          <a:ln w="15875">
            <a:solidFill>
              <a:srgbClr val="00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8096" y="39319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68096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CONVERTED AUTOMATICALLY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02152" y="3785616"/>
            <a:ext cx="2724912" cy="1188720"/>
          </a:xfrm>
          <a:prstGeom prst="roundRect">
            <a:avLst>
              <a:gd name="adj" fmla="val 6154"/>
            </a:avLst>
          </a:prstGeom>
          <a:solidFill>
            <a:srgbClr val="0A3E6B"/>
          </a:solidFill>
          <a:ln w="15875">
            <a:solidFill>
              <a:srgbClr val="00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721608" y="39319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Minutes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721608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WORKBOOK, NOT SPRINTS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55664" y="3785616"/>
            <a:ext cx="2724912" cy="1188720"/>
          </a:xfrm>
          <a:prstGeom prst="roundRect">
            <a:avLst>
              <a:gd name="adj" fmla="val 6154"/>
            </a:avLst>
          </a:prstGeom>
          <a:solidFill>
            <a:srgbClr val="0A3E6B"/>
          </a:solidFill>
          <a:ln w="15875">
            <a:solidFill>
              <a:srgbClr val="00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75120" y="39319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measure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7512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 WITH EVIDENCE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09176" y="3785616"/>
            <a:ext cx="2724912" cy="1188720"/>
          </a:xfrm>
          <a:prstGeom prst="roundRect">
            <a:avLst>
              <a:gd name="adj" fmla="val 6154"/>
            </a:avLst>
          </a:prstGeom>
          <a:solidFill>
            <a:srgbClr val="0A3E6B"/>
          </a:solidFill>
          <a:ln w="15875">
            <a:solidFill>
              <a:srgbClr val="00ED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628632" y="39319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628632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STAGES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 delivery cost — dashboards no longer wait on dedicated rebuild time. Minimal AI cost — Cortex runs only on the calculations the rules cannot translate.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Natively on Snowflake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pipeline runs inside the customer's account, powered by Snowflake Cortex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6384" y="1700784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entirely in the account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5420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stage executes on Snowflake compute; no data leaves the environment.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481328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62856" y="1700784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62856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2856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Cortex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2856" y="25420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In-account Cortex models translate the hard calculations and validate the result.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39328" y="1700784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39328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9328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semantic model falls 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25420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workbook's verified measures become a native semantic view, ready for Cortex Analyst.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38144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86384" y="3657600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86384" y="3712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4151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stays in force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" y="44988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 runs as a Snowflake role — existing policies and security apply unchanged.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3438144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62856" y="3657600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62856" y="3712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62856" y="4151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data movement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62856" y="44988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read Snowflake tables directly — no extract, no copy, no staleness.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3438144"/>
            <a:ext cx="3538728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39328" y="3657600"/>
            <a:ext cx="365760" cy="365760"/>
          </a:xfrm>
          <a:prstGeom prst="ellipse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339328" y="3712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9328" y="4151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own the result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44988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Generated apps, views and evidence live in the customer's account, maintainable by their team.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migrated dashboard converts a Tableau extract into live Snowflake consumption — warehouse compute on every view, Cortex on every migration.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in Snowsight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Tableau workbook, migrated end to end — hosted and executing inside Snowflake</a:t>
            </a:r>
            <a:endParaRPr lang="en-US" sz="1400" dirty="0"/>
          </a:p>
        </p:txBody>
      </p:sp>
      <p:pic>
        <p:nvPicPr>
          <p:cNvPr id="4" name="Image 0" descr="run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4406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49884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pipeline — five stages, executed in the account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Superstore workbook · 3 datasources loaded · 20 sheets across 9 dashboards · 8 metrics deployed live · 13/13 measures pass.</a:t>
            </a:r>
            <a:endParaRPr lang="en-US" sz="900" dirty="0"/>
          </a:p>
        </p:txBody>
      </p:sp>
      <p:pic>
        <p:nvPicPr>
          <p:cNvPr id="7" name="Image 1" descr="ru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280160"/>
            <a:ext cx="5038344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01968" y="4498848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 — the converted dashboard, rendered natively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601968" y="4754880"/>
            <a:ext cx="5038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Nine dashboard tabs with their filters, KPIs and charts — reading live from Snowflake tables.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8640" y="54864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statement is visible in Snowsight Query History with live timestamps.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vs. Streamlit in Snowflake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dashboard, side by side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</a:t>
            </a:r>
            <a:endParaRPr lang="en-US" sz="1200" dirty="0"/>
          </a:p>
        </p:txBody>
      </p:sp>
      <p:pic>
        <p:nvPicPr>
          <p:cNvPr id="5" name="Image 0" descr="tableau_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3936"/>
            <a:ext cx="54406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8776" y="142646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IN SNOWFLAKE</a:t>
            </a:r>
            <a:endParaRPr lang="en-US" sz="1200" dirty="0"/>
          </a:p>
        </p:txBody>
      </p:sp>
      <p:pic>
        <p:nvPicPr>
          <p:cNvPr id="7" name="Image 1" descr="ru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773936"/>
            <a:ext cx="5440680" cy="3355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76072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filters, same KPIs, same numbers — validated measure by measure at migration time.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972</Words>
  <Application>Microsoft Office PowerPoint</Application>
  <PresentationFormat>Widescreen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to Snowflake — Analytics Modernization Accelerator</dc:title>
  <dc:subject>PptxGenJS Presentation</dc:subject>
  <dc:creator>Sharath Kumar</dc:creator>
  <cp:lastModifiedBy>Sharath Kumar Kammari</cp:lastModifiedBy>
  <cp:revision>2</cp:revision>
  <dcterms:created xsi:type="dcterms:W3CDTF">2026-07-23T13:00:09Z</dcterms:created>
  <dcterms:modified xsi:type="dcterms:W3CDTF">2026-07-23T13:04:25Z</dcterms:modified>
</cp:coreProperties>
</file>