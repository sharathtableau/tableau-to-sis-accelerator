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7FFFD206_0.xml" ContentType="application/vnd.ms-powerpoint.comments+xml"/>
  <Override PartName="/ppt/comments/modernComment_7FFFD209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307" r:id="rId2"/>
    <p:sldId id="301" r:id="rId3"/>
    <p:sldId id="302" r:id="rId4"/>
    <p:sldId id="303" r:id="rId5"/>
    <p:sldId id="305" r:id="rId6"/>
    <p:sldId id="306" r:id="rId7"/>
    <p:sldId id="300" r:id="rId8"/>
    <p:sldId id="2147471877" r:id="rId9"/>
    <p:sldId id="2147471878" r:id="rId10"/>
    <p:sldId id="2147471879" r:id="rId11"/>
    <p:sldId id="2147471880" r:id="rId12"/>
    <p:sldId id="2147471881"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5C4A240-9BF5-2E70-C1A2-A25C24393538}" name="Devang Pandya" initials="DP" userId="S::Devang.Pandya@blend360.com::02a7cb17-3e51-445d-9cd2-89d99557204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52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modernComment_7FFFD206_0.xml><?xml version="1.0" encoding="utf-8"?>
<p188:cmLst xmlns:a="http://schemas.openxmlformats.org/drawingml/2006/main" xmlns:r="http://schemas.openxmlformats.org/officeDocument/2006/relationships" xmlns:p188="http://schemas.microsoft.com/office/powerpoint/2018/8/main">
  <p188:cm id="{2EB86EA4-BAF7-4C3F-9D95-3B885F5B9A61}" authorId="{05C4A240-9BF5-2E70-C1A2-A25C24393538}" created="2026-07-23T03:17:18.969">
    <ac:deMkLst xmlns:ac="http://schemas.microsoft.com/office/drawing/2013/main/command">
      <pc:docMk xmlns:pc="http://schemas.microsoft.com/office/powerpoint/2013/main/command"/>
      <pc:sldMk xmlns:pc="http://schemas.microsoft.com/office/powerpoint/2013/main/command" cId="0" sldId="2147471878"/>
      <ac:spMk id="54" creationId="{00000000-0000-0000-0000-000000000000}"/>
    </ac:deMkLst>
    <p188:txBody>
      <a:bodyPr/>
      <a:lstStyle/>
      <a:p>
        <a:r>
          <a:rPr lang="en-US"/>
          <a:t>[@VinaySimha Sastry]  - I wouldn’t mention the requirements in the sales deck. Can we instead add the value our solution drives? Example 40% faster, 90% automated testing etc.</a:t>
        </a:r>
      </a:p>
    </p188:txBody>
  </p188:cm>
</p188:cmLst>
</file>

<file path=ppt/comments/modernComment_7FFFD209_0.xml><?xml version="1.0" encoding="utf-8"?>
<p188:cmLst xmlns:a="http://schemas.openxmlformats.org/drawingml/2006/main" xmlns:r="http://schemas.openxmlformats.org/officeDocument/2006/relationships" xmlns:p188="http://schemas.microsoft.com/office/powerpoint/2018/8/main">
  <p188:cm id="{524B568A-FF78-4E61-B679-EEB6F9F2AA9A}" authorId="{05C4A240-9BF5-2E70-C1A2-A25C24393538}" created="2026-07-23T03:18:59.062">
    <ac:txMkLst xmlns:ac="http://schemas.microsoft.com/office/drawing/2013/main/command">
      <pc:docMk xmlns:pc="http://schemas.microsoft.com/office/powerpoint/2013/main/command"/>
      <pc:sldMk xmlns:pc="http://schemas.microsoft.com/office/powerpoint/2013/main/command" cId="0" sldId="2147471881"/>
      <ac:spMk id="2" creationId="{00000000-0000-0000-0000-000000000000}"/>
      <ac:txMk cp="0">
        <ac:context len="28" hash="261281248"/>
      </ac:txMk>
    </ac:txMkLst>
    <p188:pos x="6084186" y="254158"/>
    <p188:txBody>
      <a:bodyPr/>
      <a:lstStyle/>
      <a:p>
        <a:r>
          <a:rPr lang="en-US"/>
          <a:t>I would remove any AI engine if we are marking to Snowflake. We have to focus only on Snowflake. So you can use built natively in Snowflake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064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This is a cost conversation. Three recurring costs: the licence, the specialist skill, and the second platform. The middle column is what most customers actually do — renew, hire more, and maintain both — which changes nothing. Only the third column removes the spend rather than moving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Cyan-bordered stages are where Cortex does the work — three of the five. Human-in-the-loop is an enterprise control, not a caveat: the AI proposes, it is proven against real data, a person signs it off, and the decision is audited. Mention assessment — a customer can see what a migration involves before committing to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Slow down on the worked example — it makes Cortex's contribution concrete: a genuinely hard Tableau construct, the SQL Cortex produced, and the fact it was executed and checked against an independent ground truth before anyone accepted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Lead on speed and confidence, not savings — the cost argument is already made on slide 1, so this slide is about what the customer gets. The four headline cards are the value message: the majority converts automatically, a workbook becomes a live app in a single run, every measure is tied out with evidence, and the estate is assessed before anyone commits. Then show both value columns — the business case that wins the account on the left, and the reason to co-sell it on the right.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These are real screenshots from the hosted app, not a mock-up — the Snowsight URL and chrome are visible in both. Land on the left image first: nine dashboards and twenty sheets migrated in a single run, ending in thirteen of thirteen measures tying out. Then the right: that is the converted dashboard rendering natively against Snowflake tables. If anyone questions whether it is genuinely executing in the account, open Query History alongside it. Close on the question and stop.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0F5631E-F4AC-4E02-92FF-51C37CEF799E}" type="slidenum">
              <a:rPr lang="en-US" smtClean="0"/>
              <a:t>9</a:t>
            </a:fld>
            <a:endParaRPr lang="en-US"/>
          </a:p>
        </p:txBody>
      </p:sp>
    </p:spTree>
    <p:extLst>
      <p:ext uri="{BB962C8B-B14F-4D97-AF65-F5344CB8AC3E}">
        <p14:creationId xmlns:p14="http://schemas.microsoft.com/office/powerpoint/2010/main" val="1474711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Page Breaker_01">
    <p:spTree>
      <p:nvGrpSpPr>
        <p:cNvPr id="1" name=""/>
        <p:cNvGrpSpPr/>
        <p:nvPr/>
      </p:nvGrpSpPr>
      <p:grpSpPr>
        <a:xfrm>
          <a:off x="0" y="0"/>
          <a:ext cx="0" cy="0"/>
          <a:chOff x="0" y="0"/>
          <a:chExt cx="0" cy="0"/>
        </a:xfrm>
      </p:grpSpPr>
      <p:sp>
        <p:nvSpPr>
          <p:cNvPr id="40" name="Google Shape;105;p11">
            <a:extLst>
              <a:ext uri="{FF2B5EF4-FFF2-40B4-BE49-F238E27FC236}">
                <a16:creationId xmlns:a16="http://schemas.microsoft.com/office/drawing/2014/main" id="{431DE2E3-354F-D9A4-25C6-91054E0795CE}"/>
              </a:ext>
            </a:extLst>
          </p:cNvPr>
          <p:cNvSpPr/>
          <p:nvPr userDrawn="1"/>
        </p:nvSpPr>
        <p:spPr>
          <a:xfrm>
            <a:off x="0" y="3517025"/>
            <a:ext cx="3904488" cy="3340976"/>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chemeClr val="bg1">
              <a:lumMod val="65000"/>
              <a:alpha val="1173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39" name="Google Shape;104;p11">
            <a:extLst>
              <a:ext uri="{FF2B5EF4-FFF2-40B4-BE49-F238E27FC236}">
                <a16:creationId xmlns:a16="http://schemas.microsoft.com/office/drawing/2014/main" id="{716BD572-5155-E5B6-AD44-1676AC53CBAA}"/>
              </a:ext>
            </a:extLst>
          </p:cNvPr>
          <p:cNvSpPr/>
          <p:nvPr userDrawn="1"/>
        </p:nvSpPr>
        <p:spPr>
          <a:xfrm>
            <a:off x="4553795" y="-1740499"/>
            <a:ext cx="1322446" cy="1481954"/>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chemeClr val="bg1">
              <a:lumMod val="65000"/>
              <a:alpha val="11730"/>
            </a:scheme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13">
              <a:solidFill>
                <a:schemeClr val="dk1"/>
              </a:solidFill>
              <a:latin typeface="Arial"/>
              <a:ea typeface="Arial"/>
              <a:cs typeface="Arial"/>
              <a:sym typeface="Arial"/>
            </a:endParaRPr>
          </a:p>
        </p:txBody>
      </p:sp>
      <p:sp>
        <p:nvSpPr>
          <p:cNvPr id="2" name="Text Placeholder 2">
            <a:extLst>
              <a:ext uri="{FF2B5EF4-FFF2-40B4-BE49-F238E27FC236}">
                <a16:creationId xmlns:a16="http://schemas.microsoft.com/office/drawing/2014/main" id="{828F7F7D-D7BD-93AF-7D51-E38F5973E5E7}"/>
              </a:ext>
            </a:extLst>
          </p:cNvPr>
          <p:cNvSpPr>
            <a:spLocks noGrp="1"/>
          </p:cNvSpPr>
          <p:nvPr>
            <p:ph type="body" idx="14" hasCustomPrompt="1"/>
          </p:nvPr>
        </p:nvSpPr>
        <p:spPr>
          <a:xfrm>
            <a:off x="559080" y="2437166"/>
            <a:ext cx="5030662" cy="565656"/>
          </a:xfrm>
          <a:prstGeom prst="rect">
            <a:avLst/>
          </a:prstGeom>
        </p:spPr>
        <p:txBody>
          <a:bodyPr anchor="b" anchorCtr="0">
            <a:noAutofit/>
          </a:bodyPr>
          <a:lstStyle>
            <a:lvl1pPr marL="0" indent="0">
              <a:buNone/>
              <a:defRPr sz="3600" b="1">
                <a:solidFill>
                  <a:schemeClr val="tx2"/>
                </a:solidFill>
                <a:latin typeface="Montserrat" pitchFamily="2" charset="77"/>
                <a:ea typeface="Montserrat" pitchFamily="2" charset="77"/>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a:t>Page Breaker Title</a:t>
            </a:r>
          </a:p>
        </p:txBody>
      </p:sp>
      <p:sp>
        <p:nvSpPr>
          <p:cNvPr id="3" name="Text Placeholder 2">
            <a:extLst>
              <a:ext uri="{FF2B5EF4-FFF2-40B4-BE49-F238E27FC236}">
                <a16:creationId xmlns:a16="http://schemas.microsoft.com/office/drawing/2014/main" id="{D2AE69CD-FF3C-B25B-6771-8EDDB8FE9DC6}"/>
              </a:ext>
            </a:extLst>
          </p:cNvPr>
          <p:cNvSpPr>
            <a:spLocks noGrp="1"/>
          </p:cNvSpPr>
          <p:nvPr>
            <p:ph type="body" idx="15" hasCustomPrompt="1"/>
          </p:nvPr>
        </p:nvSpPr>
        <p:spPr>
          <a:xfrm>
            <a:off x="559080" y="3098469"/>
            <a:ext cx="5030662" cy="1224660"/>
          </a:xfrm>
          <a:prstGeom prst="rect">
            <a:avLst/>
          </a:prstGeom>
        </p:spPr>
        <p:txBody>
          <a:bodyPr anchor="t">
            <a:noAutofit/>
          </a:bodyPr>
          <a:lstStyle>
            <a:lvl1pPr marL="0" indent="0">
              <a:buNone/>
              <a:defRPr sz="1800" b="0">
                <a:solidFill>
                  <a:schemeClr val="tx2"/>
                </a:solidFill>
                <a:latin typeface="Montserrat" pitchFamily="2" charset="77"/>
                <a:ea typeface="Montserrat" pitchFamily="2" charset="77"/>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a:t>Page Breaker Subtitle</a:t>
            </a:r>
          </a:p>
        </p:txBody>
      </p:sp>
      <p:grpSp>
        <p:nvGrpSpPr>
          <p:cNvPr id="14" name="Group 13">
            <a:extLst>
              <a:ext uri="{FF2B5EF4-FFF2-40B4-BE49-F238E27FC236}">
                <a16:creationId xmlns:a16="http://schemas.microsoft.com/office/drawing/2014/main" id="{A9437526-CCF8-03B8-8715-59B9FF9E7864}"/>
              </a:ext>
            </a:extLst>
          </p:cNvPr>
          <p:cNvGrpSpPr/>
          <p:nvPr userDrawn="1"/>
        </p:nvGrpSpPr>
        <p:grpSpPr>
          <a:xfrm>
            <a:off x="154527" y="6305402"/>
            <a:ext cx="1365912" cy="424600"/>
            <a:chOff x="586327" y="7159433"/>
            <a:chExt cx="1365912" cy="424600"/>
          </a:xfrm>
        </p:grpSpPr>
        <p:grpSp>
          <p:nvGrpSpPr>
            <p:cNvPr id="15" name="Group 14">
              <a:extLst>
                <a:ext uri="{FF2B5EF4-FFF2-40B4-BE49-F238E27FC236}">
                  <a16:creationId xmlns:a16="http://schemas.microsoft.com/office/drawing/2014/main" id="{67C062D2-0045-4975-9FAA-801F9A75A1B2}"/>
                </a:ext>
              </a:extLst>
            </p:cNvPr>
            <p:cNvGrpSpPr/>
            <p:nvPr userDrawn="1"/>
          </p:nvGrpSpPr>
          <p:grpSpPr>
            <a:xfrm>
              <a:off x="586327" y="7160371"/>
              <a:ext cx="1365912" cy="423662"/>
              <a:chOff x="10820379" y="6324947"/>
              <a:chExt cx="871026" cy="270164"/>
            </a:xfrm>
          </p:grpSpPr>
          <p:sp>
            <p:nvSpPr>
              <p:cNvPr id="17" name="Google Shape;134;p14">
                <a:extLst>
                  <a:ext uri="{FF2B5EF4-FFF2-40B4-BE49-F238E27FC236}">
                    <a16:creationId xmlns:a16="http://schemas.microsoft.com/office/drawing/2014/main" id="{B3A21CE6-AB44-59C3-0BCA-1306076F1E98}"/>
                  </a:ext>
                </a:extLst>
              </p:cNvPr>
              <p:cNvSpPr/>
              <p:nvPr userDrawn="1"/>
            </p:nvSpPr>
            <p:spPr>
              <a:xfrm>
                <a:off x="11407244" y="6324947"/>
                <a:ext cx="284161" cy="270164"/>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28B5E8"/>
              </a:solidFill>
              <a:ln>
                <a:noFill/>
              </a:ln>
            </p:spPr>
            <p:txBody>
              <a:bodyPr spcFirstLastPara="1" wrap="square" lIns="91425" tIns="45700" rIns="91425" bIns="4570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8" name="Graphic 17">
                <a:extLst>
                  <a:ext uri="{FF2B5EF4-FFF2-40B4-BE49-F238E27FC236}">
                    <a16:creationId xmlns:a16="http://schemas.microsoft.com/office/drawing/2014/main" id="{A04A61AB-765A-E7BA-198D-D3AE7CB696D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820379" y="6362648"/>
                <a:ext cx="365724" cy="194762"/>
              </a:xfrm>
              <a:prstGeom prst="rect">
                <a:avLst/>
              </a:prstGeom>
            </p:spPr>
          </p:pic>
        </p:grpSp>
        <p:cxnSp>
          <p:nvCxnSpPr>
            <p:cNvPr id="16" name="Straight Connector 15">
              <a:extLst>
                <a:ext uri="{FF2B5EF4-FFF2-40B4-BE49-F238E27FC236}">
                  <a16:creationId xmlns:a16="http://schemas.microsoft.com/office/drawing/2014/main" id="{BD998942-87ED-8DA7-A6EE-FF0DCE2CAB83}"/>
                </a:ext>
              </a:extLst>
            </p:cNvPr>
            <p:cNvCxnSpPr>
              <a:cxnSpLocks/>
            </p:cNvCxnSpPr>
            <p:nvPr userDrawn="1"/>
          </p:nvCxnSpPr>
          <p:spPr>
            <a:xfrm>
              <a:off x="1344045" y="7159433"/>
              <a:ext cx="0" cy="424600"/>
            </a:xfrm>
            <a:prstGeom prst="line">
              <a:avLst/>
            </a:prstGeom>
            <a:noFill/>
            <a:ln w="12700" cap="flat" cmpd="sng" algn="ctr">
              <a:solidFill>
                <a:srgbClr val="28B5E8"/>
              </a:solidFill>
              <a:prstDash val="solid"/>
              <a:miter lim="800000"/>
            </a:ln>
            <a:effectLst/>
          </p:spPr>
        </p:cxnSp>
      </p:grpSp>
    </p:spTree>
    <p:extLst>
      <p:ext uri="{BB962C8B-B14F-4D97-AF65-F5344CB8AC3E}">
        <p14:creationId xmlns:p14="http://schemas.microsoft.com/office/powerpoint/2010/main" val="132876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E02DBA-CE34-5615-46B5-2B41DEC37AB8}"/>
              </a:ext>
            </a:extLst>
          </p:cNvPr>
          <p:cNvSpPr>
            <a:spLocks noGrp="1"/>
          </p:cNvSpPr>
          <p:nvPr>
            <p:ph type="dt" sz="half" idx="10"/>
          </p:nvPr>
        </p:nvSpPr>
        <p:spPr/>
        <p:txBody>
          <a:bodyPr/>
          <a:lstStyle/>
          <a:p>
            <a:fld id="{149756E8-954C-4B43-8FFF-8EB5B7E6ACC9}" type="datetimeFigureOut">
              <a:rPr lang="en-IN" smtClean="0"/>
              <a:t>23-07-2026</a:t>
            </a:fld>
            <a:endParaRPr lang="en-IN"/>
          </a:p>
        </p:txBody>
      </p:sp>
      <p:sp>
        <p:nvSpPr>
          <p:cNvPr id="3" name="Footer Placeholder 2">
            <a:extLst>
              <a:ext uri="{FF2B5EF4-FFF2-40B4-BE49-F238E27FC236}">
                <a16:creationId xmlns:a16="http://schemas.microsoft.com/office/drawing/2014/main" id="{B3077522-01EC-2BE3-C661-6780CF3012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2F1A399-C916-AE45-EF07-7258696936DA}"/>
              </a:ext>
            </a:extLst>
          </p:cNvPr>
          <p:cNvSpPr>
            <a:spLocks noGrp="1"/>
          </p:cNvSpPr>
          <p:nvPr>
            <p:ph type="sldNum" sz="quarter" idx="12"/>
          </p:nvPr>
        </p:nvSpPr>
        <p:spPr/>
        <p:txBody>
          <a:bodyPr/>
          <a:lstStyle/>
          <a:p>
            <a:fld id="{20D29746-5C70-4D8C-8FC8-360312473182}" type="slidenum">
              <a:rPr lang="en-IN" smtClean="0"/>
              <a:t>‹#›</a:t>
            </a:fld>
            <a:endParaRPr lang="en-IN"/>
          </a:p>
        </p:txBody>
      </p:sp>
    </p:spTree>
    <p:extLst>
      <p:ext uri="{BB962C8B-B14F-4D97-AF65-F5344CB8AC3E}">
        <p14:creationId xmlns:p14="http://schemas.microsoft.com/office/powerpoint/2010/main" val="3528565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8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9"/>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39" indent="0">
              <a:lnSpc>
                <a:spcPct val="100000"/>
              </a:lnSpc>
              <a:buClr>
                <a:schemeClr val="accent1"/>
              </a:buClr>
              <a:buSzPct val="100000"/>
              <a:buNone/>
              <a:defRPr sz="2000" b="0" i="0">
                <a:solidFill>
                  <a:schemeClr val="bg2"/>
                </a:solidFill>
                <a:latin typeface="Montserrat" pitchFamily="2" charset="77"/>
              </a:defRPr>
            </a:lvl2pPr>
            <a:lvl3pPr marL="913896" indent="0">
              <a:lnSpc>
                <a:spcPct val="100000"/>
              </a:lnSpc>
              <a:buClr>
                <a:schemeClr val="accent1"/>
              </a:buClr>
              <a:buSzPct val="100000"/>
              <a:buNone/>
              <a:defRPr sz="1800" b="0" i="0">
                <a:solidFill>
                  <a:schemeClr val="bg2"/>
                </a:solidFill>
                <a:latin typeface="Montserrat" pitchFamily="2" charset="77"/>
              </a:defRPr>
            </a:lvl3pPr>
            <a:lvl4pPr marL="1370849" indent="0">
              <a:lnSpc>
                <a:spcPct val="100000"/>
              </a:lnSpc>
              <a:buClr>
                <a:schemeClr val="accent1"/>
              </a:buClr>
              <a:buSzPct val="100000"/>
              <a:buNone/>
              <a:defRPr sz="1600" b="0" i="0">
                <a:solidFill>
                  <a:schemeClr val="bg2"/>
                </a:solidFill>
                <a:latin typeface="Montserrat" pitchFamily="2" charset="77"/>
              </a:defRPr>
            </a:lvl4pPr>
            <a:lvl5pPr marL="1827789"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6" y="453195"/>
            <a:ext cx="10857999" cy="553998"/>
          </a:xfrm>
          <a:prstGeom prst="rect">
            <a:avLst/>
          </a:prstGeom>
        </p:spPr>
        <p:txBody>
          <a:bodyPr wrap="square" lIns="0" tIns="0" rIns="0" bIns="0" anchor="t">
            <a:spAutoFit/>
          </a:bodyPr>
          <a:lstStyle>
            <a:lvl1pPr marL="0" algn="l" defTabSz="913883"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9"/>
            <a:ext cx="342926"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81"/>
            <a:ext cx="1173040" cy="144911"/>
          </a:xfrm>
          <a:prstGeom prst="rect">
            <a:avLst/>
          </a:prstGeom>
          <a:noFill/>
        </p:spPr>
        <p:txBody>
          <a:bodyPr wrap="square" lIns="0" tIns="0" rIns="0" bIns="0" rtlCol="0">
            <a:spAutoFit/>
          </a:bodyPr>
          <a:lstStyle/>
          <a:p>
            <a:pPr marL="0" marR="0" lvl="0" indent="0" algn="r" defTabSz="914218"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99847267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3.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D206_0.xml"/><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microsoft.com/office/2018/10/relationships/comments" Target="../comments/modernComment_7FFFD209_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0993D-4F83-39C9-7C09-41684C6E30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869D2D7-A410-8C20-38B9-A0AAD147F469}"/>
              </a:ext>
            </a:extLst>
          </p:cNvPr>
          <p:cNvSpPr>
            <a:spLocks noGrp="1"/>
          </p:cNvSpPr>
          <p:nvPr>
            <p:ph type="body" idx="14"/>
          </p:nvPr>
        </p:nvSpPr>
        <p:spPr>
          <a:xfrm>
            <a:off x="597180" y="1713266"/>
            <a:ext cx="5030662" cy="565656"/>
          </a:xfrm>
        </p:spPr>
        <p:txBody>
          <a:bodyPr/>
          <a:lstStyle/>
          <a:p>
            <a:r>
              <a:rPr lang="en-US">
                <a:latin typeface="Montserrat"/>
              </a:rPr>
              <a:t>Tableau to SF</a:t>
            </a:r>
          </a:p>
        </p:txBody>
      </p:sp>
      <p:sp>
        <p:nvSpPr>
          <p:cNvPr id="8" name="Text Placeholder 7">
            <a:extLst>
              <a:ext uri="{FF2B5EF4-FFF2-40B4-BE49-F238E27FC236}">
                <a16:creationId xmlns:a16="http://schemas.microsoft.com/office/drawing/2014/main" id="{8FA06BF8-3EBA-49F1-FC59-6F35AB9A8CE2}"/>
              </a:ext>
            </a:extLst>
          </p:cNvPr>
          <p:cNvSpPr>
            <a:spLocks noGrp="1"/>
          </p:cNvSpPr>
          <p:nvPr>
            <p:ph type="body" idx="15"/>
          </p:nvPr>
        </p:nvSpPr>
        <p:spPr>
          <a:xfrm>
            <a:off x="580851" y="2706584"/>
            <a:ext cx="8710033" cy="1253688"/>
          </a:xfrm>
        </p:spPr>
        <p:txBody>
          <a:bodyPr/>
          <a:lstStyle/>
          <a:p>
            <a:r>
              <a:rPr lang="en-US" sz="2300">
                <a:solidFill>
                  <a:srgbClr val="002060"/>
                </a:solidFill>
                <a:latin typeface="Montserrat"/>
              </a:rPr>
              <a:t>AI-Powered Analytics Platform Modernization Accelerator</a:t>
            </a:r>
          </a:p>
          <a:p>
            <a:r>
              <a:rPr lang="en-US" sz="2300" i="1">
                <a:solidFill>
                  <a:srgbClr val="002060"/>
                </a:solidFill>
                <a:latin typeface="Montserrat"/>
              </a:rPr>
              <a:t>[Tableau to Power BI]</a:t>
            </a:r>
          </a:p>
        </p:txBody>
      </p:sp>
      <p:grpSp>
        <p:nvGrpSpPr>
          <p:cNvPr id="9" name="Group 8">
            <a:extLst>
              <a:ext uri="{FF2B5EF4-FFF2-40B4-BE49-F238E27FC236}">
                <a16:creationId xmlns:a16="http://schemas.microsoft.com/office/drawing/2014/main" id="{E927475E-7FC9-5E53-EB2C-6BBFDCA429BD}"/>
              </a:ext>
            </a:extLst>
          </p:cNvPr>
          <p:cNvGrpSpPr/>
          <p:nvPr/>
        </p:nvGrpSpPr>
        <p:grpSpPr>
          <a:xfrm>
            <a:off x="10527301" y="5516162"/>
            <a:ext cx="914400" cy="1099066"/>
            <a:chOff x="10527301" y="5516162"/>
            <a:chExt cx="914400" cy="1099066"/>
          </a:xfrm>
        </p:grpSpPr>
        <p:pic>
          <p:nvPicPr>
            <p:cNvPr id="10" name="Graphic 9" descr="Rewind with solid fill">
              <a:hlinkClick r:id="" action="ppaction://noaction"/>
              <a:extLst>
                <a:ext uri="{FF2B5EF4-FFF2-40B4-BE49-F238E27FC236}">
                  <a16:creationId xmlns:a16="http://schemas.microsoft.com/office/drawing/2014/main" id="{077B13E6-6172-455C-7318-61D5FABA23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7301" y="5516162"/>
              <a:ext cx="914400" cy="914400"/>
            </a:xfrm>
            <a:prstGeom prst="rect">
              <a:avLst/>
            </a:prstGeom>
          </p:spPr>
        </p:pic>
        <p:sp>
          <p:nvSpPr>
            <p:cNvPr id="11" name="TextBox 10">
              <a:extLst>
                <a:ext uri="{FF2B5EF4-FFF2-40B4-BE49-F238E27FC236}">
                  <a16:creationId xmlns:a16="http://schemas.microsoft.com/office/drawing/2014/main" id="{53DF1252-FC50-3CE6-BF08-4BF1F1CB2B67}"/>
                </a:ext>
              </a:extLst>
            </p:cNvPr>
            <p:cNvSpPr txBox="1"/>
            <p:nvPr/>
          </p:nvSpPr>
          <p:spPr>
            <a:xfrm>
              <a:off x="10669102" y="6245896"/>
              <a:ext cx="681597" cy="369332"/>
            </a:xfrm>
            <a:prstGeom prst="rect">
              <a:avLst/>
            </a:prstGeom>
            <a:noFill/>
          </p:spPr>
          <p:txBody>
            <a:bodyPr wrap="none" rtlCol="0">
              <a:spAutoFit/>
            </a:bodyPr>
            <a:lstStyle/>
            <a:p>
              <a:r>
                <a:rPr lang="en-US"/>
                <a:t>Back</a:t>
              </a:r>
            </a:p>
          </p:txBody>
        </p:sp>
      </p:grpSp>
    </p:spTree>
    <p:extLst>
      <p:ext uri="{BB962C8B-B14F-4D97-AF65-F5344CB8AC3E}">
        <p14:creationId xmlns:p14="http://schemas.microsoft.com/office/powerpoint/2010/main" val="1921568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237744"/>
            <a:ext cx="3950208" cy="310896"/>
          </a:xfrm>
          <a:prstGeom prst="roundRect">
            <a:avLst>
              <a:gd name="adj" fmla="val 17647"/>
            </a:avLst>
          </a:prstGeom>
          <a:solidFill>
            <a:srgbClr val="053057"/>
          </a:solidFill>
          <a:ln w="12700">
            <a:solidFill>
              <a:srgbClr val="053057"/>
            </a:solidFill>
            <a:prstDash val="solid"/>
          </a:ln>
        </p:spPr>
        <p:txBody>
          <a:bodyPr/>
          <a:lstStyle/>
          <a:p>
            <a:endParaRPr lang="en-IN"/>
          </a:p>
        </p:txBody>
      </p:sp>
      <p:sp>
        <p:nvSpPr>
          <p:cNvPr id="3" name="Text 1"/>
          <p:cNvSpPr/>
          <p:nvPr/>
        </p:nvSpPr>
        <p:spPr>
          <a:xfrm>
            <a:off x="548640" y="237744"/>
            <a:ext cx="3950208" cy="310896"/>
          </a:xfrm>
          <a:prstGeom prst="rect">
            <a:avLst/>
          </a:prstGeom>
          <a:noFill/>
          <a:ln/>
        </p:spPr>
        <p:txBody>
          <a:bodyPr wrap="square" lIns="0" tIns="0" rIns="0" bIns="0" rtlCol="0" anchor="ctr"/>
          <a:lstStyle/>
          <a:p>
            <a:pPr marL="0" indent="0" algn="ctr">
              <a:buNone/>
            </a:pPr>
            <a:r>
              <a:rPr lang="en-US" sz="1000" b="1" kern="0" spc="140">
                <a:solidFill>
                  <a:srgbClr val="00EDED"/>
                </a:solidFill>
                <a:latin typeface="Montserrat" pitchFamily="34" charset="0"/>
                <a:ea typeface="Montserrat" pitchFamily="34" charset="-122"/>
                <a:cs typeface="Montserrat" pitchFamily="34" charset="-120"/>
              </a:rPr>
              <a:t>TABLEAU  →  STREAMLIT IN SNOWFLAKE</a:t>
            </a:r>
            <a:endParaRPr lang="en-US" sz="1000"/>
          </a:p>
        </p:txBody>
      </p:sp>
      <p:sp>
        <p:nvSpPr>
          <p:cNvPr id="4" name="Text 2"/>
          <p:cNvSpPr/>
          <p:nvPr/>
        </p:nvSpPr>
        <p:spPr>
          <a:xfrm>
            <a:off x="548640" y="621792"/>
            <a:ext cx="11064240" cy="493776"/>
          </a:xfrm>
          <a:prstGeom prst="rect">
            <a:avLst/>
          </a:prstGeom>
          <a:noFill/>
          <a:ln/>
        </p:spPr>
        <p:txBody>
          <a:bodyPr wrap="square" lIns="0" tIns="0" rIns="0" bIns="0" rtlCol="0" anchor="ctr"/>
          <a:lstStyle/>
          <a:p>
            <a:pPr marL="0" indent="0">
              <a:buNone/>
            </a:pPr>
            <a:r>
              <a:rPr lang="en-US" sz="3000" b="1">
                <a:solidFill>
                  <a:srgbClr val="053057"/>
                </a:solidFill>
                <a:latin typeface="Montserrat" pitchFamily="34" charset="0"/>
                <a:ea typeface="Montserrat" pitchFamily="34" charset="-122"/>
                <a:cs typeface="Montserrat" pitchFamily="34" charset="-120"/>
              </a:rPr>
              <a:t>Tableau Dashboards, Rebuilt Natively in Snowflake</a:t>
            </a:r>
            <a:endParaRPr lang="en-US" sz="3000"/>
          </a:p>
        </p:txBody>
      </p:sp>
      <p:sp>
        <p:nvSpPr>
          <p:cNvPr id="5" name="Text 3"/>
          <p:cNvSpPr/>
          <p:nvPr/>
        </p:nvSpPr>
        <p:spPr>
          <a:xfrm>
            <a:off x="548640" y="1115568"/>
            <a:ext cx="11064240" cy="274320"/>
          </a:xfrm>
          <a:prstGeom prst="rect">
            <a:avLst/>
          </a:prstGeom>
          <a:noFill/>
          <a:ln/>
        </p:spPr>
        <p:txBody>
          <a:bodyPr wrap="square" lIns="0" tIns="0" rIns="0" bIns="0" rtlCol="0" anchor="ctr"/>
          <a:lstStyle/>
          <a:p>
            <a:pPr marL="0" indent="0">
              <a:buNone/>
            </a:pPr>
            <a:r>
              <a:rPr lang="en-US" sz="1350" dirty="0">
                <a:solidFill>
                  <a:srgbClr val="6B7C88"/>
                </a:solidFill>
                <a:latin typeface="Montserrat" pitchFamily="34" charset="0"/>
                <a:ea typeface="Montserrat" pitchFamily="34" charset="-122"/>
                <a:cs typeface="Montserrat" pitchFamily="34" charset="-120"/>
              </a:rPr>
              <a:t>Modernize the existing analytics stack, dashboards, running on the data Snowflake already holds</a:t>
            </a:r>
            <a:endParaRPr lang="en-US" sz="1350" dirty="0"/>
          </a:p>
        </p:txBody>
      </p:sp>
      <p:sp>
        <p:nvSpPr>
          <p:cNvPr id="6" name="Text 4"/>
          <p:cNvSpPr/>
          <p:nvPr/>
        </p:nvSpPr>
        <p:spPr>
          <a:xfrm>
            <a:off x="548640" y="1426464"/>
            <a:ext cx="3575304" cy="256032"/>
          </a:xfrm>
          <a:prstGeom prst="rect">
            <a:avLst/>
          </a:prstGeom>
          <a:noFill/>
          <a:ln/>
        </p:spPr>
        <p:txBody>
          <a:bodyPr wrap="square" lIns="0" tIns="0" rIns="0" bIns="0" rtlCol="0" anchor="ctr"/>
          <a:lstStyle/>
          <a:p>
            <a:pPr marL="0" indent="0">
              <a:buNone/>
            </a:pPr>
            <a:r>
              <a:rPr lang="en-US" sz="1000" b="1" kern="0" spc="120">
                <a:solidFill>
                  <a:srgbClr val="6B7C88"/>
                </a:solidFill>
                <a:latin typeface="Montserrat" pitchFamily="34" charset="0"/>
                <a:ea typeface="Montserrat" pitchFamily="34" charset="-122"/>
                <a:cs typeface="Montserrat" pitchFamily="34" charset="-120"/>
              </a:rPr>
              <a:t>THE CHALLENGE TODAY WITH TABLEAU</a:t>
            </a:r>
            <a:endParaRPr lang="en-US" sz="1000"/>
          </a:p>
        </p:txBody>
      </p:sp>
      <p:sp>
        <p:nvSpPr>
          <p:cNvPr id="7" name="Text 5"/>
          <p:cNvSpPr/>
          <p:nvPr/>
        </p:nvSpPr>
        <p:spPr>
          <a:xfrm>
            <a:off x="4306824" y="1426464"/>
            <a:ext cx="3575304" cy="256032"/>
          </a:xfrm>
          <a:prstGeom prst="rect">
            <a:avLst/>
          </a:prstGeom>
          <a:noFill/>
          <a:ln/>
        </p:spPr>
        <p:txBody>
          <a:bodyPr wrap="square" lIns="0" tIns="0" rIns="0" bIns="0" rtlCol="0" anchor="ctr"/>
          <a:lstStyle/>
          <a:p>
            <a:pPr marL="0" indent="0">
              <a:buNone/>
            </a:pPr>
            <a:r>
              <a:rPr lang="en-US" sz="1000" b="1" kern="0" spc="120">
                <a:solidFill>
                  <a:srgbClr val="6B7C88"/>
                </a:solidFill>
                <a:latin typeface="Montserrat" pitchFamily="34" charset="0"/>
                <a:ea typeface="Montserrat" pitchFamily="34" charset="-122"/>
                <a:cs typeface="Montserrat" pitchFamily="34" charset="-120"/>
              </a:rPr>
              <a:t>TRADITIONAL SOLUTION</a:t>
            </a:r>
            <a:endParaRPr lang="en-US" sz="1000"/>
          </a:p>
        </p:txBody>
      </p:sp>
      <p:sp>
        <p:nvSpPr>
          <p:cNvPr id="8" name="Text 6"/>
          <p:cNvSpPr/>
          <p:nvPr/>
        </p:nvSpPr>
        <p:spPr>
          <a:xfrm>
            <a:off x="8065008" y="1426464"/>
            <a:ext cx="3575304" cy="256032"/>
          </a:xfrm>
          <a:prstGeom prst="rect">
            <a:avLst/>
          </a:prstGeom>
          <a:noFill/>
          <a:ln/>
        </p:spPr>
        <p:txBody>
          <a:bodyPr wrap="square" lIns="0" tIns="0" rIns="0" bIns="0" rtlCol="0" anchor="ctr"/>
          <a:lstStyle/>
          <a:p>
            <a:pPr marL="0" indent="0">
              <a:buNone/>
            </a:pPr>
            <a:r>
              <a:rPr lang="en-US" sz="1000" b="1" kern="0" spc="120">
                <a:solidFill>
                  <a:srgbClr val="053057"/>
                </a:solidFill>
                <a:latin typeface="Montserrat" pitchFamily="34" charset="0"/>
                <a:ea typeface="Montserrat" pitchFamily="34" charset="-122"/>
                <a:cs typeface="Montserrat" pitchFamily="34" charset="-120"/>
              </a:rPr>
              <a:t>TABLEAU → STREAMLIT IN SNOWFLAKE</a:t>
            </a:r>
            <a:endParaRPr lang="en-US" sz="1000"/>
          </a:p>
        </p:txBody>
      </p:sp>
      <p:sp>
        <p:nvSpPr>
          <p:cNvPr id="9" name="Shape 7"/>
          <p:cNvSpPr/>
          <p:nvPr/>
        </p:nvSpPr>
        <p:spPr>
          <a:xfrm>
            <a:off x="548640" y="17007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10" name="Text 8"/>
          <p:cNvSpPr/>
          <p:nvPr/>
        </p:nvSpPr>
        <p:spPr>
          <a:xfrm>
            <a:off x="786384" y="1847088"/>
            <a:ext cx="3099816" cy="329184"/>
          </a:xfrm>
          <a:prstGeom prst="rect">
            <a:avLst/>
          </a:prstGeom>
          <a:noFill/>
          <a:ln/>
        </p:spPr>
        <p:txBody>
          <a:bodyPr wrap="square" lIns="0" tIns="0" rIns="0" bIns="0" rtlCol="0" anchor="ctr"/>
          <a:lstStyle/>
          <a:p>
            <a:pPr marL="0" indent="0">
              <a:buNone/>
            </a:pPr>
            <a:r>
              <a:rPr lang="en-US" sz="1250" b="1">
                <a:solidFill>
                  <a:srgbClr val="314550"/>
                </a:solidFill>
                <a:latin typeface="Montserrat" pitchFamily="34" charset="0"/>
                <a:ea typeface="Montserrat" pitchFamily="34" charset="-122"/>
                <a:cs typeface="Montserrat" pitchFamily="34" charset="-120"/>
              </a:rPr>
              <a:t>Licences on top of Snowflake</a:t>
            </a:r>
            <a:endParaRPr lang="en-US" sz="1250"/>
          </a:p>
        </p:txBody>
      </p:sp>
      <p:sp>
        <p:nvSpPr>
          <p:cNvPr id="11" name="Text 9"/>
          <p:cNvSpPr/>
          <p:nvPr/>
        </p:nvSpPr>
        <p:spPr>
          <a:xfrm>
            <a:off x="786384" y="2231136"/>
            <a:ext cx="3099816" cy="621792"/>
          </a:xfrm>
          <a:prstGeom prst="rect">
            <a:avLst/>
          </a:prstGeom>
          <a:noFill/>
          <a:ln/>
        </p:spPr>
        <p:txBody>
          <a:bodyPr wrap="square" lIns="0" tIns="0" rIns="0" bIns="0" rtlCol="0" anchor="ctr"/>
          <a:lstStyle/>
          <a:p>
            <a:pPr marL="0" indent="0">
              <a:buNone/>
            </a:pPr>
            <a:r>
              <a:rPr lang="en-US" sz="950">
                <a:solidFill>
                  <a:srgbClr val="6B7C88"/>
                </a:solidFill>
                <a:latin typeface="Montserrat" pitchFamily="34" charset="0"/>
                <a:ea typeface="Montserrat" pitchFamily="34" charset="-122"/>
                <a:cs typeface="Montserrat" pitchFamily="34" charset="-120"/>
              </a:rPr>
              <a:t>Creator and viewer licences billed per user, every year, for a presentation layer sitting on data Snowflake already holds.</a:t>
            </a:r>
            <a:endParaRPr lang="en-US" sz="950"/>
          </a:p>
        </p:txBody>
      </p:sp>
      <p:sp>
        <p:nvSpPr>
          <p:cNvPr id="12" name="Shape 10"/>
          <p:cNvSpPr/>
          <p:nvPr/>
        </p:nvSpPr>
        <p:spPr>
          <a:xfrm>
            <a:off x="4306824" y="17007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13" name="Text 11"/>
          <p:cNvSpPr/>
          <p:nvPr/>
        </p:nvSpPr>
        <p:spPr>
          <a:xfrm>
            <a:off x="4544568" y="1847088"/>
            <a:ext cx="3099816" cy="329184"/>
          </a:xfrm>
          <a:prstGeom prst="rect">
            <a:avLst/>
          </a:prstGeom>
          <a:noFill/>
          <a:ln/>
        </p:spPr>
        <p:txBody>
          <a:bodyPr wrap="square" lIns="0" tIns="0" rIns="0" bIns="0" rtlCol="0" anchor="ctr"/>
          <a:lstStyle/>
          <a:p>
            <a:pPr marL="0" indent="0">
              <a:buNone/>
            </a:pPr>
            <a:r>
              <a:rPr lang="en-US" sz="1250" b="1">
                <a:solidFill>
                  <a:srgbClr val="314550"/>
                </a:solidFill>
                <a:latin typeface="Montserrat" pitchFamily="34" charset="0"/>
                <a:ea typeface="Montserrat" pitchFamily="34" charset="-122"/>
                <a:cs typeface="Montserrat" pitchFamily="34" charset="-120"/>
              </a:rPr>
              <a:t>Renew, and keep paying</a:t>
            </a:r>
            <a:endParaRPr lang="en-US" sz="1250"/>
          </a:p>
        </p:txBody>
      </p:sp>
      <p:sp>
        <p:nvSpPr>
          <p:cNvPr id="14" name="Text 12"/>
          <p:cNvSpPr/>
          <p:nvPr/>
        </p:nvSpPr>
        <p:spPr>
          <a:xfrm>
            <a:off x="4544568" y="2231136"/>
            <a:ext cx="3099816" cy="621792"/>
          </a:xfrm>
          <a:prstGeom prst="rect">
            <a:avLst/>
          </a:prstGeom>
          <a:noFill/>
          <a:ln/>
        </p:spPr>
        <p:txBody>
          <a:bodyPr wrap="square" lIns="0" tIns="0" rIns="0" bIns="0" rtlCol="0" anchor="ctr"/>
          <a:lstStyle/>
          <a:p>
            <a:pPr marL="0" indent="0">
              <a:buNone/>
            </a:pPr>
            <a:r>
              <a:rPr lang="en-US" sz="950">
                <a:solidFill>
                  <a:srgbClr val="6B7C88"/>
                </a:solidFill>
                <a:latin typeface="Montserrat" pitchFamily="34" charset="0"/>
                <a:ea typeface="Montserrat" pitchFamily="34" charset="-122"/>
                <a:cs typeface="Montserrat" pitchFamily="34" charset="-120"/>
              </a:rPr>
              <a:t>The licence renews because the dashboards live there. Cost grows with every viewer added.</a:t>
            </a:r>
            <a:endParaRPr lang="en-US" sz="950"/>
          </a:p>
        </p:txBody>
      </p:sp>
      <p:sp>
        <p:nvSpPr>
          <p:cNvPr id="15" name="Shape 13"/>
          <p:cNvSpPr/>
          <p:nvPr/>
        </p:nvSpPr>
        <p:spPr>
          <a:xfrm>
            <a:off x="8065008" y="1700784"/>
            <a:ext cx="3575304" cy="1261872"/>
          </a:xfrm>
          <a:prstGeom prst="roundRect">
            <a:avLst>
              <a:gd name="adj" fmla="val 5797"/>
            </a:avLst>
          </a:prstGeom>
          <a:solidFill>
            <a:srgbClr val="053057"/>
          </a:solidFill>
          <a:ln w="12700">
            <a:solidFill>
              <a:srgbClr val="053057"/>
            </a:solidFill>
            <a:prstDash val="solid"/>
          </a:ln>
        </p:spPr>
        <p:txBody>
          <a:bodyPr/>
          <a:lstStyle/>
          <a:p>
            <a:endParaRPr lang="en-IN"/>
          </a:p>
        </p:txBody>
      </p:sp>
      <p:sp>
        <p:nvSpPr>
          <p:cNvPr id="16" name="Shape 14"/>
          <p:cNvSpPr/>
          <p:nvPr/>
        </p:nvSpPr>
        <p:spPr>
          <a:xfrm>
            <a:off x="8302752" y="1901952"/>
            <a:ext cx="237744" cy="237744"/>
          </a:xfrm>
          <a:prstGeom prst="ellipse">
            <a:avLst/>
          </a:prstGeom>
          <a:solidFill>
            <a:srgbClr val="00EDED"/>
          </a:solidFill>
          <a:ln/>
        </p:spPr>
        <p:txBody>
          <a:bodyPr/>
          <a:lstStyle/>
          <a:p>
            <a:endParaRPr lang="en-IN"/>
          </a:p>
        </p:txBody>
      </p:sp>
      <p:sp>
        <p:nvSpPr>
          <p:cNvPr id="17" name="Text 15"/>
          <p:cNvSpPr/>
          <p:nvPr/>
        </p:nvSpPr>
        <p:spPr>
          <a:xfrm>
            <a:off x="8631936" y="1847088"/>
            <a:ext cx="2770632" cy="329184"/>
          </a:xfrm>
          <a:prstGeom prst="rect">
            <a:avLst/>
          </a:prstGeom>
          <a:noFill/>
          <a:ln/>
        </p:spPr>
        <p:txBody>
          <a:bodyPr wrap="square" lIns="0" tIns="0" rIns="0" bIns="0" rtlCol="0" anchor="ctr"/>
          <a:lstStyle/>
          <a:p>
            <a:pPr marL="0" indent="0">
              <a:buNone/>
            </a:pPr>
            <a:r>
              <a:rPr lang="en-US" sz="1250" b="1">
                <a:solidFill>
                  <a:srgbClr val="FFFFFF"/>
                </a:solidFill>
                <a:latin typeface="Montserrat" pitchFamily="34" charset="0"/>
                <a:ea typeface="Montserrat" pitchFamily="34" charset="-122"/>
                <a:cs typeface="Montserrat" pitchFamily="34" charset="-120"/>
              </a:rPr>
              <a:t>Dashboards move to what you own</a:t>
            </a:r>
            <a:endParaRPr lang="en-US" sz="1250"/>
          </a:p>
        </p:txBody>
      </p:sp>
      <p:sp>
        <p:nvSpPr>
          <p:cNvPr id="18" name="Text 16"/>
          <p:cNvSpPr/>
          <p:nvPr/>
        </p:nvSpPr>
        <p:spPr>
          <a:xfrm>
            <a:off x="8302752" y="2231136"/>
            <a:ext cx="3099816" cy="621792"/>
          </a:xfrm>
          <a:prstGeom prst="rect">
            <a:avLst/>
          </a:prstGeom>
          <a:noFill/>
          <a:ln/>
        </p:spPr>
        <p:txBody>
          <a:bodyPr wrap="square" lIns="0" tIns="0" rIns="0" bIns="0" rtlCol="0" anchor="ctr"/>
          <a:lstStyle/>
          <a:p>
            <a:pPr marL="0" indent="0">
              <a:buNone/>
            </a:pPr>
            <a:r>
              <a:rPr lang="en-US" sz="950">
                <a:solidFill>
                  <a:srgbClr val="A2F3F3"/>
                </a:solidFill>
                <a:latin typeface="Montserrat" pitchFamily="34" charset="0"/>
                <a:ea typeface="Montserrat" pitchFamily="34" charset="-122"/>
                <a:cs typeface="Montserrat" pitchFamily="34" charset="-120"/>
              </a:rPr>
              <a:t>Streamlit is already part of Snowflake. The same dashboards run with no BI licence underneath them.</a:t>
            </a:r>
            <a:endParaRPr lang="en-US" sz="950"/>
          </a:p>
        </p:txBody>
      </p:sp>
      <p:sp>
        <p:nvSpPr>
          <p:cNvPr id="19" name="Shape 17"/>
          <p:cNvSpPr/>
          <p:nvPr/>
        </p:nvSpPr>
        <p:spPr>
          <a:xfrm>
            <a:off x="548640" y="30723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20" name="Text 18"/>
          <p:cNvSpPr/>
          <p:nvPr/>
        </p:nvSpPr>
        <p:spPr>
          <a:xfrm>
            <a:off x="786384" y="3218688"/>
            <a:ext cx="3099816" cy="329184"/>
          </a:xfrm>
          <a:prstGeom prst="rect">
            <a:avLst/>
          </a:prstGeom>
          <a:noFill/>
          <a:ln/>
        </p:spPr>
        <p:txBody>
          <a:bodyPr wrap="square" lIns="0" tIns="0" rIns="0" bIns="0" rtlCol="0" anchor="ctr"/>
          <a:lstStyle/>
          <a:p>
            <a:pPr marL="0" indent="0">
              <a:buNone/>
            </a:pPr>
            <a:r>
              <a:rPr lang="en-US" sz="1250" b="1">
                <a:solidFill>
                  <a:srgbClr val="314550"/>
                </a:solidFill>
                <a:latin typeface="Montserrat" pitchFamily="34" charset="0"/>
                <a:ea typeface="Montserrat" pitchFamily="34" charset="-122"/>
                <a:cs typeface="Montserrat" pitchFamily="34" charset="-120"/>
              </a:rPr>
              <a:t>A specialist skill to hire for</a:t>
            </a:r>
            <a:endParaRPr lang="en-US" sz="1250"/>
          </a:p>
        </p:txBody>
      </p:sp>
      <p:sp>
        <p:nvSpPr>
          <p:cNvPr id="21" name="Text 19"/>
          <p:cNvSpPr/>
          <p:nvPr/>
        </p:nvSpPr>
        <p:spPr>
          <a:xfrm>
            <a:off x="786384" y="3602736"/>
            <a:ext cx="3099816" cy="621792"/>
          </a:xfrm>
          <a:prstGeom prst="rect">
            <a:avLst/>
          </a:prstGeom>
          <a:noFill/>
          <a:ln/>
        </p:spPr>
        <p:txBody>
          <a:bodyPr wrap="square" lIns="0" tIns="0" rIns="0" bIns="0" rtlCol="0" anchor="ctr"/>
          <a:lstStyle/>
          <a:p>
            <a:pPr marL="0" indent="0">
              <a:buNone/>
            </a:pPr>
            <a:r>
              <a:rPr lang="en-US" sz="950">
                <a:solidFill>
                  <a:srgbClr val="6B7C88"/>
                </a:solidFill>
                <a:latin typeface="Montserrat" pitchFamily="34" charset="0"/>
                <a:ea typeface="Montserrat" pitchFamily="34" charset="-122"/>
                <a:cs typeface="Montserrat" pitchFamily="34" charset="-120"/>
              </a:rPr>
              <a:t>Tableau development is its own discipline — its own hiring line, contractors, and a handoff on every model change.</a:t>
            </a:r>
            <a:endParaRPr lang="en-US" sz="950"/>
          </a:p>
        </p:txBody>
      </p:sp>
      <p:sp>
        <p:nvSpPr>
          <p:cNvPr id="22" name="Shape 20"/>
          <p:cNvSpPr/>
          <p:nvPr/>
        </p:nvSpPr>
        <p:spPr>
          <a:xfrm>
            <a:off x="4306824" y="30723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23" name="Text 21"/>
          <p:cNvSpPr/>
          <p:nvPr/>
        </p:nvSpPr>
        <p:spPr>
          <a:xfrm>
            <a:off x="4544568" y="3218688"/>
            <a:ext cx="3099816" cy="329184"/>
          </a:xfrm>
          <a:prstGeom prst="rect">
            <a:avLst/>
          </a:prstGeom>
          <a:noFill/>
          <a:ln/>
        </p:spPr>
        <p:txBody>
          <a:bodyPr wrap="square" lIns="0" tIns="0" rIns="0" bIns="0" rtlCol="0" anchor="ctr"/>
          <a:lstStyle/>
          <a:p>
            <a:pPr marL="0" indent="0">
              <a:buNone/>
            </a:pPr>
            <a:r>
              <a:rPr lang="en-US" sz="1250" b="1">
                <a:solidFill>
                  <a:srgbClr val="314550"/>
                </a:solidFill>
                <a:latin typeface="Montserrat" pitchFamily="34" charset="0"/>
                <a:ea typeface="Montserrat" pitchFamily="34" charset="-122"/>
                <a:cs typeface="Montserrat" pitchFamily="34" charset="-120"/>
              </a:rPr>
              <a:t>Hire or contract more of it</a:t>
            </a:r>
            <a:endParaRPr lang="en-US" sz="1250"/>
          </a:p>
        </p:txBody>
      </p:sp>
      <p:sp>
        <p:nvSpPr>
          <p:cNvPr id="24" name="Text 22"/>
          <p:cNvSpPr/>
          <p:nvPr/>
        </p:nvSpPr>
        <p:spPr>
          <a:xfrm>
            <a:off x="4544568" y="3602736"/>
            <a:ext cx="3099816" cy="621792"/>
          </a:xfrm>
          <a:prstGeom prst="rect">
            <a:avLst/>
          </a:prstGeom>
          <a:noFill/>
          <a:ln/>
        </p:spPr>
        <p:txBody>
          <a:bodyPr wrap="square" lIns="0" tIns="0" rIns="0" bIns="0" rtlCol="0" anchor="ctr"/>
          <a:lstStyle/>
          <a:p>
            <a:pPr marL="0" indent="0">
              <a:buNone/>
            </a:pPr>
            <a:r>
              <a:rPr lang="en-US" sz="950">
                <a:solidFill>
                  <a:srgbClr val="6B7C88"/>
                </a:solidFill>
                <a:latin typeface="Montserrat" pitchFamily="34" charset="0"/>
                <a:ea typeface="Montserrat" pitchFamily="34" charset="-122"/>
                <a:cs typeface="Montserrat" pitchFamily="34" charset="-120"/>
              </a:rPr>
              <a:t>Capacity is bought in and the dependency deepens with each new dashboard.</a:t>
            </a:r>
            <a:endParaRPr lang="en-US" sz="950"/>
          </a:p>
        </p:txBody>
      </p:sp>
      <p:sp>
        <p:nvSpPr>
          <p:cNvPr id="25" name="Shape 23"/>
          <p:cNvSpPr/>
          <p:nvPr/>
        </p:nvSpPr>
        <p:spPr>
          <a:xfrm>
            <a:off x="8065008" y="3072384"/>
            <a:ext cx="3575304" cy="1261872"/>
          </a:xfrm>
          <a:prstGeom prst="roundRect">
            <a:avLst>
              <a:gd name="adj" fmla="val 5797"/>
            </a:avLst>
          </a:prstGeom>
          <a:solidFill>
            <a:srgbClr val="053057"/>
          </a:solidFill>
          <a:ln w="12700">
            <a:solidFill>
              <a:srgbClr val="053057"/>
            </a:solidFill>
            <a:prstDash val="solid"/>
          </a:ln>
        </p:spPr>
        <p:txBody>
          <a:bodyPr/>
          <a:lstStyle/>
          <a:p>
            <a:endParaRPr lang="en-IN"/>
          </a:p>
        </p:txBody>
      </p:sp>
      <p:sp>
        <p:nvSpPr>
          <p:cNvPr id="26" name="Shape 24"/>
          <p:cNvSpPr/>
          <p:nvPr/>
        </p:nvSpPr>
        <p:spPr>
          <a:xfrm>
            <a:off x="8302752" y="3273552"/>
            <a:ext cx="237744" cy="237744"/>
          </a:xfrm>
          <a:prstGeom prst="ellipse">
            <a:avLst/>
          </a:prstGeom>
          <a:solidFill>
            <a:srgbClr val="00EDED"/>
          </a:solidFill>
          <a:ln/>
        </p:spPr>
        <p:txBody>
          <a:bodyPr/>
          <a:lstStyle/>
          <a:p>
            <a:endParaRPr lang="en-IN"/>
          </a:p>
        </p:txBody>
      </p:sp>
      <p:sp>
        <p:nvSpPr>
          <p:cNvPr id="27" name="Text 25"/>
          <p:cNvSpPr/>
          <p:nvPr/>
        </p:nvSpPr>
        <p:spPr>
          <a:xfrm>
            <a:off x="8631936" y="3218688"/>
            <a:ext cx="2770632" cy="329184"/>
          </a:xfrm>
          <a:prstGeom prst="rect">
            <a:avLst/>
          </a:prstGeom>
          <a:noFill/>
          <a:ln/>
        </p:spPr>
        <p:txBody>
          <a:bodyPr wrap="square" lIns="0" tIns="0" rIns="0" bIns="0" rtlCol="0" anchor="ctr"/>
          <a:lstStyle/>
          <a:p>
            <a:pPr marL="0" indent="0">
              <a:buNone/>
            </a:pPr>
            <a:r>
              <a:rPr lang="en-US" sz="1250" b="1">
                <a:solidFill>
                  <a:srgbClr val="FFFFFF"/>
                </a:solidFill>
                <a:latin typeface="Montserrat" pitchFamily="34" charset="0"/>
                <a:ea typeface="Montserrat" pitchFamily="34" charset="-122"/>
                <a:cs typeface="Montserrat" pitchFamily="34" charset="-120"/>
              </a:rPr>
              <a:t>Your data team already has it</a:t>
            </a:r>
            <a:endParaRPr lang="en-US" sz="1250"/>
          </a:p>
        </p:txBody>
      </p:sp>
      <p:sp>
        <p:nvSpPr>
          <p:cNvPr id="28" name="Text 26"/>
          <p:cNvSpPr/>
          <p:nvPr/>
        </p:nvSpPr>
        <p:spPr>
          <a:xfrm>
            <a:off x="8302752" y="3602736"/>
            <a:ext cx="3099816" cy="621792"/>
          </a:xfrm>
          <a:prstGeom prst="rect">
            <a:avLst/>
          </a:prstGeom>
          <a:noFill/>
          <a:ln/>
        </p:spPr>
        <p:txBody>
          <a:bodyPr wrap="square" lIns="0" tIns="0" rIns="0" bIns="0" rtlCol="0" anchor="ctr"/>
          <a:lstStyle/>
          <a:p>
            <a:pPr marL="0" indent="0">
              <a:buNone/>
            </a:pPr>
            <a:r>
              <a:rPr lang="en-US" sz="950">
                <a:solidFill>
                  <a:srgbClr val="A2F3F3"/>
                </a:solidFill>
                <a:latin typeface="Montserrat" pitchFamily="34" charset="0"/>
                <a:ea typeface="Montserrat" pitchFamily="34" charset="-122"/>
                <a:cs typeface="Montserrat" pitchFamily="34" charset="-120"/>
              </a:rPr>
              <a:t>Streamlit is Python. The engineers already on the platform own the whole path, table to dashboard.</a:t>
            </a:r>
            <a:endParaRPr lang="en-US" sz="950"/>
          </a:p>
        </p:txBody>
      </p:sp>
      <p:sp>
        <p:nvSpPr>
          <p:cNvPr id="29" name="Shape 27"/>
          <p:cNvSpPr/>
          <p:nvPr/>
        </p:nvSpPr>
        <p:spPr>
          <a:xfrm>
            <a:off x="548640" y="44439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30" name="Text 28"/>
          <p:cNvSpPr/>
          <p:nvPr/>
        </p:nvSpPr>
        <p:spPr>
          <a:xfrm>
            <a:off x="786384" y="4590288"/>
            <a:ext cx="3099816" cy="329184"/>
          </a:xfrm>
          <a:prstGeom prst="rect">
            <a:avLst/>
          </a:prstGeom>
          <a:noFill/>
          <a:ln/>
        </p:spPr>
        <p:txBody>
          <a:bodyPr wrap="square" lIns="0" tIns="0" rIns="0" bIns="0" rtlCol="0" anchor="ctr"/>
          <a:lstStyle/>
          <a:p>
            <a:pPr marL="0" indent="0">
              <a:buNone/>
            </a:pPr>
            <a:r>
              <a:rPr lang="en-US" sz="1250" b="1">
                <a:solidFill>
                  <a:srgbClr val="314550"/>
                </a:solidFill>
                <a:latin typeface="Montserrat" pitchFamily="34" charset="0"/>
                <a:ea typeface="Montserrat" pitchFamily="34" charset="-122"/>
                <a:cs typeface="Montserrat" pitchFamily="34" charset="-120"/>
              </a:rPr>
              <a:t>A </a:t>
            </a:r>
            <a:r>
              <a:rPr lang="en-US" sz="1250" b="1" err="1">
                <a:solidFill>
                  <a:srgbClr val="314550"/>
                </a:solidFill>
                <a:latin typeface="Montserrat" pitchFamily="34" charset="0"/>
                <a:ea typeface="Montserrat" pitchFamily="34" charset="-122"/>
                <a:cs typeface="Montserrat" pitchFamily="34" charset="-120"/>
              </a:rPr>
              <a:t>seperate</a:t>
            </a:r>
            <a:r>
              <a:rPr lang="en-US" sz="1250" b="1">
                <a:solidFill>
                  <a:srgbClr val="314550"/>
                </a:solidFill>
                <a:latin typeface="Montserrat" pitchFamily="34" charset="0"/>
                <a:ea typeface="Montserrat" pitchFamily="34" charset="-122"/>
                <a:cs typeface="Montserrat" pitchFamily="34" charset="-120"/>
              </a:rPr>
              <a:t> platform to run</a:t>
            </a:r>
            <a:endParaRPr lang="en-US" sz="1250"/>
          </a:p>
        </p:txBody>
      </p:sp>
      <p:sp>
        <p:nvSpPr>
          <p:cNvPr id="31" name="Text 29"/>
          <p:cNvSpPr/>
          <p:nvPr/>
        </p:nvSpPr>
        <p:spPr>
          <a:xfrm>
            <a:off x="786384" y="4974336"/>
            <a:ext cx="3099816" cy="621792"/>
          </a:xfrm>
          <a:prstGeom prst="rect">
            <a:avLst/>
          </a:prstGeom>
          <a:noFill/>
          <a:ln/>
        </p:spPr>
        <p:txBody>
          <a:bodyPr wrap="square" lIns="0" tIns="0" rIns="0" bIns="0" rtlCol="0" anchor="ctr"/>
          <a:lstStyle/>
          <a:p>
            <a:pPr marL="0" indent="0">
              <a:buNone/>
            </a:pPr>
            <a:r>
              <a:rPr lang="en-US" sz="950">
                <a:solidFill>
                  <a:srgbClr val="6B7C88"/>
                </a:solidFill>
                <a:latin typeface="Montserrat" pitchFamily="34" charset="0"/>
                <a:ea typeface="Montserrat" pitchFamily="34" charset="-122"/>
                <a:cs typeface="Montserrat" pitchFamily="34" charset="-120"/>
              </a:rPr>
              <a:t>Another environment to host, upgrade and support, with access rules re-implemented away from the data.</a:t>
            </a:r>
            <a:endParaRPr lang="en-US" sz="950"/>
          </a:p>
        </p:txBody>
      </p:sp>
      <p:sp>
        <p:nvSpPr>
          <p:cNvPr id="32" name="Shape 30"/>
          <p:cNvSpPr/>
          <p:nvPr/>
        </p:nvSpPr>
        <p:spPr>
          <a:xfrm>
            <a:off x="4306824" y="44439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33" name="Text 31"/>
          <p:cNvSpPr/>
          <p:nvPr/>
        </p:nvSpPr>
        <p:spPr>
          <a:xfrm>
            <a:off x="4544568" y="4590288"/>
            <a:ext cx="3099816" cy="329184"/>
          </a:xfrm>
          <a:prstGeom prst="rect">
            <a:avLst/>
          </a:prstGeom>
          <a:noFill/>
          <a:ln/>
        </p:spPr>
        <p:txBody>
          <a:bodyPr wrap="square" lIns="0" tIns="0" rIns="0" bIns="0" rtlCol="0" anchor="ctr"/>
          <a:lstStyle/>
          <a:p>
            <a:pPr marL="0" indent="0">
              <a:buNone/>
            </a:pPr>
            <a:r>
              <a:rPr lang="en-US" sz="1250" b="1">
                <a:solidFill>
                  <a:srgbClr val="314550"/>
                </a:solidFill>
                <a:latin typeface="Montserrat" pitchFamily="34" charset="0"/>
                <a:ea typeface="Montserrat" pitchFamily="34" charset="-122"/>
                <a:cs typeface="Montserrat" pitchFamily="34" charset="-120"/>
              </a:rPr>
              <a:t>Maintain both, indefinitely</a:t>
            </a:r>
            <a:endParaRPr lang="en-US" sz="1250"/>
          </a:p>
        </p:txBody>
      </p:sp>
      <p:sp>
        <p:nvSpPr>
          <p:cNvPr id="34" name="Text 32"/>
          <p:cNvSpPr/>
          <p:nvPr/>
        </p:nvSpPr>
        <p:spPr>
          <a:xfrm>
            <a:off x="4544568" y="4974336"/>
            <a:ext cx="3099816" cy="621792"/>
          </a:xfrm>
          <a:prstGeom prst="rect">
            <a:avLst/>
          </a:prstGeom>
          <a:noFill/>
          <a:ln/>
        </p:spPr>
        <p:txBody>
          <a:bodyPr wrap="square" lIns="0" tIns="0" rIns="0" bIns="0" rtlCol="0" anchor="ctr"/>
          <a:lstStyle/>
          <a:p>
            <a:pPr marL="0" indent="0">
              <a:buNone/>
            </a:pPr>
            <a:r>
              <a:rPr lang="en-US" sz="950">
                <a:solidFill>
                  <a:srgbClr val="6B7C88"/>
                </a:solidFill>
                <a:latin typeface="Montserrat" pitchFamily="34" charset="0"/>
                <a:ea typeface="Montserrat" pitchFamily="34" charset="-122"/>
                <a:cs typeface="Montserrat" pitchFamily="34" charset="-120"/>
              </a:rPr>
              <a:t>Two platforms, two governance models, two support lines, permanently.</a:t>
            </a:r>
            <a:endParaRPr lang="en-US" sz="950"/>
          </a:p>
        </p:txBody>
      </p:sp>
      <p:sp>
        <p:nvSpPr>
          <p:cNvPr id="35" name="Shape 33"/>
          <p:cNvSpPr/>
          <p:nvPr/>
        </p:nvSpPr>
        <p:spPr>
          <a:xfrm>
            <a:off x="8065008" y="4443984"/>
            <a:ext cx="3575304" cy="1261872"/>
          </a:xfrm>
          <a:prstGeom prst="roundRect">
            <a:avLst>
              <a:gd name="adj" fmla="val 5797"/>
            </a:avLst>
          </a:prstGeom>
          <a:solidFill>
            <a:srgbClr val="053057"/>
          </a:solidFill>
          <a:ln w="12700">
            <a:solidFill>
              <a:srgbClr val="053057"/>
            </a:solidFill>
            <a:prstDash val="solid"/>
          </a:ln>
        </p:spPr>
        <p:txBody>
          <a:bodyPr/>
          <a:lstStyle/>
          <a:p>
            <a:endParaRPr lang="en-IN"/>
          </a:p>
        </p:txBody>
      </p:sp>
      <p:sp>
        <p:nvSpPr>
          <p:cNvPr id="36" name="Shape 34"/>
          <p:cNvSpPr/>
          <p:nvPr/>
        </p:nvSpPr>
        <p:spPr>
          <a:xfrm>
            <a:off x="8302752" y="4645152"/>
            <a:ext cx="237744" cy="237744"/>
          </a:xfrm>
          <a:prstGeom prst="ellipse">
            <a:avLst/>
          </a:prstGeom>
          <a:solidFill>
            <a:srgbClr val="00EDED"/>
          </a:solidFill>
          <a:ln/>
        </p:spPr>
        <p:txBody>
          <a:bodyPr/>
          <a:lstStyle/>
          <a:p>
            <a:endParaRPr lang="en-IN"/>
          </a:p>
        </p:txBody>
      </p:sp>
      <p:sp>
        <p:nvSpPr>
          <p:cNvPr id="37" name="Text 35"/>
          <p:cNvSpPr/>
          <p:nvPr/>
        </p:nvSpPr>
        <p:spPr>
          <a:xfrm>
            <a:off x="8631936" y="4590288"/>
            <a:ext cx="2770632" cy="329184"/>
          </a:xfrm>
          <a:prstGeom prst="rect">
            <a:avLst/>
          </a:prstGeom>
          <a:noFill/>
          <a:ln/>
        </p:spPr>
        <p:txBody>
          <a:bodyPr wrap="square" lIns="0" tIns="0" rIns="0" bIns="0" rtlCol="0" anchor="ctr"/>
          <a:lstStyle/>
          <a:p>
            <a:pPr marL="0" indent="0">
              <a:buNone/>
            </a:pPr>
            <a:r>
              <a:rPr lang="en-US" sz="1250" b="1">
                <a:solidFill>
                  <a:srgbClr val="FFFFFF"/>
                </a:solidFill>
                <a:latin typeface="Montserrat" pitchFamily="34" charset="0"/>
                <a:ea typeface="Montserrat" pitchFamily="34" charset="-122"/>
                <a:cs typeface="Montserrat" pitchFamily="34" charset="-120"/>
              </a:rPr>
              <a:t>One platform, one set of roles</a:t>
            </a:r>
            <a:endParaRPr lang="en-US" sz="1250"/>
          </a:p>
        </p:txBody>
      </p:sp>
      <p:sp>
        <p:nvSpPr>
          <p:cNvPr id="38" name="Text 36"/>
          <p:cNvSpPr/>
          <p:nvPr/>
        </p:nvSpPr>
        <p:spPr>
          <a:xfrm>
            <a:off x="8302752" y="4974336"/>
            <a:ext cx="3099816" cy="621792"/>
          </a:xfrm>
          <a:prstGeom prst="rect">
            <a:avLst/>
          </a:prstGeom>
          <a:noFill/>
          <a:ln/>
        </p:spPr>
        <p:txBody>
          <a:bodyPr wrap="square" lIns="0" tIns="0" rIns="0" bIns="0" rtlCol="0" anchor="ctr"/>
          <a:lstStyle/>
          <a:p>
            <a:pPr marL="0" indent="0">
              <a:buNone/>
            </a:pPr>
            <a:r>
              <a:rPr lang="en-US" sz="950">
                <a:solidFill>
                  <a:srgbClr val="A2F3F3"/>
                </a:solidFill>
                <a:latin typeface="Montserrat" pitchFamily="34" charset="0"/>
                <a:ea typeface="Montserrat" pitchFamily="34" charset="-122"/>
                <a:cs typeface="Montserrat" pitchFamily="34" charset="-120"/>
              </a:rPr>
              <a:t>Serverless inside Snowflake, governed by the roles already managed there.</a:t>
            </a:r>
            <a:endParaRPr lang="en-US" sz="950"/>
          </a:p>
        </p:txBody>
      </p:sp>
      <p:sp>
        <p:nvSpPr>
          <p:cNvPr id="39" name="Shape 37"/>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txBody>
          <a:bodyPr/>
          <a:lstStyle/>
          <a:p>
            <a:endParaRPr lang="en-IN"/>
          </a:p>
        </p:txBody>
      </p:sp>
      <p:sp>
        <p:nvSpPr>
          <p:cNvPr id="40" name="Text 38"/>
          <p:cNvSpPr/>
          <p:nvPr/>
        </p:nvSpPr>
        <p:spPr>
          <a:xfrm>
            <a:off x="841248" y="5980176"/>
            <a:ext cx="10515600" cy="530352"/>
          </a:xfrm>
          <a:prstGeom prst="rect">
            <a:avLst/>
          </a:prstGeom>
          <a:noFill/>
          <a:ln/>
        </p:spPr>
        <p:txBody>
          <a:bodyPr wrap="square" lIns="0" tIns="0" rIns="0" bIns="0" rtlCol="0" anchor="ctr"/>
          <a:lstStyle/>
          <a:p>
            <a:pPr marL="0" indent="0">
              <a:buNone/>
            </a:pPr>
            <a:r>
              <a:rPr lang="en-US" sz="1050" b="1">
                <a:solidFill>
                  <a:srgbClr val="00EDED"/>
                </a:solidFill>
                <a:latin typeface="Montserrat" pitchFamily="34" charset="0"/>
                <a:ea typeface="Montserrat" pitchFamily="34" charset="-122"/>
                <a:cs typeface="Montserrat" pitchFamily="34" charset="-120"/>
              </a:rPr>
              <a:t>The dashboards were never the problem — the platform underneath them was.  </a:t>
            </a:r>
            <a:r>
              <a:rPr lang="en-US" sz="1050">
                <a:solidFill>
                  <a:srgbClr val="D6E6F0"/>
                </a:solidFill>
                <a:latin typeface="Montserrat" pitchFamily="34" charset="0"/>
                <a:ea typeface="Montserrat" pitchFamily="34" charset="-122"/>
                <a:cs typeface="Montserrat" pitchFamily="34" charset="-120"/>
              </a:rPr>
              <a:t>Snowflake already stores the data, runs every query, and now hosts the dashboards and the AI as well. The one thing that kept the BI tool in place was the cost of rebuilding what it holds..</a:t>
            </a:r>
            <a:endParaRPr lang="en-US" sz="1050"/>
          </a:p>
        </p:txBody>
      </p:sp>
    </p:spTree>
    <p:extLst>
      <p:ext uri="{BB962C8B-B14F-4D97-AF65-F5344CB8AC3E}">
        <p14:creationId xmlns:p14="http://schemas.microsoft.com/office/powerpoint/2010/main" val="2684013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a:solidFill>
                  <a:srgbClr val="FFFFFF"/>
                </a:solidFill>
                <a:latin typeface="Montserrat" pitchFamily="34" charset="0"/>
                <a:ea typeface="Montserrat" pitchFamily="34" charset="-122"/>
                <a:cs typeface="Montserrat" pitchFamily="34" charset="-120"/>
              </a:rPr>
              <a:t>AI-Accelerated Migration, With Human in the loop</a:t>
            </a:r>
            <a:endParaRPr lang="en-US" sz="320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a:p>
        </p:txBody>
      </p:sp>
      <p:sp>
        <p:nvSpPr>
          <p:cNvPr id="4" name="Shape 2"/>
          <p:cNvSpPr/>
          <p:nvPr/>
        </p:nvSpPr>
        <p:spPr>
          <a:xfrm>
            <a:off x="548640" y="1225296"/>
            <a:ext cx="2103120" cy="2048256"/>
          </a:xfrm>
          <a:prstGeom prst="roundRect">
            <a:avLst>
              <a:gd name="adj" fmla="val 3571"/>
            </a:avLst>
          </a:prstGeom>
          <a:solidFill>
            <a:srgbClr val="0A3E6B"/>
          </a:solidFill>
          <a:ln w="12700">
            <a:solidFill>
              <a:srgbClr val="17517F"/>
            </a:solidFill>
            <a:prstDash val="solid"/>
          </a:ln>
        </p:spPr>
        <p:txBody>
          <a:bodyPr/>
          <a:lstStyle/>
          <a:p>
            <a:endParaRPr lang="en-IN"/>
          </a:p>
        </p:txBody>
      </p:sp>
      <p:sp>
        <p:nvSpPr>
          <p:cNvPr id="5" name="Text 3"/>
          <p:cNvSpPr/>
          <p:nvPr/>
        </p:nvSpPr>
        <p:spPr>
          <a:xfrm>
            <a:off x="731520" y="1371600"/>
            <a:ext cx="1737360" cy="219456"/>
          </a:xfrm>
          <a:prstGeom prst="rect">
            <a:avLst/>
          </a:prstGeom>
          <a:noFill/>
          <a:ln/>
        </p:spPr>
        <p:txBody>
          <a:bodyPr wrap="square" lIns="0" tIns="0" rIns="0" bIns="0" rtlCol="0" anchor="ctr"/>
          <a:lstStyle/>
          <a:p>
            <a:pPr marL="0" indent="0">
              <a:buNone/>
            </a:pPr>
            <a:r>
              <a:rPr lang="en-US" sz="900" b="1" kern="0" spc="100">
                <a:solidFill>
                  <a:srgbClr val="6B7C88"/>
                </a:solidFill>
                <a:latin typeface="Montserrat" pitchFamily="34" charset="0"/>
                <a:ea typeface="Montserrat" pitchFamily="34" charset="-122"/>
                <a:cs typeface="Montserrat" pitchFamily="34" charset="-120"/>
              </a:rPr>
              <a:t>Stage 1</a:t>
            </a:r>
            <a:endParaRPr lang="en-US" sz="900"/>
          </a:p>
        </p:txBody>
      </p:sp>
      <p:sp>
        <p:nvSpPr>
          <p:cNvPr id="6" name="Text 4"/>
          <p:cNvSpPr/>
          <p:nvPr/>
        </p:nvSpPr>
        <p:spPr>
          <a:xfrm>
            <a:off x="731520" y="1609344"/>
            <a:ext cx="1737360" cy="475488"/>
          </a:xfrm>
          <a:prstGeom prst="rect">
            <a:avLst/>
          </a:prstGeom>
          <a:noFill/>
          <a:ln/>
        </p:spPr>
        <p:txBody>
          <a:bodyPr wrap="square" lIns="0" tIns="0" rIns="0" bIns="0" rtlCol="0" anchor="ctr"/>
          <a:lstStyle/>
          <a:p>
            <a:pPr marL="0" indent="0">
              <a:buNone/>
            </a:pPr>
            <a:r>
              <a:rPr lang="en-US" sz="1300" b="1">
                <a:solidFill>
                  <a:srgbClr val="FFFFFF"/>
                </a:solidFill>
                <a:latin typeface="Montserrat" pitchFamily="34" charset="0"/>
                <a:ea typeface="Montserrat" pitchFamily="34" charset="-122"/>
                <a:cs typeface="Montserrat" pitchFamily="34" charset="-120"/>
              </a:rPr>
              <a:t>Discovery</a:t>
            </a:r>
            <a:endParaRPr lang="en-US" sz="1300"/>
          </a:p>
        </p:txBody>
      </p:sp>
      <p:sp>
        <p:nvSpPr>
          <p:cNvPr id="7" name="Text 5"/>
          <p:cNvSpPr/>
          <p:nvPr/>
        </p:nvSpPr>
        <p:spPr>
          <a:xfrm>
            <a:off x="731520" y="2121408"/>
            <a:ext cx="1737360" cy="1042416"/>
          </a:xfrm>
          <a:prstGeom prst="rect">
            <a:avLst/>
          </a:prstGeom>
          <a:noFill/>
          <a:ln/>
        </p:spPr>
        <p:txBody>
          <a:bodyPr wrap="square" lIns="0" tIns="0" rIns="0" bIns="0" rtlCol="0" anchor="ctr"/>
          <a:lstStyle/>
          <a:p>
            <a:pPr marL="0" indent="0">
              <a:lnSpc>
                <a:spcPct val="103000"/>
              </a:lnSpc>
              <a:buNone/>
            </a:pPr>
            <a:r>
              <a:rPr lang="en-US" sz="85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a:p>
        </p:txBody>
      </p:sp>
      <p:sp>
        <p:nvSpPr>
          <p:cNvPr id="8" name="Shape 6"/>
          <p:cNvSpPr/>
          <p:nvPr/>
        </p:nvSpPr>
        <p:spPr>
          <a:xfrm>
            <a:off x="2816352" y="1225296"/>
            <a:ext cx="2103120" cy="2048256"/>
          </a:xfrm>
          <a:prstGeom prst="roundRect">
            <a:avLst>
              <a:gd name="adj" fmla="val 3571"/>
            </a:avLst>
          </a:prstGeom>
          <a:solidFill>
            <a:srgbClr val="0A3E6B"/>
          </a:solidFill>
          <a:ln w="12700">
            <a:solidFill>
              <a:srgbClr val="17517F"/>
            </a:solidFill>
            <a:prstDash val="solid"/>
          </a:ln>
        </p:spPr>
        <p:txBody>
          <a:bodyPr/>
          <a:lstStyle/>
          <a:p>
            <a:endParaRPr lang="en-IN"/>
          </a:p>
        </p:txBody>
      </p:sp>
      <p:sp>
        <p:nvSpPr>
          <p:cNvPr id="9" name="Text 7"/>
          <p:cNvSpPr/>
          <p:nvPr/>
        </p:nvSpPr>
        <p:spPr>
          <a:xfrm>
            <a:off x="2999232" y="1371600"/>
            <a:ext cx="1737360" cy="219456"/>
          </a:xfrm>
          <a:prstGeom prst="rect">
            <a:avLst/>
          </a:prstGeom>
          <a:noFill/>
          <a:ln/>
        </p:spPr>
        <p:txBody>
          <a:bodyPr wrap="square" lIns="0" tIns="0" rIns="0" bIns="0" rtlCol="0" anchor="ctr"/>
          <a:lstStyle/>
          <a:p>
            <a:pPr marL="0" indent="0">
              <a:buNone/>
            </a:pPr>
            <a:r>
              <a:rPr lang="en-US" sz="900" b="1" kern="0" spc="100">
                <a:solidFill>
                  <a:srgbClr val="6B7C88"/>
                </a:solidFill>
                <a:latin typeface="Montserrat" pitchFamily="34" charset="0"/>
                <a:ea typeface="Montserrat" pitchFamily="34" charset="-122"/>
                <a:cs typeface="Montserrat" pitchFamily="34" charset="-120"/>
              </a:rPr>
              <a:t>Stage 2</a:t>
            </a:r>
            <a:endParaRPr lang="en-US" sz="90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marL="0" indent="0">
              <a:buNone/>
            </a:pPr>
            <a:r>
              <a:rPr lang="en-US" sz="1300" b="1">
                <a:solidFill>
                  <a:srgbClr val="FFFFFF"/>
                </a:solidFill>
                <a:latin typeface="Montserrat" pitchFamily="34" charset="0"/>
                <a:ea typeface="Montserrat" pitchFamily="34" charset="-122"/>
                <a:cs typeface="Montserrat" pitchFamily="34" charset="-120"/>
              </a:rPr>
              <a:t>Model Extraction</a:t>
            </a:r>
            <a:endParaRPr lang="en-US" sz="1300"/>
          </a:p>
        </p:txBody>
      </p:sp>
      <p:sp>
        <p:nvSpPr>
          <p:cNvPr id="11" name="Text 9"/>
          <p:cNvSpPr/>
          <p:nvPr/>
        </p:nvSpPr>
        <p:spPr>
          <a:xfrm>
            <a:off x="2999232" y="2121408"/>
            <a:ext cx="1737360" cy="1042416"/>
          </a:xfrm>
          <a:prstGeom prst="rect">
            <a:avLst/>
          </a:prstGeom>
          <a:noFill/>
          <a:ln/>
        </p:spPr>
        <p:txBody>
          <a:bodyPr wrap="square" lIns="0" tIns="0" rIns="0" bIns="0" rtlCol="0" anchor="ctr"/>
          <a:lstStyle/>
          <a:p>
            <a:pPr marL="0" indent="0">
              <a:lnSpc>
                <a:spcPct val="103000"/>
              </a:lnSpc>
              <a:buNone/>
            </a:pPr>
            <a:r>
              <a:rPr lang="en-US" sz="85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a:p>
        </p:txBody>
      </p:sp>
      <p:sp>
        <p:nvSpPr>
          <p:cNvPr id="12" name="Shape 10"/>
          <p:cNvSpPr/>
          <p:nvPr/>
        </p:nvSpPr>
        <p:spPr>
          <a:xfrm>
            <a:off x="5084064"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13" name="Text 11"/>
          <p:cNvSpPr/>
          <p:nvPr/>
        </p:nvSpPr>
        <p:spPr>
          <a:xfrm>
            <a:off x="5266944" y="1371600"/>
            <a:ext cx="1737360" cy="219456"/>
          </a:xfrm>
          <a:prstGeom prst="rect">
            <a:avLst/>
          </a:prstGeom>
          <a:noFill/>
          <a:ln/>
        </p:spPr>
        <p:txBody>
          <a:bodyPr wrap="square" lIns="0" tIns="0" rIns="0" bIns="0" rtlCol="0" anchor="ctr"/>
          <a:lstStyle/>
          <a:p>
            <a:pPr marL="0" indent="0">
              <a:buNone/>
            </a:pPr>
            <a:r>
              <a:rPr lang="en-US" sz="900" b="1" kern="0" spc="100">
                <a:solidFill>
                  <a:srgbClr val="00EDED"/>
                </a:solidFill>
                <a:latin typeface="Montserrat" pitchFamily="34" charset="0"/>
                <a:ea typeface="Montserrat" pitchFamily="34" charset="-122"/>
                <a:cs typeface="Montserrat" pitchFamily="34" charset="-120"/>
              </a:rPr>
              <a:t>Stage 3</a:t>
            </a:r>
            <a:endParaRPr lang="en-US" sz="90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marL="0" indent="0">
              <a:buNone/>
            </a:pPr>
            <a:r>
              <a:rPr lang="en-US" sz="1300" b="1">
                <a:solidFill>
                  <a:srgbClr val="FFFFFF"/>
                </a:solidFill>
                <a:latin typeface="Montserrat" pitchFamily="34" charset="0"/>
                <a:ea typeface="Montserrat" pitchFamily="34" charset="-122"/>
                <a:cs typeface="Montserrat" pitchFamily="34" charset="-120"/>
              </a:rPr>
              <a:t>Cortex Translation</a:t>
            </a:r>
            <a:endParaRPr lang="en-US" sz="1300"/>
          </a:p>
        </p:txBody>
      </p:sp>
      <p:sp>
        <p:nvSpPr>
          <p:cNvPr id="15" name="Text 13"/>
          <p:cNvSpPr/>
          <p:nvPr/>
        </p:nvSpPr>
        <p:spPr>
          <a:xfrm>
            <a:off x="5266944" y="2121408"/>
            <a:ext cx="1737360" cy="1042416"/>
          </a:xfrm>
          <a:prstGeom prst="rect">
            <a:avLst/>
          </a:prstGeom>
          <a:noFill/>
          <a:ln/>
        </p:spPr>
        <p:txBody>
          <a:bodyPr wrap="square" lIns="0" tIns="0" rIns="0" bIns="0" rtlCol="0" anchor="ctr"/>
          <a:lstStyle/>
          <a:p>
            <a:pPr marL="0" indent="0">
              <a:lnSpc>
                <a:spcPct val="103000"/>
              </a:lnSpc>
              <a:buNone/>
            </a:pPr>
            <a:r>
              <a:rPr lang="en-US" sz="85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a:p>
        </p:txBody>
      </p:sp>
      <p:sp>
        <p:nvSpPr>
          <p:cNvPr id="16" name="Shape 14"/>
          <p:cNvSpPr/>
          <p:nvPr/>
        </p:nvSpPr>
        <p:spPr>
          <a:xfrm>
            <a:off x="7351776"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17" name="Text 15"/>
          <p:cNvSpPr/>
          <p:nvPr/>
        </p:nvSpPr>
        <p:spPr>
          <a:xfrm>
            <a:off x="7534656" y="1371600"/>
            <a:ext cx="1737360" cy="219456"/>
          </a:xfrm>
          <a:prstGeom prst="rect">
            <a:avLst/>
          </a:prstGeom>
          <a:noFill/>
          <a:ln/>
        </p:spPr>
        <p:txBody>
          <a:bodyPr wrap="square" lIns="0" tIns="0" rIns="0" bIns="0" rtlCol="0" anchor="ctr"/>
          <a:lstStyle/>
          <a:p>
            <a:pPr marL="0" indent="0">
              <a:buNone/>
            </a:pPr>
            <a:r>
              <a:rPr lang="en-US" sz="900" b="1" kern="0" spc="100">
                <a:solidFill>
                  <a:srgbClr val="00EDED"/>
                </a:solidFill>
                <a:latin typeface="Montserrat" pitchFamily="34" charset="0"/>
                <a:ea typeface="Montserrat" pitchFamily="34" charset="-122"/>
                <a:cs typeface="Montserrat" pitchFamily="34" charset="-120"/>
              </a:rPr>
              <a:t>Stage 4</a:t>
            </a:r>
            <a:endParaRPr lang="en-US" sz="90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marL="0" indent="0">
              <a:buNone/>
            </a:pPr>
            <a:r>
              <a:rPr lang="en-US" sz="1300" b="1">
                <a:solidFill>
                  <a:srgbClr val="FFFFFF"/>
                </a:solidFill>
                <a:latin typeface="Montserrat" pitchFamily="34" charset="0"/>
                <a:ea typeface="Montserrat" pitchFamily="34" charset="-122"/>
                <a:cs typeface="Montserrat" pitchFamily="34" charset="-120"/>
              </a:rPr>
              <a:t>Semantic + App</a:t>
            </a:r>
            <a:endParaRPr lang="en-US" sz="1300"/>
          </a:p>
        </p:txBody>
      </p:sp>
      <p:sp>
        <p:nvSpPr>
          <p:cNvPr id="19" name="Text 17"/>
          <p:cNvSpPr/>
          <p:nvPr/>
        </p:nvSpPr>
        <p:spPr>
          <a:xfrm>
            <a:off x="7534656" y="2121408"/>
            <a:ext cx="1737360" cy="1042416"/>
          </a:xfrm>
          <a:prstGeom prst="rect">
            <a:avLst/>
          </a:prstGeom>
          <a:noFill/>
          <a:ln/>
        </p:spPr>
        <p:txBody>
          <a:bodyPr wrap="square" lIns="0" tIns="0" rIns="0" bIns="0" rtlCol="0" anchor="ctr"/>
          <a:lstStyle/>
          <a:p>
            <a:pPr marL="0" indent="0">
              <a:lnSpc>
                <a:spcPct val="103000"/>
              </a:lnSpc>
              <a:buNone/>
            </a:pPr>
            <a:r>
              <a:rPr lang="en-US" sz="85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a:p>
        </p:txBody>
      </p:sp>
      <p:sp>
        <p:nvSpPr>
          <p:cNvPr id="20" name="Shape 18"/>
          <p:cNvSpPr/>
          <p:nvPr/>
        </p:nvSpPr>
        <p:spPr>
          <a:xfrm>
            <a:off x="9619488"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21" name="Text 19"/>
          <p:cNvSpPr/>
          <p:nvPr/>
        </p:nvSpPr>
        <p:spPr>
          <a:xfrm>
            <a:off x="9802368" y="1371600"/>
            <a:ext cx="1737360" cy="219456"/>
          </a:xfrm>
          <a:prstGeom prst="rect">
            <a:avLst/>
          </a:prstGeom>
          <a:noFill/>
          <a:ln/>
        </p:spPr>
        <p:txBody>
          <a:bodyPr wrap="square" lIns="0" tIns="0" rIns="0" bIns="0" rtlCol="0" anchor="ctr"/>
          <a:lstStyle/>
          <a:p>
            <a:pPr marL="0" indent="0">
              <a:buNone/>
            </a:pPr>
            <a:r>
              <a:rPr lang="en-US" sz="900" b="1" kern="0" spc="100">
                <a:solidFill>
                  <a:srgbClr val="00EDED"/>
                </a:solidFill>
                <a:latin typeface="Montserrat" pitchFamily="34" charset="0"/>
                <a:ea typeface="Montserrat" pitchFamily="34" charset="-122"/>
                <a:cs typeface="Montserrat" pitchFamily="34" charset="-120"/>
              </a:rPr>
              <a:t>Stage 5</a:t>
            </a:r>
            <a:endParaRPr lang="en-US" sz="90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marL="0" indent="0">
              <a:buNone/>
            </a:pPr>
            <a:r>
              <a:rPr lang="en-US" sz="1300" b="1">
                <a:solidFill>
                  <a:srgbClr val="FFFFFF"/>
                </a:solidFill>
                <a:latin typeface="Montserrat" pitchFamily="34" charset="0"/>
                <a:ea typeface="Montserrat" pitchFamily="34" charset="-122"/>
                <a:cs typeface="Montserrat" pitchFamily="34" charset="-120"/>
              </a:rPr>
              <a:t>Cortex Validation</a:t>
            </a:r>
            <a:endParaRPr lang="en-US" sz="1300"/>
          </a:p>
        </p:txBody>
      </p:sp>
      <p:sp>
        <p:nvSpPr>
          <p:cNvPr id="23" name="Text 21"/>
          <p:cNvSpPr/>
          <p:nvPr/>
        </p:nvSpPr>
        <p:spPr>
          <a:xfrm>
            <a:off x="9802368" y="2121408"/>
            <a:ext cx="1737360" cy="1042416"/>
          </a:xfrm>
          <a:prstGeom prst="rect">
            <a:avLst/>
          </a:prstGeom>
          <a:noFill/>
          <a:ln/>
        </p:spPr>
        <p:txBody>
          <a:bodyPr wrap="square" lIns="0" tIns="0" rIns="0" bIns="0" rtlCol="0" anchor="ctr"/>
          <a:lstStyle/>
          <a:p>
            <a:pPr marL="0" indent="0">
              <a:lnSpc>
                <a:spcPct val="103000"/>
              </a:lnSpc>
              <a:buNone/>
            </a:pPr>
            <a:r>
              <a:rPr lang="en-US" sz="85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a:p>
        </p:txBody>
      </p:sp>
      <p:sp>
        <p:nvSpPr>
          <p:cNvPr id="24" name="Shape 22"/>
          <p:cNvSpPr/>
          <p:nvPr/>
        </p:nvSpPr>
        <p:spPr>
          <a:xfrm>
            <a:off x="548640" y="3401568"/>
            <a:ext cx="11091672" cy="420624"/>
          </a:xfrm>
          <a:prstGeom prst="roundRect">
            <a:avLst>
              <a:gd name="adj" fmla="val 13043"/>
            </a:avLst>
          </a:prstGeom>
          <a:solidFill>
            <a:srgbClr val="0A3E6B"/>
          </a:solidFill>
          <a:ln w="12700">
            <a:solidFill>
              <a:srgbClr val="17517F"/>
            </a:solidFill>
            <a:prstDash val="solid"/>
          </a:ln>
        </p:spPr>
        <p:txBody>
          <a:bodyPr/>
          <a:lstStyle/>
          <a:p>
            <a:endParaRPr lang="en-IN"/>
          </a:p>
        </p:txBody>
      </p:sp>
      <p:sp>
        <p:nvSpPr>
          <p:cNvPr id="25" name="Text 23"/>
          <p:cNvSpPr/>
          <p:nvPr/>
        </p:nvSpPr>
        <p:spPr>
          <a:xfrm>
            <a:off x="548640" y="3401568"/>
            <a:ext cx="11091672" cy="420624"/>
          </a:xfrm>
          <a:prstGeom prst="rect">
            <a:avLst/>
          </a:prstGeom>
          <a:noFill/>
          <a:ln/>
        </p:spPr>
        <p:txBody>
          <a:bodyPr wrap="square" lIns="0" tIns="0" rIns="0" bIns="0" rtlCol="0" anchor="ctr"/>
          <a:lstStyle/>
          <a:p>
            <a:pPr marL="0" indent="0" algn="ctr">
              <a:buNone/>
            </a:pPr>
            <a:r>
              <a:rPr lang="en-US" sz="1100" b="1" kern="0" spc="6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a:p>
        </p:txBody>
      </p:sp>
      <p:sp>
        <p:nvSpPr>
          <p:cNvPr id="26" name="Shape 24"/>
          <p:cNvSpPr/>
          <p:nvPr/>
        </p:nvSpPr>
        <p:spPr>
          <a:xfrm>
            <a:off x="548640" y="4005072"/>
            <a:ext cx="5431536" cy="1371600"/>
          </a:xfrm>
          <a:prstGeom prst="roundRect">
            <a:avLst>
              <a:gd name="adj" fmla="val 5333"/>
            </a:avLst>
          </a:prstGeom>
          <a:solidFill>
            <a:srgbClr val="0A3E6B"/>
          </a:solidFill>
          <a:ln w="15875">
            <a:solidFill>
              <a:srgbClr val="00EDED"/>
            </a:solidFill>
            <a:prstDash val="solid"/>
          </a:ln>
        </p:spPr>
        <p:txBody>
          <a:bodyPr/>
          <a:lstStyle/>
          <a:p>
            <a:endParaRPr lang="en-IN"/>
          </a:p>
        </p:txBody>
      </p:sp>
      <p:sp>
        <p:nvSpPr>
          <p:cNvPr id="27" name="Text 25"/>
          <p:cNvSpPr/>
          <p:nvPr/>
        </p:nvSpPr>
        <p:spPr>
          <a:xfrm>
            <a:off x="841248" y="4151376"/>
            <a:ext cx="4846320" cy="256032"/>
          </a:xfrm>
          <a:prstGeom prst="rect">
            <a:avLst/>
          </a:prstGeom>
          <a:noFill/>
          <a:ln/>
        </p:spPr>
        <p:txBody>
          <a:bodyPr wrap="square" lIns="0" tIns="0" rIns="0" bIns="0" rtlCol="0" anchor="ctr"/>
          <a:lstStyle/>
          <a:p>
            <a:pPr marL="0" indent="0">
              <a:buNone/>
            </a:pPr>
            <a:r>
              <a:rPr lang="en-US" sz="1250" b="1">
                <a:solidFill>
                  <a:srgbClr val="00EDED"/>
                </a:solidFill>
                <a:latin typeface="Montserrat" pitchFamily="34" charset="0"/>
                <a:ea typeface="Montserrat" pitchFamily="34" charset="-122"/>
                <a:cs typeface="Montserrat" pitchFamily="34" charset="-120"/>
              </a:rPr>
              <a:t>Human-in-the-Loop</a:t>
            </a:r>
            <a:endParaRPr lang="en-US" sz="1250"/>
          </a:p>
        </p:txBody>
      </p:sp>
      <p:sp>
        <p:nvSpPr>
          <p:cNvPr id="28" name="Text 26"/>
          <p:cNvSpPr/>
          <p:nvPr/>
        </p:nvSpPr>
        <p:spPr>
          <a:xfrm>
            <a:off x="841248" y="4443984"/>
            <a:ext cx="4846320" cy="822960"/>
          </a:xfrm>
          <a:prstGeom prst="rect">
            <a:avLst/>
          </a:prstGeom>
          <a:noFill/>
          <a:ln/>
        </p:spPr>
        <p:txBody>
          <a:bodyPr wrap="square" lIns="0" tIns="0" rIns="0" bIns="0" rtlCol="0" anchor="ctr"/>
          <a:lstStyle/>
          <a:p>
            <a:pPr marL="0" indent="0">
              <a:buNone/>
            </a:pPr>
            <a:r>
              <a:rPr lang="en-US" sz="95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a:p>
        </p:txBody>
      </p:sp>
      <p:sp>
        <p:nvSpPr>
          <p:cNvPr id="29" name="Shape 27"/>
          <p:cNvSpPr/>
          <p:nvPr/>
        </p:nvSpPr>
        <p:spPr>
          <a:xfrm>
            <a:off x="6208776" y="4005072"/>
            <a:ext cx="5431536" cy="1371600"/>
          </a:xfrm>
          <a:prstGeom prst="roundRect">
            <a:avLst>
              <a:gd name="adj" fmla="val 5333"/>
            </a:avLst>
          </a:prstGeom>
          <a:solidFill>
            <a:srgbClr val="0A3E6B"/>
          </a:solidFill>
          <a:ln w="15875">
            <a:solidFill>
              <a:srgbClr val="00EDED"/>
            </a:solidFill>
            <a:prstDash val="solid"/>
          </a:ln>
        </p:spPr>
        <p:txBody>
          <a:bodyPr/>
          <a:lstStyle/>
          <a:p>
            <a:endParaRPr lang="en-IN"/>
          </a:p>
        </p:txBody>
      </p:sp>
      <p:sp>
        <p:nvSpPr>
          <p:cNvPr id="30" name="Text 28"/>
          <p:cNvSpPr/>
          <p:nvPr/>
        </p:nvSpPr>
        <p:spPr>
          <a:xfrm>
            <a:off x="6501384" y="4151376"/>
            <a:ext cx="4846320" cy="256032"/>
          </a:xfrm>
          <a:prstGeom prst="rect">
            <a:avLst/>
          </a:prstGeom>
          <a:noFill/>
          <a:ln/>
        </p:spPr>
        <p:txBody>
          <a:bodyPr wrap="square" lIns="0" tIns="0" rIns="0" bIns="0" rtlCol="0" anchor="ctr"/>
          <a:lstStyle/>
          <a:p>
            <a:pPr marL="0" indent="0">
              <a:buNone/>
            </a:pPr>
            <a:r>
              <a:rPr lang="en-US" sz="1250" b="1">
                <a:solidFill>
                  <a:srgbClr val="00EDED"/>
                </a:solidFill>
                <a:latin typeface="Montserrat" pitchFamily="34" charset="0"/>
                <a:ea typeface="Montserrat" pitchFamily="34" charset="-122"/>
                <a:cs typeface="Montserrat" pitchFamily="34" charset="-120"/>
              </a:rPr>
              <a:t>Everything Runs In-Account</a:t>
            </a:r>
            <a:endParaRPr lang="en-US" sz="1250"/>
          </a:p>
        </p:txBody>
      </p:sp>
      <p:sp>
        <p:nvSpPr>
          <p:cNvPr id="31" name="Text 29"/>
          <p:cNvSpPr/>
          <p:nvPr/>
        </p:nvSpPr>
        <p:spPr>
          <a:xfrm>
            <a:off x="6501384" y="4443984"/>
            <a:ext cx="4846320" cy="822960"/>
          </a:xfrm>
          <a:prstGeom prst="rect">
            <a:avLst/>
          </a:prstGeom>
          <a:noFill/>
          <a:ln/>
        </p:spPr>
        <p:txBody>
          <a:bodyPr wrap="square" lIns="0" tIns="0" rIns="0" bIns="0" rtlCol="0" anchor="ctr"/>
          <a:lstStyle/>
          <a:p>
            <a:pPr marL="0" indent="0">
              <a:buNone/>
            </a:pPr>
            <a:r>
              <a:rPr lang="en-US" sz="95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a:p>
        </p:txBody>
      </p:sp>
      <p:sp>
        <p:nvSpPr>
          <p:cNvPr id="32" name="Text 30"/>
          <p:cNvSpPr/>
          <p:nvPr/>
        </p:nvSpPr>
        <p:spPr>
          <a:xfrm>
            <a:off x="548640" y="5541264"/>
            <a:ext cx="11091672" cy="457200"/>
          </a:xfrm>
          <a:prstGeom prst="rect">
            <a:avLst/>
          </a:prstGeom>
          <a:noFill/>
          <a:ln/>
        </p:spPr>
        <p:txBody>
          <a:bodyPr wrap="square" lIns="0" tIns="0" rIns="0" bIns="0" rtlCol="0" anchor="ctr"/>
          <a:lstStyle/>
          <a:p>
            <a:pPr marL="0" indent="0">
              <a:buNone/>
            </a:pPr>
            <a:r>
              <a:rPr lang="en-US" sz="1000" i="1">
                <a:solidFill>
                  <a:srgbClr val="A2F3F3"/>
                </a:solidFill>
                <a:latin typeface="Montserrat" pitchFamily="34" charset="0"/>
                <a:ea typeface="Montserrat" pitchFamily="34" charset="-122"/>
                <a:cs typeface="Montserrat" pitchFamily="34" charset="-120"/>
              </a:rPr>
              <a:t>Assessment first: before any conversion, the workbook is scanned and a migration-readiness report is produced — what converts, what needs attention, and where the effort sits.</a:t>
            </a:r>
            <a:endParaRPr lang="en-US" sz="1000"/>
          </a:p>
        </p:txBody>
      </p:sp>
    </p:spTree>
    <p:extLst>
      <p:ext uri="{BB962C8B-B14F-4D97-AF65-F5344CB8AC3E}">
        <p14:creationId xmlns:p14="http://schemas.microsoft.com/office/powerpoint/2010/main" val="3067195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a:solidFill>
                  <a:srgbClr val="053057"/>
                </a:solidFill>
                <a:latin typeface="Montserrat" pitchFamily="34" charset="0"/>
                <a:ea typeface="Montserrat" pitchFamily="34" charset="-122"/>
                <a:cs typeface="Montserrat" pitchFamily="34" charset="-120"/>
              </a:rPr>
              <a:t>What Cortex Does</a:t>
            </a:r>
            <a:endParaRPr lang="en-US" sz="320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400"/>
          </a:p>
        </p:txBody>
      </p:sp>
      <p:sp>
        <p:nvSpPr>
          <p:cNvPr id="4" name="Shape 2"/>
          <p:cNvSpPr/>
          <p:nvPr/>
        </p:nvSpPr>
        <p:spPr>
          <a:xfrm>
            <a:off x="548640"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5" name="Shape 3"/>
          <p:cNvSpPr/>
          <p:nvPr/>
        </p:nvSpPr>
        <p:spPr>
          <a:xfrm>
            <a:off x="768096" y="1536192"/>
            <a:ext cx="402336" cy="402336"/>
          </a:xfrm>
          <a:prstGeom prst="ellipse">
            <a:avLst/>
          </a:prstGeom>
          <a:solidFill>
            <a:srgbClr val="00EDED"/>
          </a:solidFill>
          <a:ln/>
        </p:spPr>
        <p:txBody>
          <a:bodyPr/>
          <a:lstStyle/>
          <a:p>
            <a:endParaRPr lang="en-IN"/>
          </a:p>
        </p:txBody>
      </p:sp>
      <p:sp>
        <p:nvSpPr>
          <p:cNvPr id="6" name="Text 4"/>
          <p:cNvSpPr/>
          <p:nvPr/>
        </p:nvSpPr>
        <p:spPr>
          <a:xfrm>
            <a:off x="768096" y="1595628"/>
            <a:ext cx="402336" cy="292608"/>
          </a:xfrm>
          <a:prstGeom prst="rect">
            <a:avLst/>
          </a:prstGeom>
          <a:noFill/>
          <a:ln/>
        </p:spPr>
        <p:txBody>
          <a:bodyPr wrap="square" lIns="0" tIns="0" rIns="0" bIns="0" rtlCol="0" anchor="ctr"/>
          <a:lstStyle/>
          <a:p>
            <a:pPr marL="0" indent="0" algn="ctr">
              <a:buNone/>
            </a:pPr>
            <a:r>
              <a:rPr lang="en-US" sz="1300" b="1">
                <a:solidFill>
                  <a:srgbClr val="053057"/>
                </a:solidFill>
                <a:latin typeface="Montserrat" pitchFamily="34" charset="0"/>
                <a:ea typeface="Montserrat" pitchFamily="34" charset="-122"/>
                <a:cs typeface="Montserrat" pitchFamily="34" charset="-120"/>
              </a:rPr>
              <a:t>1</a:t>
            </a:r>
            <a:endParaRPr lang="en-US" sz="1300"/>
          </a:p>
        </p:txBody>
      </p:sp>
      <p:sp>
        <p:nvSpPr>
          <p:cNvPr id="7" name="Text 5"/>
          <p:cNvSpPr/>
          <p:nvPr/>
        </p:nvSpPr>
        <p:spPr>
          <a:xfrm>
            <a:off x="768096" y="2066544"/>
            <a:ext cx="2286000" cy="548640"/>
          </a:xfrm>
          <a:prstGeom prst="rect">
            <a:avLst/>
          </a:prstGeom>
          <a:noFill/>
          <a:ln/>
        </p:spPr>
        <p:txBody>
          <a:bodyPr wrap="square" lIns="0" tIns="0" rIns="0" bIns="0" rtlCol="0" anchor="ctr"/>
          <a:lstStyle/>
          <a:p>
            <a:pPr marL="0" indent="0">
              <a:buNone/>
            </a:pPr>
            <a:r>
              <a:rPr lang="en-US" sz="1250" b="1">
                <a:solidFill>
                  <a:srgbClr val="053057"/>
                </a:solidFill>
                <a:latin typeface="Montserrat" pitchFamily="34" charset="0"/>
                <a:ea typeface="Montserrat" pitchFamily="34" charset="-122"/>
                <a:cs typeface="Montserrat" pitchFamily="34" charset="-120"/>
              </a:rPr>
              <a:t>Translates the complex calculations</a:t>
            </a:r>
            <a:endParaRPr lang="en-US" sz="1250"/>
          </a:p>
        </p:txBody>
      </p:sp>
      <p:sp>
        <p:nvSpPr>
          <p:cNvPr id="8" name="Text 6"/>
          <p:cNvSpPr/>
          <p:nvPr/>
        </p:nvSpPr>
        <p:spPr>
          <a:xfrm>
            <a:off x="768096" y="2633472"/>
            <a:ext cx="2286000" cy="1024128"/>
          </a:xfrm>
          <a:prstGeom prst="rect">
            <a:avLst/>
          </a:prstGeom>
          <a:noFill/>
          <a:ln/>
        </p:spPr>
        <p:txBody>
          <a:bodyPr wrap="square" lIns="0" tIns="0" rIns="0" bIns="0" rtlCol="0" anchor="ctr"/>
          <a:lstStyle/>
          <a:p>
            <a:pPr marL="0" indent="0">
              <a:lnSpc>
                <a:spcPct val="104000"/>
              </a:lnSpc>
              <a:buNone/>
            </a:pPr>
            <a:r>
              <a:rPr lang="en-US" sz="900">
                <a:solidFill>
                  <a:srgbClr val="6B7C88"/>
                </a:solidFill>
                <a:latin typeface="Montserrat" pitchFamily="34" charset="0"/>
                <a:ea typeface="Montserrat" pitchFamily="34" charset="-122"/>
                <a:cs typeface="Montserrat" pitchFamily="34" charset="-120"/>
              </a:rPr>
              <a:t>Nested level-of-detail expressions and blended, cross-source measures become Snowflake SQL — then execute against the real table to confirm they run and return the right values.</a:t>
            </a:r>
            <a:endParaRPr lang="en-US" sz="900"/>
          </a:p>
        </p:txBody>
      </p:sp>
      <p:sp>
        <p:nvSpPr>
          <p:cNvPr id="9" name="Shape 7"/>
          <p:cNvSpPr/>
          <p:nvPr/>
        </p:nvSpPr>
        <p:spPr>
          <a:xfrm>
            <a:off x="3502152"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10" name="Shape 8"/>
          <p:cNvSpPr/>
          <p:nvPr/>
        </p:nvSpPr>
        <p:spPr>
          <a:xfrm>
            <a:off x="3721608" y="1536192"/>
            <a:ext cx="402336" cy="402336"/>
          </a:xfrm>
          <a:prstGeom prst="ellipse">
            <a:avLst/>
          </a:prstGeom>
          <a:solidFill>
            <a:srgbClr val="00EDED"/>
          </a:solidFill>
          <a:ln/>
        </p:spPr>
        <p:txBody>
          <a:bodyPr/>
          <a:lstStyle/>
          <a:p>
            <a:endParaRPr lang="en-IN"/>
          </a:p>
        </p:txBody>
      </p:sp>
      <p:sp>
        <p:nvSpPr>
          <p:cNvPr id="11" name="Text 9"/>
          <p:cNvSpPr/>
          <p:nvPr/>
        </p:nvSpPr>
        <p:spPr>
          <a:xfrm>
            <a:off x="3721608" y="1595628"/>
            <a:ext cx="402336" cy="292608"/>
          </a:xfrm>
          <a:prstGeom prst="rect">
            <a:avLst/>
          </a:prstGeom>
          <a:noFill/>
          <a:ln/>
        </p:spPr>
        <p:txBody>
          <a:bodyPr wrap="square" lIns="0" tIns="0" rIns="0" bIns="0" rtlCol="0" anchor="ctr"/>
          <a:lstStyle/>
          <a:p>
            <a:pPr marL="0" indent="0" algn="ctr">
              <a:buNone/>
            </a:pPr>
            <a:r>
              <a:rPr lang="en-US" sz="1300" b="1">
                <a:solidFill>
                  <a:srgbClr val="053057"/>
                </a:solidFill>
                <a:latin typeface="Montserrat" pitchFamily="34" charset="0"/>
                <a:ea typeface="Montserrat" pitchFamily="34" charset="-122"/>
                <a:cs typeface="Montserrat" pitchFamily="34" charset="-120"/>
              </a:rPr>
              <a:t>2</a:t>
            </a:r>
            <a:endParaRPr lang="en-US" sz="1300"/>
          </a:p>
        </p:txBody>
      </p:sp>
      <p:sp>
        <p:nvSpPr>
          <p:cNvPr id="12" name="Text 10"/>
          <p:cNvSpPr/>
          <p:nvPr/>
        </p:nvSpPr>
        <p:spPr>
          <a:xfrm>
            <a:off x="3721608" y="2066544"/>
            <a:ext cx="2286000" cy="548640"/>
          </a:xfrm>
          <a:prstGeom prst="rect">
            <a:avLst/>
          </a:prstGeom>
          <a:noFill/>
          <a:ln/>
        </p:spPr>
        <p:txBody>
          <a:bodyPr wrap="square" lIns="0" tIns="0" rIns="0" bIns="0" rtlCol="0" anchor="ctr"/>
          <a:lstStyle/>
          <a:p>
            <a:pPr marL="0" indent="0">
              <a:buNone/>
            </a:pPr>
            <a:r>
              <a:rPr lang="en-US" sz="1250" b="1">
                <a:solidFill>
                  <a:srgbClr val="053057"/>
                </a:solidFill>
                <a:latin typeface="Montserrat" pitchFamily="34" charset="0"/>
                <a:ea typeface="Montserrat" pitchFamily="34" charset="-122"/>
                <a:cs typeface="Montserrat" pitchFamily="34" charset="-120"/>
              </a:rPr>
              <a:t>Builds the governed semantic model</a:t>
            </a:r>
            <a:endParaRPr lang="en-US" sz="1250"/>
          </a:p>
        </p:txBody>
      </p:sp>
      <p:sp>
        <p:nvSpPr>
          <p:cNvPr id="13" name="Text 11"/>
          <p:cNvSpPr/>
          <p:nvPr/>
        </p:nvSpPr>
        <p:spPr>
          <a:xfrm>
            <a:off x="3721608" y="2633472"/>
            <a:ext cx="2286000" cy="1024128"/>
          </a:xfrm>
          <a:prstGeom prst="rect">
            <a:avLst/>
          </a:prstGeom>
          <a:noFill/>
          <a:ln/>
        </p:spPr>
        <p:txBody>
          <a:bodyPr wrap="square" lIns="0" tIns="0" rIns="0" bIns="0" rtlCol="0" anchor="ctr"/>
          <a:lstStyle/>
          <a:p>
            <a:pPr marL="0" indent="0">
              <a:lnSpc>
                <a:spcPct val="104000"/>
              </a:lnSpc>
              <a:buNone/>
            </a:pPr>
            <a:r>
              <a:rPr lang="en-US" sz="90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read from the live tables.</a:t>
            </a:r>
            <a:endParaRPr lang="en-US" sz="900"/>
          </a:p>
        </p:txBody>
      </p:sp>
      <p:sp>
        <p:nvSpPr>
          <p:cNvPr id="14" name="Shape 12"/>
          <p:cNvSpPr/>
          <p:nvPr/>
        </p:nvSpPr>
        <p:spPr>
          <a:xfrm>
            <a:off x="6455664"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15" name="Shape 13"/>
          <p:cNvSpPr/>
          <p:nvPr/>
        </p:nvSpPr>
        <p:spPr>
          <a:xfrm>
            <a:off x="6675120" y="1536192"/>
            <a:ext cx="402336" cy="402336"/>
          </a:xfrm>
          <a:prstGeom prst="ellipse">
            <a:avLst/>
          </a:prstGeom>
          <a:solidFill>
            <a:srgbClr val="00EDED"/>
          </a:solidFill>
          <a:ln/>
        </p:spPr>
        <p:txBody>
          <a:bodyPr/>
          <a:lstStyle/>
          <a:p>
            <a:endParaRPr lang="en-IN"/>
          </a:p>
        </p:txBody>
      </p:sp>
      <p:sp>
        <p:nvSpPr>
          <p:cNvPr id="16" name="Text 14"/>
          <p:cNvSpPr/>
          <p:nvPr/>
        </p:nvSpPr>
        <p:spPr>
          <a:xfrm>
            <a:off x="6675120" y="1595628"/>
            <a:ext cx="402336" cy="292608"/>
          </a:xfrm>
          <a:prstGeom prst="rect">
            <a:avLst/>
          </a:prstGeom>
          <a:noFill/>
          <a:ln/>
        </p:spPr>
        <p:txBody>
          <a:bodyPr wrap="square" lIns="0" tIns="0" rIns="0" bIns="0" rtlCol="0" anchor="ctr"/>
          <a:lstStyle/>
          <a:p>
            <a:pPr marL="0" indent="0" algn="ctr">
              <a:buNone/>
            </a:pPr>
            <a:r>
              <a:rPr lang="en-US" sz="1300" b="1">
                <a:solidFill>
                  <a:srgbClr val="053057"/>
                </a:solidFill>
                <a:latin typeface="Montserrat" pitchFamily="34" charset="0"/>
                <a:ea typeface="Montserrat" pitchFamily="34" charset="-122"/>
                <a:cs typeface="Montserrat" pitchFamily="34" charset="-120"/>
              </a:rPr>
              <a:t>3</a:t>
            </a:r>
            <a:endParaRPr lang="en-US" sz="1300"/>
          </a:p>
        </p:txBody>
      </p:sp>
      <p:sp>
        <p:nvSpPr>
          <p:cNvPr id="17" name="Text 15"/>
          <p:cNvSpPr/>
          <p:nvPr/>
        </p:nvSpPr>
        <p:spPr>
          <a:xfrm>
            <a:off x="6675120" y="2066544"/>
            <a:ext cx="2286000" cy="548640"/>
          </a:xfrm>
          <a:prstGeom prst="rect">
            <a:avLst/>
          </a:prstGeom>
          <a:noFill/>
          <a:ln/>
        </p:spPr>
        <p:txBody>
          <a:bodyPr wrap="square" lIns="0" tIns="0" rIns="0" bIns="0" rtlCol="0" anchor="ctr"/>
          <a:lstStyle/>
          <a:p>
            <a:pPr marL="0" indent="0">
              <a:buNone/>
            </a:pPr>
            <a:r>
              <a:rPr lang="en-US" sz="1250" b="1">
                <a:solidFill>
                  <a:srgbClr val="053057"/>
                </a:solidFill>
                <a:latin typeface="Montserrat" pitchFamily="34" charset="0"/>
                <a:ea typeface="Montserrat" pitchFamily="34" charset="-122"/>
                <a:cs typeface="Montserrat" pitchFamily="34" charset="-120"/>
              </a:rPr>
              <a:t>Serves natural-language questions</a:t>
            </a:r>
            <a:endParaRPr lang="en-US" sz="1250"/>
          </a:p>
        </p:txBody>
      </p:sp>
      <p:sp>
        <p:nvSpPr>
          <p:cNvPr id="18" name="Text 16"/>
          <p:cNvSpPr/>
          <p:nvPr/>
        </p:nvSpPr>
        <p:spPr>
          <a:xfrm>
            <a:off x="6675120" y="2633472"/>
            <a:ext cx="2286000" cy="1024128"/>
          </a:xfrm>
          <a:prstGeom prst="rect">
            <a:avLst/>
          </a:prstGeom>
          <a:noFill/>
          <a:ln/>
        </p:spPr>
        <p:txBody>
          <a:bodyPr wrap="square" lIns="0" tIns="0" rIns="0" bIns="0" rtlCol="0" anchor="ctr"/>
          <a:lstStyle/>
          <a:p>
            <a:pPr marL="0" indent="0">
              <a:lnSpc>
                <a:spcPct val="104000"/>
              </a:lnSpc>
              <a:buNone/>
            </a:pPr>
            <a:r>
              <a:rPr lang="en-US" sz="90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uses the definitions the migrated dashboards already use.</a:t>
            </a:r>
            <a:endParaRPr lang="en-US" sz="900"/>
          </a:p>
        </p:txBody>
      </p:sp>
      <p:sp>
        <p:nvSpPr>
          <p:cNvPr id="19" name="Shape 17"/>
          <p:cNvSpPr/>
          <p:nvPr/>
        </p:nvSpPr>
        <p:spPr>
          <a:xfrm>
            <a:off x="9409176"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20" name="Shape 18"/>
          <p:cNvSpPr/>
          <p:nvPr/>
        </p:nvSpPr>
        <p:spPr>
          <a:xfrm>
            <a:off x="9628632" y="1536192"/>
            <a:ext cx="402336" cy="402336"/>
          </a:xfrm>
          <a:prstGeom prst="ellipse">
            <a:avLst/>
          </a:prstGeom>
          <a:solidFill>
            <a:srgbClr val="00EDED"/>
          </a:solidFill>
          <a:ln/>
        </p:spPr>
        <p:txBody>
          <a:bodyPr/>
          <a:lstStyle/>
          <a:p>
            <a:endParaRPr lang="en-IN"/>
          </a:p>
        </p:txBody>
      </p:sp>
      <p:sp>
        <p:nvSpPr>
          <p:cNvPr id="21" name="Text 19"/>
          <p:cNvSpPr/>
          <p:nvPr/>
        </p:nvSpPr>
        <p:spPr>
          <a:xfrm>
            <a:off x="9628632" y="1595628"/>
            <a:ext cx="402336" cy="292608"/>
          </a:xfrm>
          <a:prstGeom prst="rect">
            <a:avLst/>
          </a:prstGeom>
          <a:noFill/>
          <a:ln/>
        </p:spPr>
        <p:txBody>
          <a:bodyPr wrap="square" lIns="0" tIns="0" rIns="0" bIns="0" rtlCol="0" anchor="ctr"/>
          <a:lstStyle/>
          <a:p>
            <a:pPr marL="0" indent="0" algn="ctr">
              <a:buNone/>
            </a:pPr>
            <a:r>
              <a:rPr lang="en-US" sz="1300" b="1">
                <a:solidFill>
                  <a:srgbClr val="053057"/>
                </a:solidFill>
                <a:latin typeface="Montserrat" pitchFamily="34" charset="0"/>
                <a:ea typeface="Montserrat" pitchFamily="34" charset="-122"/>
                <a:cs typeface="Montserrat" pitchFamily="34" charset="-120"/>
              </a:rPr>
              <a:t>4</a:t>
            </a:r>
            <a:endParaRPr lang="en-US" sz="1300"/>
          </a:p>
        </p:txBody>
      </p:sp>
      <p:sp>
        <p:nvSpPr>
          <p:cNvPr id="22" name="Text 20"/>
          <p:cNvSpPr/>
          <p:nvPr/>
        </p:nvSpPr>
        <p:spPr>
          <a:xfrm>
            <a:off x="9628632" y="2066544"/>
            <a:ext cx="2286000" cy="548640"/>
          </a:xfrm>
          <a:prstGeom prst="rect">
            <a:avLst/>
          </a:prstGeom>
          <a:noFill/>
          <a:ln/>
        </p:spPr>
        <p:txBody>
          <a:bodyPr wrap="square" lIns="0" tIns="0" rIns="0" bIns="0" rtlCol="0" anchor="ctr"/>
          <a:lstStyle/>
          <a:p>
            <a:pPr marL="0" indent="0">
              <a:buNone/>
            </a:pPr>
            <a:r>
              <a:rPr lang="en-US" sz="1250" b="1">
                <a:solidFill>
                  <a:srgbClr val="053057"/>
                </a:solidFill>
                <a:latin typeface="Montserrat" pitchFamily="34" charset="0"/>
                <a:ea typeface="Montserrat" pitchFamily="34" charset="-122"/>
                <a:cs typeface="Montserrat" pitchFamily="34" charset="-120"/>
              </a:rPr>
              <a:t>Validates the migration</a:t>
            </a:r>
            <a:endParaRPr lang="en-US" sz="1250"/>
          </a:p>
        </p:txBody>
      </p:sp>
      <p:sp>
        <p:nvSpPr>
          <p:cNvPr id="23" name="Text 21"/>
          <p:cNvSpPr/>
          <p:nvPr/>
        </p:nvSpPr>
        <p:spPr>
          <a:xfrm>
            <a:off x="9628632" y="2633472"/>
            <a:ext cx="2286000" cy="1024128"/>
          </a:xfrm>
          <a:prstGeom prst="rect">
            <a:avLst/>
          </a:prstGeom>
          <a:noFill/>
          <a:ln/>
        </p:spPr>
        <p:txBody>
          <a:bodyPr wrap="square" lIns="0" tIns="0" rIns="0" bIns="0" rtlCol="0" anchor="ctr"/>
          <a:lstStyle/>
          <a:p>
            <a:pPr marL="0" indent="0">
              <a:lnSpc>
                <a:spcPct val="104000"/>
              </a:lnSpc>
              <a:buNone/>
            </a:pPr>
            <a:r>
              <a:rPr lang="en-US" sz="90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a:p>
        </p:txBody>
      </p:sp>
      <p:sp>
        <p:nvSpPr>
          <p:cNvPr id="24" name="Text 22"/>
          <p:cNvSpPr/>
          <p:nvPr/>
        </p:nvSpPr>
        <p:spPr>
          <a:xfrm>
            <a:off x="548640" y="3913632"/>
            <a:ext cx="11091672" cy="292608"/>
          </a:xfrm>
          <a:prstGeom prst="rect">
            <a:avLst/>
          </a:prstGeom>
          <a:noFill/>
          <a:ln/>
        </p:spPr>
        <p:txBody>
          <a:bodyPr wrap="square" lIns="0" tIns="0" rIns="0" bIns="0" rtlCol="0" anchor="ctr"/>
          <a:lstStyle/>
          <a:p>
            <a:pPr marL="0" indent="0">
              <a:buNone/>
            </a:pPr>
            <a:r>
              <a:rPr lang="en-US" sz="1250" b="1">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a:p>
        </p:txBody>
      </p:sp>
      <p:sp>
        <p:nvSpPr>
          <p:cNvPr id="25" name="Shape 23"/>
          <p:cNvSpPr/>
          <p:nvPr/>
        </p:nvSpPr>
        <p:spPr>
          <a:xfrm>
            <a:off x="548640" y="4279392"/>
            <a:ext cx="3575304" cy="1572768"/>
          </a:xfrm>
          <a:prstGeom prst="roundRect">
            <a:avLst>
              <a:gd name="adj" fmla="val 4651"/>
            </a:avLst>
          </a:prstGeom>
          <a:solidFill>
            <a:srgbClr val="FFFFFF"/>
          </a:solidFill>
          <a:ln w="12700">
            <a:solidFill>
              <a:srgbClr val="DFE3E6"/>
            </a:solidFill>
            <a:prstDash val="solid"/>
          </a:ln>
        </p:spPr>
        <p:txBody>
          <a:bodyPr/>
          <a:lstStyle/>
          <a:p>
            <a:endParaRPr lang="en-IN"/>
          </a:p>
        </p:txBody>
      </p:sp>
      <p:sp>
        <p:nvSpPr>
          <p:cNvPr id="26" name="Text 24"/>
          <p:cNvSpPr/>
          <p:nvPr/>
        </p:nvSpPr>
        <p:spPr>
          <a:xfrm>
            <a:off x="786384" y="4443984"/>
            <a:ext cx="3099816" cy="237744"/>
          </a:xfrm>
          <a:prstGeom prst="rect">
            <a:avLst/>
          </a:prstGeom>
          <a:noFill/>
          <a:ln/>
        </p:spPr>
        <p:txBody>
          <a:bodyPr wrap="square" lIns="0" tIns="0" rIns="0" bIns="0" rtlCol="0" anchor="ctr"/>
          <a:lstStyle/>
          <a:p>
            <a:pPr marL="0" indent="0">
              <a:buNone/>
            </a:pPr>
            <a:r>
              <a:rPr lang="en-US" sz="900" b="1" kern="0" spc="140">
                <a:solidFill>
                  <a:srgbClr val="6B7C88"/>
                </a:solidFill>
                <a:latin typeface="Montserrat" pitchFamily="34" charset="0"/>
                <a:ea typeface="Montserrat" pitchFamily="34" charset="-122"/>
                <a:cs typeface="Montserrat" pitchFamily="34" charset="-120"/>
              </a:rPr>
              <a:t>TABLEAU SOURCE</a:t>
            </a:r>
            <a:endParaRPr lang="en-US" sz="900"/>
          </a:p>
        </p:txBody>
      </p:sp>
      <p:sp>
        <p:nvSpPr>
          <p:cNvPr id="27" name="Text 25"/>
          <p:cNvSpPr/>
          <p:nvPr/>
        </p:nvSpPr>
        <p:spPr>
          <a:xfrm>
            <a:off x="786384" y="4718304"/>
            <a:ext cx="3099816" cy="603504"/>
          </a:xfrm>
          <a:prstGeom prst="rect">
            <a:avLst/>
          </a:prstGeom>
          <a:noFill/>
          <a:ln/>
        </p:spPr>
        <p:txBody>
          <a:bodyPr wrap="square" lIns="0" tIns="0" rIns="0" bIns="0" rtlCol="0" anchor="ctr"/>
          <a:lstStyle/>
          <a:p>
            <a:pPr marL="0" indent="0">
              <a:buNone/>
            </a:pPr>
            <a:r>
              <a:rPr lang="en-US" sz="90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a:p>
        </p:txBody>
      </p:sp>
      <p:sp>
        <p:nvSpPr>
          <p:cNvPr id="28" name="Text 26"/>
          <p:cNvSpPr/>
          <p:nvPr/>
        </p:nvSpPr>
        <p:spPr>
          <a:xfrm>
            <a:off x="786384" y="5358384"/>
            <a:ext cx="3099816" cy="420624"/>
          </a:xfrm>
          <a:prstGeom prst="rect">
            <a:avLst/>
          </a:prstGeom>
          <a:noFill/>
          <a:ln/>
        </p:spPr>
        <p:txBody>
          <a:bodyPr wrap="square" lIns="0" tIns="0" rIns="0" bIns="0" rtlCol="0" anchor="ctr"/>
          <a:lstStyle/>
          <a:p>
            <a:pPr marL="0" indent="0">
              <a:buNone/>
            </a:pPr>
            <a:r>
              <a:rPr lang="en-US" sz="85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a:p>
        </p:txBody>
      </p:sp>
      <p:sp>
        <p:nvSpPr>
          <p:cNvPr id="29" name="Shape 27"/>
          <p:cNvSpPr/>
          <p:nvPr/>
        </p:nvSpPr>
        <p:spPr>
          <a:xfrm>
            <a:off x="4306824" y="4279392"/>
            <a:ext cx="3575304" cy="1572768"/>
          </a:xfrm>
          <a:prstGeom prst="roundRect">
            <a:avLst>
              <a:gd name="adj" fmla="val 4651"/>
            </a:avLst>
          </a:prstGeom>
          <a:solidFill>
            <a:srgbClr val="FFFFFF"/>
          </a:solidFill>
          <a:ln w="12700">
            <a:solidFill>
              <a:srgbClr val="DFE3E6"/>
            </a:solidFill>
            <a:prstDash val="solid"/>
          </a:ln>
        </p:spPr>
        <p:txBody>
          <a:bodyPr/>
          <a:lstStyle/>
          <a:p>
            <a:endParaRPr lang="en-IN"/>
          </a:p>
        </p:txBody>
      </p:sp>
      <p:sp>
        <p:nvSpPr>
          <p:cNvPr id="30" name="Text 28"/>
          <p:cNvSpPr/>
          <p:nvPr/>
        </p:nvSpPr>
        <p:spPr>
          <a:xfrm>
            <a:off x="4544568" y="4443984"/>
            <a:ext cx="3099816" cy="237744"/>
          </a:xfrm>
          <a:prstGeom prst="rect">
            <a:avLst/>
          </a:prstGeom>
          <a:noFill/>
          <a:ln/>
        </p:spPr>
        <p:txBody>
          <a:bodyPr wrap="square" lIns="0" tIns="0" rIns="0" bIns="0" rtlCol="0" anchor="ctr"/>
          <a:lstStyle/>
          <a:p>
            <a:pPr marL="0" indent="0">
              <a:buNone/>
            </a:pPr>
            <a:r>
              <a:rPr lang="en-US" sz="900" b="1" kern="0" spc="140">
                <a:solidFill>
                  <a:srgbClr val="6B7C88"/>
                </a:solidFill>
                <a:latin typeface="Montserrat" pitchFamily="34" charset="0"/>
                <a:ea typeface="Montserrat" pitchFamily="34" charset="-122"/>
                <a:cs typeface="Montserrat" pitchFamily="34" charset="-120"/>
              </a:rPr>
              <a:t>CORTEX OUTPUT</a:t>
            </a:r>
            <a:endParaRPr lang="en-US" sz="900"/>
          </a:p>
        </p:txBody>
      </p:sp>
      <p:sp>
        <p:nvSpPr>
          <p:cNvPr id="31" name="Text 29"/>
          <p:cNvSpPr/>
          <p:nvPr/>
        </p:nvSpPr>
        <p:spPr>
          <a:xfrm>
            <a:off x="4544568" y="4718304"/>
            <a:ext cx="3099816" cy="603504"/>
          </a:xfrm>
          <a:prstGeom prst="rect">
            <a:avLst/>
          </a:prstGeom>
          <a:noFill/>
          <a:ln/>
        </p:spPr>
        <p:txBody>
          <a:bodyPr wrap="square" lIns="0" tIns="0" rIns="0" bIns="0" rtlCol="0" anchor="ctr"/>
          <a:lstStyle/>
          <a:p>
            <a:pPr marL="0" indent="0">
              <a:buNone/>
            </a:pPr>
            <a:r>
              <a:rPr lang="en-US" sz="900">
                <a:solidFill>
                  <a:srgbClr val="314550"/>
                </a:solidFill>
                <a:latin typeface="Montserrat" pitchFamily="34" charset="0"/>
                <a:ea typeface="Montserrat" pitchFamily="34" charset="-122"/>
                <a:cs typeface="Montserrat" pitchFamily="34" charset="-120"/>
              </a:rPr>
              <a:t>WITH inner AS ( SELECT region, sub_category, SUM(sales) … )  SELECT region, AVG(v) …</a:t>
            </a:r>
            <a:endParaRPr lang="en-US" sz="900"/>
          </a:p>
        </p:txBody>
      </p:sp>
      <p:sp>
        <p:nvSpPr>
          <p:cNvPr id="32" name="Text 30"/>
          <p:cNvSpPr/>
          <p:nvPr/>
        </p:nvSpPr>
        <p:spPr>
          <a:xfrm>
            <a:off x="4544568" y="5358384"/>
            <a:ext cx="3099816" cy="420624"/>
          </a:xfrm>
          <a:prstGeom prst="rect">
            <a:avLst/>
          </a:prstGeom>
          <a:noFill/>
          <a:ln/>
        </p:spPr>
        <p:txBody>
          <a:bodyPr wrap="square" lIns="0" tIns="0" rIns="0" bIns="0" rtlCol="0" anchor="ctr"/>
          <a:lstStyle/>
          <a:p>
            <a:pPr marL="0" indent="0">
              <a:buNone/>
            </a:pPr>
            <a:r>
              <a:rPr lang="en-US" sz="850">
                <a:solidFill>
                  <a:srgbClr val="6B7C88"/>
                </a:solidFill>
                <a:latin typeface="Montserrat" pitchFamily="34" charset="0"/>
                <a:ea typeface="Montserrat" pitchFamily="34" charset="-122"/>
                <a:cs typeface="Montserrat" pitchFamily="34" charset="-120"/>
              </a:rPr>
              <a:t>Rewritten as layered CTEs that Snowflake executes directly.</a:t>
            </a:r>
            <a:endParaRPr lang="en-US" sz="850"/>
          </a:p>
        </p:txBody>
      </p:sp>
      <p:sp>
        <p:nvSpPr>
          <p:cNvPr id="33" name="Shape 31"/>
          <p:cNvSpPr/>
          <p:nvPr/>
        </p:nvSpPr>
        <p:spPr>
          <a:xfrm>
            <a:off x="8065008" y="4279392"/>
            <a:ext cx="3575304" cy="1572768"/>
          </a:xfrm>
          <a:prstGeom prst="roundRect">
            <a:avLst>
              <a:gd name="adj" fmla="val 4651"/>
            </a:avLst>
          </a:prstGeom>
          <a:solidFill>
            <a:srgbClr val="053057"/>
          </a:solidFill>
          <a:ln w="12700">
            <a:solidFill>
              <a:srgbClr val="053057"/>
            </a:solidFill>
            <a:prstDash val="solid"/>
          </a:ln>
        </p:spPr>
        <p:txBody>
          <a:bodyPr/>
          <a:lstStyle/>
          <a:p>
            <a:endParaRPr lang="en-IN"/>
          </a:p>
        </p:txBody>
      </p:sp>
      <p:sp>
        <p:nvSpPr>
          <p:cNvPr id="34" name="Text 32"/>
          <p:cNvSpPr/>
          <p:nvPr/>
        </p:nvSpPr>
        <p:spPr>
          <a:xfrm>
            <a:off x="8302752" y="4443984"/>
            <a:ext cx="3099816" cy="237744"/>
          </a:xfrm>
          <a:prstGeom prst="rect">
            <a:avLst/>
          </a:prstGeom>
          <a:noFill/>
          <a:ln/>
        </p:spPr>
        <p:txBody>
          <a:bodyPr wrap="square" lIns="0" tIns="0" rIns="0" bIns="0" rtlCol="0" anchor="ctr"/>
          <a:lstStyle/>
          <a:p>
            <a:pPr marL="0" indent="0">
              <a:buNone/>
            </a:pPr>
            <a:r>
              <a:rPr lang="en-US" sz="900" b="1" kern="0" spc="140">
                <a:solidFill>
                  <a:srgbClr val="00EDED"/>
                </a:solidFill>
                <a:latin typeface="Montserrat" pitchFamily="34" charset="0"/>
                <a:ea typeface="Montserrat" pitchFamily="34" charset="-122"/>
                <a:cs typeface="Montserrat" pitchFamily="34" charset="-120"/>
              </a:rPr>
              <a:t>PROVEN</a:t>
            </a:r>
            <a:endParaRPr lang="en-US" sz="900"/>
          </a:p>
        </p:txBody>
      </p:sp>
      <p:sp>
        <p:nvSpPr>
          <p:cNvPr id="35" name="Text 33"/>
          <p:cNvSpPr/>
          <p:nvPr/>
        </p:nvSpPr>
        <p:spPr>
          <a:xfrm>
            <a:off x="8302752" y="4718304"/>
            <a:ext cx="3099816" cy="603504"/>
          </a:xfrm>
          <a:prstGeom prst="rect">
            <a:avLst/>
          </a:prstGeom>
          <a:noFill/>
          <a:ln/>
        </p:spPr>
        <p:txBody>
          <a:bodyPr wrap="square" lIns="0" tIns="0" rIns="0" bIns="0" rtlCol="0" anchor="ctr"/>
          <a:lstStyle/>
          <a:p>
            <a:pPr marL="0" indent="0">
              <a:buNone/>
            </a:pPr>
            <a:r>
              <a:rPr lang="en-US" sz="1300" b="1">
                <a:solidFill>
                  <a:srgbClr val="FFFFFF"/>
                </a:solidFill>
                <a:latin typeface="Montserrat" pitchFamily="34" charset="0"/>
                <a:ea typeface="Montserrat" pitchFamily="34" charset="-122"/>
                <a:cs typeface="Montserrat" pitchFamily="34" charset="-120"/>
              </a:rPr>
              <a:t>4 of 4 region values exact</a:t>
            </a:r>
            <a:endParaRPr lang="en-US" sz="1300"/>
          </a:p>
        </p:txBody>
      </p:sp>
      <p:sp>
        <p:nvSpPr>
          <p:cNvPr id="36" name="Text 34"/>
          <p:cNvSpPr/>
          <p:nvPr/>
        </p:nvSpPr>
        <p:spPr>
          <a:xfrm>
            <a:off x="8302752" y="5358384"/>
            <a:ext cx="3099816" cy="420624"/>
          </a:xfrm>
          <a:prstGeom prst="rect">
            <a:avLst/>
          </a:prstGeom>
          <a:noFill/>
          <a:ln/>
        </p:spPr>
        <p:txBody>
          <a:bodyPr wrap="square" lIns="0" tIns="0" rIns="0" bIns="0" rtlCol="0" anchor="ctr"/>
          <a:lstStyle/>
          <a:p>
            <a:pPr marL="0" indent="0">
              <a:buNone/>
            </a:pPr>
            <a:r>
              <a:rPr lang="en-US" sz="85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a:p>
        </p:txBody>
      </p:sp>
    </p:spTree>
    <p:extLst>
      <p:ext uri="{BB962C8B-B14F-4D97-AF65-F5344CB8AC3E}">
        <p14:creationId xmlns:p14="http://schemas.microsoft.com/office/powerpoint/2010/main" val="1734030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a:solidFill>
                  <a:srgbClr val="053057"/>
                </a:solidFill>
                <a:latin typeface="Montserrat" pitchFamily="34" charset="0"/>
                <a:ea typeface="Montserrat" pitchFamily="34" charset="-122"/>
                <a:cs typeface="Montserrat" pitchFamily="34" charset="-120"/>
              </a:rPr>
              <a:t>Impact</a:t>
            </a:r>
            <a:endParaRPr lang="en-US" sz="320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a:solidFill>
                  <a:srgbClr val="6B7C88"/>
                </a:solidFill>
                <a:latin typeface="Montserrat" pitchFamily="34" charset="0"/>
                <a:ea typeface="Montserrat" pitchFamily="34" charset="-122"/>
                <a:cs typeface="Montserrat" pitchFamily="34" charset="-120"/>
              </a:rPr>
              <a:t>Faster time to value — and a migration the business can trust</a:t>
            </a:r>
            <a:endParaRPr lang="en-US" sz="1400"/>
          </a:p>
        </p:txBody>
      </p:sp>
      <p:sp>
        <p:nvSpPr>
          <p:cNvPr id="4" name="Shape 2"/>
          <p:cNvSpPr/>
          <p:nvPr/>
        </p:nvSpPr>
        <p:spPr>
          <a:xfrm>
            <a:off x="548640" y="1243584"/>
            <a:ext cx="2724912" cy="1591056"/>
          </a:xfrm>
          <a:prstGeom prst="roundRect">
            <a:avLst>
              <a:gd name="adj" fmla="val 4598"/>
            </a:avLst>
          </a:prstGeom>
          <a:solidFill>
            <a:srgbClr val="053057"/>
          </a:solidFill>
          <a:ln w="12700">
            <a:solidFill>
              <a:srgbClr val="053057"/>
            </a:solidFill>
            <a:prstDash val="solid"/>
          </a:ln>
        </p:spPr>
        <p:txBody>
          <a:bodyPr/>
          <a:lstStyle/>
          <a:p>
            <a:endParaRPr lang="en-IN"/>
          </a:p>
        </p:txBody>
      </p:sp>
      <p:sp>
        <p:nvSpPr>
          <p:cNvPr id="5" name="Text 3"/>
          <p:cNvSpPr/>
          <p:nvPr/>
        </p:nvSpPr>
        <p:spPr>
          <a:xfrm>
            <a:off x="768096" y="1371600"/>
            <a:ext cx="2286000" cy="475488"/>
          </a:xfrm>
          <a:prstGeom prst="rect">
            <a:avLst/>
          </a:prstGeom>
          <a:noFill/>
          <a:ln/>
        </p:spPr>
        <p:txBody>
          <a:bodyPr wrap="square" lIns="0" tIns="0" rIns="0" bIns="0" rtlCol="0" anchor="ctr"/>
          <a:lstStyle/>
          <a:p>
            <a:pPr marL="0" indent="0">
              <a:buNone/>
            </a:pPr>
            <a:r>
              <a:rPr lang="en-US" sz="3000" b="1">
                <a:solidFill>
                  <a:srgbClr val="00EDED"/>
                </a:solidFill>
                <a:latin typeface="Montserrat" pitchFamily="34" charset="0"/>
                <a:ea typeface="Montserrat" pitchFamily="34" charset="-122"/>
                <a:cs typeface="Montserrat" pitchFamily="34" charset="-120"/>
              </a:rPr>
              <a:t>90%+</a:t>
            </a:r>
            <a:endParaRPr lang="en-US" sz="3000"/>
          </a:p>
        </p:txBody>
      </p:sp>
      <p:sp>
        <p:nvSpPr>
          <p:cNvPr id="6" name="Text 4"/>
          <p:cNvSpPr/>
          <p:nvPr/>
        </p:nvSpPr>
        <p:spPr>
          <a:xfrm>
            <a:off x="768096" y="1865376"/>
            <a:ext cx="2286000" cy="256032"/>
          </a:xfrm>
          <a:prstGeom prst="rect">
            <a:avLst/>
          </a:prstGeom>
          <a:noFill/>
          <a:ln/>
        </p:spPr>
        <p:txBody>
          <a:bodyPr wrap="square" lIns="0" tIns="0" rIns="0" bIns="0" rtlCol="0" anchor="ctr"/>
          <a:lstStyle/>
          <a:p>
            <a:pPr marL="0" indent="0">
              <a:buNone/>
            </a:pPr>
            <a:r>
              <a:rPr lang="en-US" sz="1100" b="1">
                <a:solidFill>
                  <a:srgbClr val="FFFFFF"/>
                </a:solidFill>
                <a:latin typeface="Montserrat" pitchFamily="34" charset="0"/>
                <a:ea typeface="Montserrat" pitchFamily="34" charset="-122"/>
                <a:cs typeface="Montserrat" pitchFamily="34" charset="-120"/>
              </a:rPr>
              <a:t>converted automatically</a:t>
            </a:r>
            <a:endParaRPr lang="en-US" sz="1100"/>
          </a:p>
        </p:txBody>
      </p:sp>
      <p:sp>
        <p:nvSpPr>
          <p:cNvPr id="7" name="Text 5"/>
          <p:cNvSpPr/>
          <p:nvPr/>
        </p:nvSpPr>
        <p:spPr>
          <a:xfrm>
            <a:off x="768096" y="2139696"/>
            <a:ext cx="2286000" cy="640080"/>
          </a:xfrm>
          <a:prstGeom prst="rect">
            <a:avLst/>
          </a:prstGeom>
          <a:noFill/>
          <a:ln/>
        </p:spPr>
        <p:txBody>
          <a:bodyPr wrap="square" lIns="0" tIns="0" rIns="0" bIns="0" rtlCol="0" anchor="ctr"/>
          <a:lstStyle/>
          <a:p>
            <a:pPr marL="0" indent="0">
              <a:lnSpc>
                <a:spcPct val="104000"/>
              </a:lnSpc>
              <a:buNone/>
            </a:pPr>
            <a:r>
              <a:rPr lang="en-US" sz="900">
                <a:solidFill>
                  <a:srgbClr val="A2F3F3"/>
                </a:solidFill>
                <a:latin typeface="Montserrat" pitchFamily="34" charset="0"/>
                <a:ea typeface="Montserrat" pitchFamily="34" charset="-122"/>
                <a:cs typeface="Montserrat" pitchFamily="34" charset="-120"/>
              </a:rPr>
              <a:t>The common majority of every dashboard — charts, calculations, filters and layout — without a developer rebuilding it by hand.</a:t>
            </a:r>
            <a:endParaRPr lang="en-US" sz="900"/>
          </a:p>
        </p:txBody>
      </p:sp>
      <p:sp>
        <p:nvSpPr>
          <p:cNvPr id="8" name="Shape 6"/>
          <p:cNvSpPr/>
          <p:nvPr/>
        </p:nvSpPr>
        <p:spPr>
          <a:xfrm>
            <a:off x="3502152" y="1243584"/>
            <a:ext cx="2724912" cy="1591056"/>
          </a:xfrm>
          <a:prstGeom prst="roundRect">
            <a:avLst>
              <a:gd name="adj" fmla="val 4598"/>
            </a:avLst>
          </a:prstGeom>
          <a:solidFill>
            <a:srgbClr val="053057"/>
          </a:solidFill>
          <a:ln w="12700">
            <a:solidFill>
              <a:srgbClr val="053057"/>
            </a:solidFill>
            <a:prstDash val="solid"/>
          </a:ln>
        </p:spPr>
        <p:txBody>
          <a:bodyPr/>
          <a:lstStyle/>
          <a:p>
            <a:endParaRPr lang="en-IN"/>
          </a:p>
        </p:txBody>
      </p:sp>
      <p:sp>
        <p:nvSpPr>
          <p:cNvPr id="9" name="Text 7"/>
          <p:cNvSpPr/>
          <p:nvPr/>
        </p:nvSpPr>
        <p:spPr>
          <a:xfrm>
            <a:off x="3721608" y="1371600"/>
            <a:ext cx="2286000" cy="475488"/>
          </a:xfrm>
          <a:prstGeom prst="rect">
            <a:avLst/>
          </a:prstGeom>
          <a:noFill/>
          <a:ln/>
        </p:spPr>
        <p:txBody>
          <a:bodyPr wrap="square" lIns="0" tIns="0" rIns="0" bIns="0" rtlCol="0" anchor="ctr"/>
          <a:lstStyle/>
          <a:p>
            <a:pPr marL="0" indent="0">
              <a:buNone/>
            </a:pPr>
            <a:r>
              <a:rPr lang="en-US" sz="3000" b="1">
                <a:solidFill>
                  <a:srgbClr val="00EDED"/>
                </a:solidFill>
                <a:latin typeface="Montserrat" pitchFamily="34" charset="0"/>
                <a:ea typeface="Montserrat" pitchFamily="34" charset="-122"/>
                <a:cs typeface="Montserrat" pitchFamily="34" charset="-120"/>
              </a:rPr>
              <a:t>Minutes</a:t>
            </a:r>
            <a:endParaRPr lang="en-US" sz="3000"/>
          </a:p>
        </p:txBody>
      </p:sp>
      <p:sp>
        <p:nvSpPr>
          <p:cNvPr id="10" name="Text 8"/>
          <p:cNvSpPr/>
          <p:nvPr/>
        </p:nvSpPr>
        <p:spPr>
          <a:xfrm>
            <a:off x="3721608" y="1865376"/>
            <a:ext cx="2286000" cy="256032"/>
          </a:xfrm>
          <a:prstGeom prst="rect">
            <a:avLst/>
          </a:prstGeom>
          <a:noFill/>
          <a:ln/>
        </p:spPr>
        <p:txBody>
          <a:bodyPr wrap="square" lIns="0" tIns="0" rIns="0" bIns="0" rtlCol="0" anchor="ctr"/>
          <a:lstStyle/>
          <a:p>
            <a:pPr marL="0" indent="0">
              <a:buNone/>
            </a:pPr>
            <a:r>
              <a:rPr lang="en-US" sz="1100" b="1">
                <a:solidFill>
                  <a:srgbClr val="FFFFFF"/>
                </a:solidFill>
                <a:latin typeface="Montserrat" pitchFamily="34" charset="0"/>
                <a:ea typeface="Montserrat" pitchFamily="34" charset="-122"/>
                <a:cs typeface="Montserrat" pitchFamily="34" charset="-120"/>
              </a:rPr>
              <a:t>from workbook to live app</a:t>
            </a:r>
            <a:endParaRPr lang="en-US" sz="1100"/>
          </a:p>
        </p:txBody>
      </p:sp>
      <p:sp>
        <p:nvSpPr>
          <p:cNvPr id="11" name="Text 9"/>
          <p:cNvSpPr/>
          <p:nvPr/>
        </p:nvSpPr>
        <p:spPr>
          <a:xfrm>
            <a:off x="3721608" y="2139696"/>
            <a:ext cx="2286000" cy="640080"/>
          </a:xfrm>
          <a:prstGeom prst="rect">
            <a:avLst/>
          </a:prstGeom>
          <a:noFill/>
          <a:ln/>
        </p:spPr>
        <p:txBody>
          <a:bodyPr wrap="square" lIns="0" tIns="0" rIns="0" bIns="0" rtlCol="0" anchor="ctr"/>
          <a:lstStyle/>
          <a:p>
            <a:pPr marL="0" indent="0">
              <a:lnSpc>
                <a:spcPct val="104000"/>
              </a:lnSpc>
              <a:buNone/>
            </a:pPr>
            <a:r>
              <a:rPr lang="en-US" sz="900">
                <a:solidFill>
                  <a:srgbClr val="A2F3F3"/>
                </a:solidFill>
                <a:latin typeface="Montserrat" pitchFamily="34" charset="0"/>
                <a:ea typeface="Montserrat" pitchFamily="34" charset="-122"/>
                <a:cs typeface="Montserrat" pitchFamily="34" charset="-120"/>
              </a:rPr>
              <a:t>One run inside the Snowflake account, not a rebuild project measured in sprints and handoffs.</a:t>
            </a:r>
            <a:endParaRPr lang="en-US" sz="900"/>
          </a:p>
        </p:txBody>
      </p:sp>
      <p:sp>
        <p:nvSpPr>
          <p:cNvPr id="12" name="Shape 10"/>
          <p:cNvSpPr/>
          <p:nvPr/>
        </p:nvSpPr>
        <p:spPr>
          <a:xfrm>
            <a:off x="6455664" y="1243584"/>
            <a:ext cx="2724912" cy="1591056"/>
          </a:xfrm>
          <a:prstGeom prst="roundRect">
            <a:avLst>
              <a:gd name="adj" fmla="val 4598"/>
            </a:avLst>
          </a:prstGeom>
          <a:solidFill>
            <a:srgbClr val="FFFFFF"/>
          </a:solidFill>
          <a:ln w="12700">
            <a:solidFill>
              <a:srgbClr val="DFE3E6"/>
            </a:solidFill>
            <a:prstDash val="solid"/>
          </a:ln>
        </p:spPr>
        <p:txBody>
          <a:bodyPr/>
          <a:lstStyle/>
          <a:p>
            <a:endParaRPr lang="en-IN"/>
          </a:p>
        </p:txBody>
      </p:sp>
      <p:sp>
        <p:nvSpPr>
          <p:cNvPr id="13" name="Text 11"/>
          <p:cNvSpPr/>
          <p:nvPr/>
        </p:nvSpPr>
        <p:spPr>
          <a:xfrm>
            <a:off x="6675120" y="1371600"/>
            <a:ext cx="2286000" cy="475488"/>
          </a:xfrm>
          <a:prstGeom prst="rect">
            <a:avLst/>
          </a:prstGeom>
          <a:noFill/>
          <a:ln/>
        </p:spPr>
        <p:txBody>
          <a:bodyPr wrap="square" lIns="0" tIns="0" rIns="0" bIns="0" rtlCol="0" anchor="ctr"/>
          <a:lstStyle/>
          <a:p>
            <a:pPr marL="0" indent="0">
              <a:buNone/>
            </a:pPr>
            <a:r>
              <a:rPr lang="en-US" sz="1900" b="1">
                <a:solidFill>
                  <a:srgbClr val="053057"/>
                </a:solidFill>
                <a:latin typeface="Montserrat" pitchFamily="34" charset="0"/>
                <a:ea typeface="Montserrat" pitchFamily="34" charset="-122"/>
                <a:cs typeface="Montserrat" pitchFamily="34" charset="-120"/>
              </a:rPr>
              <a:t>Every measure</a:t>
            </a:r>
            <a:endParaRPr lang="en-US" sz="1900"/>
          </a:p>
        </p:txBody>
      </p:sp>
      <p:sp>
        <p:nvSpPr>
          <p:cNvPr id="14" name="Text 12"/>
          <p:cNvSpPr/>
          <p:nvPr/>
        </p:nvSpPr>
        <p:spPr>
          <a:xfrm>
            <a:off x="6675120" y="1865376"/>
            <a:ext cx="2286000" cy="256032"/>
          </a:xfrm>
          <a:prstGeom prst="rect">
            <a:avLst/>
          </a:prstGeom>
          <a:noFill/>
          <a:ln/>
        </p:spPr>
        <p:txBody>
          <a:bodyPr wrap="square" lIns="0" tIns="0" rIns="0" bIns="0" rtlCol="0" anchor="ctr"/>
          <a:lstStyle/>
          <a:p>
            <a:pPr marL="0" indent="0">
              <a:buNone/>
            </a:pPr>
            <a:r>
              <a:rPr lang="en-US" sz="1100" b="1">
                <a:solidFill>
                  <a:srgbClr val="314550"/>
                </a:solidFill>
                <a:latin typeface="Montserrat" pitchFamily="34" charset="0"/>
                <a:ea typeface="Montserrat" pitchFamily="34" charset="-122"/>
                <a:cs typeface="Montserrat" pitchFamily="34" charset="-120"/>
              </a:rPr>
              <a:t>tied out to the source</a:t>
            </a:r>
            <a:endParaRPr lang="en-US" sz="1100"/>
          </a:p>
        </p:txBody>
      </p:sp>
      <p:sp>
        <p:nvSpPr>
          <p:cNvPr id="15" name="Text 13"/>
          <p:cNvSpPr/>
          <p:nvPr/>
        </p:nvSpPr>
        <p:spPr>
          <a:xfrm>
            <a:off x="6675120" y="2139696"/>
            <a:ext cx="2286000" cy="640080"/>
          </a:xfrm>
          <a:prstGeom prst="rect">
            <a:avLst/>
          </a:prstGeom>
          <a:noFill/>
          <a:ln/>
        </p:spPr>
        <p:txBody>
          <a:bodyPr wrap="square" lIns="0" tIns="0" rIns="0" bIns="0" rtlCol="0" anchor="ctr"/>
          <a:lstStyle/>
          <a:p>
            <a:pPr marL="0" indent="0">
              <a:lnSpc>
                <a:spcPct val="104000"/>
              </a:lnSpc>
              <a:buNone/>
            </a:pPr>
            <a:r>
              <a:rPr lang="en-US" sz="900">
                <a:solidFill>
                  <a:srgbClr val="6B7C88"/>
                </a:solidFill>
                <a:latin typeface="Montserrat" pitchFamily="34" charset="0"/>
                <a:ea typeface="Montserrat" pitchFamily="34" charset="-122"/>
                <a:cs typeface="Montserrat" pitchFamily="34" charset="-120"/>
              </a:rPr>
              <a:t>Validated automatically as part of the migration, with downloadable evidence rather than an assurance.</a:t>
            </a:r>
            <a:endParaRPr lang="en-US" sz="900"/>
          </a:p>
        </p:txBody>
      </p:sp>
      <p:sp>
        <p:nvSpPr>
          <p:cNvPr id="16" name="Shape 14"/>
          <p:cNvSpPr/>
          <p:nvPr/>
        </p:nvSpPr>
        <p:spPr>
          <a:xfrm>
            <a:off x="9409176" y="1243584"/>
            <a:ext cx="2724912" cy="1591056"/>
          </a:xfrm>
          <a:prstGeom prst="roundRect">
            <a:avLst>
              <a:gd name="adj" fmla="val 4598"/>
            </a:avLst>
          </a:prstGeom>
          <a:solidFill>
            <a:srgbClr val="FFFFFF"/>
          </a:solidFill>
          <a:ln w="12700">
            <a:solidFill>
              <a:srgbClr val="DFE3E6"/>
            </a:solidFill>
            <a:prstDash val="solid"/>
          </a:ln>
        </p:spPr>
        <p:txBody>
          <a:bodyPr/>
          <a:lstStyle/>
          <a:p>
            <a:endParaRPr lang="en-IN"/>
          </a:p>
        </p:txBody>
      </p:sp>
      <p:sp>
        <p:nvSpPr>
          <p:cNvPr id="17" name="Text 15"/>
          <p:cNvSpPr/>
          <p:nvPr/>
        </p:nvSpPr>
        <p:spPr>
          <a:xfrm>
            <a:off x="9628632" y="1371600"/>
            <a:ext cx="2286000" cy="475488"/>
          </a:xfrm>
          <a:prstGeom prst="rect">
            <a:avLst/>
          </a:prstGeom>
          <a:noFill/>
          <a:ln/>
        </p:spPr>
        <p:txBody>
          <a:bodyPr wrap="square" lIns="0" tIns="0" rIns="0" bIns="0" rtlCol="0" anchor="ctr"/>
          <a:lstStyle/>
          <a:p>
            <a:pPr marL="0" indent="0">
              <a:buNone/>
            </a:pPr>
            <a:r>
              <a:rPr lang="en-US" sz="1900" b="1">
                <a:solidFill>
                  <a:srgbClr val="053057"/>
                </a:solidFill>
                <a:latin typeface="Montserrat" pitchFamily="34" charset="0"/>
                <a:ea typeface="Montserrat" pitchFamily="34" charset="-122"/>
                <a:cs typeface="Montserrat" pitchFamily="34" charset="-120"/>
              </a:rPr>
              <a:t>Before you commit</a:t>
            </a:r>
            <a:endParaRPr lang="en-US" sz="1900"/>
          </a:p>
        </p:txBody>
      </p:sp>
      <p:sp>
        <p:nvSpPr>
          <p:cNvPr id="18" name="Text 16"/>
          <p:cNvSpPr/>
          <p:nvPr/>
        </p:nvSpPr>
        <p:spPr>
          <a:xfrm>
            <a:off x="9628632" y="1865376"/>
            <a:ext cx="2286000" cy="256032"/>
          </a:xfrm>
          <a:prstGeom prst="rect">
            <a:avLst/>
          </a:prstGeom>
          <a:noFill/>
          <a:ln/>
        </p:spPr>
        <p:txBody>
          <a:bodyPr wrap="square" lIns="0" tIns="0" rIns="0" bIns="0" rtlCol="0" anchor="ctr"/>
          <a:lstStyle/>
          <a:p>
            <a:pPr marL="0" indent="0">
              <a:buNone/>
            </a:pPr>
            <a:r>
              <a:rPr lang="en-US" sz="1100" b="1">
                <a:solidFill>
                  <a:srgbClr val="314550"/>
                </a:solidFill>
                <a:latin typeface="Montserrat" pitchFamily="34" charset="0"/>
                <a:ea typeface="Montserrat" pitchFamily="34" charset="-122"/>
                <a:cs typeface="Montserrat" pitchFamily="34" charset="-120"/>
              </a:rPr>
              <a:t>assessment comes first</a:t>
            </a:r>
            <a:endParaRPr lang="en-US" sz="1100"/>
          </a:p>
        </p:txBody>
      </p:sp>
      <p:sp>
        <p:nvSpPr>
          <p:cNvPr id="19" name="Text 17"/>
          <p:cNvSpPr/>
          <p:nvPr/>
        </p:nvSpPr>
        <p:spPr>
          <a:xfrm>
            <a:off x="9628632" y="2139696"/>
            <a:ext cx="2286000" cy="640080"/>
          </a:xfrm>
          <a:prstGeom prst="rect">
            <a:avLst/>
          </a:prstGeom>
          <a:noFill/>
          <a:ln/>
        </p:spPr>
        <p:txBody>
          <a:bodyPr wrap="square" lIns="0" tIns="0" rIns="0" bIns="0" rtlCol="0" anchor="ctr"/>
          <a:lstStyle/>
          <a:p>
            <a:pPr marL="0" indent="0">
              <a:lnSpc>
                <a:spcPct val="104000"/>
              </a:lnSpc>
              <a:buNone/>
            </a:pPr>
            <a:r>
              <a:rPr lang="en-US" sz="900">
                <a:solidFill>
                  <a:srgbClr val="6B7C88"/>
                </a:solidFill>
                <a:latin typeface="Montserrat" pitchFamily="34" charset="0"/>
                <a:ea typeface="Montserrat" pitchFamily="34" charset="-122"/>
                <a:cs typeface="Montserrat" pitchFamily="34" charset="-120"/>
              </a:rPr>
              <a:t>The estate is scanned and scored up front, so what converts — and what needs attention — is known before the work starts.</a:t>
            </a:r>
            <a:endParaRPr lang="en-US" sz="900"/>
          </a:p>
        </p:txBody>
      </p:sp>
      <p:sp>
        <p:nvSpPr>
          <p:cNvPr id="20" name="Shape 18"/>
          <p:cNvSpPr/>
          <p:nvPr/>
        </p:nvSpPr>
        <p:spPr>
          <a:xfrm>
            <a:off x="548640" y="2980944"/>
            <a:ext cx="5431536" cy="2011680"/>
          </a:xfrm>
          <a:prstGeom prst="roundRect">
            <a:avLst>
              <a:gd name="adj" fmla="val 3636"/>
            </a:avLst>
          </a:prstGeom>
          <a:solidFill>
            <a:srgbClr val="FFFFFF"/>
          </a:solidFill>
          <a:ln w="12700">
            <a:solidFill>
              <a:srgbClr val="DFE3E6"/>
            </a:solidFill>
            <a:prstDash val="solid"/>
          </a:ln>
        </p:spPr>
        <p:txBody>
          <a:bodyPr/>
          <a:lstStyle/>
          <a:p>
            <a:endParaRPr lang="en-IN"/>
          </a:p>
        </p:txBody>
      </p:sp>
      <p:sp>
        <p:nvSpPr>
          <p:cNvPr id="21" name="Text 19"/>
          <p:cNvSpPr/>
          <p:nvPr/>
        </p:nvSpPr>
        <p:spPr>
          <a:xfrm>
            <a:off x="841248" y="3145536"/>
            <a:ext cx="4846320" cy="237744"/>
          </a:xfrm>
          <a:prstGeom prst="rect">
            <a:avLst/>
          </a:prstGeom>
          <a:noFill/>
          <a:ln/>
        </p:spPr>
        <p:txBody>
          <a:bodyPr wrap="square" lIns="0" tIns="0" rIns="0" bIns="0" rtlCol="0" anchor="ctr"/>
          <a:lstStyle/>
          <a:p>
            <a:pPr marL="0" indent="0">
              <a:buNone/>
            </a:pPr>
            <a:r>
              <a:rPr lang="en-US" sz="1050" b="1" kern="0" spc="150">
                <a:solidFill>
                  <a:srgbClr val="6B7C88"/>
                </a:solidFill>
                <a:latin typeface="Montserrat" pitchFamily="34" charset="0"/>
                <a:ea typeface="Montserrat" pitchFamily="34" charset="-122"/>
                <a:cs typeface="Montserrat" pitchFamily="34" charset="-120"/>
              </a:rPr>
              <a:t>VALUE TO THE BUSINESS</a:t>
            </a:r>
            <a:endParaRPr lang="en-US" sz="1050"/>
          </a:p>
        </p:txBody>
      </p:sp>
      <p:sp>
        <p:nvSpPr>
          <p:cNvPr id="22" name="Shape 20"/>
          <p:cNvSpPr/>
          <p:nvPr/>
        </p:nvSpPr>
        <p:spPr>
          <a:xfrm>
            <a:off x="896112" y="3602736"/>
            <a:ext cx="128016" cy="128016"/>
          </a:xfrm>
          <a:prstGeom prst="ellipse">
            <a:avLst/>
          </a:prstGeom>
          <a:solidFill>
            <a:srgbClr val="C3CBD1"/>
          </a:solidFill>
          <a:ln/>
        </p:spPr>
        <p:txBody>
          <a:bodyPr/>
          <a:lstStyle/>
          <a:p>
            <a:endParaRPr lang="en-IN"/>
          </a:p>
        </p:txBody>
      </p:sp>
      <p:sp>
        <p:nvSpPr>
          <p:cNvPr id="23" name="Text 21"/>
          <p:cNvSpPr/>
          <p:nvPr/>
        </p:nvSpPr>
        <p:spPr>
          <a:xfrm>
            <a:off x="1170432" y="3529584"/>
            <a:ext cx="4553712" cy="329184"/>
          </a:xfrm>
          <a:prstGeom prst="rect">
            <a:avLst/>
          </a:prstGeom>
          <a:noFill/>
          <a:ln/>
        </p:spPr>
        <p:txBody>
          <a:bodyPr wrap="square" lIns="0" tIns="0" rIns="0" bIns="0" rtlCol="0" anchor="ctr"/>
          <a:lstStyle/>
          <a:p>
            <a:pPr marL="0" indent="0">
              <a:buNone/>
            </a:pPr>
            <a:r>
              <a:rPr lang="en-US" sz="1000">
                <a:solidFill>
                  <a:srgbClr val="6B7C88"/>
                </a:solidFill>
                <a:latin typeface="Montserrat" pitchFamily="34" charset="0"/>
                <a:ea typeface="Montserrat" pitchFamily="34" charset="-122"/>
                <a:cs typeface="Montserrat" pitchFamily="34" charset="-120"/>
              </a:rPr>
              <a:t>Dashboards live in days, not development cycles</a:t>
            </a:r>
            <a:endParaRPr lang="en-US" sz="1000"/>
          </a:p>
        </p:txBody>
      </p:sp>
      <p:sp>
        <p:nvSpPr>
          <p:cNvPr id="24" name="Shape 22"/>
          <p:cNvSpPr/>
          <p:nvPr/>
        </p:nvSpPr>
        <p:spPr>
          <a:xfrm>
            <a:off x="896112" y="3968496"/>
            <a:ext cx="128016" cy="128016"/>
          </a:xfrm>
          <a:prstGeom prst="ellipse">
            <a:avLst/>
          </a:prstGeom>
          <a:solidFill>
            <a:srgbClr val="C3CBD1"/>
          </a:solidFill>
          <a:ln/>
        </p:spPr>
        <p:txBody>
          <a:bodyPr/>
          <a:lstStyle/>
          <a:p>
            <a:endParaRPr lang="en-IN"/>
          </a:p>
        </p:txBody>
      </p:sp>
      <p:sp>
        <p:nvSpPr>
          <p:cNvPr id="25" name="Text 23"/>
          <p:cNvSpPr/>
          <p:nvPr/>
        </p:nvSpPr>
        <p:spPr>
          <a:xfrm>
            <a:off x="1170432" y="3895344"/>
            <a:ext cx="4553712" cy="329184"/>
          </a:xfrm>
          <a:prstGeom prst="rect">
            <a:avLst/>
          </a:prstGeom>
          <a:noFill/>
          <a:ln/>
        </p:spPr>
        <p:txBody>
          <a:bodyPr wrap="square" lIns="0" tIns="0" rIns="0" bIns="0" rtlCol="0" anchor="ctr"/>
          <a:lstStyle/>
          <a:p>
            <a:pPr marL="0" indent="0">
              <a:buNone/>
            </a:pPr>
            <a:r>
              <a:rPr lang="en-US" sz="1000">
                <a:solidFill>
                  <a:srgbClr val="6B7C88"/>
                </a:solidFill>
                <a:latin typeface="Montserrat" pitchFamily="34" charset="0"/>
                <a:ea typeface="Montserrat" pitchFamily="34" charset="-122"/>
                <a:cs typeface="Montserrat" pitchFamily="34" charset="-120"/>
              </a:rPr>
              <a:t>The data team owns the whole path — no specialist queue, and no second platform to run</a:t>
            </a:r>
            <a:endParaRPr lang="en-US" sz="1000"/>
          </a:p>
        </p:txBody>
      </p:sp>
      <p:sp>
        <p:nvSpPr>
          <p:cNvPr id="26" name="Shape 24"/>
          <p:cNvSpPr/>
          <p:nvPr/>
        </p:nvSpPr>
        <p:spPr>
          <a:xfrm>
            <a:off x="896112" y="4334256"/>
            <a:ext cx="128016" cy="128016"/>
          </a:xfrm>
          <a:prstGeom prst="ellipse">
            <a:avLst/>
          </a:prstGeom>
          <a:solidFill>
            <a:srgbClr val="C3CBD1"/>
          </a:solidFill>
          <a:ln/>
        </p:spPr>
        <p:txBody>
          <a:bodyPr/>
          <a:lstStyle/>
          <a:p>
            <a:endParaRPr lang="en-IN"/>
          </a:p>
        </p:txBody>
      </p:sp>
      <p:sp>
        <p:nvSpPr>
          <p:cNvPr id="27" name="Text 25"/>
          <p:cNvSpPr/>
          <p:nvPr/>
        </p:nvSpPr>
        <p:spPr>
          <a:xfrm>
            <a:off x="1170432" y="4261104"/>
            <a:ext cx="4553712" cy="329184"/>
          </a:xfrm>
          <a:prstGeom prst="rect">
            <a:avLst/>
          </a:prstGeom>
          <a:noFill/>
          <a:ln/>
        </p:spPr>
        <p:txBody>
          <a:bodyPr wrap="square" lIns="0" tIns="0" rIns="0" bIns="0" rtlCol="0" anchor="ctr"/>
          <a:lstStyle/>
          <a:p>
            <a:pPr marL="0" indent="0">
              <a:buNone/>
            </a:pPr>
            <a:r>
              <a:rPr lang="en-US" sz="1000">
                <a:solidFill>
                  <a:srgbClr val="6B7C88"/>
                </a:solidFill>
                <a:latin typeface="Montserrat" pitchFamily="34" charset="0"/>
                <a:ea typeface="Montserrat" pitchFamily="34" charset="-122"/>
                <a:cs typeface="Montserrat" pitchFamily="34" charset="-120"/>
              </a:rPr>
              <a:t>Governance stays with the data — access rules and row-level security inherited, not rebuilt</a:t>
            </a:r>
            <a:endParaRPr lang="en-US" sz="1000"/>
          </a:p>
        </p:txBody>
      </p:sp>
      <p:sp>
        <p:nvSpPr>
          <p:cNvPr id="28" name="Shape 26"/>
          <p:cNvSpPr/>
          <p:nvPr/>
        </p:nvSpPr>
        <p:spPr>
          <a:xfrm>
            <a:off x="896112" y="4700016"/>
            <a:ext cx="128016" cy="128016"/>
          </a:xfrm>
          <a:prstGeom prst="ellipse">
            <a:avLst/>
          </a:prstGeom>
          <a:solidFill>
            <a:srgbClr val="C3CBD1"/>
          </a:solidFill>
          <a:ln/>
        </p:spPr>
        <p:txBody>
          <a:bodyPr/>
          <a:lstStyle/>
          <a:p>
            <a:endParaRPr lang="en-IN"/>
          </a:p>
        </p:txBody>
      </p:sp>
      <p:sp>
        <p:nvSpPr>
          <p:cNvPr id="29" name="Text 27"/>
          <p:cNvSpPr/>
          <p:nvPr/>
        </p:nvSpPr>
        <p:spPr>
          <a:xfrm>
            <a:off x="1170432" y="4626864"/>
            <a:ext cx="4553712" cy="329184"/>
          </a:xfrm>
          <a:prstGeom prst="rect">
            <a:avLst/>
          </a:prstGeom>
          <a:noFill/>
          <a:ln/>
        </p:spPr>
        <p:txBody>
          <a:bodyPr wrap="square" lIns="0" tIns="0" rIns="0" bIns="0" rtlCol="0" anchor="ctr"/>
          <a:lstStyle/>
          <a:p>
            <a:pPr marL="0" indent="0">
              <a:buNone/>
            </a:pPr>
            <a:r>
              <a:rPr lang="en-US" sz="1000">
                <a:solidFill>
                  <a:srgbClr val="6B7C88"/>
                </a:solidFill>
                <a:latin typeface="Montserrat" pitchFamily="34" charset="0"/>
                <a:ea typeface="Montserrat" pitchFamily="34" charset="-122"/>
                <a:cs typeface="Montserrat" pitchFamily="34" charset="-120"/>
              </a:rPr>
              <a:t>Anything that cannot convert is surfaced up front, never discovered late</a:t>
            </a:r>
            <a:endParaRPr lang="en-US" sz="1000"/>
          </a:p>
        </p:txBody>
      </p:sp>
      <p:sp>
        <p:nvSpPr>
          <p:cNvPr id="30" name="Shape 28"/>
          <p:cNvSpPr/>
          <p:nvPr/>
        </p:nvSpPr>
        <p:spPr>
          <a:xfrm>
            <a:off x="6208776" y="2980944"/>
            <a:ext cx="5431536" cy="2011680"/>
          </a:xfrm>
          <a:prstGeom prst="roundRect">
            <a:avLst>
              <a:gd name="adj" fmla="val 3636"/>
            </a:avLst>
          </a:prstGeom>
          <a:solidFill>
            <a:srgbClr val="053057"/>
          </a:solidFill>
          <a:ln w="15875">
            <a:solidFill>
              <a:srgbClr val="00EDED"/>
            </a:solidFill>
            <a:prstDash val="solid"/>
          </a:ln>
        </p:spPr>
        <p:txBody>
          <a:bodyPr/>
          <a:lstStyle/>
          <a:p>
            <a:endParaRPr lang="en-IN"/>
          </a:p>
        </p:txBody>
      </p:sp>
      <p:sp>
        <p:nvSpPr>
          <p:cNvPr id="31" name="Text 29"/>
          <p:cNvSpPr/>
          <p:nvPr/>
        </p:nvSpPr>
        <p:spPr>
          <a:xfrm>
            <a:off x="6501384" y="3145536"/>
            <a:ext cx="4846320" cy="237744"/>
          </a:xfrm>
          <a:prstGeom prst="rect">
            <a:avLst/>
          </a:prstGeom>
          <a:noFill/>
          <a:ln/>
        </p:spPr>
        <p:txBody>
          <a:bodyPr wrap="square" lIns="0" tIns="0" rIns="0" bIns="0" rtlCol="0" anchor="ctr"/>
          <a:lstStyle/>
          <a:p>
            <a:pPr marL="0" indent="0">
              <a:buNone/>
            </a:pPr>
            <a:r>
              <a:rPr lang="en-US" sz="1050" b="1" kern="0" spc="150">
                <a:solidFill>
                  <a:srgbClr val="00EDED"/>
                </a:solidFill>
                <a:latin typeface="Montserrat" pitchFamily="34" charset="0"/>
                <a:ea typeface="Montserrat" pitchFamily="34" charset="-122"/>
                <a:cs typeface="Montserrat" pitchFamily="34" charset="-120"/>
              </a:rPr>
              <a:t>VALUE TO SNOWFLAKE</a:t>
            </a:r>
            <a:endParaRPr lang="en-US" sz="1050"/>
          </a:p>
        </p:txBody>
      </p:sp>
      <p:sp>
        <p:nvSpPr>
          <p:cNvPr id="32" name="Shape 30"/>
          <p:cNvSpPr/>
          <p:nvPr/>
        </p:nvSpPr>
        <p:spPr>
          <a:xfrm>
            <a:off x="6556248" y="3602736"/>
            <a:ext cx="128016" cy="128016"/>
          </a:xfrm>
          <a:prstGeom prst="ellipse">
            <a:avLst/>
          </a:prstGeom>
          <a:solidFill>
            <a:srgbClr val="00EDED"/>
          </a:solidFill>
          <a:ln/>
        </p:spPr>
        <p:txBody>
          <a:bodyPr/>
          <a:lstStyle/>
          <a:p>
            <a:endParaRPr lang="en-IN"/>
          </a:p>
        </p:txBody>
      </p:sp>
      <p:sp>
        <p:nvSpPr>
          <p:cNvPr id="33" name="Text 31"/>
          <p:cNvSpPr/>
          <p:nvPr/>
        </p:nvSpPr>
        <p:spPr>
          <a:xfrm>
            <a:off x="6830568" y="3529584"/>
            <a:ext cx="4553712" cy="329184"/>
          </a:xfrm>
          <a:prstGeom prst="rect">
            <a:avLst/>
          </a:prstGeom>
          <a:noFill/>
          <a:ln/>
        </p:spPr>
        <p:txBody>
          <a:bodyPr wrap="square" lIns="0" tIns="0" rIns="0" bIns="0" rtlCol="0" anchor="ctr"/>
          <a:lstStyle/>
          <a:p>
            <a:pPr marL="0" indent="0">
              <a:buNone/>
            </a:pPr>
            <a:r>
              <a:rPr lang="en-US" sz="1000">
                <a:solidFill>
                  <a:srgbClr val="A2F3F3"/>
                </a:solidFill>
                <a:latin typeface="Montserrat" pitchFamily="34" charset="0"/>
                <a:ea typeface="Montserrat" pitchFamily="34" charset="-122"/>
                <a:cs typeface="Montserrat" pitchFamily="34" charset="-120"/>
              </a:rPr>
              <a:t>Warehouse compute on every dashboard view, where an extract served it before</a:t>
            </a:r>
            <a:endParaRPr lang="en-US" sz="1000"/>
          </a:p>
        </p:txBody>
      </p:sp>
      <p:sp>
        <p:nvSpPr>
          <p:cNvPr id="34" name="Shape 32"/>
          <p:cNvSpPr/>
          <p:nvPr/>
        </p:nvSpPr>
        <p:spPr>
          <a:xfrm>
            <a:off x="6556248" y="3968496"/>
            <a:ext cx="128016" cy="128016"/>
          </a:xfrm>
          <a:prstGeom prst="ellipse">
            <a:avLst/>
          </a:prstGeom>
          <a:solidFill>
            <a:srgbClr val="00EDED"/>
          </a:solidFill>
          <a:ln/>
        </p:spPr>
        <p:txBody>
          <a:bodyPr/>
          <a:lstStyle/>
          <a:p>
            <a:endParaRPr lang="en-IN"/>
          </a:p>
        </p:txBody>
      </p:sp>
      <p:sp>
        <p:nvSpPr>
          <p:cNvPr id="35" name="Text 33"/>
          <p:cNvSpPr/>
          <p:nvPr/>
        </p:nvSpPr>
        <p:spPr>
          <a:xfrm>
            <a:off x="6830568" y="3895344"/>
            <a:ext cx="4553712" cy="329184"/>
          </a:xfrm>
          <a:prstGeom prst="rect">
            <a:avLst/>
          </a:prstGeom>
          <a:noFill/>
          <a:ln/>
        </p:spPr>
        <p:txBody>
          <a:bodyPr wrap="square" lIns="0" tIns="0" rIns="0" bIns="0" rtlCol="0" anchor="ctr"/>
          <a:lstStyle/>
          <a:p>
            <a:pPr marL="0" indent="0">
              <a:buNone/>
            </a:pPr>
            <a:r>
              <a:rPr lang="en-US" sz="1000">
                <a:solidFill>
                  <a:srgbClr val="A2F3F3"/>
                </a:solidFill>
                <a:latin typeface="Montserrat" pitchFamily="34" charset="0"/>
                <a:ea typeface="Montserrat" pitchFamily="34" charset="-122"/>
                <a:cs typeface="Montserrat" pitchFamily="34" charset="-120"/>
              </a:rPr>
              <a:t>Cortex consumption on every workbook migrated</a:t>
            </a:r>
            <a:endParaRPr lang="en-US" sz="1000"/>
          </a:p>
        </p:txBody>
      </p:sp>
      <p:sp>
        <p:nvSpPr>
          <p:cNvPr id="36" name="Shape 34"/>
          <p:cNvSpPr/>
          <p:nvPr/>
        </p:nvSpPr>
        <p:spPr>
          <a:xfrm>
            <a:off x="6556248" y="4334256"/>
            <a:ext cx="128016" cy="128016"/>
          </a:xfrm>
          <a:prstGeom prst="ellipse">
            <a:avLst/>
          </a:prstGeom>
          <a:solidFill>
            <a:srgbClr val="00EDED"/>
          </a:solidFill>
          <a:ln/>
        </p:spPr>
        <p:txBody>
          <a:bodyPr/>
          <a:lstStyle/>
          <a:p>
            <a:endParaRPr lang="en-IN"/>
          </a:p>
        </p:txBody>
      </p:sp>
      <p:sp>
        <p:nvSpPr>
          <p:cNvPr id="37" name="Text 35"/>
          <p:cNvSpPr/>
          <p:nvPr/>
        </p:nvSpPr>
        <p:spPr>
          <a:xfrm>
            <a:off x="6830568" y="4261104"/>
            <a:ext cx="4553712" cy="329184"/>
          </a:xfrm>
          <a:prstGeom prst="rect">
            <a:avLst/>
          </a:prstGeom>
          <a:noFill/>
          <a:ln/>
        </p:spPr>
        <p:txBody>
          <a:bodyPr wrap="square" lIns="0" tIns="0" rIns="0" bIns="0" rtlCol="0" anchor="ctr"/>
          <a:lstStyle/>
          <a:p>
            <a:pPr marL="0" indent="0">
              <a:buNone/>
            </a:pPr>
            <a:r>
              <a:rPr lang="en-US" sz="1000">
                <a:solidFill>
                  <a:srgbClr val="A2F3F3"/>
                </a:solidFill>
                <a:latin typeface="Montserrat" pitchFamily="34" charset="0"/>
                <a:ea typeface="Montserrat" pitchFamily="34" charset="-122"/>
                <a:cs typeface="Montserrat" pitchFamily="34" charset="-120"/>
              </a:rPr>
              <a:t>The semantic layer adopted as the governed model, feeding Cortex Analyst</a:t>
            </a:r>
            <a:endParaRPr lang="en-US" sz="1000"/>
          </a:p>
        </p:txBody>
      </p:sp>
      <p:sp>
        <p:nvSpPr>
          <p:cNvPr id="38" name="Shape 36"/>
          <p:cNvSpPr/>
          <p:nvPr/>
        </p:nvSpPr>
        <p:spPr>
          <a:xfrm>
            <a:off x="6556248" y="4700016"/>
            <a:ext cx="128016" cy="128016"/>
          </a:xfrm>
          <a:prstGeom prst="ellipse">
            <a:avLst/>
          </a:prstGeom>
          <a:solidFill>
            <a:srgbClr val="00EDED"/>
          </a:solidFill>
          <a:ln/>
        </p:spPr>
        <p:txBody>
          <a:bodyPr/>
          <a:lstStyle/>
          <a:p>
            <a:endParaRPr lang="en-IN"/>
          </a:p>
        </p:txBody>
      </p:sp>
      <p:sp>
        <p:nvSpPr>
          <p:cNvPr id="39" name="Text 37"/>
          <p:cNvSpPr/>
          <p:nvPr/>
        </p:nvSpPr>
        <p:spPr>
          <a:xfrm>
            <a:off x="6830568" y="4626864"/>
            <a:ext cx="4553712" cy="329184"/>
          </a:xfrm>
          <a:prstGeom prst="rect">
            <a:avLst/>
          </a:prstGeom>
          <a:noFill/>
          <a:ln/>
        </p:spPr>
        <p:txBody>
          <a:bodyPr wrap="square" lIns="0" tIns="0" rIns="0" bIns="0" rtlCol="0" anchor="ctr"/>
          <a:lstStyle/>
          <a:p>
            <a:pPr marL="0" indent="0">
              <a:buNone/>
            </a:pPr>
            <a:r>
              <a:rPr lang="en-US" sz="1000">
                <a:solidFill>
                  <a:srgbClr val="A2F3F3"/>
                </a:solidFill>
                <a:latin typeface="Montserrat" pitchFamily="34" charset="0"/>
                <a:ea typeface="Montserrat" pitchFamily="34" charset="-122"/>
                <a:cs typeface="Montserrat" pitchFamily="34" charset="-120"/>
              </a:rPr>
              <a:t>BI workload consolidated onto the platform, and share taken from a competing stack</a:t>
            </a:r>
            <a:endParaRPr lang="en-US" sz="1000"/>
          </a:p>
        </p:txBody>
      </p:sp>
      <p:sp>
        <p:nvSpPr>
          <p:cNvPr id="40" name="Shape 38"/>
          <p:cNvSpPr/>
          <p:nvPr/>
        </p:nvSpPr>
        <p:spPr>
          <a:xfrm>
            <a:off x="548640" y="5157216"/>
            <a:ext cx="11091672" cy="932688"/>
          </a:xfrm>
          <a:prstGeom prst="roundRect">
            <a:avLst>
              <a:gd name="adj" fmla="val 7843"/>
            </a:avLst>
          </a:prstGeom>
          <a:solidFill>
            <a:srgbClr val="053057"/>
          </a:solidFill>
          <a:ln w="15875">
            <a:solidFill>
              <a:srgbClr val="00EDED"/>
            </a:solidFill>
            <a:prstDash val="solid"/>
          </a:ln>
        </p:spPr>
        <p:txBody>
          <a:bodyPr/>
          <a:lstStyle/>
          <a:p>
            <a:endParaRPr lang="en-IN"/>
          </a:p>
        </p:txBody>
      </p:sp>
      <p:sp>
        <p:nvSpPr>
          <p:cNvPr id="41" name="Text 39"/>
          <p:cNvSpPr/>
          <p:nvPr/>
        </p:nvSpPr>
        <p:spPr>
          <a:xfrm>
            <a:off x="841248" y="5285232"/>
            <a:ext cx="10515600" cy="274320"/>
          </a:xfrm>
          <a:prstGeom prst="rect">
            <a:avLst/>
          </a:prstGeom>
          <a:noFill/>
          <a:ln/>
        </p:spPr>
        <p:txBody>
          <a:bodyPr wrap="square" lIns="0" tIns="0" rIns="0" bIns="0" rtlCol="0" anchor="ctr"/>
          <a:lstStyle/>
          <a:p>
            <a:pPr marL="0" indent="0">
              <a:buNone/>
            </a:pPr>
            <a:r>
              <a:rPr lang="en-US" sz="1300" b="1">
                <a:solidFill>
                  <a:srgbClr val="00EDED"/>
                </a:solidFill>
                <a:latin typeface="Montserrat" pitchFamily="34" charset="0"/>
                <a:ea typeface="Montserrat" pitchFamily="34" charset="-122"/>
                <a:cs typeface="Montserrat" pitchFamily="34" charset="-120"/>
              </a:rPr>
              <a:t>An extract sends Snowflake no query workload at all</a:t>
            </a:r>
            <a:endParaRPr lang="en-US" sz="1300"/>
          </a:p>
        </p:txBody>
      </p:sp>
      <p:sp>
        <p:nvSpPr>
          <p:cNvPr id="42" name="Text 40"/>
          <p:cNvSpPr/>
          <p:nvPr/>
        </p:nvSpPr>
        <p:spPr>
          <a:xfrm>
            <a:off x="841248" y="5596128"/>
            <a:ext cx="10515600" cy="402336"/>
          </a:xfrm>
          <a:prstGeom prst="rect">
            <a:avLst/>
          </a:prstGeom>
          <a:noFill/>
          <a:ln/>
        </p:spPr>
        <p:txBody>
          <a:bodyPr wrap="square" lIns="0" tIns="0" rIns="0" bIns="0" rtlCol="0" anchor="ctr"/>
          <a:lstStyle/>
          <a:p>
            <a:pPr marL="0" indent="0">
              <a:buNone/>
            </a:pPr>
            <a:r>
              <a:rPr lang="en-US" sz="1050">
                <a:solidFill>
                  <a:srgbClr val="D6E6F0"/>
                </a:solidFill>
                <a:latin typeface="Montserrat" pitchFamily="34" charset="0"/>
                <a:ea typeface="Montserrat" pitchFamily="34" charset="-122"/>
                <a:cs typeface="Montserrat" pitchFamily="34" charset="-120"/>
              </a:rPr>
              <a:t>Tableau's own engine serves it, so those dashboard views never reach the warehouse. Migrated, every single view becomes warehouse compute and every migration becomes Cortex consumption — on data that never leaves the account.</a:t>
            </a:r>
            <a:endParaRPr lang="en-US" sz="1050"/>
          </a:p>
        </p:txBody>
      </p:sp>
      <p:sp>
        <p:nvSpPr>
          <p:cNvPr id="43" name="Shape 41"/>
          <p:cNvSpPr/>
          <p:nvPr/>
        </p:nvSpPr>
        <p:spPr>
          <a:xfrm>
            <a:off x="548640" y="6236208"/>
            <a:ext cx="11091672" cy="420624"/>
          </a:xfrm>
          <a:prstGeom prst="roundRect">
            <a:avLst>
              <a:gd name="adj" fmla="val 13043"/>
            </a:avLst>
          </a:prstGeom>
          <a:solidFill>
            <a:srgbClr val="053057"/>
          </a:solidFill>
          <a:ln w="12700">
            <a:solidFill>
              <a:srgbClr val="053057"/>
            </a:solidFill>
            <a:prstDash val="solid"/>
          </a:ln>
        </p:spPr>
        <p:txBody>
          <a:bodyPr/>
          <a:lstStyle/>
          <a:p>
            <a:endParaRPr lang="en-IN"/>
          </a:p>
        </p:txBody>
      </p:sp>
      <p:sp>
        <p:nvSpPr>
          <p:cNvPr id="44" name="Text 42"/>
          <p:cNvSpPr/>
          <p:nvPr/>
        </p:nvSpPr>
        <p:spPr>
          <a:xfrm>
            <a:off x="548640" y="6236208"/>
            <a:ext cx="11091672" cy="420624"/>
          </a:xfrm>
          <a:prstGeom prst="rect">
            <a:avLst/>
          </a:prstGeom>
          <a:noFill/>
          <a:ln/>
        </p:spPr>
        <p:txBody>
          <a:bodyPr wrap="square" lIns="0" tIns="0" rIns="0" bIns="0" rtlCol="0" anchor="ctr"/>
          <a:lstStyle/>
          <a:p>
            <a:pPr marL="0" indent="0" algn="ctr">
              <a:buNone/>
            </a:pPr>
            <a:r>
              <a:rPr lang="en-US" sz="1100" b="1" kern="0" spc="6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a:p>
        </p:txBody>
      </p:sp>
    </p:spTree>
    <p:extLst>
      <p:ext uri="{BB962C8B-B14F-4D97-AF65-F5344CB8AC3E}">
        <p14:creationId xmlns:p14="http://schemas.microsoft.com/office/powerpoint/2010/main" val="4136486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a:solidFill>
                  <a:srgbClr val="FFFFFF"/>
                </a:solidFill>
                <a:latin typeface="Montserrat" pitchFamily="34" charset="0"/>
                <a:ea typeface="Montserrat" pitchFamily="34" charset="-122"/>
                <a:cs typeface="Montserrat" pitchFamily="34" charset="-120"/>
              </a:rPr>
              <a:t>Running in Snowsight Today</a:t>
            </a:r>
            <a:endParaRPr lang="en-US" sz="320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a:solidFill>
                  <a:srgbClr val="A2F3F3"/>
                </a:solidFill>
                <a:latin typeface="Montserrat" pitchFamily="34" charset="0"/>
                <a:ea typeface="Montserrat" pitchFamily="34" charset="-122"/>
                <a:cs typeface="Montserrat" pitchFamily="34" charset="-120"/>
              </a:rPr>
              <a:t>One Tableau workbook, migrated end to end — hosted and executing inside Snowflake</a:t>
            </a:r>
            <a:endParaRPr lang="en-US" sz="1400"/>
          </a:p>
        </p:txBody>
      </p:sp>
      <p:pic>
        <p:nvPicPr>
          <p:cNvPr id="4" name="Image 0" descr="run_stages.png"/>
          <p:cNvPicPr>
            <a:picLocks noChangeAspect="1"/>
          </p:cNvPicPr>
          <p:nvPr/>
        </p:nvPicPr>
        <p:blipFill>
          <a:blip r:embed="rId3"/>
          <a:stretch>
            <a:fillRect/>
          </a:stretch>
        </p:blipFill>
        <p:spPr>
          <a:xfrm>
            <a:off x="548640" y="1280160"/>
            <a:ext cx="5440680" cy="3108960"/>
          </a:xfrm>
          <a:prstGeom prst="rect">
            <a:avLst/>
          </a:prstGeom>
        </p:spPr>
      </p:pic>
      <p:sp>
        <p:nvSpPr>
          <p:cNvPr id="5" name="Text 2"/>
          <p:cNvSpPr/>
          <p:nvPr/>
        </p:nvSpPr>
        <p:spPr>
          <a:xfrm>
            <a:off x="548640" y="4498848"/>
            <a:ext cx="5440680" cy="256032"/>
          </a:xfrm>
          <a:prstGeom prst="rect">
            <a:avLst/>
          </a:prstGeom>
          <a:noFill/>
          <a:ln/>
        </p:spPr>
        <p:txBody>
          <a:bodyPr wrap="square" lIns="0" tIns="0" rIns="0" bIns="0" rtlCol="0" anchor="ctr"/>
          <a:lstStyle/>
          <a:p>
            <a:pPr marL="0" indent="0">
              <a:buNone/>
            </a:pPr>
            <a:r>
              <a:rPr lang="en-US" sz="1000" b="1">
                <a:solidFill>
                  <a:srgbClr val="00EDED"/>
                </a:solidFill>
                <a:latin typeface="Montserrat" pitchFamily="34" charset="0"/>
                <a:ea typeface="Montserrat" pitchFamily="34" charset="-122"/>
                <a:cs typeface="Montserrat" pitchFamily="34" charset="-120"/>
              </a:rPr>
              <a:t>The pipeline — five stages, executed in the account</a:t>
            </a:r>
            <a:endParaRPr lang="en-US" sz="1000"/>
          </a:p>
        </p:txBody>
      </p:sp>
      <p:sp>
        <p:nvSpPr>
          <p:cNvPr id="6" name="Text 3"/>
          <p:cNvSpPr/>
          <p:nvPr/>
        </p:nvSpPr>
        <p:spPr>
          <a:xfrm>
            <a:off x="548640" y="4754880"/>
            <a:ext cx="5440680" cy="548640"/>
          </a:xfrm>
          <a:prstGeom prst="rect">
            <a:avLst/>
          </a:prstGeom>
          <a:noFill/>
          <a:ln/>
        </p:spPr>
        <p:txBody>
          <a:bodyPr wrap="square" lIns="0" tIns="0" rIns="0" bIns="0" rtlCol="0" anchor="ctr"/>
          <a:lstStyle/>
          <a:p>
            <a:pPr marL="0" indent="0">
              <a:lnSpc>
                <a:spcPct val="104000"/>
              </a:lnSpc>
              <a:buNone/>
            </a:pPr>
            <a:r>
              <a:rPr lang="en-US" sz="900">
                <a:solidFill>
                  <a:srgbClr val="D6E6F0"/>
                </a:solidFill>
                <a:latin typeface="Montserrat" pitchFamily="34" charset="0"/>
                <a:ea typeface="Montserrat" pitchFamily="34" charset="-122"/>
                <a:cs typeface="Montserrat" pitchFamily="34" charset="-120"/>
              </a:rPr>
              <a:t>Superstore workbook uploaded · 3 datasources loaded · 20 sheets across 9 dashboards parsed · 8 metrics deployed as a native semantic view · 13/13 measures pass.</a:t>
            </a:r>
            <a:endParaRPr lang="en-US" sz="900"/>
          </a:p>
        </p:txBody>
      </p:sp>
      <p:pic>
        <p:nvPicPr>
          <p:cNvPr id="7" name="Image 1" descr="run_dashboard.png"/>
          <p:cNvPicPr>
            <a:picLocks noChangeAspect="1"/>
          </p:cNvPicPr>
          <p:nvPr/>
        </p:nvPicPr>
        <p:blipFill>
          <a:blip r:embed="rId4"/>
          <a:stretch>
            <a:fillRect/>
          </a:stretch>
        </p:blipFill>
        <p:spPr>
          <a:xfrm>
            <a:off x="6601968" y="1280160"/>
            <a:ext cx="5038344" cy="3108960"/>
          </a:xfrm>
          <a:prstGeom prst="rect">
            <a:avLst/>
          </a:prstGeom>
        </p:spPr>
      </p:pic>
      <p:sp>
        <p:nvSpPr>
          <p:cNvPr id="8" name="Text 4"/>
          <p:cNvSpPr/>
          <p:nvPr/>
        </p:nvSpPr>
        <p:spPr>
          <a:xfrm>
            <a:off x="6601968" y="4498848"/>
            <a:ext cx="5038344" cy="256032"/>
          </a:xfrm>
          <a:prstGeom prst="rect">
            <a:avLst/>
          </a:prstGeom>
          <a:noFill/>
          <a:ln/>
        </p:spPr>
        <p:txBody>
          <a:bodyPr wrap="square" lIns="0" tIns="0" rIns="0" bIns="0" rtlCol="0" anchor="ctr"/>
          <a:lstStyle/>
          <a:p>
            <a:pPr marL="0" indent="0">
              <a:buNone/>
            </a:pPr>
            <a:r>
              <a:rPr lang="en-US" sz="1000" b="1">
                <a:solidFill>
                  <a:srgbClr val="00EDED"/>
                </a:solidFill>
                <a:latin typeface="Montserrat" pitchFamily="34" charset="0"/>
                <a:ea typeface="Montserrat" pitchFamily="34" charset="-122"/>
                <a:cs typeface="Montserrat" pitchFamily="34" charset="-120"/>
              </a:rPr>
              <a:t>The result — the converted dashboard, rendered natively</a:t>
            </a:r>
            <a:endParaRPr lang="en-US" sz="1000"/>
          </a:p>
        </p:txBody>
      </p:sp>
      <p:sp>
        <p:nvSpPr>
          <p:cNvPr id="9" name="Text 5"/>
          <p:cNvSpPr/>
          <p:nvPr/>
        </p:nvSpPr>
        <p:spPr>
          <a:xfrm>
            <a:off x="6601968" y="4754880"/>
            <a:ext cx="5038344" cy="548640"/>
          </a:xfrm>
          <a:prstGeom prst="rect">
            <a:avLst/>
          </a:prstGeom>
          <a:noFill/>
          <a:ln/>
        </p:spPr>
        <p:txBody>
          <a:bodyPr wrap="square" lIns="0" tIns="0" rIns="0" bIns="0" rtlCol="0" anchor="ctr"/>
          <a:lstStyle/>
          <a:p>
            <a:pPr marL="0" indent="0">
              <a:lnSpc>
                <a:spcPct val="104000"/>
              </a:lnSpc>
              <a:buNone/>
            </a:pPr>
            <a:r>
              <a:rPr lang="en-US" sz="900">
                <a:solidFill>
                  <a:srgbClr val="D6E6F0"/>
                </a:solidFill>
                <a:latin typeface="Montserrat" pitchFamily="34" charset="0"/>
                <a:ea typeface="Montserrat" pitchFamily="34" charset="-122"/>
                <a:cs typeface="Montserrat" pitchFamily="34" charset="-120"/>
              </a:rPr>
              <a:t>Nine dashboard tabs with their filters, KPIs, scatter and ranking charts — reading live from Snowflake tables, not a copy.</a:t>
            </a:r>
            <a:endParaRPr lang="en-US" sz="900"/>
          </a:p>
        </p:txBody>
      </p:sp>
      <p:sp>
        <p:nvSpPr>
          <p:cNvPr id="10" name="Shape 6"/>
          <p:cNvSpPr/>
          <p:nvPr/>
        </p:nvSpPr>
        <p:spPr>
          <a:xfrm>
            <a:off x="548640" y="5358384"/>
            <a:ext cx="11091672" cy="749808"/>
          </a:xfrm>
          <a:prstGeom prst="roundRect">
            <a:avLst>
              <a:gd name="adj" fmla="val 9756"/>
            </a:avLst>
          </a:prstGeom>
          <a:solidFill>
            <a:srgbClr val="0A3E6B"/>
          </a:solidFill>
          <a:ln w="15875">
            <a:solidFill>
              <a:srgbClr val="00EDED"/>
            </a:solidFill>
            <a:prstDash val="solid"/>
          </a:ln>
        </p:spPr>
        <p:txBody>
          <a:bodyPr/>
          <a:lstStyle/>
          <a:p>
            <a:endParaRPr lang="en-IN"/>
          </a:p>
        </p:txBody>
      </p:sp>
      <p:sp>
        <p:nvSpPr>
          <p:cNvPr id="11" name="Text 7"/>
          <p:cNvSpPr/>
          <p:nvPr/>
        </p:nvSpPr>
        <p:spPr>
          <a:xfrm>
            <a:off x="868680" y="5504688"/>
            <a:ext cx="10424160" cy="475488"/>
          </a:xfrm>
          <a:prstGeom prst="rect">
            <a:avLst/>
          </a:prstGeom>
          <a:noFill/>
          <a:ln/>
        </p:spPr>
        <p:txBody>
          <a:bodyPr wrap="square" lIns="0" tIns="0" rIns="0" bIns="0" rtlCol="0" anchor="ctr"/>
          <a:lstStyle/>
          <a:p>
            <a:pPr marL="0" indent="0">
              <a:buNone/>
            </a:pPr>
            <a:r>
              <a:rPr lang="en-US" sz="1050" b="1">
                <a:solidFill>
                  <a:srgbClr val="00EDED"/>
                </a:solidFill>
                <a:latin typeface="Montserrat" pitchFamily="34" charset="0"/>
                <a:ea typeface="Montserrat" pitchFamily="34" charset="-122"/>
                <a:cs typeface="Montserrat" pitchFamily="34" charset="-120"/>
              </a:rPr>
              <a:t>We would value your view.  </a:t>
            </a:r>
            <a:r>
              <a:rPr lang="en-US" sz="1050">
                <a:solidFill>
                  <a:srgbClr val="D6E6F0"/>
                </a:solidFill>
                <a:latin typeface="Montserrat" pitchFamily="34" charset="0"/>
                <a:ea typeface="Montserrat" pitchFamily="34" charset="-122"/>
                <a:cs typeface="Montserrat" pitchFamily="34" charset="-120"/>
              </a:rPr>
              <a:t>Which Snowflake capabilities are worth leaning on harder, and where this would be most useful in front of your customers. Every statement above is visible in Snowsight Query History with live timestamps.</a:t>
            </a:r>
            <a:endParaRPr lang="en-US" sz="1050"/>
          </a:p>
        </p:txBody>
      </p:sp>
      <p:sp>
        <p:nvSpPr>
          <p:cNvPr id="12" name="Shape 8"/>
          <p:cNvSpPr/>
          <p:nvPr/>
        </p:nvSpPr>
        <p:spPr>
          <a:xfrm>
            <a:off x="548640" y="6254496"/>
            <a:ext cx="11091672" cy="420624"/>
          </a:xfrm>
          <a:prstGeom prst="roundRect">
            <a:avLst>
              <a:gd name="adj" fmla="val 13043"/>
            </a:avLst>
          </a:prstGeom>
          <a:solidFill>
            <a:srgbClr val="0A3E6B"/>
          </a:solidFill>
          <a:ln w="12700">
            <a:solidFill>
              <a:srgbClr val="17517F"/>
            </a:solidFill>
            <a:prstDash val="solid"/>
          </a:ln>
        </p:spPr>
        <p:txBody>
          <a:bodyPr/>
          <a:lstStyle/>
          <a:p>
            <a:endParaRPr lang="en-IN"/>
          </a:p>
        </p:txBody>
      </p:sp>
      <p:sp>
        <p:nvSpPr>
          <p:cNvPr id="13" name="Text 9"/>
          <p:cNvSpPr/>
          <p:nvPr/>
        </p:nvSpPr>
        <p:spPr>
          <a:xfrm>
            <a:off x="548640" y="6254496"/>
            <a:ext cx="11091672" cy="420624"/>
          </a:xfrm>
          <a:prstGeom prst="rect">
            <a:avLst/>
          </a:prstGeom>
          <a:noFill/>
          <a:ln/>
        </p:spPr>
        <p:txBody>
          <a:bodyPr wrap="square" lIns="0" tIns="0" rIns="0" bIns="0" rtlCol="0" anchor="ctr"/>
          <a:lstStyle/>
          <a:p>
            <a:pPr marL="0" indent="0" algn="ctr">
              <a:buNone/>
            </a:pPr>
            <a:r>
              <a:rPr lang="en-US" sz="1100" b="1" kern="0" spc="6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a:p>
        </p:txBody>
      </p:sp>
    </p:spTree>
    <p:extLst>
      <p:ext uri="{BB962C8B-B14F-4D97-AF65-F5344CB8AC3E}">
        <p14:creationId xmlns:p14="http://schemas.microsoft.com/office/powerpoint/2010/main" val="963764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ED8E5-CBB9-BF48-86C2-2293FD43946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8148470-62E5-FD33-99BE-163E1078B80F}"/>
              </a:ext>
            </a:extLst>
          </p:cNvPr>
          <p:cNvSpPr>
            <a:spLocks noGrp="1"/>
          </p:cNvSpPr>
          <p:nvPr>
            <p:ph type="body" idx="14"/>
          </p:nvPr>
        </p:nvSpPr>
        <p:spPr>
          <a:xfrm>
            <a:off x="597180" y="1713266"/>
            <a:ext cx="5030662" cy="565656"/>
          </a:xfrm>
        </p:spPr>
        <p:txBody>
          <a:bodyPr/>
          <a:lstStyle/>
          <a:p>
            <a:r>
              <a:rPr lang="en-US">
                <a:latin typeface="Montserrat"/>
              </a:rPr>
              <a:t>VIZLEAP</a:t>
            </a:r>
          </a:p>
        </p:txBody>
      </p:sp>
      <p:sp>
        <p:nvSpPr>
          <p:cNvPr id="8" name="Text Placeholder 7">
            <a:extLst>
              <a:ext uri="{FF2B5EF4-FFF2-40B4-BE49-F238E27FC236}">
                <a16:creationId xmlns:a16="http://schemas.microsoft.com/office/drawing/2014/main" id="{D2E27667-F707-4A32-814B-094E7F7221CE}"/>
              </a:ext>
            </a:extLst>
          </p:cNvPr>
          <p:cNvSpPr>
            <a:spLocks noGrp="1"/>
          </p:cNvSpPr>
          <p:nvPr>
            <p:ph type="body" idx="15"/>
          </p:nvPr>
        </p:nvSpPr>
        <p:spPr>
          <a:xfrm>
            <a:off x="580851" y="2706584"/>
            <a:ext cx="8710033" cy="1253688"/>
          </a:xfrm>
        </p:spPr>
        <p:txBody>
          <a:bodyPr/>
          <a:lstStyle/>
          <a:p>
            <a:r>
              <a:rPr lang="en-US" sz="2300">
                <a:solidFill>
                  <a:srgbClr val="002060"/>
                </a:solidFill>
                <a:latin typeface="Montserrat"/>
              </a:rPr>
              <a:t>AI-Powered Analytics Platform Modernization Accelerator</a:t>
            </a:r>
          </a:p>
          <a:p>
            <a:r>
              <a:rPr lang="en-US" sz="2300" i="1">
                <a:solidFill>
                  <a:srgbClr val="002060"/>
                </a:solidFill>
                <a:latin typeface="Montserrat"/>
              </a:rPr>
              <a:t>[Tableau to Power BI]</a:t>
            </a:r>
          </a:p>
        </p:txBody>
      </p:sp>
      <p:grpSp>
        <p:nvGrpSpPr>
          <p:cNvPr id="9" name="Group 8">
            <a:extLst>
              <a:ext uri="{FF2B5EF4-FFF2-40B4-BE49-F238E27FC236}">
                <a16:creationId xmlns:a16="http://schemas.microsoft.com/office/drawing/2014/main" id="{BD775416-1412-DC75-A4CD-2247F3FAE146}"/>
              </a:ext>
            </a:extLst>
          </p:cNvPr>
          <p:cNvGrpSpPr/>
          <p:nvPr/>
        </p:nvGrpSpPr>
        <p:grpSpPr>
          <a:xfrm>
            <a:off x="10527301" y="5516162"/>
            <a:ext cx="914400" cy="1099066"/>
            <a:chOff x="10527301" y="5516162"/>
            <a:chExt cx="914400" cy="1099066"/>
          </a:xfrm>
        </p:grpSpPr>
        <p:pic>
          <p:nvPicPr>
            <p:cNvPr id="10" name="Graphic 9" descr="Rewind with solid fill">
              <a:hlinkClick r:id="" action="ppaction://noaction"/>
              <a:extLst>
                <a:ext uri="{FF2B5EF4-FFF2-40B4-BE49-F238E27FC236}">
                  <a16:creationId xmlns:a16="http://schemas.microsoft.com/office/drawing/2014/main" id="{818CF0E8-BBB4-C02A-492F-574EA2CC96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7301" y="5516162"/>
              <a:ext cx="914400" cy="914400"/>
            </a:xfrm>
            <a:prstGeom prst="rect">
              <a:avLst/>
            </a:prstGeom>
          </p:spPr>
        </p:pic>
        <p:sp>
          <p:nvSpPr>
            <p:cNvPr id="11" name="TextBox 10">
              <a:extLst>
                <a:ext uri="{FF2B5EF4-FFF2-40B4-BE49-F238E27FC236}">
                  <a16:creationId xmlns:a16="http://schemas.microsoft.com/office/drawing/2014/main" id="{A8AF3C14-9C3A-5242-B22C-35C86F4098D1}"/>
                </a:ext>
              </a:extLst>
            </p:cNvPr>
            <p:cNvSpPr txBox="1"/>
            <p:nvPr/>
          </p:nvSpPr>
          <p:spPr>
            <a:xfrm>
              <a:off x="10669102" y="6245896"/>
              <a:ext cx="681597" cy="369332"/>
            </a:xfrm>
            <a:prstGeom prst="rect">
              <a:avLst/>
            </a:prstGeom>
            <a:noFill/>
          </p:spPr>
          <p:txBody>
            <a:bodyPr wrap="none" rtlCol="0">
              <a:spAutoFit/>
            </a:bodyPr>
            <a:lstStyle/>
            <a:p>
              <a:r>
                <a:rPr lang="en-US"/>
                <a:t>Back</a:t>
              </a:r>
            </a:p>
          </p:txBody>
        </p:sp>
      </p:grpSp>
    </p:spTree>
    <p:extLst>
      <p:ext uri="{BB962C8B-B14F-4D97-AF65-F5344CB8AC3E}">
        <p14:creationId xmlns:p14="http://schemas.microsoft.com/office/powerpoint/2010/main" val="642323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20000"/>
            <a:ext cx="8500000" cy="500000"/>
          </a:xfrm>
          <a:prstGeom prst="rect">
            <a:avLst/>
          </a:prstGeom>
          <a:noFill/>
        </p:spPr>
        <p:txBody>
          <a:bodyPr wrap="square" lIns="0" tIns="0" rIns="0" bIns="0" anchor="t">
            <a:spAutoFit/>
          </a:bodyPr>
          <a:lstStyle/>
          <a:p>
            <a:pPr algn="l">
              <a:lnSpc>
                <a:spcPct val="100000"/>
              </a:lnSpc>
            </a:pPr>
            <a:r>
              <a:rPr sz="2800" b="1" i="0">
                <a:solidFill>
                  <a:srgbClr val="053057"/>
                </a:solidFill>
                <a:latin typeface="Montserrat"/>
              </a:rPr>
              <a:t>Why VIZLEAP</a:t>
            </a:r>
          </a:p>
        </p:txBody>
      </p:sp>
      <p:sp>
        <p:nvSpPr>
          <p:cNvPr id="3" name="TextBox 2"/>
          <p:cNvSpPr txBox="1"/>
          <p:nvPr/>
        </p:nvSpPr>
        <p:spPr>
          <a:xfrm>
            <a:off x="508000" y="900000"/>
            <a:ext cx="9500000" cy="400000"/>
          </a:xfrm>
          <a:prstGeom prst="rect">
            <a:avLst/>
          </a:prstGeom>
          <a:noFill/>
        </p:spPr>
        <p:txBody>
          <a:bodyPr wrap="square" lIns="0" tIns="0" rIns="0" bIns="0" anchor="t">
            <a:spAutoFit/>
          </a:bodyPr>
          <a:lstStyle/>
          <a:p>
            <a:pPr algn="l">
              <a:lnSpc>
                <a:spcPct val="100000"/>
              </a:lnSpc>
            </a:pPr>
            <a:r>
              <a:rPr sz="1500" b="0" i="1">
                <a:solidFill>
                  <a:srgbClr val="5A7184"/>
                </a:solidFill>
                <a:latin typeface="Montserrat"/>
              </a:rPr>
              <a:t>Manual migration is slow, risky, and inconsistent — VIZLEAP fixes that</a:t>
            </a:r>
          </a:p>
        </p:txBody>
      </p:sp>
      <p:sp>
        <p:nvSpPr>
          <p:cNvPr id="4" name="Rounded Rectangle 3"/>
          <p:cNvSpPr/>
          <p:nvPr/>
        </p:nvSpPr>
        <p:spPr>
          <a:xfrm>
            <a:off x="9430000" y="340000"/>
            <a:ext cx="2254000" cy="560000"/>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30000" y="340000"/>
            <a:ext cx="2254000" cy="560000"/>
          </a:xfrm>
          <a:prstGeom prst="rect">
            <a:avLst/>
          </a:prstGeom>
          <a:noFill/>
        </p:spPr>
        <p:txBody>
          <a:bodyPr wrap="square" lIns="0" tIns="0" rIns="0" bIns="0" anchor="ctr">
            <a:spAutoFit/>
          </a:bodyPr>
          <a:lstStyle/>
          <a:p>
            <a:pPr algn="ctr">
              <a:lnSpc>
                <a:spcPct val="100000"/>
              </a:lnSpc>
            </a:pPr>
            <a:r>
              <a:rPr sz="1600" b="1" i="0">
                <a:solidFill>
                  <a:srgbClr val="00EDED"/>
                </a:solidFill>
                <a:latin typeface="Montserrat"/>
              </a:rPr>
              <a:t>VIZLEAP</a:t>
            </a:r>
          </a:p>
        </p:txBody>
      </p:sp>
      <p:sp>
        <p:nvSpPr>
          <p:cNvPr id="6" name="Rounded Rectangle 5"/>
          <p:cNvSpPr/>
          <p:nvPr/>
        </p:nvSpPr>
        <p:spPr>
          <a:xfrm>
            <a:off x="508000" y="1550000"/>
            <a:ext cx="5461000" cy="460000"/>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8000" y="1550000"/>
            <a:ext cx="5461000" cy="460000"/>
          </a:xfrm>
          <a:prstGeom prst="rect">
            <a:avLst/>
          </a:prstGeom>
          <a:noFill/>
        </p:spPr>
        <p:txBody>
          <a:bodyPr wrap="square" lIns="0" tIns="0" rIns="0" bIns="0" anchor="ctr">
            <a:spAutoFit/>
          </a:bodyPr>
          <a:lstStyle/>
          <a:p>
            <a:pPr algn="ctr">
              <a:lnSpc>
                <a:spcPct val="100000"/>
              </a:lnSpc>
            </a:pPr>
            <a:r>
              <a:rPr sz="1400" b="1" i="0">
                <a:solidFill>
                  <a:srgbClr val="FFFFFF"/>
                </a:solidFill>
                <a:latin typeface="Montserrat"/>
              </a:rPr>
              <a:t>THE CHALLENGE</a:t>
            </a:r>
          </a:p>
        </p:txBody>
      </p:sp>
      <p:sp>
        <p:nvSpPr>
          <p:cNvPr id="8" name="Rounded Rectangle 7"/>
          <p:cNvSpPr/>
          <p:nvPr/>
        </p:nvSpPr>
        <p:spPr>
          <a:xfrm>
            <a:off x="6223000" y="1550000"/>
            <a:ext cx="5461000" cy="460000"/>
          </a:xfrm>
          <a:prstGeom prst="roundRect">
            <a:avLst>
              <a:gd name="adj" fmla="val 50000"/>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23000" y="1550000"/>
            <a:ext cx="5461000" cy="460000"/>
          </a:xfrm>
          <a:prstGeom prst="rect">
            <a:avLst/>
          </a:prstGeom>
          <a:noFill/>
        </p:spPr>
        <p:txBody>
          <a:bodyPr wrap="square" lIns="0" tIns="0" rIns="0" bIns="0" anchor="ctr">
            <a:spAutoFit/>
          </a:bodyPr>
          <a:lstStyle/>
          <a:p>
            <a:pPr algn="ctr">
              <a:lnSpc>
                <a:spcPct val="100000"/>
              </a:lnSpc>
            </a:pPr>
            <a:r>
              <a:rPr sz="1400" b="1" i="0">
                <a:solidFill>
                  <a:srgbClr val="053057"/>
                </a:solidFill>
                <a:latin typeface="Montserrat"/>
              </a:rPr>
              <a:t>THE VIZLEAP SOLUTION</a:t>
            </a:r>
          </a:p>
        </p:txBody>
      </p:sp>
      <p:sp>
        <p:nvSpPr>
          <p:cNvPr id="10" name="Rounded Rectangle 9"/>
          <p:cNvSpPr/>
          <p:nvPr/>
        </p:nvSpPr>
        <p:spPr>
          <a:xfrm>
            <a:off x="508000" y="2170000"/>
            <a:ext cx="5461000" cy="1269333"/>
          </a:xfrm>
          <a:prstGeom prst="roundRect">
            <a:avLst>
              <a:gd name="adj" fmla="val 18000"/>
            </a:avLst>
          </a:prstGeom>
          <a:solidFill>
            <a:srgbClr val="FFFFFF"/>
          </a:solidFill>
          <a:ln w="9525">
            <a:solidFill>
              <a:srgbClr val="C9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88000" y="2544666"/>
            <a:ext cx="520000" cy="52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Graphic 15" descr="Hundreds of dashboard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000" y="2654666"/>
            <a:ext cx="300000" cy="300000"/>
          </a:xfrm>
          <a:prstGeom prst="rect">
            <a:avLst/>
          </a:prstGeom>
        </p:spPr>
      </p:pic>
      <p:sp>
        <p:nvSpPr>
          <p:cNvPr id="16" name="TextBox 15"/>
          <p:cNvSpPr txBox="1"/>
          <p:nvPr/>
        </p:nvSpPr>
        <p:spPr>
          <a:xfrm>
            <a:off x="1358000" y="2300000"/>
            <a:ext cx="4461000" cy="1009333"/>
          </a:xfrm>
          <a:prstGeom prst="rect">
            <a:avLst/>
          </a:prstGeom>
          <a:noFill/>
        </p:spPr>
        <p:txBody>
          <a:bodyPr wrap="square" lIns="0" tIns="0" rIns="0" bIns="0" anchor="ctr">
            <a:spAutoFit/>
          </a:bodyPr>
          <a:lstStyle/>
          <a:p>
            <a:pPr algn="l">
              <a:lnSpc>
                <a:spcPct val="105000"/>
              </a:lnSpc>
            </a:pPr>
            <a:r>
              <a:rPr sz="1300" b="1" i="0">
                <a:solidFill>
                  <a:srgbClr val="053057"/>
                </a:solidFill>
                <a:latin typeface="Montserrat"/>
              </a:rPr>
              <a:t>Hundreds of Dashboards, Complex Calculations</a:t>
            </a:r>
          </a:p>
          <a:p>
            <a:pPr algn="l">
              <a:lnSpc>
                <a:spcPct val="105000"/>
              </a:lnSpc>
            </a:pPr>
            <a:r>
              <a:rPr sz="1050" b="0" i="0">
                <a:solidFill>
                  <a:srgbClr val="5A7184"/>
                </a:solidFill>
                <a:latin typeface="Montserrat"/>
              </a:rPr>
              <a:t>Every visual and formula rebuilt by hand</a:t>
            </a:r>
          </a:p>
        </p:txBody>
      </p:sp>
      <p:sp>
        <p:nvSpPr>
          <p:cNvPr id="17" name="Rounded Rectangle 16"/>
          <p:cNvSpPr/>
          <p:nvPr/>
        </p:nvSpPr>
        <p:spPr>
          <a:xfrm>
            <a:off x="508000" y="3569333"/>
            <a:ext cx="5461000" cy="1269333"/>
          </a:xfrm>
          <a:prstGeom prst="roundRect">
            <a:avLst>
              <a:gd name="adj" fmla="val 18000"/>
            </a:avLst>
          </a:prstGeom>
          <a:solidFill>
            <a:srgbClr val="FFFFFF"/>
          </a:solidFill>
          <a:ln w="9525">
            <a:solidFill>
              <a:srgbClr val="C9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88000" y="3943999"/>
            <a:ext cx="520000" cy="52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Graphic 17" descr="No documentati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8000" y="4053999"/>
            <a:ext cx="300000" cy="300000"/>
          </a:xfrm>
          <a:prstGeom prst="rect">
            <a:avLst/>
          </a:prstGeom>
        </p:spPr>
      </p:pic>
      <p:sp>
        <p:nvSpPr>
          <p:cNvPr id="19" name="TextBox 18"/>
          <p:cNvSpPr txBox="1"/>
          <p:nvPr/>
        </p:nvSpPr>
        <p:spPr>
          <a:xfrm>
            <a:off x="1358000" y="3699333"/>
            <a:ext cx="4461000" cy="1009333"/>
          </a:xfrm>
          <a:prstGeom prst="rect">
            <a:avLst/>
          </a:prstGeom>
          <a:noFill/>
        </p:spPr>
        <p:txBody>
          <a:bodyPr wrap="square" lIns="0" tIns="0" rIns="0" bIns="0" anchor="ctr">
            <a:spAutoFit/>
          </a:bodyPr>
          <a:lstStyle/>
          <a:p>
            <a:pPr algn="l">
              <a:lnSpc>
                <a:spcPct val="105000"/>
              </a:lnSpc>
            </a:pPr>
            <a:r>
              <a:rPr sz="1300" b="1" i="0">
                <a:solidFill>
                  <a:srgbClr val="053057"/>
                </a:solidFill>
                <a:latin typeface="Montserrat"/>
              </a:rPr>
              <a:t>No Documentation, Heavy SME Dependency</a:t>
            </a:r>
          </a:p>
          <a:p>
            <a:pPr algn="l">
              <a:lnSpc>
                <a:spcPct val="105000"/>
              </a:lnSpc>
            </a:pPr>
            <a:r>
              <a:rPr sz="1050" b="0" i="0">
                <a:solidFill>
                  <a:srgbClr val="5A7184"/>
                </a:solidFill>
                <a:latin typeface="Montserrat"/>
              </a:rPr>
              <a:t>Tribal knowledge slows every handoff</a:t>
            </a:r>
          </a:p>
        </p:txBody>
      </p:sp>
      <p:sp>
        <p:nvSpPr>
          <p:cNvPr id="20" name="Rounded Rectangle 19"/>
          <p:cNvSpPr/>
          <p:nvPr/>
        </p:nvSpPr>
        <p:spPr>
          <a:xfrm>
            <a:off x="508000" y="4968666"/>
            <a:ext cx="5461000" cy="1269333"/>
          </a:xfrm>
          <a:prstGeom prst="roundRect">
            <a:avLst>
              <a:gd name="adj" fmla="val 18000"/>
            </a:avLst>
          </a:prstGeom>
          <a:solidFill>
            <a:srgbClr val="FFFFFF"/>
          </a:solidFill>
          <a:ln w="9525">
            <a:solidFill>
              <a:srgbClr val="C9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88000" y="5343332"/>
            <a:ext cx="520000" cy="52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Graphic 19" descr="Validation nightmar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8000" y="5453332"/>
            <a:ext cx="300000" cy="300000"/>
          </a:xfrm>
          <a:prstGeom prst="rect">
            <a:avLst/>
          </a:prstGeom>
        </p:spPr>
      </p:pic>
      <p:sp>
        <p:nvSpPr>
          <p:cNvPr id="22" name="TextBox 21"/>
          <p:cNvSpPr txBox="1"/>
          <p:nvPr/>
        </p:nvSpPr>
        <p:spPr>
          <a:xfrm>
            <a:off x="1358000" y="5098666"/>
            <a:ext cx="4461000" cy="1009333"/>
          </a:xfrm>
          <a:prstGeom prst="rect">
            <a:avLst/>
          </a:prstGeom>
          <a:noFill/>
        </p:spPr>
        <p:txBody>
          <a:bodyPr wrap="square" lIns="0" tIns="0" rIns="0" bIns="0" anchor="ctr">
            <a:spAutoFit/>
          </a:bodyPr>
          <a:lstStyle/>
          <a:p>
            <a:pPr algn="l">
              <a:lnSpc>
                <a:spcPct val="105000"/>
              </a:lnSpc>
            </a:pPr>
            <a:r>
              <a:rPr sz="1300" b="1" i="0">
                <a:solidFill>
                  <a:srgbClr val="053057"/>
                </a:solidFill>
                <a:latin typeface="Montserrat"/>
              </a:rPr>
              <a:t>Manual Validation Is Slow and Risky</a:t>
            </a:r>
          </a:p>
          <a:p>
            <a:pPr algn="l">
              <a:lnSpc>
                <a:spcPct val="105000"/>
              </a:lnSpc>
            </a:pPr>
            <a:r>
              <a:rPr sz="1050" b="0" i="0">
                <a:solidFill>
                  <a:srgbClr val="5A7184"/>
                </a:solidFill>
                <a:latin typeface="Montserrat"/>
              </a:rPr>
              <a:t>Errors surface late; timelines slip</a:t>
            </a:r>
          </a:p>
        </p:txBody>
      </p:sp>
      <p:sp>
        <p:nvSpPr>
          <p:cNvPr id="23" name="Rounded Rectangle 22"/>
          <p:cNvSpPr/>
          <p:nvPr/>
        </p:nvSpPr>
        <p:spPr>
          <a:xfrm>
            <a:off x="6223000" y="2170000"/>
            <a:ext cx="5461000" cy="1269333"/>
          </a:xfrm>
          <a:prstGeom prst="roundRect">
            <a:avLst>
              <a:gd name="adj" fmla="val 18000"/>
            </a:avLst>
          </a:prstGeom>
          <a:solidFill>
            <a:srgbClr val="FFFFFF"/>
          </a:solidFill>
          <a:ln w="9525">
            <a:solidFill>
              <a:srgbClr val="C9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03000" y="2544666"/>
            <a:ext cx="520000" cy="52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Graphic 22" descr="Automated"/>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3000" y="2654666"/>
            <a:ext cx="300000" cy="300000"/>
          </a:xfrm>
          <a:prstGeom prst="rect">
            <a:avLst/>
          </a:prstGeom>
        </p:spPr>
      </p:pic>
      <p:sp>
        <p:nvSpPr>
          <p:cNvPr id="25" name="TextBox 24"/>
          <p:cNvSpPr txBox="1"/>
          <p:nvPr/>
        </p:nvSpPr>
        <p:spPr>
          <a:xfrm>
            <a:off x="7073000" y="2300000"/>
            <a:ext cx="4461000" cy="1009333"/>
          </a:xfrm>
          <a:prstGeom prst="rect">
            <a:avLst/>
          </a:prstGeom>
          <a:noFill/>
        </p:spPr>
        <p:txBody>
          <a:bodyPr wrap="square" lIns="0" tIns="0" rIns="0" bIns="0" anchor="ctr">
            <a:spAutoFit/>
          </a:bodyPr>
          <a:lstStyle/>
          <a:p>
            <a:pPr algn="l">
              <a:lnSpc>
                <a:spcPct val="105000"/>
              </a:lnSpc>
            </a:pPr>
            <a:r>
              <a:rPr sz="1300" b="1" i="0">
                <a:solidFill>
                  <a:srgbClr val="053057"/>
                </a:solidFill>
                <a:latin typeface="Montserrat"/>
              </a:rPr>
              <a:t>Automated End-to-End Migration</a:t>
            </a:r>
          </a:p>
          <a:p>
            <a:pPr algn="l">
              <a:lnSpc>
                <a:spcPct val="105000"/>
              </a:lnSpc>
            </a:pPr>
            <a:r>
              <a:rPr sz="1050" b="0" i="0">
                <a:solidFill>
                  <a:srgbClr val="5A7184"/>
                </a:solidFill>
                <a:latin typeface="Montserrat"/>
              </a:rPr>
              <a:t>AI handles extraction, modeling, and rebuild</a:t>
            </a:r>
          </a:p>
        </p:txBody>
      </p:sp>
      <p:sp>
        <p:nvSpPr>
          <p:cNvPr id="26" name="Rounded Rectangle 25"/>
          <p:cNvSpPr/>
          <p:nvPr/>
        </p:nvSpPr>
        <p:spPr>
          <a:xfrm>
            <a:off x="6223000" y="3569333"/>
            <a:ext cx="5461000" cy="1269333"/>
          </a:xfrm>
          <a:prstGeom prst="roundRect">
            <a:avLst>
              <a:gd name="adj" fmla="val 18000"/>
            </a:avLst>
          </a:prstGeom>
          <a:solidFill>
            <a:srgbClr val="FFFFFF"/>
          </a:solidFill>
          <a:ln w="9525">
            <a:solidFill>
              <a:srgbClr val="C9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403000" y="3943999"/>
            <a:ext cx="520000" cy="52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Graphic 23" descr="Scalable"/>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3000" y="4053999"/>
            <a:ext cx="300000" cy="300000"/>
          </a:xfrm>
          <a:prstGeom prst="rect">
            <a:avLst/>
          </a:prstGeom>
        </p:spPr>
      </p:pic>
      <p:sp>
        <p:nvSpPr>
          <p:cNvPr id="28" name="TextBox 27"/>
          <p:cNvSpPr txBox="1"/>
          <p:nvPr/>
        </p:nvSpPr>
        <p:spPr>
          <a:xfrm>
            <a:off x="7073000" y="3699333"/>
            <a:ext cx="4461000" cy="1009333"/>
          </a:xfrm>
          <a:prstGeom prst="rect">
            <a:avLst/>
          </a:prstGeom>
          <a:noFill/>
        </p:spPr>
        <p:txBody>
          <a:bodyPr wrap="square" lIns="0" tIns="0" rIns="0" bIns="0" anchor="ctr">
            <a:spAutoFit/>
          </a:bodyPr>
          <a:lstStyle/>
          <a:p>
            <a:pPr algn="l">
              <a:lnSpc>
                <a:spcPct val="105000"/>
              </a:lnSpc>
            </a:pPr>
            <a:r>
              <a:rPr sz="1300" b="1" i="0">
                <a:solidFill>
                  <a:srgbClr val="053057"/>
                </a:solidFill>
                <a:latin typeface="Montserrat"/>
              </a:rPr>
              <a:t>Scales to Hundreds of Dashboards</a:t>
            </a:r>
          </a:p>
          <a:p>
            <a:pPr algn="l">
              <a:lnSpc>
                <a:spcPct val="105000"/>
              </a:lnSpc>
            </a:pPr>
            <a:r>
              <a:rPr sz="1050" b="0" i="0">
                <a:solidFill>
                  <a:srgbClr val="5A7184"/>
                </a:solidFill>
                <a:latin typeface="Montserrat"/>
              </a:rPr>
              <a:t>Same pipeline, any portfolio size</a:t>
            </a:r>
          </a:p>
        </p:txBody>
      </p:sp>
      <p:sp>
        <p:nvSpPr>
          <p:cNvPr id="29" name="Rounded Rectangle 28"/>
          <p:cNvSpPr/>
          <p:nvPr/>
        </p:nvSpPr>
        <p:spPr>
          <a:xfrm>
            <a:off x="6223000" y="4968666"/>
            <a:ext cx="5461000" cy="1269333"/>
          </a:xfrm>
          <a:prstGeom prst="roundRect">
            <a:avLst>
              <a:gd name="adj" fmla="val 18000"/>
            </a:avLst>
          </a:prstGeom>
          <a:solidFill>
            <a:srgbClr val="FFFFFF"/>
          </a:solidFill>
          <a:ln w="9525">
            <a:solidFill>
              <a:srgbClr val="C9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403000" y="5343332"/>
            <a:ext cx="520000" cy="52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Graphic 24" descr="Reliable"/>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13000" y="5453332"/>
            <a:ext cx="300000" cy="300000"/>
          </a:xfrm>
          <a:prstGeom prst="rect">
            <a:avLst/>
          </a:prstGeom>
        </p:spPr>
      </p:pic>
      <p:sp>
        <p:nvSpPr>
          <p:cNvPr id="31" name="TextBox 30"/>
          <p:cNvSpPr txBox="1"/>
          <p:nvPr/>
        </p:nvSpPr>
        <p:spPr>
          <a:xfrm>
            <a:off x="7073000" y="5098666"/>
            <a:ext cx="4461000" cy="1009333"/>
          </a:xfrm>
          <a:prstGeom prst="rect">
            <a:avLst/>
          </a:prstGeom>
          <a:noFill/>
        </p:spPr>
        <p:txBody>
          <a:bodyPr wrap="square" lIns="0" tIns="0" rIns="0" bIns="0" anchor="ctr">
            <a:spAutoFit/>
          </a:bodyPr>
          <a:lstStyle/>
          <a:p>
            <a:pPr algn="l">
              <a:lnSpc>
                <a:spcPct val="105000"/>
              </a:lnSpc>
            </a:pPr>
            <a:r>
              <a:rPr sz="1300" b="1" i="0">
                <a:solidFill>
                  <a:srgbClr val="053057"/>
                </a:solidFill>
                <a:latin typeface="Montserrat"/>
              </a:rPr>
              <a:t>Reliable, Validated Outputs</a:t>
            </a:r>
          </a:p>
          <a:p>
            <a:pPr algn="l">
              <a:lnSpc>
                <a:spcPct val="105000"/>
              </a:lnSpc>
            </a:pPr>
            <a:r>
              <a:rPr sz="1050" b="0" i="0">
                <a:solidFill>
                  <a:srgbClr val="5A7184"/>
                </a:solidFill>
                <a:latin typeface="Montserrat"/>
              </a:rPr>
              <a:t>Built-in QA ensures accuracy &amp; consistency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20000"/>
            <a:ext cx="9000000" cy="500000"/>
          </a:xfrm>
          <a:prstGeom prst="rect">
            <a:avLst/>
          </a:prstGeom>
          <a:noFill/>
        </p:spPr>
        <p:txBody>
          <a:bodyPr wrap="square" lIns="0" tIns="0" rIns="0" bIns="0" anchor="t">
            <a:spAutoFit/>
          </a:bodyPr>
          <a:lstStyle/>
          <a:p>
            <a:pPr algn="l">
              <a:lnSpc>
                <a:spcPct val="100000"/>
              </a:lnSpc>
            </a:pPr>
            <a:r>
              <a:rPr sz="2800" b="1" i="0">
                <a:solidFill>
                  <a:srgbClr val="053057"/>
                </a:solidFill>
                <a:latin typeface="Montserrat"/>
              </a:rPr>
              <a:t>How VIZLEAP Works</a:t>
            </a:r>
          </a:p>
        </p:txBody>
      </p:sp>
      <p:sp>
        <p:nvSpPr>
          <p:cNvPr id="3" name="TextBox 2"/>
          <p:cNvSpPr txBox="1"/>
          <p:nvPr/>
        </p:nvSpPr>
        <p:spPr>
          <a:xfrm>
            <a:off x="508000" y="900000"/>
            <a:ext cx="9500000" cy="350000"/>
          </a:xfrm>
          <a:prstGeom prst="rect">
            <a:avLst/>
          </a:prstGeom>
          <a:noFill/>
        </p:spPr>
        <p:txBody>
          <a:bodyPr wrap="square" lIns="0" tIns="0" rIns="0" bIns="0" anchor="t">
            <a:spAutoFit/>
          </a:bodyPr>
          <a:lstStyle/>
          <a:p>
            <a:pPr algn="l">
              <a:lnSpc>
                <a:spcPct val="100000"/>
              </a:lnSpc>
            </a:pPr>
            <a:r>
              <a:rPr sz="1400" b="0" i="1">
                <a:solidFill>
                  <a:srgbClr val="5A7184"/>
                </a:solidFill>
                <a:latin typeface="Montserrat"/>
              </a:rPr>
              <a:t>An automated four-stage migration pipeline</a:t>
            </a:r>
          </a:p>
        </p:txBody>
      </p:sp>
      <p:sp>
        <p:nvSpPr>
          <p:cNvPr id="4" name="Rounded Rectangle 3"/>
          <p:cNvSpPr/>
          <p:nvPr/>
        </p:nvSpPr>
        <p:spPr>
          <a:xfrm>
            <a:off x="508000" y="1650000"/>
            <a:ext cx="2413000" cy="2950000"/>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334500" y="1290000"/>
            <a:ext cx="760000" cy="760000"/>
          </a:xfrm>
          <a:prstGeom prst="ellipse">
            <a:avLst/>
          </a:prstGeom>
          <a:solidFill>
            <a:srgbClr val="F4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74500" y="1330000"/>
            <a:ext cx="680000" cy="68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Graphic 25" descr="Metadata extracti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04500" y="1460000"/>
            <a:ext cx="420000" cy="420000"/>
          </a:xfrm>
          <a:prstGeom prst="rect">
            <a:avLst/>
          </a:prstGeom>
        </p:spPr>
      </p:pic>
      <p:sp>
        <p:nvSpPr>
          <p:cNvPr id="26" name="TextBox 25"/>
          <p:cNvSpPr txBox="1"/>
          <p:nvPr/>
        </p:nvSpPr>
        <p:spPr>
          <a:xfrm>
            <a:off x="508000" y="1770000"/>
            <a:ext cx="2413000" cy="260000"/>
          </a:xfrm>
          <a:prstGeom prst="rect">
            <a:avLst/>
          </a:prstGeom>
          <a:noFill/>
        </p:spPr>
        <p:txBody>
          <a:bodyPr wrap="square" lIns="0" tIns="0" rIns="0" bIns="0" anchor="t">
            <a:spAutoFit/>
          </a:bodyPr>
          <a:lstStyle/>
          <a:p>
            <a:pPr algn="ctr">
              <a:lnSpc>
                <a:spcPct val="100000"/>
              </a:lnSpc>
            </a:pPr>
            <a:r>
              <a:rPr sz="1200" b="1" i="0">
                <a:solidFill>
                  <a:srgbClr val="00EDED"/>
                </a:solidFill>
                <a:latin typeface="Montserrat"/>
              </a:rPr>
              <a:t>01</a:t>
            </a:r>
          </a:p>
        </p:txBody>
      </p:sp>
      <p:sp>
        <p:nvSpPr>
          <p:cNvPr id="27" name="TextBox 26"/>
          <p:cNvSpPr txBox="1"/>
          <p:nvPr/>
        </p:nvSpPr>
        <p:spPr>
          <a:xfrm>
            <a:off x="628000" y="2100000"/>
            <a:ext cx="2173000" cy="560000"/>
          </a:xfrm>
          <a:prstGeom prst="rect">
            <a:avLst/>
          </a:prstGeom>
          <a:noFill/>
        </p:spPr>
        <p:txBody>
          <a:bodyPr wrap="square" lIns="0" tIns="0" rIns="0" bIns="0" anchor="t">
            <a:spAutoFit/>
          </a:bodyPr>
          <a:lstStyle/>
          <a:p>
            <a:pPr algn="ctr">
              <a:lnSpc>
                <a:spcPct val="100000"/>
              </a:lnSpc>
            </a:pPr>
            <a:r>
              <a:rPr sz="1350" b="1" i="0">
                <a:solidFill>
                  <a:srgbClr val="FFFFFF"/>
                </a:solidFill>
                <a:latin typeface="Montserrat"/>
              </a:rPr>
              <a:t>Metadata Extraction</a:t>
            </a:r>
          </a:p>
        </p:txBody>
      </p:sp>
      <p:sp>
        <p:nvSpPr>
          <p:cNvPr id="28" name="Rounded Rectangle 27"/>
          <p:cNvSpPr/>
          <p:nvPr/>
        </p:nvSpPr>
        <p:spPr>
          <a:xfrm>
            <a:off x="1484500" y="2670000"/>
            <a:ext cx="460000" cy="32000"/>
          </a:xfrm>
          <a:prstGeom prst="roundRect">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8000" y="2800886"/>
            <a:ext cx="2173000" cy="1687513"/>
          </a:xfrm>
          <a:prstGeom prst="rect">
            <a:avLst/>
          </a:prstGeom>
          <a:noFill/>
        </p:spPr>
        <p:txBody>
          <a:bodyPr wrap="square" lIns="0" tIns="0" rIns="0" bIns="0" anchor="t">
            <a:spAutoFit/>
          </a:bodyPr>
          <a:lstStyle/>
          <a:p>
            <a:pPr algn="ctr">
              <a:lnSpc>
                <a:spcPct val="105000"/>
              </a:lnSpc>
            </a:pPr>
            <a:r>
              <a:rPr sz="1050" b="0" i="0">
                <a:solidFill>
                  <a:srgbClr val="BFD2E0"/>
                </a:solidFill>
                <a:latin typeface="Montserrat"/>
              </a:rPr>
              <a:t>Pulls </a:t>
            </a:r>
            <a:r>
              <a:rPr lang="en-IN" sz="1050" b="0" i="0">
                <a:solidFill>
                  <a:srgbClr val="BFD2E0"/>
                </a:solidFill>
                <a:latin typeface="Montserrat"/>
              </a:rPr>
              <a:t>complete Tableau server inventory information</a:t>
            </a:r>
          </a:p>
          <a:p>
            <a:pPr algn="ctr">
              <a:lnSpc>
                <a:spcPct val="105000"/>
              </a:lnSpc>
            </a:pPr>
            <a:endParaRPr lang="en-IN" sz="1050">
              <a:solidFill>
                <a:srgbClr val="BFD2E0"/>
              </a:solidFill>
              <a:latin typeface="Montserrat"/>
            </a:endParaRPr>
          </a:p>
          <a:p>
            <a:pPr algn="ctr">
              <a:lnSpc>
                <a:spcPct val="105000"/>
              </a:lnSpc>
            </a:pPr>
            <a:r>
              <a:rPr lang="en-IN" sz="1050" b="0" i="0">
                <a:solidFill>
                  <a:srgbClr val="BFD2E0"/>
                </a:solidFill>
                <a:latin typeface="Montserrat"/>
              </a:rPr>
              <a:t>Pulls dashboards, </a:t>
            </a:r>
            <a:r>
              <a:rPr lang="en-IN" sz="1050">
                <a:solidFill>
                  <a:srgbClr val="BFD2E0"/>
                </a:solidFill>
                <a:latin typeface="Montserrat"/>
              </a:rPr>
              <a:t>c</a:t>
            </a:r>
            <a:r>
              <a:rPr lang="en-IN" sz="1050" b="0" i="0">
                <a:solidFill>
                  <a:srgbClr val="BFD2E0"/>
                </a:solidFill>
                <a:latin typeface="Montserrat"/>
              </a:rPr>
              <a:t>onnection information</a:t>
            </a:r>
            <a:r>
              <a:rPr sz="1050" b="0" i="0">
                <a:solidFill>
                  <a:srgbClr val="BFD2E0"/>
                </a:solidFill>
                <a:latin typeface="Montserrat"/>
              </a:rPr>
              <a:t>, fields &amp; calculations</a:t>
            </a:r>
            <a:endParaRPr lang="en-IN" sz="1050" b="0" i="0">
              <a:solidFill>
                <a:srgbClr val="BFD2E0"/>
              </a:solidFill>
              <a:latin typeface="Montserrat"/>
            </a:endParaRPr>
          </a:p>
          <a:p>
            <a:pPr algn="ctr">
              <a:lnSpc>
                <a:spcPct val="105000"/>
              </a:lnSpc>
            </a:pPr>
            <a:endParaRPr lang="en-IN" sz="1050">
              <a:solidFill>
                <a:srgbClr val="BFD2E0"/>
              </a:solidFill>
              <a:latin typeface="Montserrat"/>
            </a:endParaRPr>
          </a:p>
          <a:p>
            <a:pPr algn="ctr">
              <a:lnSpc>
                <a:spcPct val="105000"/>
              </a:lnSpc>
            </a:pPr>
            <a:r>
              <a:rPr lang="en-IN" sz="1050">
                <a:solidFill>
                  <a:srgbClr val="BFD2E0"/>
                </a:solidFill>
                <a:latin typeface="Montserrat"/>
              </a:rPr>
              <a:t>Metadata report will be generated as csv and stored locally</a:t>
            </a:r>
            <a:endParaRPr lang="en-IN" sz="1050" b="0" i="0">
              <a:solidFill>
                <a:srgbClr val="BFD2E0"/>
              </a:solidFill>
              <a:latin typeface="Montserrat"/>
            </a:endParaRPr>
          </a:p>
        </p:txBody>
      </p:sp>
      <p:sp>
        <p:nvSpPr>
          <p:cNvPr id="30" name="Right Arrow 29"/>
          <p:cNvSpPr/>
          <p:nvPr/>
        </p:nvSpPr>
        <p:spPr>
          <a:xfrm>
            <a:off x="3045000" y="3025000"/>
            <a:ext cx="260000" cy="200000"/>
          </a:xfrm>
          <a:prstGeom prst="right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3429000" y="1650000"/>
            <a:ext cx="2413000" cy="2950000"/>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255500" y="1290000"/>
            <a:ext cx="760000" cy="760000"/>
          </a:xfrm>
          <a:prstGeom prst="ellipse">
            <a:avLst/>
          </a:prstGeom>
          <a:solidFill>
            <a:srgbClr val="F4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295500" y="1330000"/>
            <a:ext cx="680000" cy="68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Graphic 26" descr="Semantic model"/>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25500" y="1460000"/>
            <a:ext cx="420000" cy="420000"/>
          </a:xfrm>
          <a:prstGeom prst="rect">
            <a:avLst/>
          </a:prstGeom>
        </p:spPr>
      </p:pic>
      <p:sp>
        <p:nvSpPr>
          <p:cNvPr id="34" name="TextBox 33"/>
          <p:cNvSpPr txBox="1"/>
          <p:nvPr/>
        </p:nvSpPr>
        <p:spPr>
          <a:xfrm>
            <a:off x="3429000" y="1770000"/>
            <a:ext cx="2413000" cy="260000"/>
          </a:xfrm>
          <a:prstGeom prst="rect">
            <a:avLst/>
          </a:prstGeom>
          <a:noFill/>
        </p:spPr>
        <p:txBody>
          <a:bodyPr wrap="square" lIns="0" tIns="0" rIns="0" bIns="0" anchor="t">
            <a:spAutoFit/>
          </a:bodyPr>
          <a:lstStyle/>
          <a:p>
            <a:pPr algn="ctr">
              <a:lnSpc>
                <a:spcPct val="100000"/>
              </a:lnSpc>
            </a:pPr>
            <a:r>
              <a:rPr sz="1200" b="1" i="0">
                <a:solidFill>
                  <a:srgbClr val="00EDED"/>
                </a:solidFill>
                <a:latin typeface="Montserrat"/>
              </a:rPr>
              <a:t>02</a:t>
            </a:r>
          </a:p>
        </p:txBody>
      </p:sp>
      <p:sp>
        <p:nvSpPr>
          <p:cNvPr id="35" name="TextBox 34"/>
          <p:cNvSpPr txBox="1"/>
          <p:nvPr/>
        </p:nvSpPr>
        <p:spPr>
          <a:xfrm>
            <a:off x="3549000" y="2100000"/>
            <a:ext cx="2173000" cy="560000"/>
          </a:xfrm>
          <a:prstGeom prst="rect">
            <a:avLst/>
          </a:prstGeom>
          <a:noFill/>
        </p:spPr>
        <p:txBody>
          <a:bodyPr wrap="square" lIns="0" tIns="0" rIns="0" bIns="0" anchor="t">
            <a:spAutoFit/>
          </a:bodyPr>
          <a:lstStyle/>
          <a:p>
            <a:pPr algn="ctr">
              <a:lnSpc>
                <a:spcPct val="100000"/>
              </a:lnSpc>
            </a:pPr>
            <a:r>
              <a:rPr sz="1350" b="1" i="0">
                <a:solidFill>
                  <a:srgbClr val="FFFFFF"/>
                </a:solidFill>
                <a:latin typeface="Montserrat"/>
              </a:rPr>
              <a:t>Semantic Model Creation</a:t>
            </a:r>
          </a:p>
        </p:txBody>
      </p:sp>
      <p:sp>
        <p:nvSpPr>
          <p:cNvPr id="36" name="Rounded Rectangle 35"/>
          <p:cNvSpPr/>
          <p:nvPr/>
        </p:nvSpPr>
        <p:spPr>
          <a:xfrm>
            <a:off x="4405500" y="2670000"/>
            <a:ext cx="460000" cy="32000"/>
          </a:xfrm>
          <a:prstGeom prst="roundRect">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549000" y="2790000"/>
            <a:ext cx="2173000" cy="1750000"/>
          </a:xfrm>
          <a:prstGeom prst="rect">
            <a:avLst/>
          </a:prstGeom>
          <a:noFill/>
        </p:spPr>
        <p:txBody>
          <a:bodyPr wrap="square" lIns="0" tIns="0" rIns="0" bIns="0" anchor="t">
            <a:spAutoFit/>
          </a:bodyPr>
          <a:lstStyle/>
          <a:p>
            <a:pPr algn="ctr">
              <a:lnSpc>
                <a:spcPct val="105000"/>
              </a:lnSpc>
            </a:pPr>
            <a:r>
              <a:rPr sz="1050" b="0" i="0">
                <a:solidFill>
                  <a:srgbClr val="BFD2E0"/>
                </a:solidFill>
                <a:latin typeface="Montserrat"/>
              </a:rPr>
              <a:t>Builds the Power BI model and DAX measures</a:t>
            </a:r>
          </a:p>
        </p:txBody>
      </p:sp>
      <p:sp>
        <p:nvSpPr>
          <p:cNvPr id="38" name="Right Arrow 37"/>
          <p:cNvSpPr/>
          <p:nvPr/>
        </p:nvSpPr>
        <p:spPr>
          <a:xfrm>
            <a:off x="5966000" y="3025000"/>
            <a:ext cx="260000" cy="200000"/>
          </a:xfrm>
          <a:prstGeom prst="right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6350000" y="1650000"/>
            <a:ext cx="2413000" cy="2950000"/>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7176500" y="1290000"/>
            <a:ext cx="760000" cy="760000"/>
          </a:xfrm>
          <a:prstGeom prst="ellipse">
            <a:avLst/>
          </a:prstGeom>
          <a:solidFill>
            <a:srgbClr val="F4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216500" y="1330000"/>
            <a:ext cx="680000" cy="68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Graphic 27" descr="Dashboards creati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46500" y="1460000"/>
            <a:ext cx="420000" cy="420000"/>
          </a:xfrm>
          <a:prstGeom prst="rect">
            <a:avLst/>
          </a:prstGeom>
        </p:spPr>
      </p:pic>
      <p:sp>
        <p:nvSpPr>
          <p:cNvPr id="42" name="TextBox 41"/>
          <p:cNvSpPr txBox="1"/>
          <p:nvPr/>
        </p:nvSpPr>
        <p:spPr>
          <a:xfrm>
            <a:off x="6350000" y="1770000"/>
            <a:ext cx="2413000" cy="260000"/>
          </a:xfrm>
          <a:prstGeom prst="rect">
            <a:avLst/>
          </a:prstGeom>
          <a:noFill/>
        </p:spPr>
        <p:txBody>
          <a:bodyPr wrap="square" lIns="0" tIns="0" rIns="0" bIns="0" anchor="t">
            <a:spAutoFit/>
          </a:bodyPr>
          <a:lstStyle/>
          <a:p>
            <a:pPr algn="ctr">
              <a:lnSpc>
                <a:spcPct val="100000"/>
              </a:lnSpc>
            </a:pPr>
            <a:r>
              <a:rPr sz="1200" b="1" i="0">
                <a:solidFill>
                  <a:srgbClr val="00EDED"/>
                </a:solidFill>
                <a:latin typeface="Montserrat"/>
              </a:rPr>
              <a:t>03</a:t>
            </a:r>
          </a:p>
        </p:txBody>
      </p:sp>
      <p:sp>
        <p:nvSpPr>
          <p:cNvPr id="43" name="TextBox 42"/>
          <p:cNvSpPr txBox="1"/>
          <p:nvPr/>
        </p:nvSpPr>
        <p:spPr>
          <a:xfrm>
            <a:off x="6470000" y="2100000"/>
            <a:ext cx="2173000" cy="560000"/>
          </a:xfrm>
          <a:prstGeom prst="rect">
            <a:avLst/>
          </a:prstGeom>
          <a:noFill/>
        </p:spPr>
        <p:txBody>
          <a:bodyPr wrap="square" lIns="0" tIns="0" rIns="0" bIns="0" anchor="t">
            <a:spAutoFit/>
          </a:bodyPr>
          <a:lstStyle/>
          <a:p>
            <a:pPr algn="ctr">
              <a:lnSpc>
                <a:spcPct val="100000"/>
              </a:lnSpc>
            </a:pPr>
            <a:r>
              <a:rPr sz="1350" b="1" i="0">
                <a:solidFill>
                  <a:srgbClr val="FFFFFF"/>
                </a:solidFill>
                <a:latin typeface="Montserrat"/>
              </a:rPr>
              <a:t>Dashboard Creation</a:t>
            </a:r>
          </a:p>
        </p:txBody>
      </p:sp>
      <p:sp>
        <p:nvSpPr>
          <p:cNvPr id="44" name="Rounded Rectangle 43"/>
          <p:cNvSpPr/>
          <p:nvPr/>
        </p:nvSpPr>
        <p:spPr>
          <a:xfrm>
            <a:off x="7326500" y="2670000"/>
            <a:ext cx="460000" cy="32000"/>
          </a:xfrm>
          <a:prstGeom prst="roundRect">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70000" y="2790000"/>
            <a:ext cx="2173000" cy="1750000"/>
          </a:xfrm>
          <a:prstGeom prst="rect">
            <a:avLst/>
          </a:prstGeom>
          <a:noFill/>
        </p:spPr>
        <p:txBody>
          <a:bodyPr wrap="square" lIns="0" tIns="0" rIns="0" bIns="0" anchor="t">
            <a:spAutoFit/>
          </a:bodyPr>
          <a:lstStyle/>
          <a:p>
            <a:pPr algn="ctr">
              <a:lnSpc>
                <a:spcPct val="105000"/>
              </a:lnSpc>
            </a:pPr>
            <a:r>
              <a:rPr sz="1050" b="0" i="0">
                <a:solidFill>
                  <a:srgbClr val="BFD2E0"/>
                </a:solidFill>
                <a:latin typeface="Montserrat"/>
              </a:rPr>
              <a:t>Recreates visuals and layouts natively</a:t>
            </a:r>
          </a:p>
        </p:txBody>
      </p:sp>
      <p:sp>
        <p:nvSpPr>
          <p:cNvPr id="46" name="Right Arrow 45"/>
          <p:cNvSpPr/>
          <p:nvPr/>
        </p:nvSpPr>
        <p:spPr>
          <a:xfrm>
            <a:off x="8887000" y="3025000"/>
            <a:ext cx="260000" cy="200000"/>
          </a:xfrm>
          <a:prstGeom prst="right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9271000" y="1650000"/>
            <a:ext cx="2413000" cy="2950000"/>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0097500" y="1290000"/>
            <a:ext cx="760000" cy="760000"/>
          </a:xfrm>
          <a:prstGeom prst="ellipse">
            <a:avLst/>
          </a:prstGeom>
          <a:solidFill>
            <a:srgbClr val="F4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0137500" y="1330000"/>
            <a:ext cx="680000" cy="68000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Graphic 28" descr="Quality validati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67500" y="1460000"/>
            <a:ext cx="420000" cy="420000"/>
          </a:xfrm>
          <a:prstGeom prst="rect">
            <a:avLst/>
          </a:prstGeom>
        </p:spPr>
      </p:pic>
      <p:sp>
        <p:nvSpPr>
          <p:cNvPr id="50" name="TextBox 49"/>
          <p:cNvSpPr txBox="1"/>
          <p:nvPr/>
        </p:nvSpPr>
        <p:spPr>
          <a:xfrm>
            <a:off x="9271000" y="1770000"/>
            <a:ext cx="2413000" cy="260000"/>
          </a:xfrm>
          <a:prstGeom prst="rect">
            <a:avLst/>
          </a:prstGeom>
          <a:noFill/>
        </p:spPr>
        <p:txBody>
          <a:bodyPr wrap="square" lIns="0" tIns="0" rIns="0" bIns="0" anchor="t">
            <a:spAutoFit/>
          </a:bodyPr>
          <a:lstStyle/>
          <a:p>
            <a:pPr algn="ctr">
              <a:lnSpc>
                <a:spcPct val="100000"/>
              </a:lnSpc>
            </a:pPr>
            <a:r>
              <a:rPr sz="1200" b="1" i="0">
                <a:solidFill>
                  <a:srgbClr val="00EDED"/>
                </a:solidFill>
                <a:latin typeface="Montserrat"/>
              </a:rPr>
              <a:t>04</a:t>
            </a:r>
          </a:p>
        </p:txBody>
      </p:sp>
      <p:sp>
        <p:nvSpPr>
          <p:cNvPr id="51" name="TextBox 50"/>
          <p:cNvSpPr txBox="1"/>
          <p:nvPr/>
        </p:nvSpPr>
        <p:spPr>
          <a:xfrm>
            <a:off x="9391000" y="2100000"/>
            <a:ext cx="2173000" cy="560000"/>
          </a:xfrm>
          <a:prstGeom prst="rect">
            <a:avLst/>
          </a:prstGeom>
          <a:noFill/>
        </p:spPr>
        <p:txBody>
          <a:bodyPr wrap="square" lIns="0" tIns="0" rIns="0" bIns="0" anchor="t">
            <a:spAutoFit/>
          </a:bodyPr>
          <a:lstStyle/>
          <a:p>
            <a:pPr algn="ctr">
              <a:lnSpc>
                <a:spcPct val="100000"/>
              </a:lnSpc>
            </a:pPr>
            <a:r>
              <a:rPr sz="1350" b="1" i="0">
                <a:solidFill>
                  <a:srgbClr val="FFFFFF"/>
                </a:solidFill>
                <a:latin typeface="Montserrat"/>
              </a:rPr>
              <a:t>Quality Validation</a:t>
            </a:r>
          </a:p>
        </p:txBody>
      </p:sp>
      <p:sp>
        <p:nvSpPr>
          <p:cNvPr id="52" name="Rounded Rectangle 51"/>
          <p:cNvSpPr/>
          <p:nvPr/>
        </p:nvSpPr>
        <p:spPr>
          <a:xfrm>
            <a:off x="10247500" y="2670000"/>
            <a:ext cx="460000" cy="32000"/>
          </a:xfrm>
          <a:prstGeom prst="roundRect">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391000" y="2790000"/>
            <a:ext cx="2173000" cy="1750000"/>
          </a:xfrm>
          <a:prstGeom prst="rect">
            <a:avLst/>
          </a:prstGeom>
          <a:noFill/>
        </p:spPr>
        <p:txBody>
          <a:bodyPr wrap="square" lIns="0" tIns="0" rIns="0" bIns="0" anchor="t">
            <a:spAutoFit/>
          </a:bodyPr>
          <a:lstStyle/>
          <a:p>
            <a:pPr algn="ctr">
              <a:lnSpc>
                <a:spcPct val="105000"/>
              </a:lnSpc>
            </a:pPr>
            <a:r>
              <a:rPr sz="1050" b="0" i="0">
                <a:solidFill>
                  <a:srgbClr val="BFD2E0"/>
                </a:solidFill>
                <a:latin typeface="Montserrat"/>
              </a:rPr>
              <a:t>Compares outputs to validate accuracy</a:t>
            </a:r>
          </a:p>
        </p:txBody>
      </p:sp>
      <p:sp>
        <p:nvSpPr>
          <p:cNvPr id="101" name="Stats Band"/>
          <p:cNvSpPr/>
          <p:nvPr/>
        </p:nvSpPr>
        <p:spPr>
          <a:xfrm>
            <a:off x="508000" y="4965700"/>
            <a:ext cx="11176000" cy="1120000"/>
          </a:xfrm>
          <a:prstGeom prst="roundRect">
            <a:avLst>
              <a:gd name="adj" fmla="val 8000"/>
            </a:avLst>
          </a:prstGeom>
          <a:solidFill>
            <a:srgbClr val="053057"/>
          </a:solidFill>
          <a:ln>
            <a:noFill/>
          </a:ln>
          <a:effectLst/>
        </p:spPr>
        <p:txBody>
          <a:bodyPr rtlCol="0" anchor="ctr"/>
          <a:lstStyle/>
          <a:p>
            <a:pPr algn="ctr"/>
            <a:endParaRPr/>
          </a:p>
        </p:txBody>
      </p:sp>
      <p:sp>
        <p:nvSpPr>
          <p:cNvPr id="102" name="Stat Number 1"/>
          <p:cNvSpPr txBox="1"/>
          <p:nvPr/>
        </p:nvSpPr>
        <p:spPr>
          <a:xfrm>
            <a:off x="508000" y="5185700"/>
            <a:ext cx="2794000" cy="560000"/>
          </a:xfrm>
          <a:prstGeom prst="rect">
            <a:avLst/>
          </a:prstGeom>
          <a:noFill/>
        </p:spPr>
        <p:txBody>
          <a:bodyPr wrap="square" lIns="0" tIns="0" rIns="0" bIns="0" anchor="ctr"/>
          <a:lstStyle/>
          <a:p>
            <a:pPr algn="ctr">
              <a:lnSpc>
                <a:spcPct val="100000"/>
              </a:lnSpc>
            </a:pPr>
            <a:r>
              <a:rPr lang="en-IN" sz="3600" b="1" i="0">
                <a:solidFill>
                  <a:srgbClr val="00EDED"/>
                </a:solidFill>
                <a:latin typeface="Montserrat"/>
              </a:rPr>
              <a:t>50</a:t>
            </a:r>
            <a:r>
              <a:rPr sz="3600" b="1" i="0">
                <a:solidFill>
                  <a:srgbClr val="00EDED"/>
                </a:solidFill>
                <a:latin typeface="Montserrat"/>
              </a:rPr>
              <a:t>x</a:t>
            </a:r>
          </a:p>
        </p:txBody>
      </p:sp>
      <p:sp>
        <p:nvSpPr>
          <p:cNvPr id="103" name="Stat Label 1"/>
          <p:cNvSpPr txBox="1"/>
          <p:nvPr/>
        </p:nvSpPr>
        <p:spPr>
          <a:xfrm>
            <a:off x="508000" y="5755700"/>
            <a:ext cx="2794000" cy="280000"/>
          </a:xfrm>
          <a:prstGeom prst="rect">
            <a:avLst/>
          </a:prstGeom>
          <a:noFill/>
        </p:spPr>
        <p:txBody>
          <a:bodyPr wrap="square" lIns="0" tIns="0" rIns="0" bIns="0" anchor="ctr"/>
          <a:lstStyle/>
          <a:p>
            <a:pPr algn="ctr">
              <a:lnSpc>
                <a:spcPct val="100000"/>
              </a:lnSpc>
            </a:pPr>
            <a:r>
              <a:rPr sz="1050" b="1" i="0">
                <a:solidFill>
                  <a:srgbClr val="BFD2E0"/>
                </a:solidFill>
                <a:latin typeface="Montserrat"/>
              </a:rPr>
              <a:t>FASTER MIGRATION</a:t>
            </a:r>
          </a:p>
        </p:txBody>
      </p:sp>
      <p:sp>
        <p:nvSpPr>
          <p:cNvPr id="104" name="Stat Number 2"/>
          <p:cNvSpPr txBox="1"/>
          <p:nvPr/>
        </p:nvSpPr>
        <p:spPr>
          <a:xfrm>
            <a:off x="3302000" y="5185700"/>
            <a:ext cx="2794000" cy="560000"/>
          </a:xfrm>
          <a:prstGeom prst="rect">
            <a:avLst/>
          </a:prstGeom>
          <a:noFill/>
        </p:spPr>
        <p:txBody>
          <a:bodyPr wrap="square" lIns="0" tIns="0" rIns="0" bIns="0" anchor="ctr"/>
          <a:lstStyle/>
          <a:p>
            <a:pPr algn="ctr">
              <a:lnSpc>
                <a:spcPct val="100000"/>
              </a:lnSpc>
            </a:pPr>
            <a:r>
              <a:rPr sz="3600" b="1" i="0">
                <a:solidFill>
                  <a:srgbClr val="00EDED"/>
                </a:solidFill>
                <a:latin typeface="Montserrat"/>
              </a:rPr>
              <a:t>98%</a:t>
            </a:r>
          </a:p>
        </p:txBody>
      </p:sp>
      <p:sp>
        <p:nvSpPr>
          <p:cNvPr id="105" name="Stat Label 2"/>
          <p:cNvSpPr txBox="1"/>
          <p:nvPr/>
        </p:nvSpPr>
        <p:spPr>
          <a:xfrm>
            <a:off x="3302000" y="5755700"/>
            <a:ext cx="2794000" cy="280000"/>
          </a:xfrm>
          <a:prstGeom prst="rect">
            <a:avLst/>
          </a:prstGeom>
          <a:noFill/>
        </p:spPr>
        <p:txBody>
          <a:bodyPr wrap="square" lIns="0" tIns="0" rIns="0" bIns="0" anchor="ctr"/>
          <a:lstStyle/>
          <a:p>
            <a:pPr algn="ctr">
              <a:lnSpc>
                <a:spcPct val="100000"/>
              </a:lnSpc>
            </a:pPr>
            <a:r>
              <a:rPr sz="1050" b="1" i="0">
                <a:solidFill>
                  <a:srgbClr val="BFD2E0"/>
                </a:solidFill>
                <a:latin typeface="Montserrat"/>
              </a:rPr>
              <a:t>VISUAL FIDELITY</a:t>
            </a:r>
          </a:p>
        </p:txBody>
      </p:sp>
      <p:sp>
        <p:nvSpPr>
          <p:cNvPr id="106" name="Stat Number 3"/>
          <p:cNvSpPr txBox="1"/>
          <p:nvPr/>
        </p:nvSpPr>
        <p:spPr>
          <a:xfrm>
            <a:off x="6096000" y="5185700"/>
            <a:ext cx="2794000" cy="560000"/>
          </a:xfrm>
          <a:prstGeom prst="rect">
            <a:avLst/>
          </a:prstGeom>
          <a:noFill/>
        </p:spPr>
        <p:txBody>
          <a:bodyPr wrap="square" lIns="0" tIns="0" rIns="0" bIns="0" anchor="ctr"/>
          <a:lstStyle/>
          <a:p>
            <a:pPr algn="ctr">
              <a:lnSpc>
                <a:spcPct val="100000"/>
              </a:lnSpc>
            </a:pPr>
            <a:r>
              <a:rPr sz="3600" b="1" i="0">
                <a:solidFill>
                  <a:srgbClr val="00EDED"/>
                </a:solidFill>
                <a:latin typeface="Montserrat"/>
              </a:rPr>
              <a:t>4</a:t>
            </a:r>
          </a:p>
        </p:txBody>
      </p:sp>
      <p:sp>
        <p:nvSpPr>
          <p:cNvPr id="107" name="Stat Label 3"/>
          <p:cNvSpPr txBox="1"/>
          <p:nvPr/>
        </p:nvSpPr>
        <p:spPr>
          <a:xfrm>
            <a:off x="6096000" y="5755700"/>
            <a:ext cx="2794000" cy="280000"/>
          </a:xfrm>
          <a:prstGeom prst="rect">
            <a:avLst/>
          </a:prstGeom>
          <a:noFill/>
        </p:spPr>
        <p:txBody>
          <a:bodyPr wrap="square" lIns="0" tIns="0" rIns="0" bIns="0" anchor="ctr"/>
          <a:lstStyle/>
          <a:p>
            <a:pPr algn="ctr">
              <a:lnSpc>
                <a:spcPct val="100000"/>
              </a:lnSpc>
            </a:pPr>
            <a:r>
              <a:rPr sz="1050" b="1" i="0">
                <a:solidFill>
                  <a:srgbClr val="BFD2E0"/>
                </a:solidFill>
                <a:latin typeface="Montserrat"/>
              </a:rPr>
              <a:t>AUTOMATED STAGES</a:t>
            </a:r>
          </a:p>
        </p:txBody>
      </p:sp>
      <p:sp>
        <p:nvSpPr>
          <p:cNvPr id="108" name="Stat Number 4"/>
          <p:cNvSpPr txBox="1"/>
          <p:nvPr/>
        </p:nvSpPr>
        <p:spPr>
          <a:xfrm>
            <a:off x="8890000" y="5185700"/>
            <a:ext cx="2794000" cy="560000"/>
          </a:xfrm>
          <a:prstGeom prst="rect">
            <a:avLst/>
          </a:prstGeom>
          <a:noFill/>
        </p:spPr>
        <p:txBody>
          <a:bodyPr wrap="square" lIns="0" tIns="0" rIns="0" bIns="0" anchor="ctr"/>
          <a:lstStyle/>
          <a:p>
            <a:pPr algn="ctr">
              <a:lnSpc>
                <a:spcPct val="100000"/>
              </a:lnSpc>
            </a:pPr>
            <a:r>
              <a:rPr sz="3600" b="1" i="0">
                <a:solidFill>
                  <a:srgbClr val="00EDED"/>
                </a:solidFill>
                <a:latin typeface="Montserrat"/>
              </a:rPr>
              <a:t>Zero</a:t>
            </a:r>
          </a:p>
        </p:txBody>
      </p:sp>
      <p:sp>
        <p:nvSpPr>
          <p:cNvPr id="109" name="Stat Label 4"/>
          <p:cNvSpPr txBox="1"/>
          <p:nvPr/>
        </p:nvSpPr>
        <p:spPr>
          <a:xfrm>
            <a:off x="8890000" y="5755700"/>
            <a:ext cx="2794000" cy="280000"/>
          </a:xfrm>
          <a:prstGeom prst="rect">
            <a:avLst/>
          </a:prstGeom>
          <a:noFill/>
        </p:spPr>
        <p:txBody>
          <a:bodyPr wrap="square" lIns="0" tIns="0" rIns="0" bIns="0" anchor="ctr"/>
          <a:lstStyle/>
          <a:p>
            <a:pPr algn="ctr">
              <a:lnSpc>
                <a:spcPct val="100000"/>
              </a:lnSpc>
            </a:pPr>
            <a:r>
              <a:rPr sz="1050" b="1" i="0">
                <a:solidFill>
                  <a:srgbClr val="BFD2E0"/>
                </a:solidFill>
                <a:latin typeface="Montserrat"/>
              </a:rPr>
              <a:t>MANUAL REWORK</a:t>
            </a:r>
          </a:p>
        </p:txBody>
      </p:sp>
      <p:sp>
        <p:nvSpPr>
          <p:cNvPr id="110" name="Cost Reduction Points"/>
          <p:cNvSpPr txBox="1"/>
          <p:nvPr/>
        </p:nvSpPr>
        <p:spPr>
          <a:xfrm>
            <a:off x="508000" y="6377150"/>
            <a:ext cx="11176000" cy="460000"/>
          </a:xfrm>
          <a:prstGeom prst="rect">
            <a:avLst/>
          </a:prstGeom>
          <a:noFill/>
        </p:spPr>
        <p:txBody>
          <a:bodyPr wrap="square" lIns="0" tIns="0" rIns="0" bIns="0" anchor="t"/>
          <a:lstStyle/>
          <a:p>
            <a:pPr algn="l">
              <a:lnSpc>
                <a:spcPct val="110000"/>
              </a:lnSpc>
              <a:buClr>
                <a:srgbClr val="053057"/>
              </a:buClr>
            </a:pPr>
            <a:r>
              <a:rPr sz="1050" b="1" i="0">
                <a:solidFill>
                  <a:srgbClr val="053057"/>
                </a:solidFill>
                <a:latin typeface="Montserrat"/>
              </a:rPr>
              <a:t>Lower delivery cost —</a:t>
            </a:r>
            <a:r>
              <a:rPr lang="en-IN" sz="1050" b="1" i="0">
                <a:solidFill>
                  <a:srgbClr val="053057"/>
                </a:solidFill>
                <a:latin typeface="Montserrat"/>
              </a:rPr>
              <a:t> </a:t>
            </a:r>
            <a:r>
              <a:rPr lang="en-IN" sz="1050">
                <a:solidFill>
                  <a:srgbClr val="5A7184"/>
                </a:solidFill>
                <a:latin typeface="Montserrat"/>
              </a:rPr>
              <a:t>D</a:t>
            </a:r>
            <a:r>
              <a:rPr sz="1050" b="0" i="0">
                <a:solidFill>
                  <a:srgbClr val="5A7184"/>
                </a:solidFill>
                <a:latin typeface="Montserrat"/>
              </a:rPr>
              <a:t>ashboard </a:t>
            </a:r>
            <a:r>
              <a:rPr lang="en-IN" sz="1050" b="0" i="0">
                <a:solidFill>
                  <a:srgbClr val="5A7184"/>
                </a:solidFill>
                <a:latin typeface="Montserrat"/>
              </a:rPr>
              <a:t>rebuild</a:t>
            </a:r>
            <a:r>
              <a:rPr sz="1050" b="0" i="0">
                <a:solidFill>
                  <a:srgbClr val="5A7184"/>
                </a:solidFill>
                <a:latin typeface="Montserrat"/>
              </a:rPr>
              <a:t> no longer requires dedicated </a:t>
            </a:r>
            <a:r>
              <a:rPr lang="en-IN" sz="1050">
                <a:solidFill>
                  <a:srgbClr val="5A7184"/>
                </a:solidFill>
                <a:latin typeface="Montserrat"/>
              </a:rPr>
              <a:t>a</a:t>
            </a:r>
            <a:r>
              <a:rPr sz="1050" b="0" i="0">
                <a:solidFill>
                  <a:srgbClr val="5A7184"/>
                </a:solidFill>
                <a:latin typeface="Montserrat"/>
              </a:rPr>
              <a:t>nalyst time </a:t>
            </a:r>
            <a:endParaRPr lang="en-IN" sz="1050" b="0" i="0">
              <a:solidFill>
                <a:srgbClr val="5A7184"/>
              </a:solidFill>
              <a:latin typeface="Montserrat"/>
            </a:endParaRPr>
          </a:p>
          <a:p>
            <a:pPr algn="l">
              <a:lnSpc>
                <a:spcPct val="110000"/>
              </a:lnSpc>
              <a:buClr>
                <a:srgbClr val="053057"/>
              </a:buClr>
            </a:pPr>
            <a:r>
              <a:rPr sz="1050" b="1" i="0">
                <a:solidFill>
                  <a:srgbClr val="053057"/>
                </a:solidFill>
                <a:latin typeface="Montserrat"/>
              </a:rPr>
              <a:t>Minimal AI cost — </a:t>
            </a:r>
            <a:r>
              <a:rPr sz="1050" b="0" i="0">
                <a:solidFill>
                  <a:srgbClr val="5A7184"/>
                </a:solidFill>
                <a:latin typeface="Montserrat"/>
              </a:rPr>
              <a:t> LLMs powering the pipeline run at as little as $2 per dashboard.</a:t>
            </a:r>
          </a:p>
        </p:txBody>
      </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20000"/>
            <a:ext cx="9000000" cy="500000"/>
          </a:xfrm>
          <a:prstGeom prst="rect">
            <a:avLst/>
          </a:prstGeom>
          <a:noFill/>
        </p:spPr>
        <p:txBody>
          <a:bodyPr wrap="square" lIns="0" tIns="0" rIns="0" bIns="0" anchor="t">
            <a:spAutoFit/>
          </a:bodyPr>
          <a:lstStyle/>
          <a:p>
            <a:pPr algn="l">
              <a:lnSpc>
                <a:spcPct val="100000"/>
              </a:lnSpc>
            </a:pPr>
            <a:r>
              <a:rPr sz="2800" b="1" i="0">
                <a:solidFill>
                  <a:srgbClr val="053057"/>
                </a:solidFill>
                <a:latin typeface="Montserrat"/>
              </a:rPr>
              <a:t>See VIZLEAP In Action</a:t>
            </a:r>
          </a:p>
        </p:txBody>
      </p:sp>
      <p:pic>
        <p:nvPicPr>
          <p:cNvPr id="3" name="Picture 2">
            <a:extLst>
              <a:ext uri="{FF2B5EF4-FFF2-40B4-BE49-F238E27FC236}">
                <a16:creationId xmlns:a16="http://schemas.microsoft.com/office/drawing/2014/main" id="{1E10758D-D1D1-3F3A-EDCA-6FD68D950C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16857" y="950000"/>
            <a:ext cx="9158284" cy="5170000"/>
          </a:xfrm>
          <a:prstGeom prst="rect">
            <a:avLst/>
          </a:prstGeom>
        </p:spPr>
      </p:pic>
      <p:sp>
        <p:nvSpPr>
          <p:cNvPr id="4" name="Rounded Rectangle 3"/>
          <p:cNvSpPr/>
          <p:nvPr/>
        </p:nvSpPr>
        <p:spPr>
          <a:xfrm>
            <a:off x="1460224" y="930000"/>
            <a:ext cx="9271551" cy="5210000"/>
          </a:xfrm>
          <a:prstGeom prst="roundRect">
            <a:avLst>
              <a:gd name="adj" fmla="val 2000"/>
            </a:avLst>
          </a:prstGeom>
          <a:noFill/>
          <a:ln w="12700">
            <a:solidFill>
              <a:srgbClr val="C9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8000" y="6230000"/>
            <a:ext cx="11176000" cy="500000"/>
          </a:xfrm>
          <a:prstGeom prst="roundRect">
            <a:avLst>
              <a:gd name="adj" fmla="val 25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0000" y="6230000"/>
            <a:ext cx="7500000" cy="500000"/>
          </a:xfrm>
          <a:prstGeom prst="rect">
            <a:avLst/>
          </a:prstGeom>
          <a:noFill/>
        </p:spPr>
        <p:txBody>
          <a:bodyPr wrap="square" lIns="0" tIns="0" rIns="0" bIns="0" anchor="ctr">
            <a:spAutoFit/>
          </a:bodyPr>
          <a:lstStyle/>
          <a:p>
            <a:pPr algn="l">
              <a:lnSpc>
                <a:spcPct val="100000"/>
              </a:lnSpc>
            </a:pPr>
            <a:r>
              <a:rPr sz="1300" b="1" i="0">
                <a:solidFill>
                  <a:srgbClr val="FFFFFF"/>
                </a:solidFill>
                <a:latin typeface="Montserrat"/>
              </a:rPr>
              <a:t>Ready to see the full migration pipeline live?</a:t>
            </a:r>
          </a:p>
        </p:txBody>
      </p:sp>
      <p:sp>
        <p:nvSpPr>
          <p:cNvPr id="7" name="Rounded Rectangle 6"/>
          <p:cNvSpPr/>
          <p:nvPr/>
        </p:nvSpPr>
        <p:spPr>
          <a:xfrm>
            <a:off x="10000000" y="6300000"/>
            <a:ext cx="1500000" cy="360000"/>
          </a:xfrm>
          <a:prstGeom prst="roundRect">
            <a:avLst>
              <a:gd name="adj" fmla="val 50000"/>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00000" y="6300000"/>
            <a:ext cx="1500000" cy="360000"/>
          </a:xfrm>
          <a:prstGeom prst="rect">
            <a:avLst/>
          </a:prstGeom>
          <a:noFill/>
        </p:spPr>
        <p:txBody>
          <a:bodyPr wrap="square" lIns="0" tIns="0" rIns="0" bIns="0" anchor="ctr">
            <a:spAutoFit/>
          </a:bodyPr>
          <a:lstStyle/>
          <a:p>
            <a:pPr algn="ctr">
              <a:lnSpc>
                <a:spcPct val="100000"/>
              </a:lnSpc>
            </a:pPr>
            <a:r>
              <a:rPr sz="1200" b="1" i="0">
                <a:solidFill>
                  <a:srgbClr val="053057"/>
                </a:solidFill>
                <a:latin typeface="Montserrat"/>
              </a:rPr>
              <a:t>DEMO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p:cNvSpPr txBox="1"/>
          <p:nvPr/>
        </p:nvSpPr>
        <p:spPr>
          <a:xfrm>
            <a:off x="400000" y="150000"/>
            <a:ext cx="11392000" cy="460000"/>
          </a:xfrm>
          <a:prstGeom prst="rect">
            <a:avLst/>
          </a:prstGeom>
          <a:noFill/>
        </p:spPr>
        <p:txBody>
          <a:bodyPr wrap="square" lIns="0" tIns="0" rIns="0" bIns="0" anchor="ctr">
            <a:normAutofit/>
          </a:bodyPr>
          <a:lstStyle/>
          <a:p>
            <a:pPr algn="l"/>
            <a:r>
              <a:rPr lang="en-IN" sz="2400" b="1" i="0">
                <a:solidFill>
                  <a:srgbClr val="053057"/>
                </a:solidFill>
                <a:latin typeface="Montserrat"/>
              </a:rPr>
              <a:t>Tableau vs. Power BI: Dashboard Comparison</a:t>
            </a:r>
          </a:p>
        </p:txBody>
      </p:sp>
      <p:sp>
        <p:nvSpPr>
          <p:cNvPr id="21" name="Tableau Header"/>
          <p:cNvSpPr/>
          <p:nvPr/>
        </p:nvSpPr>
        <p:spPr>
          <a:xfrm>
            <a:off x="400000" y="660000"/>
            <a:ext cx="5576000" cy="380000"/>
          </a:xfrm>
          <a:prstGeom prst="roundRect">
            <a:avLst>
              <a:gd name="adj" fmla="val 16000"/>
            </a:avLst>
          </a:prstGeom>
          <a:solidFill>
            <a:srgbClr val="053057"/>
          </a:solidFill>
          <a:ln>
            <a:noFill/>
          </a:ln>
        </p:spPr>
        <p:txBody>
          <a:bodyPr wrap="square" lIns="0" tIns="0" rIns="0" bIns="0" anchor="ctr"/>
          <a:lstStyle/>
          <a:p>
            <a:pPr algn="ctr"/>
            <a:r>
              <a:rPr lang="en-IN" sz="2000" b="1" i="0">
                <a:solidFill>
                  <a:srgbClr val="FFFFFF"/>
                </a:solidFill>
                <a:latin typeface="Montserrat"/>
              </a:rPr>
              <a:t>Tableau</a:t>
            </a:r>
          </a:p>
        </p:txBody>
      </p:sp>
      <p:sp>
        <p:nvSpPr>
          <p:cNvPr id="22" name="Power BI Header"/>
          <p:cNvSpPr/>
          <p:nvPr/>
        </p:nvSpPr>
        <p:spPr>
          <a:xfrm>
            <a:off x="6216000" y="660000"/>
            <a:ext cx="5576000" cy="380000"/>
          </a:xfrm>
          <a:prstGeom prst="roundRect">
            <a:avLst>
              <a:gd name="adj" fmla="val 16000"/>
            </a:avLst>
          </a:prstGeom>
          <a:solidFill>
            <a:srgbClr val="FFC000"/>
          </a:solidFill>
          <a:ln>
            <a:noFill/>
          </a:ln>
        </p:spPr>
        <p:txBody>
          <a:bodyPr wrap="square" lIns="0" tIns="0" rIns="0" bIns="0" anchor="ctr"/>
          <a:lstStyle/>
          <a:p>
            <a:pPr algn="ctr"/>
            <a:r>
              <a:rPr lang="en-IN" sz="2000" b="1" i="0">
                <a:solidFill>
                  <a:srgbClr val="053057"/>
                </a:solidFill>
                <a:latin typeface="Montserrat"/>
              </a:rPr>
              <a:t>Power BI</a:t>
            </a:r>
          </a:p>
        </p:txBody>
      </p:sp>
      <p:cxnSp>
        <p:nvCxnSpPr>
          <p:cNvPr id="23" name="Divider"/>
          <p:cNvCxnSpPr/>
          <p:nvPr/>
        </p:nvCxnSpPr>
        <p:spPr>
          <a:xfrm>
            <a:off x="6096000" y="1120000"/>
            <a:ext cx="0" cy="5520000"/>
          </a:xfrm>
          <a:prstGeom prst="line">
            <a:avLst/>
          </a:prstGeom>
          <a:ln w="9525">
            <a:solidFill>
              <a:srgbClr val="D9D9D9"/>
            </a:solidFill>
          </a:ln>
        </p:spPr>
        <p:style>
          <a:lnRef idx="1">
            <a:schemeClr val="accent1"/>
          </a:lnRef>
          <a:fillRef idx="0">
            <a:schemeClr val="accent1"/>
          </a:fillRef>
          <a:effectRef idx="0">
            <a:schemeClr val="accent1"/>
          </a:effectRef>
          <a:fontRef idx="minor"/>
        </p:style>
      </p:cxnSp>
      <p:pic>
        <p:nvPicPr>
          <p:cNvPr id="2" name="Picture 1">
            <a:extLst>
              <a:ext uri="{FF2B5EF4-FFF2-40B4-BE49-F238E27FC236}">
                <a16:creationId xmlns:a16="http://schemas.microsoft.com/office/drawing/2014/main" id="{767FBA9F-C7AD-E456-59A5-3E9F50B1192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12300" y="1080000"/>
            <a:ext cx="5351400" cy="2700000"/>
          </a:xfrm>
          <a:prstGeom prst="rect">
            <a:avLst/>
          </a:prstGeom>
          <a:ln w="9525">
            <a:solidFill>
              <a:srgbClr val="D9D9D9"/>
            </a:solidFill>
          </a:ln>
        </p:spPr>
      </p:pic>
      <p:pic>
        <p:nvPicPr>
          <p:cNvPr id="7" name="Picture 6">
            <a:extLst>
              <a:ext uri="{FF2B5EF4-FFF2-40B4-BE49-F238E27FC236}">
                <a16:creationId xmlns:a16="http://schemas.microsoft.com/office/drawing/2014/main" id="{8BDF8AC8-7992-B71B-E649-175659FAE2E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10950" y="3940000"/>
            <a:ext cx="5354100" cy="2700000"/>
          </a:xfrm>
          <a:prstGeom prst="rect">
            <a:avLst/>
          </a:prstGeom>
          <a:ln w="9525">
            <a:solidFill>
              <a:srgbClr val="D9D9D9"/>
            </a:solidFill>
          </a:ln>
        </p:spPr>
      </p:pic>
      <p:pic>
        <p:nvPicPr>
          <p:cNvPr id="10" name="Picture 9">
            <a:extLst>
              <a:ext uri="{FF2B5EF4-FFF2-40B4-BE49-F238E27FC236}">
                <a16:creationId xmlns:a16="http://schemas.microsoft.com/office/drawing/2014/main" id="{72DF4512-7B19-7509-340C-54B74B649E7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287800" y="1080000"/>
            <a:ext cx="5432400" cy="2700000"/>
          </a:xfrm>
          <a:prstGeom prst="rect">
            <a:avLst/>
          </a:prstGeom>
          <a:ln w="9525">
            <a:solidFill>
              <a:srgbClr val="D9D9D9"/>
            </a:solidFill>
          </a:ln>
        </p:spPr>
      </p:pic>
      <p:pic>
        <p:nvPicPr>
          <p:cNvPr id="11" name="Picture 10">
            <a:extLst>
              <a:ext uri="{FF2B5EF4-FFF2-40B4-BE49-F238E27FC236}">
                <a16:creationId xmlns:a16="http://schemas.microsoft.com/office/drawing/2014/main" id="{69EB4D1C-06DD-0A70-12B5-2A7800574962}"/>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274300" y="3940000"/>
            <a:ext cx="5459400" cy="2700000"/>
          </a:xfrm>
          <a:prstGeom prst="rect">
            <a:avLst/>
          </a:prstGeom>
          <a:ln w="9525">
            <a:solidFill>
              <a:srgbClr val="D9D9D9"/>
            </a:solidFill>
          </a:ln>
        </p:spPr>
      </p:pic>
    </p:spTree>
    <p:extLst>
      <p:ext uri="{BB962C8B-B14F-4D97-AF65-F5344CB8AC3E}">
        <p14:creationId xmlns:p14="http://schemas.microsoft.com/office/powerpoint/2010/main" val="4031702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20000"/>
            <a:ext cx="11000000" cy="430887"/>
          </a:xfrm>
          <a:prstGeom prst="rect">
            <a:avLst/>
          </a:prstGeom>
          <a:noFill/>
        </p:spPr>
        <p:txBody>
          <a:bodyPr wrap="square" lIns="0" tIns="0" rIns="0" bIns="0" anchor="t">
            <a:spAutoFit/>
          </a:bodyPr>
          <a:lstStyle/>
          <a:p>
            <a:pPr algn="l">
              <a:lnSpc>
                <a:spcPct val="100000"/>
              </a:lnSpc>
            </a:pPr>
            <a:r>
              <a:rPr lang="en-US" sz="2800" b="1" i="0">
                <a:solidFill>
                  <a:srgbClr val="053057"/>
                </a:solidFill>
                <a:latin typeface="Montserrat"/>
              </a:rPr>
              <a:t>Built Natively on Snowflake</a:t>
            </a:r>
            <a:endParaRPr sz="2800" b="1" i="0">
              <a:solidFill>
                <a:srgbClr val="053057"/>
              </a:solidFill>
              <a:latin typeface="Montserrat"/>
            </a:endParaRPr>
          </a:p>
        </p:txBody>
      </p:sp>
      <p:sp>
        <p:nvSpPr>
          <p:cNvPr id="3" name="TextBox 2"/>
          <p:cNvSpPr txBox="1"/>
          <p:nvPr/>
        </p:nvSpPr>
        <p:spPr>
          <a:xfrm>
            <a:off x="508000" y="900000"/>
            <a:ext cx="10800000" cy="215444"/>
          </a:xfrm>
          <a:prstGeom prst="rect">
            <a:avLst/>
          </a:prstGeom>
          <a:noFill/>
        </p:spPr>
        <p:txBody>
          <a:bodyPr wrap="square" lIns="0" tIns="0" rIns="0" bIns="0" anchor="t">
            <a:spAutoFit/>
          </a:bodyPr>
          <a:lstStyle/>
          <a:p>
            <a:pPr algn="l">
              <a:lnSpc>
                <a:spcPct val="100000"/>
              </a:lnSpc>
            </a:pPr>
            <a:r>
              <a:rPr lang="en-US" sz="1400" b="0" i="1">
                <a:solidFill>
                  <a:srgbClr val="5A7184"/>
                </a:solidFill>
                <a:latin typeface="Montserrat"/>
              </a:rPr>
              <a:t>VIZLEAP's pipeline runs natively inside your Snowflake environment, powered by Snowflake Cortex AI</a:t>
            </a:r>
            <a:endParaRPr sz="1400" b="0" i="1">
              <a:solidFill>
                <a:srgbClr val="5A7184"/>
              </a:solidFill>
              <a:latin typeface="Montserrat"/>
            </a:endParaRPr>
          </a:p>
        </p:txBody>
      </p:sp>
      <p:sp>
        <p:nvSpPr>
          <p:cNvPr id="6" name="Rounded Rectangle 5"/>
          <p:cNvSpPr/>
          <p:nvPr/>
        </p:nvSpPr>
        <p:spPr>
          <a:xfrm>
            <a:off x="544010" y="1500000"/>
            <a:ext cx="11065397" cy="502420"/>
          </a:xfrm>
          <a:prstGeom prst="roundRect">
            <a:avLst>
              <a:gd name="adj" fmla="val 50000"/>
            </a:avLst>
          </a:prstGeom>
          <a:solidFill>
            <a:srgbClr val="00EDED"/>
          </a:solidFill>
          <a:ln>
            <a:noFill/>
          </a:ln>
          <a:effectLst/>
        </p:spPr>
        <p:txBody>
          <a:bodyPr rtlCol="0" anchor="ctr"/>
          <a:lstStyle/>
          <a:p>
            <a:pPr algn="ctr"/>
            <a:endParaRPr/>
          </a:p>
        </p:txBody>
      </p:sp>
      <p:sp>
        <p:nvSpPr>
          <p:cNvPr id="7" name="TextBox 6"/>
          <p:cNvSpPr txBox="1"/>
          <p:nvPr/>
        </p:nvSpPr>
        <p:spPr>
          <a:xfrm>
            <a:off x="3342350" y="1562582"/>
            <a:ext cx="5952121" cy="416690"/>
          </a:xfrm>
          <a:prstGeom prst="rect">
            <a:avLst/>
          </a:prstGeom>
          <a:noFill/>
        </p:spPr>
        <p:txBody>
          <a:bodyPr wrap="square" lIns="0" tIns="0" rIns="0" bIns="0" anchor="ctr"/>
          <a:lstStyle/>
          <a:p>
            <a:pPr algn="ctr">
              <a:lnSpc>
                <a:spcPct val="100000"/>
              </a:lnSpc>
            </a:pPr>
            <a:r>
              <a:rPr sz="1300" b="1" i="0">
                <a:solidFill>
                  <a:srgbClr val="053057"/>
                </a:solidFill>
                <a:latin typeface="Montserrat"/>
              </a:rPr>
              <a:t>BUILT INSIDE YOUR ENVIRONMENT</a:t>
            </a:r>
          </a:p>
        </p:txBody>
      </p:sp>
      <p:sp>
        <p:nvSpPr>
          <p:cNvPr id="23" name="Rounded Rectangle 22"/>
          <p:cNvSpPr/>
          <p:nvPr/>
        </p:nvSpPr>
        <p:spPr>
          <a:xfrm>
            <a:off x="508000" y="2100000"/>
            <a:ext cx="11176000" cy="4500000"/>
          </a:xfrm>
          <a:prstGeom prst="roundRect">
            <a:avLst>
              <a:gd name="adj" fmla="val 6000"/>
            </a:avLst>
          </a:prstGeom>
          <a:solidFill>
            <a:srgbClr val="FFFFFF"/>
          </a:solidFill>
          <a:ln w="9525">
            <a:solidFill>
              <a:srgbClr val="C9E7E7"/>
            </a:solidFill>
          </a:ln>
          <a:effectLst/>
        </p:spPr>
        <p:txBody>
          <a:bodyPr rtlCol="0" anchor="ctr"/>
          <a:lstStyle/>
          <a:p>
            <a:pPr algn="ctr"/>
            <a:endParaRPr/>
          </a:p>
        </p:txBody>
      </p:sp>
      <p:sp>
        <p:nvSpPr>
          <p:cNvPr id="24" name="Oval 23"/>
          <p:cNvSpPr/>
          <p:nvPr/>
        </p:nvSpPr>
        <p:spPr>
          <a:xfrm>
            <a:off x="828000" y="2360000"/>
            <a:ext cx="620000" cy="620000"/>
          </a:xfrm>
          <a:prstGeom prst="ellipse">
            <a:avLst/>
          </a:prstGeom>
          <a:solidFill>
            <a:srgbClr val="053057"/>
          </a:solidFill>
          <a:ln>
            <a:noFill/>
          </a:ln>
          <a:effectLst/>
        </p:spPr>
        <p:txBody>
          <a:bodyPr rtlCol="0" anchor="ctr"/>
          <a:lstStyle/>
          <a:p>
            <a:pPr algn="ctr"/>
            <a:endParaRPr/>
          </a:p>
        </p:txBody>
      </p:sp>
      <p:pic>
        <p:nvPicPr>
          <p:cNvPr id="33" name="Graphic 24" descr="Reliabl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8000" y="2500000"/>
            <a:ext cx="340000" cy="340000"/>
          </a:xfrm>
          <a:prstGeom prst="rect">
            <a:avLst/>
          </a:prstGeom>
        </p:spPr>
      </p:pic>
      <p:sp>
        <p:nvSpPr>
          <p:cNvPr id="34" name="TextBox 33"/>
          <p:cNvSpPr txBox="1"/>
          <p:nvPr/>
        </p:nvSpPr>
        <p:spPr>
          <a:xfrm>
            <a:off x="1588000" y="2410000"/>
            <a:ext cx="9500000" cy="520000"/>
          </a:xfrm>
          <a:prstGeom prst="rect">
            <a:avLst/>
          </a:prstGeom>
          <a:noFill/>
        </p:spPr>
        <p:txBody>
          <a:bodyPr wrap="square" lIns="0" tIns="0" rIns="0" bIns="0" anchor="ctr"/>
          <a:lstStyle/>
          <a:p>
            <a:pPr algn="l">
              <a:lnSpc>
                <a:spcPct val="100000"/>
              </a:lnSpc>
            </a:pPr>
            <a:r>
              <a:rPr lang="en-US" sz="1600" b="1" i="0">
                <a:solidFill>
                  <a:srgbClr val="053057"/>
                </a:solidFill>
                <a:latin typeface="Montserrat"/>
              </a:rPr>
              <a:t>Powered by Snowflake Cortex AI</a:t>
            </a:r>
          </a:p>
        </p:txBody>
      </p:sp>
      <p:sp>
        <p:nvSpPr>
          <p:cNvPr id="35" name="TextBox 34"/>
          <p:cNvSpPr txBox="1"/>
          <p:nvPr/>
        </p:nvSpPr>
        <p:spPr>
          <a:xfrm>
            <a:off x="828000" y="3120000"/>
            <a:ext cx="10536000" cy="360000"/>
          </a:xfrm>
          <a:prstGeom prst="rect">
            <a:avLst/>
          </a:prstGeom>
          <a:noFill/>
        </p:spPr>
        <p:txBody>
          <a:bodyPr wrap="square" lIns="0" tIns="0" rIns="0" bIns="0" anchor="t"/>
          <a:lstStyle/>
          <a:p>
            <a:pPr algn="l">
              <a:lnSpc>
                <a:spcPct val="100000"/>
              </a:lnSpc>
            </a:pPr>
            <a:r>
              <a:rPr lang="en-US" sz="1250" b="0" i="1">
                <a:solidFill>
                  <a:srgbClr val="5A7184"/>
                </a:solidFill>
                <a:latin typeface="Montserrat"/>
              </a:rPr>
              <a:t>The 4-stage pipeline, built natively inside your Snowflake tenant</a:t>
            </a:r>
          </a:p>
        </p:txBody>
      </p:sp>
      <p:sp>
        <p:nvSpPr>
          <p:cNvPr id="60" name="Oval 60"/>
          <p:cNvSpPr/>
          <p:nvPr/>
        </p:nvSpPr>
        <p:spPr>
          <a:xfrm>
            <a:off x="828000" y="3760000"/>
            <a:ext cx="130000" cy="130000"/>
          </a:xfrm>
          <a:prstGeom prst="ellipse">
            <a:avLst/>
          </a:prstGeom>
          <a:solidFill>
            <a:srgbClr val="00EDED"/>
          </a:solidFill>
          <a:ln>
            <a:noFill/>
          </a:ln>
          <a:effectLst/>
        </p:spPr>
        <p:txBody>
          <a:bodyPr rtlCol="0" anchor="ctr"/>
          <a:lstStyle/>
          <a:p>
            <a:pPr algn="ctr"/>
            <a:endParaRPr/>
          </a:p>
        </p:txBody>
      </p:sp>
      <p:sp>
        <p:nvSpPr>
          <p:cNvPr id="61" name="TextBox 61"/>
          <p:cNvSpPr txBox="1"/>
          <p:nvPr/>
        </p:nvSpPr>
        <p:spPr>
          <a:xfrm>
            <a:off x="1108000" y="3700000"/>
            <a:ext cx="4550000" cy="300000"/>
          </a:xfrm>
          <a:prstGeom prst="rect">
            <a:avLst/>
          </a:prstGeom>
          <a:noFill/>
        </p:spPr>
        <p:txBody>
          <a:bodyPr wrap="square" lIns="0" tIns="0" rIns="0" bIns="0" anchor="t"/>
          <a:lstStyle/>
          <a:p>
            <a:pPr algn="l">
              <a:lnSpc>
                <a:spcPct val="100000"/>
              </a:lnSpc>
            </a:pPr>
            <a:r>
              <a:rPr sz="1200" b="1" i="0">
                <a:solidFill>
                  <a:srgbClr val="053057"/>
                </a:solidFill>
                <a:latin typeface="Montserrat"/>
              </a:rPr>
              <a:t>Runs entirely within your environment</a:t>
            </a:r>
          </a:p>
        </p:txBody>
      </p:sp>
      <p:sp>
        <p:nvSpPr>
          <p:cNvPr id="62" name="TextBox 62"/>
          <p:cNvSpPr txBox="1"/>
          <p:nvPr/>
        </p:nvSpPr>
        <p:spPr>
          <a:xfrm>
            <a:off x="1108000" y="4020000"/>
            <a:ext cx="4550000" cy="560000"/>
          </a:xfrm>
          <a:prstGeom prst="rect">
            <a:avLst/>
          </a:prstGeom>
          <a:noFill/>
        </p:spPr>
        <p:txBody>
          <a:bodyPr wrap="square" lIns="0" tIns="0" rIns="0" bIns="0" anchor="t"/>
          <a:lstStyle/>
          <a:p>
            <a:pPr algn="l">
              <a:lnSpc>
                <a:spcPct val="105000"/>
              </a:lnSpc>
            </a:pPr>
            <a:r>
              <a:rPr sz="1050" b="0" i="0">
                <a:solidFill>
                  <a:srgbClr val="5A7184"/>
                </a:solidFill>
                <a:latin typeface="Montserrat"/>
              </a:rPr>
              <a:t>All processing happens inside your Snowflake account.</a:t>
            </a:r>
          </a:p>
        </p:txBody>
      </p:sp>
      <p:sp>
        <p:nvSpPr>
          <p:cNvPr id="63" name="Oval 63"/>
          <p:cNvSpPr/>
          <p:nvPr/>
        </p:nvSpPr>
        <p:spPr>
          <a:xfrm>
            <a:off x="828000" y="4660000"/>
            <a:ext cx="130000" cy="130000"/>
          </a:xfrm>
          <a:prstGeom prst="ellipse">
            <a:avLst/>
          </a:prstGeom>
          <a:solidFill>
            <a:srgbClr val="00EDED"/>
          </a:solidFill>
          <a:ln>
            <a:noFill/>
          </a:ln>
          <a:effectLst/>
        </p:spPr>
        <p:txBody>
          <a:bodyPr rtlCol="0" anchor="ctr"/>
          <a:lstStyle/>
          <a:p>
            <a:pPr algn="ctr"/>
            <a:endParaRPr/>
          </a:p>
        </p:txBody>
      </p:sp>
      <p:sp>
        <p:nvSpPr>
          <p:cNvPr id="64" name="TextBox 64"/>
          <p:cNvSpPr txBox="1"/>
          <p:nvPr/>
        </p:nvSpPr>
        <p:spPr>
          <a:xfrm>
            <a:off x="1108000" y="4600000"/>
            <a:ext cx="4550000" cy="300000"/>
          </a:xfrm>
          <a:prstGeom prst="rect">
            <a:avLst/>
          </a:prstGeom>
          <a:noFill/>
        </p:spPr>
        <p:txBody>
          <a:bodyPr wrap="square" lIns="0" tIns="0" rIns="0" bIns="0" anchor="t"/>
          <a:lstStyle/>
          <a:p>
            <a:pPr algn="l">
              <a:lnSpc>
                <a:spcPct val="100000"/>
              </a:lnSpc>
            </a:pPr>
            <a:r>
              <a:rPr sz="1200" b="1" i="0">
                <a:solidFill>
                  <a:srgbClr val="053057"/>
                </a:solidFill>
                <a:latin typeface="Montserrat"/>
              </a:rPr>
              <a:t>Full data governance and control</a:t>
            </a:r>
          </a:p>
        </p:txBody>
      </p:sp>
      <p:sp>
        <p:nvSpPr>
          <p:cNvPr id="65" name="TextBox 65"/>
          <p:cNvSpPr txBox="1"/>
          <p:nvPr/>
        </p:nvSpPr>
        <p:spPr>
          <a:xfrm>
            <a:off x="1108000" y="4920000"/>
            <a:ext cx="4550000" cy="560000"/>
          </a:xfrm>
          <a:prstGeom prst="rect">
            <a:avLst/>
          </a:prstGeom>
          <a:noFill/>
        </p:spPr>
        <p:txBody>
          <a:bodyPr wrap="square" lIns="0" tIns="0" rIns="0" bIns="0" anchor="t"/>
          <a:lstStyle/>
          <a:p>
            <a:pPr algn="l">
              <a:lnSpc>
                <a:spcPct val="105000"/>
              </a:lnSpc>
            </a:pPr>
            <a:r>
              <a:rPr sz="1050" b="0" i="0">
                <a:solidFill>
                  <a:srgbClr val="5A7184"/>
                </a:solidFill>
                <a:latin typeface="Montserrat"/>
              </a:rPr>
              <a:t>Your existing roles, policies, and security stay in force.</a:t>
            </a:r>
          </a:p>
        </p:txBody>
      </p:sp>
      <p:sp>
        <p:nvSpPr>
          <p:cNvPr id="66" name="Oval 66"/>
          <p:cNvSpPr/>
          <p:nvPr/>
        </p:nvSpPr>
        <p:spPr>
          <a:xfrm>
            <a:off x="828000" y="5560000"/>
            <a:ext cx="130000" cy="130000"/>
          </a:xfrm>
          <a:prstGeom prst="ellipse">
            <a:avLst/>
          </a:prstGeom>
          <a:solidFill>
            <a:srgbClr val="00EDED"/>
          </a:solidFill>
          <a:ln>
            <a:noFill/>
          </a:ln>
          <a:effectLst/>
        </p:spPr>
        <p:txBody>
          <a:bodyPr rtlCol="0" anchor="ctr"/>
          <a:lstStyle/>
          <a:p>
            <a:pPr algn="ctr"/>
            <a:endParaRPr/>
          </a:p>
        </p:txBody>
      </p:sp>
      <p:sp>
        <p:nvSpPr>
          <p:cNvPr id="67" name="TextBox 67"/>
          <p:cNvSpPr txBox="1"/>
          <p:nvPr/>
        </p:nvSpPr>
        <p:spPr>
          <a:xfrm>
            <a:off x="1108000" y="5500000"/>
            <a:ext cx="4550000" cy="300000"/>
          </a:xfrm>
          <a:prstGeom prst="rect">
            <a:avLst/>
          </a:prstGeom>
          <a:noFill/>
        </p:spPr>
        <p:txBody>
          <a:bodyPr wrap="square" lIns="0" tIns="0" rIns="0" bIns="0" anchor="t"/>
          <a:lstStyle/>
          <a:p>
            <a:pPr algn="l">
              <a:lnSpc>
                <a:spcPct val="100000"/>
              </a:lnSpc>
            </a:pPr>
            <a:r>
              <a:rPr sz="1200" b="1" i="0">
                <a:solidFill>
                  <a:srgbClr val="053057"/>
                </a:solidFill>
                <a:latin typeface="Montserrat"/>
              </a:rPr>
              <a:t>You own the code</a:t>
            </a:r>
          </a:p>
        </p:txBody>
      </p:sp>
      <p:sp>
        <p:nvSpPr>
          <p:cNvPr id="68" name="TextBox 68"/>
          <p:cNvSpPr txBox="1"/>
          <p:nvPr/>
        </p:nvSpPr>
        <p:spPr>
          <a:xfrm>
            <a:off x="1108000" y="5820000"/>
            <a:ext cx="4550000" cy="560000"/>
          </a:xfrm>
          <a:prstGeom prst="rect">
            <a:avLst/>
          </a:prstGeom>
          <a:noFill/>
        </p:spPr>
        <p:txBody>
          <a:bodyPr wrap="square" lIns="0" tIns="0" rIns="0" bIns="0" anchor="t"/>
          <a:lstStyle/>
          <a:p>
            <a:pPr algn="l">
              <a:lnSpc>
                <a:spcPct val="105000"/>
              </a:lnSpc>
            </a:pPr>
            <a:r>
              <a:rPr sz="1050" b="0" i="0">
                <a:solidFill>
                  <a:srgbClr val="5A7184"/>
                </a:solidFill>
                <a:latin typeface="Montserrat"/>
              </a:rPr>
              <a:t>We build the architecture; the deployed assets are yours.</a:t>
            </a:r>
          </a:p>
        </p:txBody>
      </p:sp>
      <p:sp>
        <p:nvSpPr>
          <p:cNvPr id="69" name="Oval 69"/>
          <p:cNvSpPr/>
          <p:nvPr/>
        </p:nvSpPr>
        <p:spPr>
          <a:xfrm>
            <a:off x="6188000" y="3760000"/>
            <a:ext cx="130000" cy="130000"/>
          </a:xfrm>
          <a:prstGeom prst="ellipse">
            <a:avLst/>
          </a:prstGeom>
          <a:solidFill>
            <a:srgbClr val="00EDED"/>
          </a:solidFill>
          <a:ln>
            <a:noFill/>
          </a:ln>
          <a:effectLst/>
        </p:spPr>
        <p:txBody>
          <a:bodyPr rtlCol="0" anchor="ctr"/>
          <a:lstStyle/>
          <a:p>
            <a:pPr algn="ctr"/>
            <a:endParaRPr/>
          </a:p>
        </p:txBody>
      </p:sp>
      <p:sp>
        <p:nvSpPr>
          <p:cNvPr id="70" name="TextBox 70"/>
          <p:cNvSpPr txBox="1"/>
          <p:nvPr/>
        </p:nvSpPr>
        <p:spPr>
          <a:xfrm>
            <a:off x="6468000" y="3700000"/>
            <a:ext cx="4650000" cy="300000"/>
          </a:xfrm>
          <a:prstGeom prst="rect">
            <a:avLst/>
          </a:prstGeom>
          <a:noFill/>
        </p:spPr>
        <p:txBody>
          <a:bodyPr wrap="square" lIns="0" tIns="0" rIns="0" bIns="0" anchor="t"/>
          <a:lstStyle/>
          <a:p>
            <a:pPr algn="l">
              <a:lnSpc>
                <a:spcPct val="100000"/>
              </a:lnSpc>
            </a:pPr>
            <a:r>
              <a:rPr sz="1200" b="1" i="0">
                <a:solidFill>
                  <a:srgbClr val="053057"/>
                </a:solidFill>
                <a:latin typeface="Montserrat"/>
              </a:rPr>
              <a:t>Powered by Cortex AI</a:t>
            </a:r>
          </a:p>
        </p:txBody>
      </p:sp>
      <p:sp>
        <p:nvSpPr>
          <p:cNvPr id="71" name="TextBox 71"/>
          <p:cNvSpPr txBox="1"/>
          <p:nvPr/>
        </p:nvSpPr>
        <p:spPr>
          <a:xfrm>
            <a:off x="6468000" y="4020000"/>
            <a:ext cx="4650000" cy="560000"/>
          </a:xfrm>
          <a:prstGeom prst="rect">
            <a:avLst/>
          </a:prstGeom>
          <a:noFill/>
        </p:spPr>
        <p:txBody>
          <a:bodyPr wrap="square" lIns="0" tIns="0" rIns="0" bIns="0" anchor="t"/>
          <a:lstStyle/>
          <a:p>
            <a:pPr algn="l">
              <a:lnSpc>
                <a:spcPct val="105000"/>
              </a:lnSpc>
            </a:pPr>
            <a:r>
              <a:rPr sz="1050" b="0" i="0">
                <a:solidFill>
                  <a:srgbClr val="5A7184"/>
                </a:solidFill>
                <a:latin typeface="Montserrat"/>
              </a:rPr>
              <a:t>Native LLM functions handle mapping, DAX, and validation.</a:t>
            </a:r>
          </a:p>
        </p:txBody>
      </p:sp>
      <p:sp>
        <p:nvSpPr>
          <p:cNvPr id="72" name="Oval 72"/>
          <p:cNvSpPr/>
          <p:nvPr/>
        </p:nvSpPr>
        <p:spPr>
          <a:xfrm>
            <a:off x="6188000" y="4660000"/>
            <a:ext cx="130000" cy="130000"/>
          </a:xfrm>
          <a:prstGeom prst="ellipse">
            <a:avLst/>
          </a:prstGeom>
          <a:solidFill>
            <a:srgbClr val="00EDED"/>
          </a:solidFill>
          <a:ln>
            <a:noFill/>
          </a:ln>
          <a:effectLst/>
        </p:spPr>
        <p:txBody>
          <a:bodyPr rtlCol="0" anchor="ctr"/>
          <a:lstStyle/>
          <a:p>
            <a:pPr algn="ctr"/>
            <a:endParaRPr/>
          </a:p>
        </p:txBody>
      </p:sp>
      <p:sp>
        <p:nvSpPr>
          <p:cNvPr id="73" name="TextBox 73"/>
          <p:cNvSpPr txBox="1"/>
          <p:nvPr/>
        </p:nvSpPr>
        <p:spPr>
          <a:xfrm>
            <a:off x="6468000" y="4600000"/>
            <a:ext cx="4650000" cy="300000"/>
          </a:xfrm>
          <a:prstGeom prst="rect">
            <a:avLst/>
          </a:prstGeom>
          <a:noFill/>
        </p:spPr>
        <p:txBody>
          <a:bodyPr wrap="square" lIns="0" tIns="0" rIns="0" bIns="0" anchor="t"/>
          <a:lstStyle/>
          <a:p>
            <a:pPr algn="l">
              <a:lnSpc>
                <a:spcPct val="100000"/>
              </a:lnSpc>
            </a:pPr>
            <a:r>
              <a:rPr sz="1200" b="1" i="0">
                <a:solidFill>
                  <a:srgbClr val="053057"/>
                </a:solidFill>
                <a:latin typeface="Montserrat"/>
              </a:rPr>
              <a:t>No data movement</a:t>
            </a:r>
          </a:p>
        </p:txBody>
      </p:sp>
      <p:sp>
        <p:nvSpPr>
          <p:cNvPr id="74" name="TextBox 74"/>
          <p:cNvSpPr txBox="1"/>
          <p:nvPr/>
        </p:nvSpPr>
        <p:spPr>
          <a:xfrm>
            <a:off x="6468000" y="4920000"/>
            <a:ext cx="4650000" cy="560000"/>
          </a:xfrm>
          <a:prstGeom prst="rect">
            <a:avLst/>
          </a:prstGeom>
          <a:noFill/>
        </p:spPr>
        <p:txBody>
          <a:bodyPr wrap="square" lIns="0" tIns="0" rIns="0" bIns="0" anchor="t"/>
          <a:lstStyle/>
          <a:p>
            <a:pPr algn="l">
              <a:lnSpc>
                <a:spcPct val="105000"/>
              </a:lnSpc>
            </a:pPr>
            <a:r>
              <a:rPr sz="1050" b="0" i="0">
                <a:solidFill>
                  <a:srgbClr val="5A7184"/>
                </a:solidFill>
                <a:latin typeface="Montserrat"/>
              </a:rPr>
              <a:t>Dashboards and models are rebuilt in place, with zero </a:t>
            </a:r>
            <a:r>
              <a:rPr lang="en-IN" sz="1050" b="0" i="0">
                <a:solidFill>
                  <a:srgbClr val="5A7184"/>
                </a:solidFill>
                <a:latin typeface="Montserrat"/>
              </a:rPr>
              <a:t>data </a:t>
            </a:r>
            <a:r>
              <a:rPr sz="1050" b="0" i="0">
                <a:solidFill>
                  <a:srgbClr val="5A7184"/>
                </a:solidFill>
                <a:latin typeface="Montserrat"/>
              </a:rPr>
              <a:t>extraction.</a:t>
            </a:r>
          </a:p>
        </p:txBody>
      </p:sp>
      <p:sp>
        <p:nvSpPr>
          <p:cNvPr id="75" name="Oval 75"/>
          <p:cNvSpPr/>
          <p:nvPr/>
        </p:nvSpPr>
        <p:spPr>
          <a:xfrm>
            <a:off x="6188000" y="5560000"/>
            <a:ext cx="130000" cy="130000"/>
          </a:xfrm>
          <a:prstGeom prst="ellipse">
            <a:avLst/>
          </a:prstGeom>
          <a:solidFill>
            <a:srgbClr val="00EDED"/>
          </a:solidFill>
          <a:ln>
            <a:noFill/>
          </a:ln>
          <a:effectLst/>
        </p:spPr>
        <p:txBody>
          <a:bodyPr rtlCol="0" anchor="ctr"/>
          <a:lstStyle/>
          <a:p>
            <a:pPr algn="ctr"/>
            <a:endParaRPr/>
          </a:p>
        </p:txBody>
      </p:sp>
      <p:sp>
        <p:nvSpPr>
          <p:cNvPr id="76" name="TextBox 76"/>
          <p:cNvSpPr txBox="1"/>
          <p:nvPr/>
        </p:nvSpPr>
        <p:spPr>
          <a:xfrm>
            <a:off x="6468000" y="5500000"/>
            <a:ext cx="4650000" cy="300000"/>
          </a:xfrm>
          <a:prstGeom prst="rect">
            <a:avLst/>
          </a:prstGeom>
          <a:noFill/>
        </p:spPr>
        <p:txBody>
          <a:bodyPr wrap="square" lIns="0" tIns="0" rIns="0" bIns="0" anchor="t"/>
          <a:lstStyle/>
          <a:p>
            <a:pPr algn="l">
              <a:lnSpc>
                <a:spcPct val="100000"/>
              </a:lnSpc>
            </a:pPr>
            <a:r>
              <a:rPr sz="1200" b="1" i="0">
                <a:solidFill>
                  <a:srgbClr val="053057"/>
                </a:solidFill>
                <a:latin typeface="Montserrat"/>
              </a:rPr>
              <a:t>Enterprise-ready scale</a:t>
            </a:r>
          </a:p>
        </p:txBody>
      </p:sp>
      <p:sp>
        <p:nvSpPr>
          <p:cNvPr id="77" name="TextBox 77"/>
          <p:cNvSpPr txBox="1"/>
          <p:nvPr/>
        </p:nvSpPr>
        <p:spPr>
          <a:xfrm>
            <a:off x="6468000" y="5820000"/>
            <a:ext cx="4650000" cy="560000"/>
          </a:xfrm>
          <a:prstGeom prst="rect">
            <a:avLst/>
          </a:prstGeom>
          <a:noFill/>
        </p:spPr>
        <p:txBody>
          <a:bodyPr wrap="square" lIns="0" tIns="0" rIns="0" bIns="0" anchor="t"/>
          <a:lstStyle/>
          <a:p>
            <a:pPr algn="l">
              <a:lnSpc>
                <a:spcPct val="105000"/>
              </a:lnSpc>
            </a:pPr>
            <a:r>
              <a:rPr sz="1050" b="0" i="0">
                <a:solidFill>
                  <a:srgbClr val="5A7184"/>
                </a:solidFill>
                <a:latin typeface="Montserrat"/>
              </a:rPr>
              <a:t>Runs on Snowflake compute and scales elastically with demand.</a:t>
            </a:r>
          </a:p>
        </p:txBody>
      </p:sp>
    </p:spTree>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1931</Words>
  <Application>Microsoft Office PowerPoint</Application>
  <PresentationFormat>Widescreen</PresentationFormat>
  <Paragraphs>194</Paragraphs>
  <Slides>12</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 Kammari</cp:lastModifiedBy>
  <cp:revision>3</cp:revision>
  <dcterms:created xsi:type="dcterms:W3CDTF">2026-07-23T09:38:57Z</dcterms:created>
  <dcterms:modified xsi:type="dcterms:W3CDTF">2026-07-23T12:42:17Z</dcterms:modified>
</cp:coreProperties>
</file>