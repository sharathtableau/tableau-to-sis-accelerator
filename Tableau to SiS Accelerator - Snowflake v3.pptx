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18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close and it is deliberately not a technical scorecard. Left column is recurring spend, right column is capability the customer already pays for. The bar underneath is the sentence for this audience: displaced BI licence spend becomes Snowflake consumption.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from the Snowsight-hosted app so every stage is physically executing on Snowflake compute — nothing local but the browser tab. If anyone questions whether it is real, open Query History alongside and show the Cortex calls and CREATE SEMANTIC VIEW landing live. The prerequisites are deliberately short: the customer already has almost all of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All We Want Is Our Dashboards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Paying a second platform to display data Snowflake already stores and serves</a:t>
            </a:r>
            <a:endParaRPr lang="en-US" sz="1400" dirty="0"/>
          </a:p>
        </p:txBody>
      </p:sp>
      <p:sp>
        <p:nvSpPr>
          <p:cNvPr id="4" name="Text 2"/>
          <p:cNvSpPr/>
          <p:nvPr/>
        </p:nvSpPr>
        <p:spPr>
          <a:xfrm>
            <a:off x="548640" y="1243584"/>
            <a:ext cx="3575304" cy="256032"/>
          </a:xfrm>
          <a:prstGeom prst="rect">
            <a:avLst/>
          </a:prstGeom>
          <a:noFill/>
          <a:ln/>
        </p:spPr>
        <p:txBody>
          <a:bodyPr wrap="square" lIns="0" tIns="0" rIns="0" bIns="0" rtlCol="0" anchor="ctr"/>
          <a:lstStyle/>
          <a:p>
            <a:pPr marL="0" indent="0">
              <a:buNone/>
            </a:pPr>
            <a:r>
              <a:rPr lang="en-US" sz="1100" b="1" kern="0" spc="160" dirty="0">
                <a:solidFill>
                  <a:srgbClr val="6B7C88"/>
                </a:solidFill>
                <a:latin typeface="Montserrat" pitchFamily="34" charset="0"/>
                <a:ea typeface="Montserrat" pitchFamily="34" charset="-122"/>
                <a:cs typeface="Montserrat" pitchFamily="34" charset="-120"/>
              </a:rPr>
              <a:t>THE CHALLENGE</a:t>
            </a:r>
            <a:endParaRPr lang="en-US" sz="1100" dirty="0"/>
          </a:p>
        </p:txBody>
      </p:sp>
      <p:sp>
        <p:nvSpPr>
          <p:cNvPr id="5" name="Text 3"/>
          <p:cNvSpPr/>
          <p:nvPr/>
        </p:nvSpPr>
        <p:spPr>
          <a:xfrm>
            <a:off x="4306824" y="1243584"/>
            <a:ext cx="3575304" cy="256032"/>
          </a:xfrm>
          <a:prstGeom prst="rect">
            <a:avLst/>
          </a:prstGeom>
          <a:noFill/>
          <a:ln/>
        </p:spPr>
        <p:txBody>
          <a:bodyPr wrap="square" lIns="0" tIns="0" rIns="0" bIns="0" rtlCol="0" anchor="ctr"/>
          <a:lstStyle/>
          <a:p>
            <a:pPr marL="0" indent="0">
              <a:buNone/>
            </a:pPr>
            <a:r>
              <a:rPr lang="en-US" sz="1100" b="1" kern="0" spc="160" dirty="0">
                <a:solidFill>
                  <a:srgbClr val="6B7C88"/>
                </a:solidFill>
                <a:latin typeface="Montserrat" pitchFamily="34" charset="0"/>
                <a:ea typeface="Montserrat" pitchFamily="34" charset="-122"/>
                <a:cs typeface="Montserrat" pitchFamily="34" charset="-120"/>
              </a:rPr>
              <a:t>TRADITIONAL SOLUTION</a:t>
            </a:r>
            <a:endParaRPr lang="en-US" sz="1100" dirty="0"/>
          </a:p>
        </p:txBody>
      </p:sp>
      <p:sp>
        <p:nvSpPr>
          <p:cNvPr id="6" name="Text 4"/>
          <p:cNvSpPr/>
          <p:nvPr/>
        </p:nvSpPr>
        <p:spPr>
          <a:xfrm>
            <a:off x="8065008" y="1243584"/>
            <a:ext cx="3575304" cy="256032"/>
          </a:xfrm>
          <a:prstGeom prst="rect">
            <a:avLst/>
          </a:prstGeom>
          <a:noFill/>
          <a:ln/>
        </p:spPr>
        <p:txBody>
          <a:bodyPr wrap="square" lIns="0" tIns="0" rIns="0" bIns="0" rtlCol="0" anchor="ctr"/>
          <a:lstStyle/>
          <a:p>
            <a:pPr marL="0" indent="0">
              <a:buNone/>
            </a:pPr>
            <a:r>
              <a:rPr lang="en-US" sz="1100" b="1" kern="0" spc="160" dirty="0">
                <a:solidFill>
                  <a:srgbClr val="053057"/>
                </a:solidFill>
                <a:latin typeface="Montserrat" pitchFamily="34" charset="0"/>
                <a:ea typeface="Montserrat" pitchFamily="34" charset="-122"/>
                <a:cs typeface="Montserrat" pitchFamily="34" charset="-120"/>
              </a:rPr>
              <a:t>THE ACCELERATOR</a:t>
            </a:r>
            <a:endParaRPr lang="en-US" sz="1100" dirty="0"/>
          </a:p>
        </p:txBody>
      </p:sp>
      <p:sp>
        <p:nvSpPr>
          <p:cNvPr id="7" name="Shape 5"/>
          <p:cNvSpPr/>
          <p:nvPr/>
        </p:nvSpPr>
        <p:spPr>
          <a:xfrm>
            <a:off x="548640" y="1554480"/>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8" name="Text 6"/>
          <p:cNvSpPr/>
          <p:nvPr/>
        </p:nvSpPr>
        <p:spPr>
          <a:xfrm>
            <a:off x="786384" y="1719072"/>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9" name="Text 7"/>
          <p:cNvSpPr/>
          <p:nvPr/>
        </p:nvSpPr>
        <p:spPr>
          <a:xfrm>
            <a:off x="786384" y="2121408"/>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0" name="Shape 8"/>
          <p:cNvSpPr/>
          <p:nvPr/>
        </p:nvSpPr>
        <p:spPr>
          <a:xfrm>
            <a:off x="4306824" y="1554480"/>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11" name="Text 9"/>
          <p:cNvSpPr/>
          <p:nvPr/>
        </p:nvSpPr>
        <p:spPr>
          <a:xfrm>
            <a:off x="4544568" y="1719072"/>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2" name="Text 10"/>
          <p:cNvSpPr/>
          <p:nvPr/>
        </p:nvSpPr>
        <p:spPr>
          <a:xfrm>
            <a:off x="4544568" y="2121408"/>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3" name="Shape 11"/>
          <p:cNvSpPr/>
          <p:nvPr/>
        </p:nvSpPr>
        <p:spPr>
          <a:xfrm>
            <a:off x="8065008" y="1554480"/>
            <a:ext cx="3575304" cy="1316736"/>
          </a:xfrm>
          <a:prstGeom prst="roundRect">
            <a:avLst>
              <a:gd name="adj" fmla="val 5556"/>
            </a:avLst>
          </a:prstGeom>
          <a:solidFill>
            <a:srgbClr val="053057"/>
          </a:solidFill>
          <a:ln w="12700">
            <a:solidFill>
              <a:srgbClr val="053057"/>
            </a:solidFill>
            <a:prstDash val="solid"/>
          </a:ln>
        </p:spPr>
        <p:txBody>
          <a:bodyPr/>
          <a:lstStyle/>
          <a:p>
            <a:endParaRPr lang="en-IN"/>
          </a:p>
        </p:txBody>
      </p:sp>
      <p:sp>
        <p:nvSpPr>
          <p:cNvPr id="14" name="Shape 12"/>
          <p:cNvSpPr/>
          <p:nvPr/>
        </p:nvSpPr>
        <p:spPr>
          <a:xfrm>
            <a:off x="8302752" y="1773936"/>
            <a:ext cx="237744" cy="237744"/>
          </a:xfrm>
          <a:prstGeom prst="ellipse">
            <a:avLst/>
          </a:prstGeom>
          <a:solidFill>
            <a:srgbClr val="00EDED"/>
          </a:solidFill>
          <a:ln/>
        </p:spPr>
        <p:txBody>
          <a:bodyPr/>
          <a:lstStyle/>
          <a:p>
            <a:endParaRPr lang="en-IN"/>
          </a:p>
        </p:txBody>
      </p:sp>
      <p:sp>
        <p:nvSpPr>
          <p:cNvPr id="15" name="Text 13"/>
          <p:cNvSpPr/>
          <p:nvPr/>
        </p:nvSpPr>
        <p:spPr>
          <a:xfrm>
            <a:off x="8631936" y="1719072"/>
            <a:ext cx="2770632" cy="347472"/>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6" name="Text 14"/>
          <p:cNvSpPr/>
          <p:nvPr/>
        </p:nvSpPr>
        <p:spPr>
          <a:xfrm>
            <a:off x="8302752" y="2121408"/>
            <a:ext cx="3099816" cy="65836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7" name="Shape 15"/>
          <p:cNvSpPr/>
          <p:nvPr/>
        </p:nvSpPr>
        <p:spPr>
          <a:xfrm>
            <a:off x="548640" y="2990088"/>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18" name="Text 16"/>
          <p:cNvSpPr/>
          <p:nvPr/>
        </p:nvSpPr>
        <p:spPr>
          <a:xfrm>
            <a:off x="786384" y="3154680"/>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19" name="Text 17"/>
          <p:cNvSpPr/>
          <p:nvPr/>
        </p:nvSpPr>
        <p:spPr>
          <a:xfrm>
            <a:off x="786384" y="3557016"/>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0" name="Shape 18"/>
          <p:cNvSpPr/>
          <p:nvPr/>
        </p:nvSpPr>
        <p:spPr>
          <a:xfrm>
            <a:off x="4306824" y="2990088"/>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21" name="Text 19"/>
          <p:cNvSpPr/>
          <p:nvPr/>
        </p:nvSpPr>
        <p:spPr>
          <a:xfrm>
            <a:off x="4544568" y="3154680"/>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2" name="Text 20"/>
          <p:cNvSpPr/>
          <p:nvPr/>
        </p:nvSpPr>
        <p:spPr>
          <a:xfrm>
            <a:off x="4544568" y="3557016"/>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3" name="Shape 21"/>
          <p:cNvSpPr/>
          <p:nvPr/>
        </p:nvSpPr>
        <p:spPr>
          <a:xfrm>
            <a:off x="8065008" y="2990088"/>
            <a:ext cx="3575304" cy="1316736"/>
          </a:xfrm>
          <a:prstGeom prst="roundRect">
            <a:avLst>
              <a:gd name="adj" fmla="val 5556"/>
            </a:avLst>
          </a:prstGeom>
          <a:solidFill>
            <a:srgbClr val="053057"/>
          </a:solidFill>
          <a:ln w="12700">
            <a:solidFill>
              <a:srgbClr val="053057"/>
            </a:solidFill>
            <a:prstDash val="solid"/>
          </a:ln>
        </p:spPr>
        <p:txBody>
          <a:bodyPr/>
          <a:lstStyle/>
          <a:p>
            <a:endParaRPr lang="en-IN"/>
          </a:p>
        </p:txBody>
      </p:sp>
      <p:sp>
        <p:nvSpPr>
          <p:cNvPr id="24" name="Shape 22"/>
          <p:cNvSpPr/>
          <p:nvPr/>
        </p:nvSpPr>
        <p:spPr>
          <a:xfrm>
            <a:off x="8302752" y="3209544"/>
            <a:ext cx="237744" cy="237744"/>
          </a:xfrm>
          <a:prstGeom prst="ellipse">
            <a:avLst/>
          </a:prstGeom>
          <a:solidFill>
            <a:srgbClr val="00EDED"/>
          </a:solidFill>
          <a:ln/>
        </p:spPr>
        <p:txBody>
          <a:bodyPr/>
          <a:lstStyle/>
          <a:p>
            <a:endParaRPr lang="en-IN"/>
          </a:p>
        </p:txBody>
      </p:sp>
      <p:sp>
        <p:nvSpPr>
          <p:cNvPr id="25" name="Text 23"/>
          <p:cNvSpPr/>
          <p:nvPr/>
        </p:nvSpPr>
        <p:spPr>
          <a:xfrm>
            <a:off x="8631936" y="3154680"/>
            <a:ext cx="2770632" cy="347472"/>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6" name="Text 24"/>
          <p:cNvSpPr/>
          <p:nvPr/>
        </p:nvSpPr>
        <p:spPr>
          <a:xfrm>
            <a:off x="8302752" y="3557016"/>
            <a:ext cx="3099816" cy="65836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7" name="Shape 25"/>
          <p:cNvSpPr/>
          <p:nvPr/>
        </p:nvSpPr>
        <p:spPr>
          <a:xfrm>
            <a:off x="548640" y="4425696"/>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28" name="Text 26"/>
          <p:cNvSpPr/>
          <p:nvPr/>
        </p:nvSpPr>
        <p:spPr>
          <a:xfrm>
            <a:off x="786384" y="4590288"/>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29" name="Text 27"/>
          <p:cNvSpPr/>
          <p:nvPr/>
        </p:nvSpPr>
        <p:spPr>
          <a:xfrm>
            <a:off x="786384" y="4992624"/>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0" name="Shape 28"/>
          <p:cNvSpPr/>
          <p:nvPr/>
        </p:nvSpPr>
        <p:spPr>
          <a:xfrm>
            <a:off x="4306824" y="4425696"/>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31" name="Text 29"/>
          <p:cNvSpPr/>
          <p:nvPr/>
        </p:nvSpPr>
        <p:spPr>
          <a:xfrm>
            <a:off x="4544568" y="4590288"/>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2" name="Text 30"/>
          <p:cNvSpPr/>
          <p:nvPr/>
        </p:nvSpPr>
        <p:spPr>
          <a:xfrm>
            <a:off x="4544568" y="4992624"/>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3" name="Shape 31"/>
          <p:cNvSpPr/>
          <p:nvPr/>
        </p:nvSpPr>
        <p:spPr>
          <a:xfrm>
            <a:off x="8065008" y="4425696"/>
            <a:ext cx="3575304" cy="1316736"/>
          </a:xfrm>
          <a:prstGeom prst="roundRect">
            <a:avLst>
              <a:gd name="adj" fmla="val 5556"/>
            </a:avLst>
          </a:prstGeom>
          <a:solidFill>
            <a:srgbClr val="053057"/>
          </a:solidFill>
          <a:ln w="12700">
            <a:solidFill>
              <a:srgbClr val="053057"/>
            </a:solidFill>
            <a:prstDash val="solid"/>
          </a:ln>
        </p:spPr>
        <p:txBody>
          <a:bodyPr/>
          <a:lstStyle/>
          <a:p>
            <a:endParaRPr lang="en-IN"/>
          </a:p>
        </p:txBody>
      </p:sp>
      <p:sp>
        <p:nvSpPr>
          <p:cNvPr id="34" name="Shape 32"/>
          <p:cNvSpPr/>
          <p:nvPr/>
        </p:nvSpPr>
        <p:spPr>
          <a:xfrm>
            <a:off x="8302752" y="4645152"/>
            <a:ext cx="237744" cy="237744"/>
          </a:xfrm>
          <a:prstGeom prst="ellipse">
            <a:avLst/>
          </a:prstGeom>
          <a:solidFill>
            <a:srgbClr val="00EDED"/>
          </a:solidFill>
          <a:ln/>
        </p:spPr>
        <p:txBody>
          <a:bodyPr/>
          <a:lstStyle/>
          <a:p>
            <a:endParaRPr lang="en-IN"/>
          </a:p>
        </p:txBody>
      </p:sp>
      <p:sp>
        <p:nvSpPr>
          <p:cNvPr id="35" name="Text 33"/>
          <p:cNvSpPr/>
          <p:nvPr/>
        </p:nvSpPr>
        <p:spPr>
          <a:xfrm>
            <a:off x="8631936" y="4590288"/>
            <a:ext cx="2770632" cy="347472"/>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6" name="Text 34"/>
          <p:cNvSpPr/>
          <p:nvPr/>
        </p:nvSpPr>
        <p:spPr>
          <a:xfrm>
            <a:off x="8302752" y="4992624"/>
            <a:ext cx="3099816" cy="65836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7" name="Shape 35"/>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txBody>
          <a:bodyPr/>
          <a:lstStyle/>
          <a:p>
            <a:endParaRPr lang="en-IN"/>
          </a:p>
        </p:txBody>
      </p:sp>
      <p:sp>
        <p:nvSpPr>
          <p:cNvPr id="38" name="Text 36"/>
          <p:cNvSpPr/>
          <p:nvPr/>
        </p:nvSpPr>
        <p:spPr>
          <a:xfrm>
            <a:off x="841248" y="5980176"/>
            <a:ext cx="10515600" cy="530352"/>
          </a:xfrm>
          <a:prstGeom prst="rect">
            <a:avLst/>
          </a:prstGeom>
          <a:noFill/>
          <a:ln/>
        </p:spPr>
        <p:txBody>
          <a:bodyPr wrap="square" lIns="0" tIns="0" rIns="0" bIns="0" rtlCol="0" anchor="ctr"/>
          <a:lstStyle/>
          <a:p>
            <a:pPr marL="0" indent="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5" name="Text 3"/>
          <p:cNvSpPr/>
          <p:nvPr/>
        </p:nvSpPr>
        <p:spPr>
          <a:xfrm>
            <a:off x="731520" y="1371600"/>
            <a:ext cx="1737360" cy="219456"/>
          </a:xfrm>
          <a:prstGeom prst="rect">
            <a:avLst/>
          </a:prstGeom>
          <a:noFill/>
          <a:ln/>
        </p:spPr>
        <p:txBody>
          <a:bodyPr wrap="square" lIns="0" tIns="0" rIns="0" bIns="0" rtlCol="0" anchor="ctr"/>
          <a:lstStyle/>
          <a:p>
            <a:pPr marL="0" indent="0">
              <a:buNone/>
            </a:pPr>
            <a:r>
              <a:rPr lang="en-US" sz="900" b="1" kern="0" spc="10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9" name="Text 7"/>
          <p:cNvSpPr/>
          <p:nvPr/>
        </p:nvSpPr>
        <p:spPr>
          <a:xfrm>
            <a:off x="2999232" y="1371600"/>
            <a:ext cx="1737360" cy="219456"/>
          </a:xfrm>
          <a:prstGeom prst="rect">
            <a:avLst/>
          </a:prstGeom>
          <a:noFill/>
          <a:ln/>
        </p:spPr>
        <p:txBody>
          <a:bodyPr wrap="square" lIns="0" tIns="0" rIns="0" bIns="0" rtlCol="0" anchor="ctr"/>
          <a:lstStyle/>
          <a:p>
            <a:pPr marL="0" indent="0">
              <a:buNone/>
            </a:pPr>
            <a:r>
              <a:rPr lang="en-US" sz="900" b="1" kern="0" spc="10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3" name="Text 11"/>
          <p:cNvSpPr/>
          <p:nvPr/>
        </p:nvSpPr>
        <p:spPr>
          <a:xfrm>
            <a:off x="5266944"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7" name="Text 15"/>
          <p:cNvSpPr/>
          <p:nvPr/>
        </p:nvSpPr>
        <p:spPr>
          <a:xfrm>
            <a:off x="7534656"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21" name="Text 19"/>
          <p:cNvSpPr/>
          <p:nvPr/>
        </p:nvSpPr>
        <p:spPr>
          <a:xfrm>
            <a:off x="9802368"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25" name="Text 23"/>
          <p:cNvSpPr/>
          <p:nvPr/>
        </p:nvSpPr>
        <p:spPr>
          <a:xfrm>
            <a:off x="548640" y="3401568"/>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27" name="Text 25"/>
          <p:cNvSpPr/>
          <p:nvPr/>
        </p:nvSpPr>
        <p:spPr>
          <a:xfrm>
            <a:off x="841248" y="4151376"/>
            <a:ext cx="4846320" cy="256032"/>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marL="0" indent="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30" name="Text 28"/>
          <p:cNvSpPr/>
          <p:nvPr/>
        </p:nvSpPr>
        <p:spPr>
          <a:xfrm>
            <a:off x="6501384" y="4151376"/>
            <a:ext cx="4846320" cy="256032"/>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marL="0" indent="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marL="0" indent="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5" name="Shape 3"/>
          <p:cNvSpPr/>
          <p:nvPr/>
        </p:nvSpPr>
        <p:spPr>
          <a:xfrm>
            <a:off x="768096" y="1536192"/>
            <a:ext cx="402336" cy="402336"/>
          </a:xfrm>
          <a:prstGeom prst="ellipse">
            <a:avLst/>
          </a:prstGeom>
          <a:solidFill>
            <a:srgbClr val="00EDED"/>
          </a:solidFill>
          <a:ln/>
        </p:spPr>
        <p:txBody>
          <a:bodyPr/>
          <a:lstStyle/>
          <a:p>
            <a:endParaRPr lang="en-IN"/>
          </a:p>
        </p:txBody>
      </p:sp>
      <p:sp>
        <p:nvSpPr>
          <p:cNvPr id="6" name="Text 4"/>
          <p:cNvSpPr/>
          <p:nvPr/>
        </p:nvSpPr>
        <p:spPr>
          <a:xfrm>
            <a:off x="768096"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0" name="Shape 8"/>
          <p:cNvSpPr/>
          <p:nvPr/>
        </p:nvSpPr>
        <p:spPr>
          <a:xfrm>
            <a:off x="3721608" y="1536192"/>
            <a:ext cx="402336" cy="402336"/>
          </a:xfrm>
          <a:prstGeom prst="ellipse">
            <a:avLst/>
          </a:prstGeom>
          <a:solidFill>
            <a:srgbClr val="00EDED"/>
          </a:solidFill>
          <a:ln/>
        </p:spPr>
        <p:txBody>
          <a:bodyPr/>
          <a:lstStyle/>
          <a:p>
            <a:endParaRPr lang="en-IN"/>
          </a:p>
        </p:txBody>
      </p:sp>
      <p:sp>
        <p:nvSpPr>
          <p:cNvPr id="11" name="Text 9"/>
          <p:cNvSpPr/>
          <p:nvPr/>
        </p:nvSpPr>
        <p:spPr>
          <a:xfrm>
            <a:off x="3721608"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5" name="Shape 13"/>
          <p:cNvSpPr/>
          <p:nvPr/>
        </p:nvSpPr>
        <p:spPr>
          <a:xfrm>
            <a:off x="6675120" y="1536192"/>
            <a:ext cx="402336" cy="402336"/>
          </a:xfrm>
          <a:prstGeom prst="ellipse">
            <a:avLst/>
          </a:prstGeom>
          <a:solidFill>
            <a:srgbClr val="00EDED"/>
          </a:solidFill>
          <a:ln/>
        </p:spPr>
        <p:txBody>
          <a:bodyPr/>
          <a:lstStyle/>
          <a:p>
            <a:endParaRPr lang="en-IN"/>
          </a:p>
        </p:txBody>
      </p:sp>
      <p:sp>
        <p:nvSpPr>
          <p:cNvPr id="16" name="Text 14"/>
          <p:cNvSpPr/>
          <p:nvPr/>
        </p:nvSpPr>
        <p:spPr>
          <a:xfrm>
            <a:off x="6675120"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20" name="Shape 18"/>
          <p:cNvSpPr/>
          <p:nvPr/>
        </p:nvSpPr>
        <p:spPr>
          <a:xfrm>
            <a:off x="9628632" y="1536192"/>
            <a:ext cx="402336" cy="402336"/>
          </a:xfrm>
          <a:prstGeom prst="ellipse">
            <a:avLst/>
          </a:prstGeom>
          <a:solidFill>
            <a:srgbClr val="00EDED"/>
          </a:solidFill>
          <a:ln/>
        </p:spPr>
        <p:txBody>
          <a:bodyPr/>
          <a:lstStyle/>
          <a:p>
            <a:endParaRPr lang="en-IN"/>
          </a:p>
        </p:txBody>
      </p:sp>
      <p:sp>
        <p:nvSpPr>
          <p:cNvPr id="21" name="Text 19"/>
          <p:cNvSpPr/>
          <p:nvPr/>
        </p:nvSpPr>
        <p:spPr>
          <a:xfrm>
            <a:off x="9628632"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26" name="Text 24"/>
          <p:cNvSpPr/>
          <p:nvPr/>
        </p:nvSpPr>
        <p:spPr>
          <a:xfrm>
            <a:off x="786384" y="4443984"/>
            <a:ext cx="3099816" cy="237744"/>
          </a:xfrm>
          <a:prstGeom prst="rect">
            <a:avLst/>
          </a:prstGeom>
          <a:noFill/>
          <a:ln/>
        </p:spPr>
        <p:txBody>
          <a:bodyPr wrap="square" lIns="0" tIns="0" rIns="0" bIns="0" rtlCol="0" anchor="ctr"/>
          <a:lstStyle/>
          <a:p>
            <a:pPr marL="0" indent="0">
              <a:buNone/>
            </a:pPr>
            <a:r>
              <a:rPr lang="en-US" sz="900" b="1" kern="0" spc="14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marL="0" indent="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30" name="Text 28"/>
          <p:cNvSpPr/>
          <p:nvPr/>
        </p:nvSpPr>
        <p:spPr>
          <a:xfrm>
            <a:off x="4544568" y="4443984"/>
            <a:ext cx="3099816" cy="237744"/>
          </a:xfrm>
          <a:prstGeom prst="rect">
            <a:avLst/>
          </a:prstGeom>
          <a:noFill/>
          <a:ln/>
        </p:spPr>
        <p:txBody>
          <a:bodyPr wrap="square" lIns="0" tIns="0" rIns="0" bIns="0" rtlCol="0" anchor="ctr"/>
          <a:lstStyle/>
          <a:p>
            <a:pPr marL="0" indent="0">
              <a:buNone/>
            </a:pPr>
            <a:r>
              <a:rPr lang="en-US" sz="900" b="1" kern="0" spc="14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marL="0" indent="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txBody>
          <a:bodyPr/>
          <a:lstStyle/>
          <a:p>
            <a:endParaRPr lang="en-IN"/>
          </a:p>
        </p:txBody>
      </p:sp>
      <p:sp>
        <p:nvSpPr>
          <p:cNvPr id="34" name="Text 32"/>
          <p:cNvSpPr/>
          <p:nvPr/>
        </p:nvSpPr>
        <p:spPr>
          <a:xfrm>
            <a:off x="8302752" y="4443984"/>
            <a:ext cx="3099816" cy="237744"/>
          </a:xfrm>
          <a:prstGeom prst="rect">
            <a:avLst/>
          </a:prstGeom>
          <a:noFill/>
          <a:ln/>
        </p:spPr>
        <p:txBody>
          <a:bodyPr wrap="square" lIns="0" tIns="0" rIns="0" bIns="0" rtlCol="0" anchor="ctr"/>
          <a:lstStyle/>
          <a:p>
            <a:pPr marL="0" indent="0">
              <a:buNone/>
            </a:pPr>
            <a:r>
              <a:rPr lang="en-US" sz="900" b="1" kern="0" spc="14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Impact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The same dashboards, without the second platform underneath them</a:t>
            </a:r>
            <a:endParaRPr lang="en-US" sz="1400" dirty="0"/>
          </a:p>
        </p:txBody>
      </p:sp>
      <p:sp>
        <p:nvSpPr>
          <p:cNvPr id="4" name="Shape 2"/>
          <p:cNvSpPr/>
          <p:nvPr/>
        </p:nvSpPr>
        <p:spPr>
          <a:xfrm>
            <a:off x="548640" y="1298448"/>
            <a:ext cx="5431536" cy="3529584"/>
          </a:xfrm>
          <a:prstGeom prst="roundRect">
            <a:avLst>
              <a:gd name="adj" fmla="val 2073"/>
            </a:avLst>
          </a:prstGeom>
          <a:solidFill>
            <a:srgbClr val="FFFFFF"/>
          </a:solidFill>
          <a:ln w="12700">
            <a:solidFill>
              <a:srgbClr val="DFE3E6"/>
            </a:solidFill>
            <a:prstDash val="solid"/>
          </a:ln>
        </p:spPr>
        <p:txBody>
          <a:bodyPr/>
          <a:lstStyle/>
          <a:p>
            <a:endParaRPr lang="en-IN"/>
          </a:p>
        </p:txBody>
      </p:sp>
      <p:sp>
        <p:nvSpPr>
          <p:cNvPr id="5" name="Text 3"/>
          <p:cNvSpPr/>
          <p:nvPr/>
        </p:nvSpPr>
        <p:spPr>
          <a:xfrm>
            <a:off x="841248" y="1481328"/>
            <a:ext cx="4846320" cy="256032"/>
          </a:xfrm>
          <a:prstGeom prst="rect">
            <a:avLst/>
          </a:prstGeom>
          <a:noFill/>
          <a:ln/>
        </p:spPr>
        <p:txBody>
          <a:bodyPr wrap="square" lIns="0" tIns="0" rIns="0" bIns="0" rtlCol="0" anchor="ctr"/>
          <a:lstStyle/>
          <a:p>
            <a:pPr marL="0" indent="0">
              <a:buNone/>
            </a:pPr>
            <a:r>
              <a:rPr lang="en-US" sz="1100" b="1" kern="0" spc="160" dirty="0">
                <a:solidFill>
                  <a:srgbClr val="6B7C88"/>
                </a:solidFill>
                <a:latin typeface="Montserrat" pitchFamily="34" charset="0"/>
                <a:ea typeface="Montserrat" pitchFamily="34" charset="-122"/>
                <a:cs typeface="Montserrat" pitchFamily="34" charset="-120"/>
              </a:rPr>
              <a:t>TODAY — TABLEAU IN THE STACK</a:t>
            </a:r>
            <a:endParaRPr lang="en-US" sz="1100" dirty="0"/>
          </a:p>
        </p:txBody>
      </p:sp>
      <p:sp>
        <p:nvSpPr>
          <p:cNvPr id="6" name="Text 4"/>
          <p:cNvSpPr/>
          <p:nvPr/>
        </p:nvSpPr>
        <p:spPr>
          <a:xfrm>
            <a:off x="841248" y="1773936"/>
            <a:ext cx="4846320" cy="329184"/>
          </a:xfrm>
          <a:prstGeom prst="rect">
            <a:avLst/>
          </a:prstGeom>
          <a:noFill/>
          <a:ln/>
        </p:spPr>
        <p:txBody>
          <a:bodyPr wrap="square" lIns="0" tIns="0" rIns="0" bIns="0" rtlCol="0" anchor="ctr"/>
          <a:lstStyle/>
          <a:p>
            <a:pPr marL="0" indent="0">
              <a:buNone/>
            </a:pPr>
            <a:r>
              <a:rPr lang="en-US" sz="1700" b="1" dirty="0">
                <a:solidFill>
                  <a:srgbClr val="314550"/>
                </a:solidFill>
                <a:latin typeface="Montserrat" pitchFamily="34" charset="0"/>
                <a:ea typeface="Montserrat" pitchFamily="34" charset="-122"/>
                <a:cs typeface="Montserrat" pitchFamily="34" charset="-120"/>
              </a:rPr>
              <a:t>What you keep paying for</a:t>
            </a:r>
            <a:endParaRPr lang="en-US" sz="1700" dirty="0"/>
          </a:p>
        </p:txBody>
      </p:sp>
      <p:sp>
        <p:nvSpPr>
          <p:cNvPr id="7" name="Shape 5"/>
          <p:cNvSpPr/>
          <p:nvPr/>
        </p:nvSpPr>
        <p:spPr>
          <a:xfrm>
            <a:off x="896112" y="2304288"/>
            <a:ext cx="146304" cy="146304"/>
          </a:xfrm>
          <a:prstGeom prst="ellipse">
            <a:avLst/>
          </a:prstGeom>
          <a:solidFill>
            <a:srgbClr val="C3CBD1"/>
          </a:solidFill>
          <a:ln/>
        </p:spPr>
        <p:txBody>
          <a:bodyPr/>
          <a:lstStyle/>
          <a:p>
            <a:endParaRPr lang="en-IN"/>
          </a:p>
        </p:txBody>
      </p:sp>
      <p:sp>
        <p:nvSpPr>
          <p:cNvPr id="8" name="Text 6"/>
          <p:cNvSpPr/>
          <p:nvPr/>
        </p:nvSpPr>
        <p:spPr>
          <a:xfrm>
            <a:off x="1188720" y="2231136"/>
            <a:ext cx="4517136" cy="402336"/>
          </a:xfrm>
          <a:prstGeom prst="rect">
            <a:avLst/>
          </a:prstGeom>
          <a:noFill/>
          <a:ln/>
        </p:spPr>
        <p:txBody>
          <a:bodyPr wrap="square" lIns="0" tIns="0" rIns="0" bIns="0" rtlCol="0" anchor="ctr"/>
          <a:lstStyle/>
          <a:p>
            <a:pPr marL="0" indent="0">
              <a:buNone/>
            </a:pPr>
            <a:r>
              <a:rPr lang="en-US" sz="1050" dirty="0">
                <a:solidFill>
                  <a:srgbClr val="6B7C88"/>
                </a:solidFill>
                <a:latin typeface="Montserrat" pitchFamily="34" charset="0"/>
                <a:ea typeface="Montserrat" pitchFamily="34" charset="-122"/>
                <a:cs typeface="Montserrat" pitchFamily="34" charset="-120"/>
              </a:rPr>
              <a:t>Creator and viewer licences, renewed every year</a:t>
            </a:r>
            <a:endParaRPr lang="en-US" sz="1050" dirty="0"/>
          </a:p>
        </p:txBody>
      </p:sp>
      <p:sp>
        <p:nvSpPr>
          <p:cNvPr id="9" name="Shape 7"/>
          <p:cNvSpPr/>
          <p:nvPr/>
        </p:nvSpPr>
        <p:spPr>
          <a:xfrm>
            <a:off x="896112" y="2779776"/>
            <a:ext cx="146304" cy="146304"/>
          </a:xfrm>
          <a:prstGeom prst="ellipse">
            <a:avLst/>
          </a:prstGeom>
          <a:solidFill>
            <a:srgbClr val="C3CBD1"/>
          </a:solidFill>
          <a:ln/>
        </p:spPr>
        <p:txBody>
          <a:bodyPr/>
          <a:lstStyle/>
          <a:p>
            <a:endParaRPr lang="en-IN"/>
          </a:p>
        </p:txBody>
      </p:sp>
      <p:sp>
        <p:nvSpPr>
          <p:cNvPr id="10" name="Text 8"/>
          <p:cNvSpPr/>
          <p:nvPr/>
        </p:nvSpPr>
        <p:spPr>
          <a:xfrm>
            <a:off x="1188720" y="2706624"/>
            <a:ext cx="4517136" cy="402336"/>
          </a:xfrm>
          <a:prstGeom prst="rect">
            <a:avLst/>
          </a:prstGeom>
          <a:noFill/>
          <a:ln/>
        </p:spPr>
        <p:txBody>
          <a:bodyPr wrap="square" lIns="0" tIns="0" rIns="0" bIns="0" rtlCol="0" anchor="ctr"/>
          <a:lstStyle/>
          <a:p>
            <a:pPr marL="0" indent="0">
              <a:buNone/>
            </a:pPr>
            <a:r>
              <a:rPr lang="en-US" sz="1050" dirty="0">
                <a:solidFill>
                  <a:srgbClr val="6B7C88"/>
                </a:solidFill>
                <a:latin typeface="Montserrat" pitchFamily="34" charset="0"/>
                <a:ea typeface="Montserrat" pitchFamily="34" charset="-122"/>
                <a:cs typeface="Montserrat" pitchFamily="34" charset="-120"/>
              </a:rPr>
              <a:t>Tableau developers hired or contracted to build and maintain</a:t>
            </a:r>
            <a:endParaRPr lang="en-US" sz="1050" dirty="0"/>
          </a:p>
        </p:txBody>
      </p:sp>
      <p:sp>
        <p:nvSpPr>
          <p:cNvPr id="11" name="Shape 9"/>
          <p:cNvSpPr/>
          <p:nvPr/>
        </p:nvSpPr>
        <p:spPr>
          <a:xfrm>
            <a:off x="896112" y="3255264"/>
            <a:ext cx="146304" cy="146304"/>
          </a:xfrm>
          <a:prstGeom prst="ellipse">
            <a:avLst/>
          </a:prstGeom>
          <a:solidFill>
            <a:srgbClr val="C3CBD1"/>
          </a:solidFill>
          <a:ln/>
        </p:spPr>
        <p:txBody>
          <a:bodyPr/>
          <a:lstStyle/>
          <a:p>
            <a:endParaRPr lang="en-IN"/>
          </a:p>
        </p:txBody>
      </p:sp>
      <p:sp>
        <p:nvSpPr>
          <p:cNvPr id="12" name="Text 10"/>
          <p:cNvSpPr/>
          <p:nvPr/>
        </p:nvSpPr>
        <p:spPr>
          <a:xfrm>
            <a:off x="1188720" y="3182112"/>
            <a:ext cx="4517136" cy="402336"/>
          </a:xfrm>
          <a:prstGeom prst="rect">
            <a:avLst/>
          </a:prstGeom>
          <a:noFill/>
          <a:ln/>
        </p:spPr>
        <p:txBody>
          <a:bodyPr wrap="square" lIns="0" tIns="0" rIns="0" bIns="0" rtlCol="0" anchor="ctr"/>
          <a:lstStyle/>
          <a:p>
            <a:pPr marL="0" indent="0">
              <a:buNone/>
            </a:pPr>
            <a:r>
              <a:rPr lang="en-US" sz="1050" dirty="0">
                <a:solidFill>
                  <a:srgbClr val="6B7C88"/>
                </a:solidFill>
                <a:latin typeface="Montserrat" pitchFamily="34" charset="0"/>
                <a:ea typeface="Montserrat" pitchFamily="34" charset="-122"/>
                <a:cs typeface="Montserrat" pitchFamily="34" charset="-120"/>
              </a:rPr>
              <a:t>A second platform to host, upgrade and support</a:t>
            </a:r>
            <a:endParaRPr lang="en-US" sz="1050" dirty="0"/>
          </a:p>
        </p:txBody>
      </p:sp>
      <p:sp>
        <p:nvSpPr>
          <p:cNvPr id="13" name="Shape 11"/>
          <p:cNvSpPr/>
          <p:nvPr/>
        </p:nvSpPr>
        <p:spPr>
          <a:xfrm>
            <a:off x="896112" y="3730752"/>
            <a:ext cx="146304" cy="146304"/>
          </a:xfrm>
          <a:prstGeom prst="ellipse">
            <a:avLst/>
          </a:prstGeom>
          <a:solidFill>
            <a:srgbClr val="C3CBD1"/>
          </a:solidFill>
          <a:ln/>
        </p:spPr>
        <p:txBody>
          <a:bodyPr/>
          <a:lstStyle/>
          <a:p>
            <a:endParaRPr lang="en-IN"/>
          </a:p>
        </p:txBody>
      </p:sp>
      <p:sp>
        <p:nvSpPr>
          <p:cNvPr id="14" name="Text 12"/>
          <p:cNvSpPr/>
          <p:nvPr/>
        </p:nvSpPr>
        <p:spPr>
          <a:xfrm>
            <a:off x="1188720" y="3657600"/>
            <a:ext cx="4517136" cy="402336"/>
          </a:xfrm>
          <a:prstGeom prst="rect">
            <a:avLst/>
          </a:prstGeom>
          <a:noFill/>
          <a:ln/>
        </p:spPr>
        <p:txBody>
          <a:bodyPr wrap="square" lIns="0" tIns="0" rIns="0" bIns="0" rtlCol="0" anchor="ctr"/>
          <a:lstStyle/>
          <a:p>
            <a:pPr marL="0" indent="0">
              <a:buNone/>
            </a:pPr>
            <a:r>
              <a:rPr lang="en-US" sz="1050" dirty="0">
                <a:solidFill>
                  <a:srgbClr val="6B7C88"/>
                </a:solidFill>
                <a:latin typeface="Montserrat" pitchFamily="34" charset="0"/>
                <a:ea typeface="Montserrat" pitchFamily="34" charset="-122"/>
                <a:cs typeface="Montserrat" pitchFamily="34" charset="-120"/>
              </a:rPr>
              <a:t>Access rules and row-level security rebuilt away from the data</a:t>
            </a:r>
            <a:endParaRPr lang="en-US" sz="1050" dirty="0"/>
          </a:p>
        </p:txBody>
      </p:sp>
      <p:sp>
        <p:nvSpPr>
          <p:cNvPr id="15" name="Shape 13"/>
          <p:cNvSpPr/>
          <p:nvPr/>
        </p:nvSpPr>
        <p:spPr>
          <a:xfrm>
            <a:off x="896112" y="4206240"/>
            <a:ext cx="146304" cy="146304"/>
          </a:xfrm>
          <a:prstGeom prst="ellipse">
            <a:avLst/>
          </a:prstGeom>
          <a:solidFill>
            <a:srgbClr val="C3CBD1"/>
          </a:solidFill>
          <a:ln/>
        </p:spPr>
        <p:txBody>
          <a:bodyPr/>
          <a:lstStyle/>
          <a:p>
            <a:endParaRPr lang="en-IN"/>
          </a:p>
        </p:txBody>
      </p:sp>
      <p:sp>
        <p:nvSpPr>
          <p:cNvPr id="16" name="Text 14"/>
          <p:cNvSpPr/>
          <p:nvPr/>
        </p:nvSpPr>
        <p:spPr>
          <a:xfrm>
            <a:off x="1188720" y="4133088"/>
            <a:ext cx="4517136" cy="402336"/>
          </a:xfrm>
          <a:prstGeom prst="rect">
            <a:avLst/>
          </a:prstGeom>
          <a:noFill/>
          <a:ln/>
        </p:spPr>
        <p:txBody>
          <a:bodyPr wrap="square" lIns="0" tIns="0" rIns="0" bIns="0" rtlCol="0" anchor="ctr"/>
          <a:lstStyle/>
          <a:p>
            <a:pPr marL="0" indent="0">
              <a:buNone/>
            </a:pPr>
            <a:r>
              <a:rPr lang="en-US" sz="1050" dirty="0">
                <a:solidFill>
                  <a:srgbClr val="6B7C88"/>
                </a:solidFill>
                <a:latin typeface="Montserrat" pitchFamily="34" charset="0"/>
                <a:ea typeface="Montserrat" pitchFamily="34" charset="-122"/>
                <a:cs typeface="Montserrat" pitchFamily="34" charset="-120"/>
              </a:rPr>
              <a:t>AI and semantic models only reachable by leaving the platform</a:t>
            </a:r>
            <a:endParaRPr lang="en-US" sz="1050" dirty="0"/>
          </a:p>
        </p:txBody>
      </p:sp>
      <p:sp>
        <p:nvSpPr>
          <p:cNvPr id="17" name="Shape 15"/>
          <p:cNvSpPr/>
          <p:nvPr/>
        </p:nvSpPr>
        <p:spPr>
          <a:xfrm>
            <a:off x="6208776" y="1298448"/>
            <a:ext cx="5431536" cy="3529584"/>
          </a:xfrm>
          <a:prstGeom prst="roundRect">
            <a:avLst>
              <a:gd name="adj" fmla="val 2073"/>
            </a:avLst>
          </a:prstGeom>
          <a:solidFill>
            <a:srgbClr val="053057"/>
          </a:solidFill>
          <a:ln w="12700">
            <a:solidFill>
              <a:srgbClr val="053057"/>
            </a:solidFill>
            <a:prstDash val="solid"/>
          </a:ln>
        </p:spPr>
        <p:txBody>
          <a:bodyPr/>
          <a:lstStyle/>
          <a:p>
            <a:endParaRPr lang="en-IN"/>
          </a:p>
        </p:txBody>
      </p:sp>
      <p:sp>
        <p:nvSpPr>
          <p:cNvPr id="18" name="Text 16"/>
          <p:cNvSpPr/>
          <p:nvPr/>
        </p:nvSpPr>
        <p:spPr>
          <a:xfrm>
            <a:off x="6501384" y="1481328"/>
            <a:ext cx="4846320" cy="256032"/>
          </a:xfrm>
          <a:prstGeom prst="rect">
            <a:avLst/>
          </a:prstGeom>
          <a:noFill/>
          <a:ln/>
        </p:spPr>
        <p:txBody>
          <a:bodyPr wrap="square" lIns="0" tIns="0" rIns="0" bIns="0" rtlCol="0" anchor="ctr"/>
          <a:lstStyle/>
          <a:p>
            <a:pPr marL="0" indent="0">
              <a:buNone/>
            </a:pPr>
            <a:r>
              <a:rPr lang="en-US" sz="1100" b="1" kern="0" spc="160" dirty="0">
                <a:solidFill>
                  <a:srgbClr val="00EDED"/>
                </a:solidFill>
                <a:latin typeface="Montserrat" pitchFamily="34" charset="0"/>
                <a:ea typeface="Montserrat" pitchFamily="34" charset="-122"/>
                <a:cs typeface="Montserrat" pitchFamily="34" charset="-120"/>
              </a:rPr>
              <a:t>AFTER — SNOWFLAKE-NATIVE</a:t>
            </a:r>
            <a:endParaRPr lang="en-US" sz="1100" dirty="0"/>
          </a:p>
        </p:txBody>
      </p:sp>
      <p:sp>
        <p:nvSpPr>
          <p:cNvPr id="19" name="Text 17"/>
          <p:cNvSpPr/>
          <p:nvPr/>
        </p:nvSpPr>
        <p:spPr>
          <a:xfrm>
            <a:off x="6501384" y="1773936"/>
            <a:ext cx="4846320" cy="329184"/>
          </a:xfrm>
          <a:prstGeom prst="rect">
            <a:avLst/>
          </a:prstGeom>
          <a:noFill/>
          <a:ln/>
        </p:spPr>
        <p:txBody>
          <a:bodyPr wrap="square" lIns="0" tIns="0" rIns="0" bIns="0" rtlCol="0" anchor="ctr"/>
          <a:lstStyle/>
          <a:p>
            <a:pPr marL="0" indent="0">
              <a:buNone/>
            </a:pPr>
            <a:r>
              <a:rPr lang="en-US" sz="1700" b="1" dirty="0">
                <a:solidFill>
                  <a:srgbClr val="FFFFFF"/>
                </a:solidFill>
                <a:latin typeface="Montserrat" pitchFamily="34" charset="0"/>
                <a:ea typeface="Montserrat" pitchFamily="34" charset="-122"/>
                <a:cs typeface="Montserrat" pitchFamily="34" charset="-120"/>
              </a:rPr>
              <a:t>What you already own</a:t>
            </a:r>
            <a:endParaRPr lang="en-US" sz="1700" dirty="0"/>
          </a:p>
        </p:txBody>
      </p:sp>
      <p:sp>
        <p:nvSpPr>
          <p:cNvPr id="20" name="Shape 18"/>
          <p:cNvSpPr/>
          <p:nvPr/>
        </p:nvSpPr>
        <p:spPr>
          <a:xfrm>
            <a:off x="6556248" y="2304288"/>
            <a:ext cx="146304" cy="146304"/>
          </a:xfrm>
          <a:prstGeom prst="ellipse">
            <a:avLst/>
          </a:prstGeom>
          <a:solidFill>
            <a:srgbClr val="00EDED"/>
          </a:solidFill>
          <a:ln/>
        </p:spPr>
        <p:txBody>
          <a:bodyPr/>
          <a:lstStyle/>
          <a:p>
            <a:endParaRPr lang="en-IN"/>
          </a:p>
        </p:txBody>
      </p:sp>
      <p:sp>
        <p:nvSpPr>
          <p:cNvPr id="21" name="Text 19"/>
          <p:cNvSpPr/>
          <p:nvPr/>
        </p:nvSpPr>
        <p:spPr>
          <a:xfrm>
            <a:off x="6848856" y="2231136"/>
            <a:ext cx="4517136" cy="402336"/>
          </a:xfrm>
          <a:prstGeom prst="rect">
            <a:avLst/>
          </a:prstGeom>
          <a:noFill/>
          <a:ln/>
        </p:spPr>
        <p:txBody>
          <a:bodyPr wrap="square" lIns="0" tIns="0" rIns="0" bIns="0" rtlCol="0" anchor="ctr"/>
          <a:lstStyle/>
          <a:p>
            <a:pPr marL="0" indent="0">
              <a:buNone/>
            </a:pPr>
            <a:r>
              <a:rPr lang="en-US" sz="1050" dirty="0">
                <a:solidFill>
                  <a:srgbClr val="A2F3F3"/>
                </a:solidFill>
                <a:latin typeface="Montserrat" pitchFamily="34" charset="0"/>
                <a:ea typeface="Montserrat" pitchFamily="34" charset="-122"/>
                <a:cs typeface="Montserrat" pitchFamily="34" charset="-120"/>
              </a:rPr>
              <a:t>No BI licence — Streamlit is already included in Snowflake</a:t>
            </a:r>
            <a:endParaRPr lang="en-US" sz="1050" dirty="0"/>
          </a:p>
        </p:txBody>
      </p:sp>
      <p:sp>
        <p:nvSpPr>
          <p:cNvPr id="22" name="Shape 20"/>
          <p:cNvSpPr/>
          <p:nvPr/>
        </p:nvSpPr>
        <p:spPr>
          <a:xfrm>
            <a:off x="6556248" y="2779776"/>
            <a:ext cx="146304" cy="146304"/>
          </a:xfrm>
          <a:prstGeom prst="ellipse">
            <a:avLst/>
          </a:prstGeom>
          <a:solidFill>
            <a:srgbClr val="00EDED"/>
          </a:solidFill>
          <a:ln/>
        </p:spPr>
        <p:txBody>
          <a:bodyPr/>
          <a:lstStyle/>
          <a:p>
            <a:endParaRPr lang="en-IN"/>
          </a:p>
        </p:txBody>
      </p:sp>
      <p:sp>
        <p:nvSpPr>
          <p:cNvPr id="23" name="Text 21"/>
          <p:cNvSpPr/>
          <p:nvPr/>
        </p:nvSpPr>
        <p:spPr>
          <a:xfrm>
            <a:off x="6848856" y="2706624"/>
            <a:ext cx="4517136" cy="402336"/>
          </a:xfrm>
          <a:prstGeom prst="rect">
            <a:avLst/>
          </a:prstGeom>
          <a:noFill/>
          <a:ln/>
        </p:spPr>
        <p:txBody>
          <a:bodyPr wrap="square" lIns="0" tIns="0" rIns="0" bIns="0" rtlCol="0" anchor="ctr"/>
          <a:lstStyle/>
          <a:p>
            <a:pPr marL="0" indent="0">
              <a:buNone/>
            </a:pPr>
            <a:r>
              <a:rPr lang="en-US" sz="1050" dirty="0">
                <a:solidFill>
                  <a:srgbClr val="A2F3F3"/>
                </a:solidFill>
                <a:latin typeface="Montserrat" pitchFamily="34" charset="0"/>
                <a:ea typeface="Montserrat" pitchFamily="34" charset="-122"/>
                <a:cs typeface="Montserrat" pitchFamily="34" charset="-120"/>
              </a:rPr>
              <a:t>Built and owned by the data engineers already on the platform</a:t>
            </a:r>
            <a:endParaRPr lang="en-US" sz="1050" dirty="0"/>
          </a:p>
        </p:txBody>
      </p:sp>
      <p:sp>
        <p:nvSpPr>
          <p:cNvPr id="24" name="Shape 22"/>
          <p:cNvSpPr/>
          <p:nvPr/>
        </p:nvSpPr>
        <p:spPr>
          <a:xfrm>
            <a:off x="6556248" y="3255264"/>
            <a:ext cx="146304" cy="146304"/>
          </a:xfrm>
          <a:prstGeom prst="ellipse">
            <a:avLst/>
          </a:prstGeom>
          <a:solidFill>
            <a:srgbClr val="00EDED"/>
          </a:solidFill>
          <a:ln/>
        </p:spPr>
        <p:txBody>
          <a:bodyPr/>
          <a:lstStyle/>
          <a:p>
            <a:endParaRPr lang="en-IN"/>
          </a:p>
        </p:txBody>
      </p:sp>
      <p:sp>
        <p:nvSpPr>
          <p:cNvPr id="25" name="Text 23"/>
          <p:cNvSpPr/>
          <p:nvPr/>
        </p:nvSpPr>
        <p:spPr>
          <a:xfrm>
            <a:off x="6848856" y="3182112"/>
            <a:ext cx="4517136" cy="402336"/>
          </a:xfrm>
          <a:prstGeom prst="rect">
            <a:avLst/>
          </a:prstGeom>
          <a:noFill/>
          <a:ln/>
        </p:spPr>
        <p:txBody>
          <a:bodyPr wrap="square" lIns="0" tIns="0" rIns="0" bIns="0" rtlCol="0" anchor="ctr"/>
          <a:lstStyle/>
          <a:p>
            <a:pPr marL="0" indent="0">
              <a:buNone/>
            </a:pPr>
            <a:r>
              <a:rPr lang="en-US" sz="1050" dirty="0">
                <a:solidFill>
                  <a:srgbClr val="A2F3F3"/>
                </a:solidFill>
                <a:latin typeface="Montserrat" pitchFamily="34" charset="0"/>
                <a:ea typeface="Montserrat" pitchFamily="34" charset="-122"/>
                <a:cs typeface="Montserrat" pitchFamily="34" charset="-120"/>
              </a:rPr>
              <a:t>Serverless inside Snowflake, with nothing extra to run</a:t>
            </a:r>
            <a:endParaRPr lang="en-US" sz="1050" dirty="0"/>
          </a:p>
        </p:txBody>
      </p:sp>
      <p:sp>
        <p:nvSpPr>
          <p:cNvPr id="26" name="Shape 24"/>
          <p:cNvSpPr/>
          <p:nvPr/>
        </p:nvSpPr>
        <p:spPr>
          <a:xfrm>
            <a:off x="6556248" y="3730752"/>
            <a:ext cx="146304" cy="146304"/>
          </a:xfrm>
          <a:prstGeom prst="ellipse">
            <a:avLst/>
          </a:prstGeom>
          <a:solidFill>
            <a:srgbClr val="00EDED"/>
          </a:solidFill>
          <a:ln/>
        </p:spPr>
        <p:txBody>
          <a:bodyPr/>
          <a:lstStyle/>
          <a:p>
            <a:endParaRPr lang="en-IN"/>
          </a:p>
        </p:txBody>
      </p:sp>
      <p:sp>
        <p:nvSpPr>
          <p:cNvPr id="27" name="Text 25"/>
          <p:cNvSpPr/>
          <p:nvPr/>
        </p:nvSpPr>
        <p:spPr>
          <a:xfrm>
            <a:off x="6848856" y="3657600"/>
            <a:ext cx="4517136" cy="402336"/>
          </a:xfrm>
          <a:prstGeom prst="rect">
            <a:avLst/>
          </a:prstGeom>
          <a:noFill/>
          <a:ln/>
        </p:spPr>
        <p:txBody>
          <a:bodyPr wrap="square" lIns="0" tIns="0" rIns="0" bIns="0" rtlCol="0" anchor="ctr"/>
          <a:lstStyle/>
          <a:p>
            <a:pPr marL="0" indent="0">
              <a:buNone/>
            </a:pPr>
            <a:r>
              <a:rPr lang="en-US" sz="1050" dirty="0">
                <a:solidFill>
                  <a:srgbClr val="A2F3F3"/>
                </a:solidFill>
                <a:latin typeface="Montserrat" pitchFamily="34" charset="0"/>
                <a:ea typeface="Montserrat" pitchFamily="34" charset="-122"/>
                <a:cs typeface="Montserrat" pitchFamily="34" charset="-120"/>
              </a:rPr>
              <a:t>Governance inherited from the Snowflake roles already managed</a:t>
            </a:r>
            <a:endParaRPr lang="en-US" sz="1050" dirty="0"/>
          </a:p>
        </p:txBody>
      </p:sp>
      <p:sp>
        <p:nvSpPr>
          <p:cNvPr id="28" name="Shape 26"/>
          <p:cNvSpPr/>
          <p:nvPr/>
        </p:nvSpPr>
        <p:spPr>
          <a:xfrm>
            <a:off x="6556248" y="4206240"/>
            <a:ext cx="146304" cy="146304"/>
          </a:xfrm>
          <a:prstGeom prst="ellipse">
            <a:avLst/>
          </a:prstGeom>
          <a:solidFill>
            <a:srgbClr val="00EDED"/>
          </a:solidFill>
          <a:ln/>
        </p:spPr>
        <p:txBody>
          <a:bodyPr/>
          <a:lstStyle/>
          <a:p>
            <a:endParaRPr lang="en-IN"/>
          </a:p>
        </p:txBody>
      </p:sp>
      <p:sp>
        <p:nvSpPr>
          <p:cNvPr id="29" name="Text 27"/>
          <p:cNvSpPr/>
          <p:nvPr/>
        </p:nvSpPr>
        <p:spPr>
          <a:xfrm>
            <a:off x="6848856" y="4133088"/>
            <a:ext cx="4517136" cy="402336"/>
          </a:xfrm>
          <a:prstGeom prst="rect">
            <a:avLst/>
          </a:prstGeom>
          <a:noFill/>
          <a:ln/>
        </p:spPr>
        <p:txBody>
          <a:bodyPr wrap="square" lIns="0" tIns="0" rIns="0" bIns="0" rtlCol="0" anchor="ctr"/>
          <a:lstStyle/>
          <a:p>
            <a:pPr marL="0" indent="0">
              <a:buNone/>
            </a:pPr>
            <a:r>
              <a:rPr lang="en-US" sz="1050" dirty="0">
                <a:solidFill>
                  <a:srgbClr val="A2F3F3"/>
                </a:solidFill>
                <a:latin typeface="Montserrat" pitchFamily="34" charset="0"/>
                <a:ea typeface="Montserrat" pitchFamily="34" charset="-122"/>
                <a:cs typeface="Montserrat" pitchFamily="34" charset="-120"/>
              </a:rPr>
              <a:t>Cortex available in-account, on the same governed data</a:t>
            </a:r>
            <a:endParaRPr lang="en-US" sz="1050" dirty="0"/>
          </a:p>
        </p:txBody>
      </p:sp>
      <p:sp>
        <p:nvSpPr>
          <p:cNvPr id="30" name="Shape 28"/>
          <p:cNvSpPr/>
          <p:nvPr/>
        </p:nvSpPr>
        <p:spPr>
          <a:xfrm>
            <a:off x="548640" y="4992624"/>
            <a:ext cx="11091672" cy="969264"/>
          </a:xfrm>
          <a:prstGeom prst="roundRect">
            <a:avLst>
              <a:gd name="adj" fmla="val 7547"/>
            </a:avLst>
          </a:prstGeom>
          <a:solidFill>
            <a:srgbClr val="053057"/>
          </a:solidFill>
          <a:ln w="15875">
            <a:solidFill>
              <a:srgbClr val="00EDED"/>
            </a:solidFill>
            <a:prstDash val="solid"/>
          </a:ln>
        </p:spPr>
        <p:txBody>
          <a:bodyPr/>
          <a:lstStyle/>
          <a:p>
            <a:endParaRPr lang="en-IN"/>
          </a:p>
        </p:txBody>
      </p:sp>
      <p:sp>
        <p:nvSpPr>
          <p:cNvPr id="31" name="Text 29"/>
          <p:cNvSpPr/>
          <p:nvPr/>
        </p:nvSpPr>
        <p:spPr>
          <a:xfrm>
            <a:off x="841248" y="5138928"/>
            <a:ext cx="10515600" cy="292608"/>
          </a:xfrm>
          <a:prstGeom prst="rect">
            <a:avLst/>
          </a:prstGeom>
          <a:noFill/>
          <a:ln/>
        </p:spPr>
        <p:txBody>
          <a:bodyPr wrap="square" lIns="0" tIns="0" rIns="0" bIns="0" rtlCol="0" anchor="ctr"/>
          <a:lstStyle/>
          <a:p>
            <a:pPr marL="0" indent="0">
              <a:buNone/>
            </a:pPr>
            <a:r>
              <a:rPr lang="en-US" sz="1300" b="1" dirty="0">
                <a:solidFill>
                  <a:srgbClr val="00EDED"/>
                </a:solidFill>
                <a:latin typeface="Montserrat" pitchFamily="34" charset="0"/>
                <a:ea typeface="Montserrat" pitchFamily="34" charset="-122"/>
                <a:cs typeface="Montserrat" pitchFamily="34" charset="-120"/>
              </a:rPr>
              <a:t>Every dashboard that moves converts BI licence spend into Snowflake consumption</a:t>
            </a:r>
            <a:endParaRPr lang="en-US" sz="1300" dirty="0"/>
          </a:p>
        </p:txBody>
      </p:sp>
      <p:sp>
        <p:nvSpPr>
          <p:cNvPr id="32" name="Text 30"/>
          <p:cNvSpPr/>
          <p:nvPr/>
        </p:nvSpPr>
        <p:spPr>
          <a:xfrm>
            <a:off x="841248" y="5468112"/>
            <a:ext cx="10515600" cy="402336"/>
          </a:xfrm>
          <a:prstGeom prst="rect">
            <a:avLst/>
          </a:prstGeom>
          <a:noFill/>
          <a:ln/>
        </p:spPr>
        <p:txBody>
          <a:bodyPr wrap="square" lIns="0" tIns="0" rIns="0" bIns="0" rtlCol="0" anchor="ctr"/>
          <a:lstStyle/>
          <a:p>
            <a:pPr marL="0" indent="0">
              <a:buNone/>
            </a:pPr>
            <a:r>
              <a:rPr lang="en-US" sz="1050" dirty="0">
                <a:solidFill>
                  <a:srgbClr val="D6E6F0"/>
                </a:solidFill>
                <a:latin typeface="Montserrat" pitchFamily="34" charset="0"/>
                <a:ea typeface="Montserrat" pitchFamily="34" charset="-122"/>
                <a:cs typeface="Montserrat" pitchFamily="34" charset="-120"/>
              </a:rPr>
              <a:t>The analytics estate consolidates onto one governed platform: the compute, the storage, the semantic model and the AI all sit with Snowflake, and the recurring cost of the layer above it goes away.</a:t>
            </a:r>
            <a:endParaRPr lang="en-US" sz="1050" dirty="0"/>
          </a:p>
        </p:txBody>
      </p:sp>
      <p:sp>
        <p:nvSpPr>
          <p:cNvPr id="33" name="Shape 31"/>
          <p:cNvSpPr/>
          <p:nvPr/>
        </p:nvSpPr>
        <p:spPr>
          <a:xfrm>
            <a:off x="548640" y="6108192"/>
            <a:ext cx="11091672" cy="420624"/>
          </a:xfrm>
          <a:prstGeom prst="roundRect">
            <a:avLst>
              <a:gd name="adj" fmla="val 13043"/>
            </a:avLst>
          </a:prstGeom>
          <a:solidFill>
            <a:srgbClr val="053057"/>
          </a:solidFill>
          <a:ln w="12700">
            <a:solidFill>
              <a:srgbClr val="053057"/>
            </a:solidFill>
            <a:prstDash val="solid"/>
          </a:ln>
        </p:spPr>
        <p:txBody>
          <a:bodyPr/>
          <a:lstStyle/>
          <a:p>
            <a:endParaRPr lang="en-IN"/>
          </a:p>
        </p:txBody>
      </p:sp>
      <p:sp>
        <p:nvSpPr>
          <p:cNvPr id="34" name="Text 32"/>
          <p:cNvSpPr/>
          <p:nvPr/>
        </p:nvSpPr>
        <p:spPr>
          <a:xfrm>
            <a:off x="548640" y="6108192"/>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a:effectLst/>
      </p:bgPr>
    </p:bg>
    <p:spTree>
      <p:nvGrpSpPr>
        <p:cNvPr id="1" name=""/>
        <p:cNvGrpSpPr/>
        <p:nvPr/>
      </p:nvGrpSpPr>
      <p:grpSpPr>
        <a:xfrm>
          <a:off x="0" y="0"/>
          <a:ext cx="0" cy="0"/>
          <a:chOff x="0" y="0"/>
          <a:chExt cx="0" cy="0"/>
        </a:xfrm>
      </p:grpSpPr>
      <p:sp>
        <p:nvSpPr>
          <p:cNvPr id="2" name="Shape 0"/>
          <p:cNvSpPr/>
          <p:nvPr/>
        </p:nvSpPr>
        <p:spPr>
          <a:xfrm>
            <a:off x="9601200" y="3566160"/>
            <a:ext cx="4023360" cy="4023360"/>
          </a:xfrm>
          <a:prstGeom prst="ellipse">
            <a:avLst/>
          </a:prstGeom>
          <a:solidFill>
            <a:srgbClr val="053057"/>
          </a:solidFill>
          <a:ln w="15875">
            <a:solidFill>
              <a:srgbClr val="17517F"/>
            </a:solidFill>
            <a:prstDash val="solid"/>
          </a:ln>
        </p:spPr>
        <p:txBody>
          <a:bodyPr/>
          <a:lstStyle/>
          <a:p>
            <a:endParaRPr lang="en-IN"/>
          </a:p>
        </p:txBody>
      </p:sp>
      <p:sp>
        <p:nvSpPr>
          <p:cNvPr id="3" name="Text 1"/>
          <p:cNvSpPr/>
          <p:nvPr/>
        </p:nvSpPr>
        <p:spPr>
          <a:xfrm>
            <a:off x="777240" y="822960"/>
            <a:ext cx="5486400" cy="292608"/>
          </a:xfrm>
          <a:prstGeom prst="rect">
            <a:avLst/>
          </a:prstGeom>
          <a:noFill/>
          <a:ln/>
        </p:spPr>
        <p:txBody>
          <a:bodyPr wrap="square" lIns="0" tIns="0" rIns="0" bIns="0" rtlCol="0" anchor="ctr"/>
          <a:lstStyle/>
          <a:p>
            <a:pPr marL="0" indent="0">
              <a:buNone/>
            </a:pPr>
            <a:r>
              <a:rPr lang="en-US" sz="1300" b="1" kern="0" spc="300" dirty="0">
                <a:solidFill>
                  <a:srgbClr val="00EDED"/>
                </a:solidFill>
                <a:latin typeface="Montserrat" pitchFamily="34" charset="0"/>
                <a:ea typeface="Montserrat" pitchFamily="34" charset="-122"/>
                <a:cs typeface="Montserrat" pitchFamily="34" charset="-120"/>
              </a:rPr>
              <a:t>DEMO</a:t>
            </a:r>
            <a:endParaRPr lang="en-US" sz="1300" dirty="0"/>
          </a:p>
        </p:txBody>
      </p:sp>
      <p:sp>
        <p:nvSpPr>
          <p:cNvPr id="4" name="Text 2"/>
          <p:cNvSpPr/>
          <p:nvPr/>
        </p:nvSpPr>
        <p:spPr>
          <a:xfrm>
            <a:off x="777240" y="1188720"/>
            <a:ext cx="8595360" cy="694944"/>
          </a:xfrm>
          <a:prstGeom prst="rect">
            <a:avLst/>
          </a:prstGeom>
          <a:noFill/>
          <a:ln/>
        </p:spPr>
        <p:txBody>
          <a:bodyPr wrap="square" lIns="0" tIns="0" rIns="0" bIns="0" rtlCol="0" anchor="ctr"/>
          <a:lstStyle/>
          <a:p>
            <a:pPr marL="0" indent="0">
              <a:buNone/>
            </a:pPr>
            <a:r>
              <a:rPr lang="en-US" sz="3600" b="1" dirty="0">
                <a:solidFill>
                  <a:srgbClr val="FFFFFF"/>
                </a:solidFill>
                <a:latin typeface="Montserrat" pitchFamily="34" charset="0"/>
                <a:ea typeface="Montserrat" pitchFamily="34" charset="-122"/>
                <a:cs typeface="Montserrat" pitchFamily="34" charset="-120"/>
              </a:rPr>
              <a:t>See it run inside Snowflake</a:t>
            </a:r>
            <a:endParaRPr lang="en-US" sz="3600" dirty="0"/>
          </a:p>
        </p:txBody>
      </p:sp>
      <p:sp>
        <p:nvSpPr>
          <p:cNvPr id="5" name="Text 3"/>
          <p:cNvSpPr/>
          <p:nvPr/>
        </p:nvSpPr>
        <p:spPr>
          <a:xfrm>
            <a:off x="777240" y="1975104"/>
            <a:ext cx="8321040" cy="877824"/>
          </a:xfrm>
          <a:prstGeom prst="rect">
            <a:avLst/>
          </a:prstGeom>
          <a:noFill/>
          <a:ln/>
        </p:spPr>
        <p:txBody>
          <a:bodyPr wrap="square" lIns="0" tIns="0" rIns="0" bIns="0" rtlCol="0" anchor="ctr"/>
          <a:lstStyle/>
          <a:p>
            <a:pPr marL="0" indent="0">
              <a:buNone/>
            </a:pPr>
            <a:r>
              <a:rPr lang="en-US" sz="1350" dirty="0">
                <a:solidFill>
                  <a:srgbClr val="A2F3F3"/>
                </a:solidFill>
                <a:latin typeface="Montserrat" pitchFamily="34" charset="0"/>
                <a:ea typeface="Montserrat" pitchFamily="34" charset="-122"/>
                <a:cs typeface="Montserrat" pitchFamily="34" charset="-120"/>
              </a:rPr>
              <a:t>Upload a Tableau workbook and watch every stage execute in the account — tables created and loaded, Cortex translating the hard calculations, the semantic view deployed, the dashboard rendered, and the numbers checked measure by measure.</a:t>
            </a:r>
            <a:endParaRPr lang="en-US" sz="1350" dirty="0"/>
          </a:p>
        </p:txBody>
      </p:sp>
      <p:sp>
        <p:nvSpPr>
          <p:cNvPr id="6" name="Shape 4"/>
          <p:cNvSpPr/>
          <p:nvPr/>
        </p:nvSpPr>
        <p:spPr>
          <a:xfrm>
            <a:off x="777240" y="3017520"/>
            <a:ext cx="1847088" cy="585216"/>
          </a:xfrm>
          <a:prstGeom prst="roundRect">
            <a:avLst>
              <a:gd name="adj" fmla="val 12500"/>
            </a:avLst>
          </a:prstGeom>
          <a:solidFill>
            <a:srgbClr val="0A3E6B"/>
          </a:solidFill>
          <a:ln w="12700">
            <a:solidFill>
              <a:srgbClr val="17517F"/>
            </a:solidFill>
            <a:prstDash val="solid"/>
          </a:ln>
        </p:spPr>
        <p:txBody>
          <a:bodyPr/>
          <a:lstStyle/>
          <a:p>
            <a:endParaRPr lang="en-IN"/>
          </a:p>
        </p:txBody>
      </p:sp>
      <p:sp>
        <p:nvSpPr>
          <p:cNvPr id="7" name="Text 5"/>
          <p:cNvSpPr/>
          <p:nvPr/>
        </p:nvSpPr>
        <p:spPr>
          <a:xfrm>
            <a:off x="777240" y="3017520"/>
            <a:ext cx="1847088" cy="585216"/>
          </a:xfrm>
          <a:prstGeom prst="rect">
            <a:avLst/>
          </a:prstGeom>
          <a:noFill/>
          <a:ln/>
        </p:spPr>
        <p:txBody>
          <a:bodyPr wrap="square" lIns="0" tIns="0" rIns="0" bIns="0" rtlCol="0" anchor="ctr"/>
          <a:lstStyle/>
          <a:p>
            <a:pPr marL="0" indent="0" algn="ctr">
              <a:buNone/>
            </a:pPr>
            <a:r>
              <a:rPr lang="en-US" sz="950" b="1" dirty="0">
                <a:solidFill>
                  <a:srgbClr val="FFFFFF"/>
                </a:solidFill>
                <a:latin typeface="Montserrat" pitchFamily="34" charset="0"/>
                <a:ea typeface="Montserrat" pitchFamily="34" charset="-122"/>
                <a:cs typeface="Montserrat" pitchFamily="34" charset="-120"/>
              </a:rPr>
              <a:t>Discovery</a:t>
            </a:r>
            <a:endParaRPr lang="en-US" sz="950" dirty="0"/>
          </a:p>
        </p:txBody>
      </p:sp>
      <p:sp>
        <p:nvSpPr>
          <p:cNvPr id="8" name="Text 6"/>
          <p:cNvSpPr/>
          <p:nvPr/>
        </p:nvSpPr>
        <p:spPr>
          <a:xfrm>
            <a:off x="2624328" y="3017520"/>
            <a:ext cx="292608" cy="585216"/>
          </a:xfrm>
          <a:prstGeom prst="rect">
            <a:avLst/>
          </a:prstGeom>
          <a:noFill/>
          <a:ln/>
        </p:spPr>
        <p:txBody>
          <a:bodyPr wrap="square" lIns="0" tIns="0" rIns="0" bIns="0" rtlCol="0" anchor="ctr"/>
          <a:lstStyle/>
          <a:p>
            <a:pPr marL="0" indent="0" algn="ctr">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9" name="Shape 7"/>
          <p:cNvSpPr/>
          <p:nvPr/>
        </p:nvSpPr>
        <p:spPr>
          <a:xfrm>
            <a:off x="2916936" y="3017520"/>
            <a:ext cx="1847088" cy="585216"/>
          </a:xfrm>
          <a:prstGeom prst="roundRect">
            <a:avLst>
              <a:gd name="adj" fmla="val 12500"/>
            </a:avLst>
          </a:prstGeom>
          <a:solidFill>
            <a:srgbClr val="0A3E6B"/>
          </a:solidFill>
          <a:ln w="12700">
            <a:solidFill>
              <a:srgbClr val="17517F"/>
            </a:solidFill>
            <a:prstDash val="solid"/>
          </a:ln>
        </p:spPr>
        <p:txBody>
          <a:bodyPr/>
          <a:lstStyle/>
          <a:p>
            <a:endParaRPr lang="en-IN"/>
          </a:p>
        </p:txBody>
      </p:sp>
      <p:sp>
        <p:nvSpPr>
          <p:cNvPr id="10" name="Text 8"/>
          <p:cNvSpPr/>
          <p:nvPr/>
        </p:nvSpPr>
        <p:spPr>
          <a:xfrm>
            <a:off x="2916936" y="3017520"/>
            <a:ext cx="1847088" cy="585216"/>
          </a:xfrm>
          <a:prstGeom prst="rect">
            <a:avLst/>
          </a:prstGeom>
          <a:noFill/>
          <a:ln/>
        </p:spPr>
        <p:txBody>
          <a:bodyPr wrap="square" lIns="0" tIns="0" rIns="0" bIns="0" rtlCol="0" anchor="ctr"/>
          <a:lstStyle/>
          <a:p>
            <a:pPr marL="0" indent="0" algn="ctr">
              <a:buNone/>
            </a:pPr>
            <a:r>
              <a:rPr lang="en-US" sz="950" b="1" dirty="0">
                <a:solidFill>
                  <a:srgbClr val="FFFFFF"/>
                </a:solidFill>
                <a:latin typeface="Montserrat" pitchFamily="34" charset="0"/>
                <a:ea typeface="Montserrat" pitchFamily="34" charset="-122"/>
                <a:cs typeface="Montserrat" pitchFamily="34" charset="-120"/>
              </a:rPr>
              <a:t>Model Extraction</a:t>
            </a:r>
            <a:endParaRPr lang="en-US" sz="950" dirty="0"/>
          </a:p>
        </p:txBody>
      </p:sp>
      <p:sp>
        <p:nvSpPr>
          <p:cNvPr id="11" name="Text 9"/>
          <p:cNvSpPr/>
          <p:nvPr/>
        </p:nvSpPr>
        <p:spPr>
          <a:xfrm>
            <a:off x="4764024" y="3017520"/>
            <a:ext cx="292608" cy="585216"/>
          </a:xfrm>
          <a:prstGeom prst="rect">
            <a:avLst/>
          </a:prstGeom>
          <a:noFill/>
          <a:ln/>
        </p:spPr>
        <p:txBody>
          <a:bodyPr wrap="square" lIns="0" tIns="0" rIns="0" bIns="0" rtlCol="0" anchor="ctr"/>
          <a:lstStyle/>
          <a:p>
            <a:pPr marL="0" indent="0" algn="ctr">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2" name="Shape 10"/>
          <p:cNvSpPr/>
          <p:nvPr/>
        </p:nvSpPr>
        <p:spPr>
          <a:xfrm>
            <a:off x="5056632" y="3017520"/>
            <a:ext cx="1847088" cy="585216"/>
          </a:xfrm>
          <a:prstGeom prst="roundRect">
            <a:avLst>
              <a:gd name="adj" fmla="val 12500"/>
            </a:avLst>
          </a:prstGeom>
          <a:solidFill>
            <a:srgbClr val="0A3E6B"/>
          </a:solidFill>
          <a:ln w="19050">
            <a:solidFill>
              <a:srgbClr val="00EDED"/>
            </a:solidFill>
            <a:prstDash val="solid"/>
          </a:ln>
        </p:spPr>
        <p:txBody>
          <a:bodyPr/>
          <a:lstStyle/>
          <a:p>
            <a:endParaRPr lang="en-IN"/>
          </a:p>
        </p:txBody>
      </p:sp>
      <p:sp>
        <p:nvSpPr>
          <p:cNvPr id="13" name="Text 11"/>
          <p:cNvSpPr/>
          <p:nvPr/>
        </p:nvSpPr>
        <p:spPr>
          <a:xfrm>
            <a:off x="5056632" y="3017520"/>
            <a:ext cx="1847088" cy="585216"/>
          </a:xfrm>
          <a:prstGeom prst="rect">
            <a:avLst/>
          </a:prstGeom>
          <a:noFill/>
          <a:ln/>
        </p:spPr>
        <p:txBody>
          <a:bodyPr wrap="square" lIns="0" tIns="0" rIns="0" bIns="0" rtlCol="0" anchor="ctr"/>
          <a:lstStyle/>
          <a:p>
            <a:pPr marL="0" indent="0" algn="ctr">
              <a:buNone/>
            </a:pPr>
            <a:r>
              <a:rPr lang="en-US" sz="950" b="1" dirty="0">
                <a:solidFill>
                  <a:srgbClr val="FFFFFF"/>
                </a:solidFill>
                <a:latin typeface="Montserrat" pitchFamily="34" charset="0"/>
                <a:ea typeface="Montserrat" pitchFamily="34" charset="-122"/>
                <a:cs typeface="Montserrat" pitchFamily="34" charset="-120"/>
              </a:rPr>
              <a:t>Cortex Translation</a:t>
            </a:r>
            <a:endParaRPr lang="en-US" sz="950" dirty="0"/>
          </a:p>
        </p:txBody>
      </p:sp>
      <p:sp>
        <p:nvSpPr>
          <p:cNvPr id="14" name="Text 12"/>
          <p:cNvSpPr/>
          <p:nvPr/>
        </p:nvSpPr>
        <p:spPr>
          <a:xfrm>
            <a:off x="6903720" y="3017520"/>
            <a:ext cx="292608" cy="585216"/>
          </a:xfrm>
          <a:prstGeom prst="rect">
            <a:avLst/>
          </a:prstGeom>
          <a:noFill/>
          <a:ln/>
        </p:spPr>
        <p:txBody>
          <a:bodyPr wrap="square" lIns="0" tIns="0" rIns="0" bIns="0" rtlCol="0" anchor="ctr"/>
          <a:lstStyle/>
          <a:p>
            <a:pPr marL="0" indent="0" algn="ctr">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5" name="Shape 13"/>
          <p:cNvSpPr/>
          <p:nvPr/>
        </p:nvSpPr>
        <p:spPr>
          <a:xfrm>
            <a:off x="7196328" y="3017520"/>
            <a:ext cx="1847088" cy="585216"/>
          </a:xfrm>
          <a:prstGeom prst="roundRect">
            <a:avLst>
              <a:gd name="adj" fmla="val 12500"/>
            </a:avLst>
          </a:prstGeom>
          <a:solidFill>
            <a:srgbClr val="0A3E6B"/>
          </a:solidFill>
          <a:ln w="19050">
            <a:solidFill>
              <a:srgbClr val="00EDED"/>
            </a:solidFill>
            <a:prstDash val="solid"/>
          </a:ln>
        </p:spPr>
        <p:txBody>
          <a:bodyPr/>
          <a:lstStyle/>
          <a:p>
            <a:endParaRPr lang="en-IN"/>
          </a:p>
        </p:txBody>
      </p:sp>
      <p:sp>
        <p:nvSpPr>
          <p:cNvPr id="16" name="Text 14"/>
          <p:cNvSpPr/>
          <p:nvPr/>
        </p:nvSpPr>
        <p:spPr>
          <a:xfrm>
            <a:off x="7196328" y="3017520"/>
            <a:ext cx="1847088" cy="585216"/>
          </a:xfrm>
          <a:prstGeom prst="rect">
            <a:avLst/>
          </a:prstGeom>
          <a:noFill/>
          <a:ln/>
        </p:spPr>
        <p:txBody>
          <a:bodyPr wrap="square" lIns="0" tIns="0" rIns="0" bIns="0" rtlCol="0" anchor="ctr"/>
          <a:lstStyle/>
          <a:p>
            <a:pPr marL="0" indent="0" algn="ctr">
              <a:buNone/>
            </a:pPr>
            <a:r>
              <a:rPr lang="en-US" sz="950" b="1" dirty="0">
                <a:solidFill>
                  <a:srgbClr val="FFFFFF"/>
                </a:solidFill>
                <a:latin typeface="Montserrat" pitchFamily="34" charset="0"/>
                <a:ea typeface="Montserrat" pitchFamily="34" charset="-122"/>
                <a:cs typeface="Montserrat" pitchFamily="34" charset="-120"/>
              </a:rPr>
              <a:t>Semantic + App</a:t>
            </a:r>
            <a:endParaRPr lang="en-US" sz="950" dirty="0"/>
          </a:p>
        </p:txBody>
      </p:sp>
      <p:sp>
        <p:nvSpPr>
          <p:cNvPr id="17" name="Text 15"/>
          <p:cNvSpPr/>
          <p:nvPr/>
        </p:nvSpPr>
        <p:spPr>
          <a:xfrm>
            <a:off x="9043416" y="3017520"/>
            <a:ext cx="292608" cy="585216"/>
          </a:xfrm>
          <a:prstGeom prst="rect">
            <a:avLst/>
          </a:prstGeom>
          <a:noFill/>
          <a:ln/>
        </p:spPr>
        <p:txBody>
          <a:bodyPr wrap="square" lIns="0" tIns="0" rIns="0" bIns="0" rtlCol="0" anchor="ctr"/>
          <a:lstStyle/>
          <a:p>
            <a:pPr marL="0" indent="0" algn="ctr">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8" name="Shape 16"/>
          <p:cNvSpPr/>
          <p:nvPr/>
        </p:nvSpPr>
        <p:spPr>
          <a:xfrm>
            <a:off x="9336024" y="3017520"/>
            <a:ext cx="1847088" cy="585216"/>
          </a:xfrm>
          <a:prstGeom prst="roundRect">
            <a:avLst>
              <a:gd name="adj" fmla="val 12500"/>
            </a:avLst>
          </a:prstGeom>
          <a:solidFill>
            <a:srgbClr val="0A3E6B"/>
          </a:solidFill>
          <a:ln w="19050">
            <a:solidFill>
              <a:srgbClr val="00EDED"/>
            </a:solidFill>
            <a:prstDash val="solid"/>
          </a:ln>
        </p:spPr>
        <p:txBody>
          <a:bodyPr/>
          <a:lstStyle/>
          <a:p>
            <a:endParaRPr lang="en-IN"/>
          </a:p>
        </p:txBody>
      </p:sp>
      <p:sp>
        <p:nvSpPr>
          <p:cNvPr id="19" name="Text 17"/>
          <p:cNvSpPr/>
          <p:nvPr/>
        </p:nvSpPr>
        <p:spPr>
          <a:xfrm>
            <a:off x="9336024" y="3017520"/>
            <a:ext cx="1847088" cy="585216"/>
          </a:xfrm>
          <a:prstGeom prst="rect">
            <a:avLst/>
          </a:prstGeom>
          <a:noFill/>
          <a:ln/>
        </p:spPr>
        <p:txBody>
          <a:bodyPr wrap="square" lIns="0" tIns="0" rIns="0" bIns="0" rtlCol="0" anchor="ctr"/>
          <a:lstStyle/>
          <a:p>
            <a:pPr marL="0" indent="0" algn="ctr">
              <a:buNone/>
            </a:pPr>
            <a:r>
              <a:rPr lang="en-US" sz="950" b="1" dirty="0">
                <a:solidFill>
                  <a:srgbClr val="FFFFFF"/>
                </a:solidFill>
                <a:latin typeface="Montserrat" pitchFamily="34" charset="0"/>
                <a:ea typeface="Montserrat" pitchFamily="34" charset="-122"/>
                <a:cs typeface="Montserrat" pitchFamily="34" charset="-120"/>
              </a:rPr>
              <a:t>Cortex Validation</a:t>
            </a:r>
            <a:endParaRPr lang="en-US" sz="950" dirty="0"/>
          </a:p>
        </p:txBody>
      </p:sp>
      <p:sp>
        <p:nvSpPr>
          <p:cNvPr id="20" name="Text 18"/>
          <p:cNvSpPr/>
          <p:nvPr/>
        </p:nvSpPr>
        <p:spPr>
          <a:xfrm>
            <a:off x="777240" y="3712464"/>
            <a:ext cx="9692640" cy="365760"/>
          </a:xfrm>
          <a:prstGeom prst="rect">
            <a:avLst/>
          </a:prstGeom>
          <a:noFill/>
          <a:ln/>
        </p:spPr>
        <p:txBody>
          <a:bodyPr wrap="square" lIns="0" tIns="0" rIns="0" bIns="0" rtlCol="0" anchor="ctr"/>
          <a:lstStyle/>
          <a:p>
            <a:pPr marL="0" indent="0">
              <a:buNone/>
            </a:pPr>
            <a:r>
              <a:rPr lang="en-US" sz="1100" dirty="0">
                <a:solidFill>
                  <a:srgbClr val="6B7C88"/>
                </a:solidFill>
                <a:latin typeface="Montserrat" pitchFamily="34" charset="0"/>
                <a:ea typeface="Montserrat" pitchFamily="34" charset="-122"/>
                <a:cs typeface="Montserrat" pitchFamily="34" charset="-120"/>
              </a:rPr>
              <a:t>Every statement is visible in Snowsight Query History — the Cortex calls, the semantic view creation and the dashboard queries, with live timestamps.</a:t>
            </a:r>
            <a:endParaRPr lang="en-US" sz="1100" dirty="0"/>
          </a:p>
        </p:txBody>
      </p:sp>
      <p:sp>
        <p:nvSpPr>
          <p:cNvPr id="21" name="Text 19"/>
          <p:cNvSpPr/>
          <p:nvPr/>
        </p:nvSpPr>
        <p:spPr>
          <a:xfrm>
            <a:off x="548640" y="4206240"/>
            <a:ext cx="7315200" cy="310896"/>
          </a:xfrm>
          <a:prstGeom prst="rect">
            <a:avLst/>
          </a:prstGeom>
          <a:noFill/>
          <a:ln/>
        </p:spPr>
        <p:txBody>
          <a:bodyPr wrap="square" lIns="0" tIns="0" rIns="0" bIns="0" rtlCol="0" anchor="ctr"/>
          <a:lstStyle/>
          <a:p>
            <a:pPr marL="0" indent="0">
              <a:buNone/>
            </a:pPr>
            <a:r>
              <a:rPr lang="en-US" sz="1700" b="1" dirty="0">
                <a:solidFill>
                  <a:srgbClr val="FFFFFF"/>
                </a:solidFill>
                <a:latin typeface="Montserrat" pitchFamily="34" charset="0"/>
                <a:ea typeface="Montserrat" pitchFamily="34" charset="-122"/>
                <a:cs typeface="Montserrat" pitchFamily="34" charset="-120"/>
              </a:rPr>
              <a:t>What You Need to Get Started</a:t>
            </a:r>
            <a:endParaRPr lang="en-US" sz="1700" dirty="0"/>
          </a:p>
        </p:txBody>
      </p:sp>
      <p:sp>
        <p:nvSpPr>
          <p:cNvPr id="22" name="Shape 20"/>
          <p:cNvSpPr/>
          <p:nvPr/>
        </p:nvSpPr>
        <p:spPr>
          <a:xfrm>
            <a:off x="548640" y="4608576"/>
            <a:ext cx="2103120" cy="1042416"/>
          </a:xfrm>
          <a:prstGeom prst="roundRect">
            <a:avLst>
              <a:gd name="adj" fmla="val 7018"/>
            </a:avLst>
          </a:prstGeom>
          <a:solidFill>
            <a:srgbClr val="0A3E6B"/>
          </a:solidFill>
          <a:ln w="12700">
            <a:solidFill>
              <a:srgbClr val="17517F"/>
            </a:solidFill>
            <a:prstDash val="solid"/>
          </a:ln>
        </p:spPr>
        <p:txBody>
          <a:bodyPr/>
          <a:lstStyle/>
          <a:p>
            <a:endParaRPr lang="en-IN"/>
          </a:p>
        </p:txBody>
      </p:sp>
      <p:sp>
        <p:nvSpPr>
          <p:cNvPr id="23" name="Text 21"/>
          <p:cNvSpPr/>
          <p:nvPr/>
        </p:nvSpPr>
        <p:spPr>
          <a:xfrm>
            <a:off x="731520" y="4736592"/>
            <a:ext cx="365760" cy="237744"/>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1</a:t>
            </a:r>
            <a:endParaRPr lang="en-US" sz="1250" dirty="0"/>
          </a:p>
        </p:txBody>
      </p:sp>
      <p:sp>
        <p:nvSpPr>
          <p:cNvPr id="24" name="Text 22"/>
          <p:cNvSpPr/>
          <p:nvPr/>
        </p:nvSpPr>
        <p:spPr>
          <a:xfrm>
            <a:off x="731520" y="4974336"/>
            <a:ext cx="1737360" cy="237744"/>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Snowflake account</a:t>
            </a:r>
            <a:endParaRPr lang="en-US" sz="1050" dirty="0"/>
          </a:p>
        </p:txBody>
      </p:sp>
      <p:sp>
        <p:nvSpPr>
          <p:cNvPr id="25" name="Text 23"/>
          <p:cNvSpPr/>
          <p:nvPr/>
        </p:nvSpPr>
        <p:spPr>
          <a:xfrm>
            <a:off x="731520" y="5212080"/>
            <a:ext cx="1737360" cy="384048"/>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with Streamlit-in-Snowflake enabled</a:t>
            </a:r>
            <a:endParaRPr lang="en-US" sz="850" dirty="0"/>
          </a:p>
        </p:txBody>
      </p:sp>
      <p:sp>
        <p:nvSpPr>
          <p:cNvPr id="26" name="Shape 24"/>
          <p:cNvSpPr/>
          <p:nvPr/>
        </p:nvSpPr>
        <p:spPr>
          <a:xfrm>
            <a:off x="2816352" y="4608576"/>
            <a:ext cx="2103120" cy="1042416"/>
          </a:xfrm>
          <a:prstGeom prst="roundRect">
            <a:avLst>
              <a:gd name="adj" fmla="val 7018"/>
            </a:avLst>
          </a:prstGeom>
          <a:solidFill>
            <a:srgbClr val="0A3E6B"/>
          </a:solidFill>
          <a:ln w="12700">
            <a:solidFill>
              <a:srgbClr val="17517F"/>
            </a:solidFill>
            <a:prstDash val="solid"/>
          </a:ln>
        </p:spPr>
        <p:txBody>
          <a:bodyPr/>
          <a:lstStyle/>
          <a:p>
            <a:endParaRPr lang="en-IN"/>
          </a:p>
        </p:txBody>
      </p:sp>
      <p:sp>
        <p:nvSpPr>
          <p:cNvPr id="27" name="Text 25"/>
          <p:cNvSpPr/>
          <p:nvPr/>
        </p:nvSpPr>
        <p:spPr>
          <a:xfrm>
            <a:off x="2999232" y="4736592"/>
            <a:ext cx="365760" cy="237744"/>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2</a:t>
            </a:r>
            <a:endParaRPr lang="en-US" sz="1250" dirty="0"/>
          </a:p>
        </p:txBody>
      </p:sp>
      <p:sp>
        <p:nvSpPr>
          <p:cNvPr id="28" name="Text 26"/>
          <p:cNvSpPr/>
          <p:nvPr/>
        </p:nvSpPr>
        <p:spPr>
          <a:xfrm>
            <a:off x="2999232" y="4974336"/>
            <a:ext cx="1737360" cy="237744"/>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Warehouse + schema</a:t>
            </a:r>
            <a:endParaRPr lang="en-US" sz="1050" dirty="0"/>
          </a:p>
        </p:txBody>
      </p:sp>
      <p:sp>
        <p:nvSpPr>
          <p:cNvPr id="29" name="Text 27"/>
          <p:cNvSpPr/>
          <p:nvPr/>
        </p:nvSpPr>
        <p:spPr>
          <a:xfrm>
            <a:off x="2999232" y="5212080"/>
            <a:ext cx="1737360" cy="384048"/>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somewhere to land the tables</a:t>
            </a:r>
            <a:endParaRPr lang="en-US" sz="850" dirty="0"/>
          </a:p>
        </p:txBody>
      </p:sp>
      <p:sp>
        <p:nvSpPr>
          <p:cNvPr id="30" name="Shape 28"/>
          <p:cNvSpPr/>
          <p:nvPr/>
        </p:nvSpPr>
        <p:spPr>
          <a:xfrm>
            <a:off x="5084064" y="4608576"/>
            <a:ext cx="2103120" cy="1042416"/>
          </a:xfrm>
          <a:prstGeom prst="roundRect">
            <a:avLst>
              <a:gd name="adj" fmla="val 7018"/>
            </a:avLst>
          </a:prstGeom>
          <a:solidFill>
            <a:srgbClr val="0A3E6B"/>
          </a:solidFill>
          <a:ln w="12700">
            <a:solidFill>
              <a:srgbClr val="17517F"/>
            </a:solidFill>
            <a:prstDash val="solid"/>
          </a:ln>
        </p:spPr>
        <p:txBody>
          <a:bodyPr/>
          <a:lstStyle/>
          <a:p>
            <a:endParaRPr lang="en-IN"/>
          </a:p>
        </p:txBody>
      </p:sp>
      <p:sp>
        <p:nvSpPr>
          <p:cNvPr id="31" name="Text 29"/>
          <p:cNvSpPr/>
          <p:nvPr/>
        </p:nvSpPr>
        <p:spPr>
          <a:xfrm>
            <a:off x="5266944" y="4736592"/>
            <a:ext cx="365760" cy="237744"/>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3</a:t>
            </a:r>
            <a:endParaRPr lang="en-US" sz="1250" dirty="0"/>
          </a:p>
        </p:txBody>
      </p:sp>
      <p:sp>
        <p:nvSpPr>
          <p:cNvPr id="32" name="Text 30"/>
          <p:cNvSpPr/>
          <p:nvPr/>
        </p:nvSpPr>
        <p:spPr>
          <a:xfrm>
            <a:off x="5266944" y="4974336"/>
            <a:ext cx="1737360" cy="237744"/>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Role privileges</a:t>
            </a:r>
            <a:endParaRPr lang="en-US" sz="1050" dirty="0"/>
          </a:p>
        </p:txBody>
      </p:sp>
      <p:sp>
        <p:nvSpPr>
          <p:cNvPr id="33" name="Text 31"/>
          <p:cNvSpPr/>
          <p:nvPr/>
        </p:nvSpPr>
        <p:spPr>
          <a:xfrm>
            <a:off x="5266944" y="5212080"/>
            <a:ext cx="1737360" cy="384048"/>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create Streamlit apps, tables, semantic views</a:t>
            </a:r>
            <a:endParaRPr lang="en-US" sz="850" dirty="0"/>
          </a:p>
        </p:txBody>
      </p:sp>
      <p:sp>
        <p:nvSpPr>
          <p:cNvPr id="34" name="Shape 32"/>
          <p:cNvSpPr/>
          <p:nvPr/>
        </p:nvSpPr>
        <p:spPr>
          <a:xfrm>
            <a:off x="7351776" y="4608576"/>
            <a:ext cx="2103120" cy="1042416"/>
          </a:xfrm>
          <a:prstGeom prst="roundRect">
            <a:avLst>
              <a:gd name="adj" fmla="val 7018"/>
            </a:avLst>
          </a:prstGeom>
          <a:solidFill>
            <a:srgbClr val="0A3E6B"/>
          </a:solidFill>
          <a:ln w="12700">
            <a:solidFill>
              <a:srgbClr val="17517F"/>
            </a:solidFill>
            <a:prstDash val="solid"/>
          </a:ln>
        </p:spPr>
        <p:txBody>
          <a:bodyPr/>
          <a:lstStyle/>
          <a:p>
            <a:endParaRPr lang="en-IN"/>
          </a:p>
        </p:txBody>
      </p:sp>
      <p:sp>
        <p:nvSpPr>
          <p:cNvPr id="35" name="Text 33"/>
          <p:cNvSpPr/>
          <p:nvPr/>
        </p:nvSpPr>
        <p:spPr>
          <a:xfrm>
            <a:off x="7534656" y="4736592"/>
            <a:ext cx="365760" cy="237744"/>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4</a:t>
            </a:r>
            <a:endParaRPr lang="en-US" sz="1250" dirty="0"/>
          </a:p>
        </p:txBody>
      </p:sp>
      <p:sp>
        <p:nvSpPr>
          <p:cNvPr id="36" name="Text 34"/>
          <p:cNvSpPr/>
          <p:nvPr/>
        </p:nvSpPr>
        <p:spPr>
          <a:xfrm>
            <a:off x="7534656" y="4974336"/>
            <a:ext cx="1737360" cy="237744"/>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Cortex enabled</a:t>
            </a:r>
            <a:endParaRPr lang="en-US" sz="1050" dirty="0"/>
          </a:p>
        </p:txBody>
      </p:sp>
      <p:sp>
        <p:nvSpPr>
          <p:cNvPr id="37" name="Text 35"/>
          <p:cNvSpPr/>
          <p:nvPr/>
        </p:nvSpPr>
        <p:spPr>
          <a:xfrm>
            <a:off x="7534656" y="5212080"/>
            <a:ext cx="1737360" cy="384048"/>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in-account Claude models in the region</a:t>
            </a:r>
            <a:endParaRPr lang="en-US" sz="850" dirty="0"/>
          </a:p>
        </p:txBody>
      </p:sp>
      <p:sp>
        <p:nvSpPr>
          <p:cNvPr id="38" name="Shape 36"/>
          <p:cNvSpPr/>
          <p:nvPr/>
        </p:nvSpPr>
        <p:spPr>
          <a:xfrm>
            <a:off x="9619488" y="4608576"/>
            <a:ext cx="2103120" cy="1042416"/>
          </a:xfrm>
          <a:prstGeom prst="roundRect">
            <a:avLst>
              <a:gd name="adj" fmla="val 7018"/>
            </a:avLst>
          </a:prstGeom>
          <a:solidFill>
            <a:srgbClr val="0A3E6B"/>
          </a:solidFill>
          <a:ln w="12700">
            <a:solidFill>
              <a:srgbClr val="17517F"/>
            </a:solidFill>
            <a:prstDash val="solid"/>
          </a:ln>
        </p:spPr>
        <p:txBody>
          <a:bodyPr/>
          <a:lstStyle/>
          <a:p>
            <a:endParaRPr lang="en-IN"/>
          </a:p>
        </p:txBody>
      </p:sp>
      <p:sp>
        <p:nvSpPr>
          <p:cNvPr id="39" name="Text 37"/>
          <p:cNvSpPr/>
          <p:nvPr/>
        </p:nvSpPr>
        <p:spPr>
          <a:xfrm>
            <a:off x="9802368" y="4736592"/>
            <a:ext cx="365760" cy="237744"/>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5</a:t>
            </a:r>
            <a:endParaRPr lang="en-US" sz="1250" dirty="0"/>
          </a:p>
        </p:txBody>
      </p:sp>
      <p:sp>
        <p:nvSpPr>
          <p:cNvPr id="40" name="Text 38"/>
          <p:cNvSpPr/>
          <p:nvPr/>
        </p:nvSpPr>
        <p:spPr>
          <a:xfrm>
            <a:off x="9802368" y="4974336"/>
            <a:ext cx="1737360" cy="237744"/>
          </a:xfrm>
          <a:prstGeom prst="rect">
            <a:avLst/>
          </a:prstGeom>
          <a:noFill/>
          <a:ln/>
        </p:spPr>
        <p:txBody>
          <a:bodyPr wrap="square" lIns="0" tIns="0" rIns="0" bIns="0" rtlCol="0" anchor="ctr"/>
          <a:lstStyle/>
          <a:p>
            <a:pPr marL="0" indent="0">
              <a:buNone/>
            </a:pPr>
            <a:r>
              <a:rPr lang="en-US" sz="1050" b="1" dirty="0">
                <a:solidFill>
                  <a:srgbClr val="FFFFFF"/>
                </a:solidFill>
                <a:latin typeface="Montserrat" pitchFamily="34" charset="0"/>
                <a:ea typeface="Montserrat" pitchFamily="34" charset="-122"/>
                <a:cs typeface="Montserrat" pitchFamily="34" charset="-120"/>
              </a:rPr>
              <a:t>Tableau workbooks</a:t>
            </a:r>
            <a:endParaRPr lang="en-US" sz="1050" dirty="0"/>
          </a:p>
        </p:txBody>
      </p:sp>
      <p:sp>
        <p:nvSpPr>
          <p:cNvPr id="41" name="Text 39"/>
          <p:cNvSpPr/>
          <p:nvPr/>
        </p:nvSpPr>
        <p:spPr>
          <a:xfrm>
            <a:off x="9802368" y="5212080"/>
            <a:ext cx="1737360" cy="384048"/>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.twb / .twbx files to migrate</a:t>
            </a:r>
            <a:endParaRPr lang="en-US" sz="850" dirty="0"/>
          </a:p>
        </p:txBody>
      </p:sp>
      <p:sp>
        <p:nvSpPr>
          <p:cNvPr id="42" name="Shape 40"/>
          <p:cNvSpPr/>
          <p:nvPr/>
        </p:nvSpPr>
        <p:spPr>
          <a:xfrm>
            <a:off x="548640" y="5888736"/>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43" name="Text 41"/>
          <p:cNvSpPr/>
          <p:nvPr/>
        </p:nvSpPr>
        <p:spPr>
          <a:xfrm>
            <a:off x="548640" y="5888736"/>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1359</Words>
  <Application>Microsoft Office PowerPoint</Application>
  <PresentationFormat>Widescreen</PresentationFormat>
  <Paragraphs>130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Montserrat</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 Kammari</cp:lastModifiedBy>
  <cp:revision>2</cp:revision>
  <dcterms:created xsi:type="dcterms:W3CDTF">2026-07-22T15:10:55Z</dcterms:created>
  <dcterms:modified xsi:type="dcterms:W3CDTF">2026-07-22T15:14:29Z</dcterms:modified>
</cp:coreProperties>
</file>