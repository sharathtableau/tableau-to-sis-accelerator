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this modernizes the analytics stack in place — the customer's existing Tableau dashboards, rebuilt natively on the platform that already holds the data. The product strip at the bottom is the only place the full stack is listed; the rest of the deck stays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to one line per cell, per the feedback. The subtitle is the modernization framing: the stack is modernized in place — same dashboards, native on the platform that already holds the data. If asked what changes for end users: the dashboards look and answer the same; what disappears is the licence, the specialist queue, and the second governance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one line each — the human gate is the only other element on the slide, framed as an enterprise control. Impact has its own slide later; nothing here repeats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Restored as its own slide, in the crisp form: four big numbers with five-word sublines, then three one-line bullets per column. 90%+ is the design target the corpus exceeds; minutes is the real hosted-app runtime; 100% of measures is the Stage 5 parity check (13/13 on the demo run); Day-0 assessment is report.py. Left column wins the account; right column is why Snowflake cares.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absorbs the old What-Cortex-Does and value columns — six cards, one line each. The closing italic line is the consumption point for this audience: an extract-served dashboard sends Snowflake no query workload at all; migrated, every view is warehouse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proof slide: the run and the comparison together. Walk left to right — the pipeline executed five stages in the account (13 of 13 measures passing), the middle is the original Tableau dashboard, the right is the converted app. The numbers match cell for cell across the last two: West 686 customers, Sales $739,814, Sean Miller top at $25,043 — invite the room to check. Offer to run it live; open Query History alongside if anyone asks where it executes. If the images read small on the room's screen, zoom the slide — they are full-resolution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189720" y="-1051560"/>
            <a:ext cx="4206240" cy="4206240"/>
          </a:xfrm>
          <a:prstGeom prst="ellipse">
            <a:avLst/>
          </a:prstGeom>
          <a:solidFill>
            <a:srgbClr val="053057"/>
          </a:solidFill>
          <a:ln w="15875">
            <a:solidFill>
              <a:srgbClr val="00EDED"/>
            </a:solidFill>
            <a:prstDash val="solid"/>
          </a:ln>
        </p:spPr>
      </p:sp>
      <p:sp>
        <p:nvSpPr>
          <p:cNvPr id="3" name="Shape 1"/>
          <p:cNvSpPr/>
          <p:nvPr/>
        </p:nvSpPr>
        <p:spPr>
          <a:xfrm>
            <a:off x="10012680" y="-228600"/>
            <a:ext cx="2560320" cy="2560320"/>
          </a:xfrm>
          <a:prstGeom prst="ellipse">
            <a:avLst/>
          </a:prstGeom>
          <a:solidFill>
            <a:srgbClr val="053057"/>
          </a:solidFill>
          <a:ln w="9525">
            <a:solidFill>
              <a:srgbClr val="A2F3F3"/>
            </a:solidFill>
            <a:prstDash val="solid"/>
          </a:ln>
        </p:spPr>
      </p:sp>
      <p:sp>
        <p:nvSpPr>
          <p:cNvPr id="4" name="Shape 2"/>
          <p:cNvSpPr/>
          <p:nvPr/>
        </p:nvSpPr>
        <p:spPr>
          <a:xfrm>
            <a:off x="10698480" y="457200"/>
            <a:ext cx="1188720" cy="1188720"/>
          </a:xfrm>
          <a:prstGeom prst="ellipse">
            <a:avLst/>
          </a:prstGeom>
          <a:solidFill>
            <a:srgbClr val="00EDED"/>
          </a:solidFill>
          <a:ln/>
        </p:spPr>
      </p:sp>
      <p:sp>
        <p:nvSpPr>
          <p:cNvPr id="5" name="Text 3"/>
          <p:cNvSpPr/>
          <p:nvPr/>
        </p:nvSpPr>
        <p:spPr>
          <a:xfrm>
            <a:off x="777240" y="2286000"/>
            <a:ext cx="9692640" cy="914400"/>
          </a:xfrm>
          <a:prstGeom prst="rect">
            <a:avLst/>
          </a:prstGeom>
          <a:noFill/>
          <a:ln/>
        </p:spPr>
        <p:txBody>
          <a:bodyPr wrap="square" lIns="0" tIns="0" rIns="0" bIns="0" rtlCol="0" anchor="ctr"/>
          <a:lstStyle/>
          <a:p>
            <a:pPr indent="0" marL="0">
              <a:buNone/>
            </a:pPr>
            <a:r>
              <a:rPr lang="en-US" sz="4800" b="1" dirty="0">
                <a:solidFill>
                  <a:srgbClr val="FFFFFF"/>
                </a:solidFill>
                <a:latin typeface="Montserrat" pitchFamily="34" charset="0"/>
                <a:ea typeface="Montserrat" pitchFamily="34" charset="-122"/>
                <a:cs typeface="Montserrat" pitchFamily="34" charset="-120"/>
              </a:rPr>
              <a:t>Tableau to Snowflake</a:t>
            </a:r>
            <a:endParaRPr lang="en-US" sz="4800" dirty="0"/>
          </a:p>
        </p:txBody>
      </p:sp>
      <p:sp>
        <p:nvSpPr>
          <p:cNvPr id="6" name="Text 4"/>
          <p:cNvSpPr/>
          <p:nvPr/>
        </p:nvSpPr>
        <p:spPr>
          <a:xfrm>
            <a:off x="777240" y="3310128"/>
            <a:ext cx="9692640" cy="384048"/>
          </a:xfrm>
          <a:prstGeom prst="rect">
            <a:avLst/>
          </a:prstGeom>
          <a:noFill/>
          <a:ln/>
        </p:spPr>
        <p:txBody>
          <a:bodyPr wrap="square" lIns="0" tIns="0" rIns="0" bIns="0" rtlCol="0" anchor="ctr"/>
          <a:lstStyle/>
          <a:p>
            <a:pPr indent="0" marL="0">
              <a:buNone/>
            </a:pPr>
            <a:r>
              <a:rPr lang="en-US" sz="1800" dirty="0">
                <a:solidFill>
                  <a:srgbClr val="A2F3F3"/>
                </a:solidFill>
                <a:latin typeface="Montserrat" pitchFamily="34" charset="0"/>
                <a:ea typeface="Montserrat" pitchFamily="34" charset="-122"/>
                <a:cs typeface="Montserrat" pitchFamily="34" charset="-120"/>
              </a:rPr>
              <a:t>AI-Powered Analytics Platform Modernization Accelerator</a:t>
            </a:r>
            <a:endParaRPr lang="en-US" sz="1800" dirty="0"/>
          </a:p>
        </p:txBody>
      </p:sp>
      <p:sp>
        <p:nvSpPr>
          <p:cNvPr id="7" name="Text 5"/>
          <p:cNvSpPr/>
          <p:nvPr/>
        </p:nvSpPr>
        <p:spPr>
          <a:xfrm>
            <a:off x="777240" y="3749040"/>
            <a:ext cx="9692640" cy="310896"/>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 Tableau  →  Streamlit in Snowflake ]</a:t>
            </a:r>
            <a:endParaRPr lang="en-US" sz="1300" dirty="0"/>
          </a:p>
        </p:txBody>
      </p:sp>
      <p:sp>
        <p:nvSpPr>
          <p:cNvPr id="8" name="Shape 6"/>
          <p:cNvSpPr/>
          <p:nvPr/>
        </p:nvSpPr>
        <p:spPr>
          <a:xfrm>
            <a:off x="777240" y="5760720"/>
            <a:ext cx="10607040" cy="420624"/>
          </a:xfrm>
          <a:prstGeom prst="roundRect">
            <a:avLst>
              <a:gd name="adj" fmla="val 13043"/>
            </a:avLst>
          </a:prstGeom>
          <a:solidFill>
            <a:srgbClr val="0A3E6B"/>
          </a:solidFill>
          <a:ln w="12700">
            <a:solidFill>
              <a:srgbClr val="17517F"/>
            </a:solidFill>
            <a:prstDash val="solid"/>
          </a:ln>
        </p:spPr>
      </p:sp>
      <p:sp>
        <p:nvSpPr>
          <p:cNvPr id="9" name="Text 7"/>
          <p:cNvSpPr/>
          <p:nvPr/>
        </p:nvSpPr>
        <p:spPr>
          <a:xfrm>
            <a:off x="777240" y="5760720"/>
            <a:ext cx="10607040"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Why This Accelerator</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Modernize the analytics stack — your existing dashboards, moved into Snowflake, where the data already lives</a:t>
            </a:r>
            <a:endParaRPr lang="en-US" sz="1400" dirty="0"/>
          </a:p>
        </p:txBody>
      </p:sp>
      <p:sp>
        <p:nvSpPr>
          <p:cNvPr id="4" name="Text 2"/>
          <p:cNvSpPr/>
          <p:nvPr/>
        </p:nvSpPr>
        <p:spPr>
          <a:xfrm>
            <a:off x="548640" y="1481328"/>
            <a:ext cx="5431536" cy="274320"/>
          </a:xfrm>
          <a:prstGeom prst="rect">
            <a:avLst/>
          </a:prstGeom>
          <a:noFill/>
          <a:ln/>
        </p:spPr>
        <p:txBody>
          <a:bodyPr wrap="square" lIns="0" tIns="0" rIns="0" bIns="0" rtlCol="0" anchor="ctr"/>
          <a:lstStyle/>
          <a:p>
            <a:pPr indent="0" marL="0">
              <a:buNone/>
            </a:pPr>
            <a:r>
              <a:rPr lang="en-US" sz="1150" b="1" spc="200" kern="0" dirty="0">
                <a:solidFill>
                  <a:srgbClr val="6B7C88"/>
                </a:solidFill>
                <a:latin typeface="Montserrat" pitchFamily="34" charset="0"/>
                <a:ea typeface="Montserrat" pitchFamily="34" charset="-122"/>
                <a:cs typeface="Montserrat" pitchFamily="34" charset="-120"/>
              </a:rPr>
              <a:t>THE CHALLENGE</a:t>
            </a:r>
            <a:endParaRPr lang="en-US" sz="1150" dirty="0"/>
          </a:p>
        </p:txBody>
      </p:sp>
      <p:sp>
        <p:nvSpPr>
          <p:cNvPr id="5" name="Text 3"/>
          <p:cNvSpPr/>
          <p:nvPr/>
        </p:nvSpPr>
        <p:spPr>
          <a:xfrm>
            <a:off x="6208776" y="1481328"/>
            <a:ext cx="5431536" cy="274320"/>
          </a:xfrm>
          <a:prstGeom prst="rect">
            <a:avLst/>
          </a:prstGeom>
          <a:noFill/>
          <a:ln/>
        </p:spPr>
        <p:txBody>
          <a:bodyPr wrap="square" lIns="0" tIns="0" rIns="0" bIns="0" rtlCol="0" anchor="ctr"/>
          <a:lstStyle/>
          <a:p>
            <a:pPr indent="0" marL="0">
              <a:buNone/>
            </a:pPr>
            <a:r>
              <a:rPr lang="en-US" sz="1150" b="1" spc="200" kern="0" dirty="0">
                <a:solidFill>
                  <a:srgbClr val="053057"/>
                </a:solidFill>
                <a:latin typeface="Montserrat" pitchFamily="34" charset="0"/>
                <a:ea typeface="Montserrat" pitchFamily="34" charset="-122"/>
                <a:cs typeface="Montserrat" pitchFamily="34" charset="-120"/>
              </a:rPr>
              <a:t>THE ACCELERATOR SOLUTION</a:t>
            </a:r>
            <a:endParaRPr lang="en-US" sz="1150" dirty="0"/>
          </a:p>
        </p:txBody>
      </p:sp>
      <p:sp>
        <p:nvSpPr>
          <p:cNvPr id="6" name="Shape 4"/>
          <p:cNvSpPr/>
          <p:nvPr/>
        </p:nvSpPr>
        <p:spPr>
          <a:xfrm>
            <a:off x="548640" y="1847088"/>
            <a:ext cx="5431536" cy="1078992"/>
          </a:xfrm>
          <a:prstGeom prst="roundRect">
            <a:avLst>
              <a:gd name="adj" fmla="val 6780"/>
            </a:avLst>
          </a:prstGeom>
          <a:solidFill>
            <a:srgbClr val="FFFFFF"/>
          </a:solidFill>
          <a:ln w="12700">
            <a:solidFill>
              <a:srgbClr val="DFE3E6"/>
            </a:solidFill>
            <a:prstDash val="solid"/>
          </a:ln>
        </p:spPr>
      </p:sp>
      <p:sp>
        <p:nvSpPr>
          <p:cNvPr id="7" name="Text 5"/>
          <p:cNvSpPr/>
          <p:nvPr/>
        </p:nvSpPr>
        <p:spPr>
          <a:xfrm>
            <a:off x="822960" y="2029968"/>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Licences on Top of Snowflake</a:t>
            </a:r>
            <a:endParaRPr lang="en-US" sz="1350" dirty="0"/>
          </a:p>
        </p:txBody>
      </p:sp>
      <p:sp>
        <p:nvSpPr>
          <p:cNvPr id="8" name="Text 6"/>
          <p:cNvSpPr/>
          <p:nvPr/>
        </p:nvSpPr>
        <p:spPr>
          <a:xfrm>
            <a:off x="822960" y="2395728"/>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Paying a second platform to display data Snowflake already holds</a:t>
            </a:r>
            <a:endParaRPr lang="en-US" sz="1050" dirty="0"/>
          </a:p>
        </p:txBody>
      </p:sp>
      <p:sp>
        <p:nvSpPr>
          <p:cNvPr id="9" name="Shape 7"/>
          <p:cNvSpPr/>
          <p:nvPr/>
        </p:nvSpPr>
        <p:spPr>
          <a:xfrm>
            <a:off x="6208776" y="1847088"/>
            <a:ext cx="5431536" cy="1078992"/>
          </a:xfrm>
          <a:prstGeom prst="roundRect">
            <a:avLst>
              <a:gd name="adj" fmla="val 6780"/>
            </a:avLst>
          </a:prstGeom>
          <a:solidFill>
            <a:srgbClr val="053057"/>
          </a:solidFill>
          <a:ln w="12700">
            <a:solidFill>
              <a:srgbClr val="053057"/>
            </a:solidFill>
            <a:prstDash val="solid"/>
          </a:ln>
        </p:spPr>
      </p:sp>
      <p:sp>
        <p:nvSpPr>
          <p:cNvPr id="10" name="Shape 8"/>
          <p:cNvSpPr/>
          <p:nvPr/>
        </p:nvSpPr>
        <p:spPr>
          <a:xfrm>
            <a:off x="6446520" y="2084832"/>
            <a:ext cx="219456" cy="219456"/>
          </a:xfrm>
          <a:prstGeom prst="ellipse">
            <a:avLst/>
          </a:prstGeom>
          <a:solidFill>
            <a:srgbClr val="00EDED"/>
          </a:solidFill>
          <a:ln/>
        </p:spPr>
      </p:sp>
      <p:sp>
        <p:nvSpPr>
          <p:cNvPr id="11" name="Text 9"/>
          <p:cNvSpPr/>
          <p:nvPr/>
        </p:nvSpPr>
        <p:spPr>
          <a:xfrm>
            <a:off x="6784848" y="2029968"/>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Dashboards Move to What You Own</a:t>
            </a:r>
            <a:endParaRPr lang="en-US" sz="1350" dirty="0"/>
          </a:p>
        </p:txBody>
      </p:sp>
      <p:sp>
        <p:nvSpPr>
          <p:cNvPr id="12" name="Text 10"/>
          <p:cNvSpPr/>
          <p:nvPr/>
        </p:nvSpPr>
        <p:spPr>
          <a:xfrm>
            <a:off x="6784848" y="2395728"/>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Streamlit is already part of Snowflake — no BI licence underneath</a:t>
            </a:r>
            <a:endParaRPr lang="en-US" sz="1050" dirty="0"/>
          </a:p>
        </p:txBody>
      </p:sp>
      <p:sp>
        <p:nvSpPr>
          <p:cNvPr id="13" name="Shape 11"/>
          <p:cNvSpPr/>
          <p:nvPr/>
        </p:nvSpPr>
        <p:spPr>
          <a:xfrm>
            <a:off x="548640" y="3090672"/>
            <a:ext cx="5431536" cy="1078992"/>
          </a:xfrm>
          <a:prstGeom prst="roundRect">
            <a:avLst>
              <a:gd name="adj" fmla="val 6780"/>
            </a:avLst>
          </a:prstGeom>
          <a:solidFill>
            <a:srgbClr val="FFFFFF"/>
          </a:solidFill>
          <a:ln w="12700">
            <a:solidFill>
              <a:srgbClr val="DFE3E6"/>
            </a:solidFill>
            <a:prstDash val="solid"/>
          </a:ln>
        </p:spPr>
      </p:sp>
      <p:sp>
        <p:nvSpPr>
          <p:cNvPr id="14" name="Text 12"/>
          <p:cNvSpPr/>
          <p:nvPr/>
        </p:nvSpPr>
        <p:spPr>
          <a:xfrm>
            <a:off x="822960" y="3273552"/>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A Separate, Scarce Skill</a:t>
            </a:r>
            <a:endParaRPr lang="en-US" sz="1350" dirty="0"/>
          </a:p>
        </p:txBody>
      </p:sp>
      <p:sp>
        <p:nvSpPr>
          <p:cNvPr id="15" name="Text 13"/>
          <p:cNvSpPr/>
          <p:nvPr/>
        </p:nvSpPr>
        <p:spPr>
          <a:xfrm>
            <a:off x="822960" y="3639312"/>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Every dashboard waits on Tableau specialists</a:t>
            </a:r>
            <a:endParaRPr lang="en-US" sz="1050" dirty="0"/>
          </a:p>
        </p:txBody>
      </p:sp>
      <p:sp>
        <p:nvSpPr>
          <p:cNvPr id="16" name="Shape 14"/>
          <p:cNvSpPr/>
          <p:nvPr/>
        </p:nvSpPr>
        <p:spPr>
          <a:xfrm>
            <a:off x="6208776" y="3090672"/>
            <a:ext cx="5431536" cy="1078992"/>
          </a:xfrm>
          <a:prstGeom prst="roundRect">
            <a:avLst>
              <a:gd name="adj" fmla="val 6780"/>
            </a:avLst>
          </a:prstGeom>
          <a:solidFill>
            <a:srgbClr val="053057"/>
          </a:solidFill>
          <a:ln w="12700">
            <a:solidFill>
              <a:srgbClr val="053057"/>
            </a:solidFill>
            <a:prstDash val="solid"/>
          </a:ln>
        </p:spPr>
      </p:sp>
      <p:sp>
        <p:nvSpPr>
          <p:cNvPr id="17" name="Shape 15"/>
          <p:cNvSpPr/>
          <p:nvPr/>
        </p:nvSpPr>
        <p:spPr>
          <a:xfrm>
            <a:off x="6446520" y="3328416"/>
            <a:ext cx="219456" cy="219456"/>
          </a:xfrm>
          <a:prstGeom prst="ellipse">
            <a:avLst/>
          </a:prstGeom>
          <a:solidFill>
            <a:srgbClr val="00EDED"/>
          </a:solidFill>
          <a:ln/>
        </p:spPr>
      </p:sp>
      <p:sp>
        <p:nvSpPr>
          <p:cNvPr id="18" name="Text 16"/>
          <p:cNvSpPr/>
          <p:nvPr/>
        </p:nvSpPr>
        <p:spPr>
          <a:xfrm>
            <a:off x="6784848" y="3273552"/>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Your Data Team Owns It</a:t>
            </a:r>
            <a:endParaRPr lang="en-US" sz="1350" dirty="0"/>
          </a:p>
        </p:txBody>
      </p:sp>
      <p:sp>
        <p:nvSpPr>
          <p:cNvPr id="19" name="Text 17"/>
          <p:cNvSpPr/>
          <p:nvPr/>
        </p:nvSpPr>
        <p:spPr>
          <a:xfrm>
            <a:off x="6784848" y="3639312"/>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Streamlit is Python — built by the engineers already on the platform</a:t>
            </a:r>
            <a:endParaRPr lang="en-US" sz="1050" dirty="0"/>
          </a:p>
        </p:txBody>
      </p:sp>
      <p:sp>
        <p:nvSpPr>
          <p:cNvPr id="20" name="Shape 18"/>
          <p:cNvSpPr/>
          <p:nvPr/>
        </p:nvSpPr>
        <p:spPr>
          <a:xfrm>
            <a:off x="548640" y="4334256"/>
            <a:ext cx="5431536" cy="1078992"/>
          </a:xfrm>
          <a:prstGeom prst="roundRect">
            <a:avLst>
              <a:gd name="adj" fmla="val 6780"/>
            </a:avLst>
          </a:prstGeom>
          <a:solidFill>
            <a:srgbClr val="FFFFFF"/>
          </a:solidFill>
          <a:ln w="12700">
            <a:solidFill>
              <a:srgbClr val="DFE3E6"/>
            </a:solidFill>
            <a:prstDash val="solid"/>
          </a:ln>
        </p:spPr>
      </p:sp>
      <p:sp>
        <p:nvSpPr>
          <p:cNvPr id="21" name="Text 19"/>
          <p:cNvSpPr/>
          <p:nvPr/>
        </p:nvSpPr>
        <p:spPr>
          <a:xfrm>
            <a:off x="822960" y="4517136"/>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Two Platforms, Two Governance Models</a:t>
            </a:r>
            <a:endParaRPr lang="en-US" sz="1350" dirty="0"/>
          </a:p>
        </p:txBody>
      </p:sp>
      <p:sp>
        <p:nvSpPr>
          <p:cNvPr id="22" name="Text 20"/>
          <p:cNvSpPr/>
          <p:nvPr/>
        </p:nvSpPr>
        <p:spPr>
          <a:xfrm>
            <a:off x="822960" y="4882896"/>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Access rules rebuilt away from the data they protect</a:t>
            </a:r>
            <a:endParaRPr lang="en-US" sz="1050" dirty="0"/>
          </a:p>
        </p:txBody>
      </p:sp>
      <p:sp>
        <p:nvSpPr>
          <p:cNvPr id="23" name="Shape 21"/>
          <p:cNvSpPr/>
          <p:nvPr/>
        </p:nvSpPr>
        <p:spPr>
          <a:xfrm>
            <a:off x="6208776" y="4334256"/>
            <a:ext cx="5431536" cy="1078992"/>
          </a:xfrm>
          <a:prstGeom prst="roundRect">
            <a:avLst>
              <a:gd name="adj" fmla="val 6780"/>
            </a:avLst>
          </a:prstGeom>
          <a:solidFill>
            <a:srgbClr val="053057"/>
          </a:solidFill>
          <a:ln w="12700">
            <a:solidFill>
              <a:srgbClr val="053057"/>
            </a:solidFill>
            <a:prstDash val="solid"/>
          </a:ln>
        </p:spPr>
      </p:sp>
      <p:sp>
        <p:nvSpPr>
          <p:cNvPr id="24" name="Shape 22"/>
          <p:cNvSpPr/>
          <p:nvPr/>
        </p:nvSpPr>
        <p:spPr>
          <a:xfrm>
            <a:off x="6446520" y="4572000"/>
            <a:ext cx="219456" cy="219456"/>
          </a:xfrm>
          <a:prstGeom prst="ellipse">
            <a:avLst/>
          </a:prstGeom>
          <a:solidFill>
            <a:srgbClr val="00EDED"/>
          </a:solidFill>
          <a:ln/>
        </p:spPr>
      </p:sp>
      <p:sp>
        <p:nvSpPr>
          <p:cNvPr id="25" name="Text 23"/>
          <p:cNvSpPr/>
          <p:nvPr/>
        </p:nvSpPr>
        <p:spPr>
          <a:xfrm>
            <a:off x="6784848" y="4517136"/>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One Platform, One Set of Roles</a:t>
            </a:r>
            <a:endParaRPr lang="en-US" sz="1350" dirty="0"/>
          </a:p>
        </p:txBody>
      </p:sp>
      <p:sp>
        <p:nvSpPr>
          <p:cNvPr id="26" name="Text 24"/>
          <p:cNvSpPr/>
          <p:nvPr/>
        </p:nvSpPr>
        <p:spPr>
          <a:xfrm>
            <a:off x="6784848" y="4882896"/>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Governance inherited from Snowflake, not re-implemented</a:t>
            </a:r>
            <a:endParaRPr lang="en-US" sz="1050" dirty="0"/>
          </a:p>
        </p:txBody>
      </p:sp>
      <p:sp>
        <p:nvSpPr>
          <p:cNvPr id="27" name="Text 25"/>
          <p:cNvSpPr/>
          <p:nvPr/>
        </p:nvSpPr>
        <p:spPr>
          <a:xfrm>
            <a:off x="548640" y="5797296"/>
            <a:ext cx="11091672" cy="384048"/>
          </a:xfrm>
          <a:prstGeom prst="rect">
            <a:avLst/>
          </a:prstGeom>
          <a:noFill/>
          <a:ln/>
        </p:spPr>
        <p:txBody>
          <a:bodyPr wrap="square" lIns="0" tIns="0" rIns="0" bIns="0" rtlCol="0" anchor="ctr"/>
          <a:lstStyle/>
          <a:p>
            <a:pPr indent="0" marL="0">
              <a:buNone/>
            </a:pPr>
            <a:r>
              <a:rPr lang="en-US" sz="1050" i="1" dirty="0">
                <a:solidFill>
                  <a:srgbClr val="6B7C88"/>
                </a:solidFill>
                <a:latin typeface="Montserrat" pitchFamily="34" charset="0"/>
                <a:ea typeface="Montserrat" pitchFamily="34" charset="-122"/>
                <a:cs typeface="Montserrat" pitchFamily="34" charset="-120"/>
              </a:rPr>
              <a:t>Modernisation here removes a layer instead of adding one — the barrier was only ever the cost of rebuilding the dashboards by hand, and that is what the accelerator automates.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How It Works</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automated stages inside the customer's Snowflake account — with a human gate before anything ships</a:t>
            </a:r>
            <a:endParaRPr lang="en-US" sz="1400" dirty="0"/>
          </a:p>
        </p:txBody>
      </p:sp>
      <p:sp>
        <p:nvSpPr>
          <p:cNvPr id="4" name="Shape 2"/>
          <p:cNvSpPr/>
          <p:nvPr/>
        </p:nvSpPr>
        <p:spPr>
          <a:xfrm>
            <a:off x="548640" y="1389888"/>
            <a:ext cx="2103120" cy="1737360"/>
          </a:xfrm>
          <a:prstGeom prst="roundRect">
            <a:avLst>
              <a:gd name="adj" fmla="val 4211"/>
            </a:avLst>
          </a:prstGeom>
          <a:solidFill>
            <a:srgbClr val="0A3E6B"/>
          </a:solidFill>
          <a:ln w="12700">
            <a:solidFill>
              <a:srgbClr val="17517F"/>
            </a:solidFill>
            <a:prstDash val="solid"/>
          </a:ln>
        </p:spPr>
      </p:sp>
      <p:sp>
        <p:nvSpPr>
          <p:cNvPr id="5" name="Text 3"/>
          <p:cNvSpPr/>
          <p:nvPr/>
        </p:nvSpPr>
        <p:spPr>
          <a:xfrm>
            <a:off x="749808" y="1554480"/>
            <a:ext cx="1700784" cy="274320"/>
          </a:xfrm>
          <a:prstGeom prst="rect">
            <a:avLst/>
          </a:prstGeom>
          <a:noFill/>
          <a:ln/>
        </p:spPr>
        <p:txBody>
          <a:bodyPr wrap="square" lIns="0" tIns="0" rIns="0" bIns="0" rtlCol="0" anchor="ctr"/>
          <a:lstStyle/>
          <a:p>
            <a:pPr indent="0" marL="0">
              <a:buNone/>
            </a:pPr>
            <a:r>
              <a:rPr lang="en-US" sz="1300" b="1" dirty="0">
                <a:solidFill>
                  <a:srgbClr val="6B7C88"/>
                </a:solidFill>
                <a:latin typeface="Montserrat" pitchFamily="34" charset="0"/>
                <a:ea typeface="Montserrat" pitchFamily="34" charset="-122"/>
                <a:cs typeface="Montserrat" pitchFamily="34" charset="-120"/>
              </a:rPr>
              <a:t>01</a:t>
            </a:r>
            <a:endParaRPr lang="en-US" sz="1300" dirty="0"/>
          </a:p>
        </p:txBody>
      </p:sp>
      <p:sp>
        <p:nvSpPr>
          <p:cNvPr id="6" name="Text 4"/>
          <p:cNvSpPr/>
          <p:nvPr/>
        </p:nvSpPr>
        <p:spPr>
          <a:xfrm>
            <a:off x="749808"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Discovery</a:t>
            </a:r>
            <a:endParaRPr lang="en-US" sz="1350" dirty="0"/>
          </a:p>
        </p:txBody>
      </p:sp>
      <p:sp>
        <p:nvSpPr>
          <p:cNvPr id="7" name="Text 5"/>
          <p:cNvSpPr/>
          <p:nvPr/>
        </p:nvSpPr>
        <p:spPr>
          <a:xfrm>
            <a:off x="749808"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Finds every datasource and loads the data into Snowflake</a:t>
            </a:r>
            <a:endParaRPr lang="en-US" sz="900" dirty="0"/>
          </a:p>
        </p:txBody>
      </p:sp>
      <p:sp>
        <p:nvSpPr>
          <p:cNvPr id="8" name="Shape 6"/>
          <p:cNvSpPr/>
          <p:nvPr/>
        </p:nvSpPr>
        <p:spPr>
          <a:xfrm>
            <a:off x="2816352" y="1389888"/>
            <a:ext cx="2103120" cy="1737360"/>
          </a:xfrm>
          <a:prstGeom prst="roundRect">
            <a:avLst>
              <a:gd name="adj" fmla="val 4211"/>
            </a:avLst>
          </a:prstGeom>
          <a:solidFill>
            <a:srgbClr val="0A3E6B"/>
          </a:solidFill>
          <a:ln w="12700">
            <a:solidFill>
              <a:srgbClr val="17517F"/>
            </a:solidFill>
            <a:prstDash val="solid"/>
          </a:ln>
        </p:spPr>
      </p:sp>
      <p:sp>
        <p:nvSpPr>
          <p:cNvPr id="9" name="Text 7"/>
          <p:cNvSpPr/>
          <p:nvPr/>
        </p:nvSpPr>
        <p:spPr>
          <a:xfrm>
            <a:off x="3017520" y="1554480"/>
            <a:ext cx="1700784" cy="274320"/>
          </a:xfrm>
          <a:prstGeom prst="rect">
            <a:avLst/>
          </a:prstGeom>
          <a:noFill/>
          <a:ln/>
        </p:spPr>
        <p:txBody>
          <a:bodyPr wrap="square" lIns="0" tIns="0" rIns="0" bIns="0" rtlCol="0" anchor="ctr"/>
          <a:lstStyle/>
          <a:p>
            <a:pPr indent="0" marL="0">
              <a:buNone/>
            </a:pPr>
            <a:r>
              <a:rPr lang="en-US" sz="1300" b="1" dirty="0">
                <a:solidFill>
                  <a:srgbClr val="6B7C88"/>
                </a:solidFill>
                <a:latin typeface="Montserrat" pitchFamily="34" charset="0"/>
                <a:ea typeface="Montserrat" pitchFamily="34" charset="-122"/>
                <a:cs typeface="Montserrat" pitchFamily="34" charset="-120"/>
              </a:rPr>
              <a:t>02</a:t>
            </a:r>
            <a:endParaRPr lang="en-US" sz="1300" dirty="0"/>
          </a:p>
        </p:txBody>
      </p:sp>
      <p:sp>
        <p:nvSpPr>
          <p:cNvPr id="10" name="Text 8"/>
          <p:cNvSpPr/>
          <p:nvPr/>
        </p:nvSpPr>
        <p:spPr>
          <a:xfrm>
            <a:off x="3017520"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Parsing</a:t>
            </a:r>
            <a:endParaRPr lang="en-US" sz="1350" dirty="0"/>
          </a:p>
        </p:txBody>
      </p:sp>
      <p:sp>
        <p:nvSpPr>
          <p:cNvPr id="11" name="Text 9"/>
          <p:cNvSpPr/>
          <p:nvPr/>
        </p:nvSpPr>
        <p:spPr>
          <a:xfrm>
            <a:off x="3017520"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Reads charts, calculations, filters and layout from the workbook</a:t>
            </a:r>
            <a:endParaRPr lang="en-US" sz="900" dirty="0"/>
          </a:p>
        </p:txBody>
      </p:sp>
      <p:sp>
        <p:nvSpPr>
          <p:cNvPr id="12" name="Shape 10"/>
          <p:cNvSpPr/>
          <p:nvPr/>
        </p:nvSpPr>
        <p:spPr>
          <a:xfrm>
            <a:off x="5084064" y="1389888"/>
            <a:ext cx="2103120" cy="1737360"/>
          </a:xfrm>
          <a:prstGeom prst="roundRect">
            <a:avLst>
              <a:gd name="adj" fmla="val 4211"/>
            </a:avLst>
          </a:prstGeom>
          <a:solidFill>
            <a:srgbClr val="0A3E6B"/>
          </a:solidFill>
          <a:ln w="19050">
            <a:solidFill>
              <a:srgbClr val="00EDED"/>
            </a:solidFill>
            <a:prstDash val="solid"/>
          </a:ln>
        </p:spPr>
      </p:sp>
      <p:sp>
        <p:nvSpPr>
          <p:cNvPr id="13" name="Text 11"/>
          <p:cNvSpPr/>
          <p:nvPr/>
        </p:nvSpPr>
        <p:spPr>
          <a:xfrm>
            <a:off x="5285232"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03</a:t>
            </a:r>
            <a:endParaRPr lang="en-US" sz="1300" dirty="0"/>
          </a:p>
        </p:txBody>
      </p:sp>
      <p:sp>
        <p:nvSpPr>
          <p:cNvPr id="14" name="Text 12"/>
          <p:cNvSpPr/>
          <p:nvPr/>
        </p:nvSpPr>
        <p:spPr>
          <a:xfrm>
            <a:off x="5285232"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Cortex Translation</a:t>
            </a:r>
            <a:endParaRPr lang="en-US" sz="1350" dirty="0"/>
          </a:p>
        </p:txBody>
      </p:sp>
      <p:sp>
        <p:nvSpPr>
          <p:cNvPr id="15" name="Text 13"/>
          <p:cNvSpPr/>
          <p:nvPr/>
        </p:nvSpPr>
        <p:spPr>
          <a:xfrm>
            <a:off x="5285232"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Cortex AI converts the complex calculations into Snowflake SQL</a:t>
            </a:r>
            <a:endParaRPr lang="en-US" sz="900" dirty="0"/>
          </a:p>
        </p:txBody>
      </p:sp>
      <p:sp>
        <p:nvSpPr>
          <p:cNvPr id="16" name="Shape 14"/>
          <p:cNvSpPr/>
          <p:nvPr/>
        </p:nvSpPr>
        <p:spPr>
          <a:xfrm>
            <a:off x="7351776" y="1389888"/>
            <a:ext cx="2103120" cy="1737360"/>
          </a:xfrm>
          <a:prstGeom prst="roundRect">
            <a:avLst>
              <a:gd name="adj" fmla="val 4211"/>
            </a:avLst>
          </a:prstGeom>
          <a:solidFill>
            <a:srgbClr val="0A3E6B"/>
          </a:solidFill>
          <a:ln w="19050">
            <a:solidFill>
              <a:srgbClr val="00EDED"/>
            </a:solidFill>
            <a:prstDash val="solid"/>
          </a:ln>
        </p:spPr>
      </p:sp>
      <p:sp>
        <p:nvSpPr>
          <p:cNvPr id="17" name="Text 15"/>
          <p:cNvSpPr/>
          <p:nvPr/>
        </p:nvSpPr>
        <p:spPr>
          <a:xfrm>
            <a:off x="7552944"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04</a:t>
            </a:r>
            <a:endParaRPr lang="en-US" sz="1300" dirty="0"/>
          </a:p>
        </p:txBody>
      </p:sp>
      <p:sp>
        <p:nvSpPr>
          <p:cNvPr id="18" name="Text 16"/>
          <p:cNvSpPr/>
          <p:nvPr/>
        </p:nvSpPr>
        <p:spPr>
          <a:xfrm>
            <a:off x="7552944"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Semantic + App</a:t>
            </a:r>
            <a:endParaRPr lang="en-US" sz="1350" dirty="0"/>
          </a:p>
        </p:txBody>
      </p:sp>
      <p:sp>
        <p:nvSpPr>
          <p:cNvPr id="19" name="Text 17"/>
          <p:cNvSpPr/>
          <p:nvPr/>
        </p:nvSpPr>
        <p:spPr>
          <a:xfrm>
            <a:off x="7552944"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Deploys a native semantic view and generates the Streamlit app</a:t>
            </a:r>
            <a:endParaRPr lang="en-US" sz="900" dirty="0"/>
          </a:p>
        </p:txBody>
      </p:sp>
      <p:sp>
        <p:nvSpPr>
          <p:cNvPr id="20" name="Shape 18"/>
          <p:cNvSpPr/>
          <p:nvPr/>
        </p:nvSpPr>
        <p:spPr>
          <a:xfrm>
            <a:off x="9619488" y="1389888"/>
            <a:ext cx="2103120" cy="1737360"/>
          </a:xfrm>
          <a:prstGeom prst="roundRect">
            <a:avLst>
              <a:gd name="adj" fmla="val 4211"/>
            </a:avLst>
          </a:prstGeom>
          <a:solidFill>
            <a:srgbClr val="0A3E6B"/>
          </a:solidFill>
          <a:ln w="19050">
            <a:solidFill>
              <a:srgbClr val="00EDED"/>
            </a:solidFill>
            <a:prstDash val="solid"/>
          </a:ln>
        </p:spPr>
      </p:sp>
      <p:sp>
        <p:nvSpPr>
          <p:cNvPr id="21" name="Text 19"/>
          <p:cNvSpPr/>
          <p:nvPr/>
        </p:nvSpPr>
        <p:spPr>
          <a:xfrm>
            <a:off x="9820656"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05</a:t>
            </a:r>
            <a:endParaRPr lang="en-US" sz="1300" dirty="0"/>
          </a:p>
        </p:txBody>
      </p:sp>
      <p:sp>
        <p:nvSpPr>
          <p:cNvPr id="22" name="Text 20"/>
          <p:cNvSpPr/>
          <p:nvPr/>
        </p:nvSpPr>
        <p:spPr>
          <a:xfrm>
            <a:off x="9820656"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Validation</a:t>
            </a:r>
            <a:endParaRPr lang="en-US" sz="1350" dirty="0"/>
          </a:p>
        </p:txBody>
      </p:sp>
      <p:sp>
        <p:nvSpPr>
          <p:cNvPr id="23" name="Text 21"/>
          <p:cNvSpPr/>
          <p:nvPr/>
        </p:nvSpPr>
        <p:spPr>
          <a:xfrm>
            <a:off x="9820656"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Ties every measure back to the source, with evidence</a:t>
            </a:r>
            <a:endParaRPr lang="en-US" sz="900" dirty="0"/>
          </a:p>
        </p:txBody>
      </p:sp>
      <p:sp>
        <p:nvSpPr>
          <p:cNvPr id="24" name="Shape 22"/>
          <p:cNvSpPr/>
          <p:nvPr/>
        </p:nvSpPr>
        <p:spPr>
          <a:xfrm>
            <a:off x="548640" y="3566160"/>
            <a:ext cx="11091672" cy="1005840"/>
          </a:xfrm>
          <a:prstGeom prst="roundRect">
            <a:avLst>
              <a:gd name="adj" fmla="val 7273"/>
            </a:avLst>
          </a:prstGeom>
          <a:solidFill>
            <a:srgbClr val="0A3E6B"/>
          </a:solidFill>
          <a:ln w="15875">
            <a:solidFill>
              <a:srgbClr val="00EDED"/>
            </a:solidFill>
            <a:prstDash val="solid"/>
          </a:ln>
        </p:spPr>
      </p:sp>
      <p:sp>
        <p:nvSpPr>
          <p:cNvPr id="25" name="Text 23"/>
          <p:cNvSpPr/>
          <p:nvPr/>
        </p:nvSpPr>
        <p:spPr>
          <a:xfrm>
            <a:off x="868680" y="3730752"/>
            <a:ext cx="10424160" cy="274320"/>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 in the Loop</a:t>
            </a:r>
            <a:endParaRPr lang="en-US" sz="1250" dirty="0"/>
          </a:p>
        </p:txBody>
      </p:sp>
      <p:sp>
        <p:nvSpPr>
          <p:cNvPr id="26" name="Text 24"/>
          <p:cNvSpPr/>
          <p:nvPr/>
        </p:nvSpPr>
        <p:spPr>
          <a:xfrm>
            <a:off x="868680" y="4041648"/>
            <a:ext cx="10424160" cy="365760"/>
          </a:xfrm>
          <a:prstGeom prst="rect">
            <a:avLst/>
          </a:prstGeom>
          <a:noFill/>
          <a:ln/>
        </p:spPr>
        <p:txBody>
          <a:bodyPr wrap="square" lIns="0" tIns="0" rIns="0" bIns="0" rtlCol="0" anchor="ctr"/>
          <a:lstStyle/>
          <a:p>
            <a:pPr indent="0" marL="0">
              <a:buNone/>
            </a:pPr>
            <a:r>
              <a:rPr lang="en-US" sz="1100" dirty="0">
                <a:solidFill>
                  <a:srgbClr val="D6E6F0"/>
                </a:solidFill>
                <a:latin typeface="Montserrat" pitchFamily="34" charset="0"/>
                <a:ea typeface="Montserrat" pitchFamily="34" charset="-122"/>
                <a:cs typeface="Montserrat" pitchFamily="34" charset="-120"/>
              </a:rPr>
              <a:t>Every Cortex proposal is executed against the real data, then reviewed and approved before it ships. All decisions audited.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554480"/>
            <a:ext cx="2724912" cy="1828800"/>
          </a:xfrm>
          <a:prstGeom prst="roundRect">
            <a:avLst>
              <a:gd name="adj" fmla="val 4000"/>
            </a:avLst>
          </a:prstGeom>
          <a:solidFill>
            <a:srgbClr val="053057"/>
          </a:solidFill>
          <a:ln w="12700">
            <a:solidFill>
              <a:srgbClr val="053057"/>
            </a:solidFill>
            <a:prstDash val="solid"/>
          </a:ln>
        </p:spPr>
      </p:sp>
      <p:sp>
        <p:nvSpPr>
          <p:cNvPr id="5" name="Text 3"/>
          <p:cNvSpPr/>
          <p:nvPr/>
        </p:nvSpPr>
        <p:spPr>
          <a:xfrm>
            <a:off x="786384"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90%+</a:t>
            </a:r>
            <a:endParaRPr lang="en-US" sz="3600" dirty="0"/>
          </a:p>
        </p:txBody>
      </p:sp>
      <p:sp>
        <p:nvSpPr>
          <p:cNvPr id="6" name="Text 4"/>
          <p:cNvSpPr/>
          <p:nvPr/>
        </p:nvSpPr>
        <p:spPr>
          <a:xfrm>
            <a:off x="786384"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Converted automatically</a:t>
            </a:r>
            <a:endParaRPr lang="en-US" sz="1200" dirty="0"/>
          </a:p>
        </p:txBody>
      </p:sp>
      <p:sp>
        <p:nvSpPr>
          <p:cNvPr id="7" name="Text 5"/>
          <p:cNvSpPr/>
          <p:nvPr/>
        </p:nvSpPr>
        <p:spPr>
          <a:xfrm>
            <a:off x="786384"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 developer rebuild</a:t>
            </a:r>
            <a:endParaRPr lang="en-US" sz="1000" dirty="0"/>
          </a:p>
        </p:txBody>
      </p:sp>
      <p:sp>
        <p:nvSpPr>
          <p:cNvPr id="8" name="Shape 6"/>
          <p:cNvSpPr/>
          <p:nvPr/>
        </p:nvSpPr>
        <p:spPr>
          <a:xfrm>
            <a:off x="3502152" y="1554480"/>
            <a:ext cx="2724912" cy="1828800"/>
          </a:xfrm>
          <a:prstGeom prst="roundRect">
            <a:avLst>
              <a:gd name="adj" fmla="val 4000"/>
            </a:avLst>
          </a:prstGeom>
          <a:solidFill>
            <a:srgbClr val="053057"/>
          </a:solidFill>
          <a:ln w="12700">
            <a:solidFill>
              <a:srgbClr val="053057"/>
            </a:solidFill>
            <a:prstDash val="solid"/>
          </a:ln>
        </p:spPr>
      </p:sp>
      <p:sp>
        <p:nvSpPr>
          <p:cNvPr id="9" name="Text 7"/>
          <p:cNvSpPr/>
          <p:nvPr/>
        </p:nvSpPr>
        <p:spPr>
          <a:xfrm>
            <a:off x="3739896"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Minutes</a:t>
            </a:r>
            <a:endParaRPr lang="en-US" sz="3600" dirty="0"/>
          </a:p>
        </p:txBody>
      </p:sp>
      <p:sp>
        <p:nvSpPr>
          <p:cNvPr id="10" name="Text 8"/>
          <p:cNvSpPr/>
          <p:nvPr/>
        </p:nvSpPr>
        <p:spPr>
          <a:xfrm>
            <a:off x="3739896"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From workbook to live app</a:t>
            </a:r>
            <a:endParaRPr lang="en-US" sz="1200" dirty="0"/>
          </a:p>
        </p:txBody>
      </p:sp>
      <p:sp>
        <p:nvSpPr>
          <p:cNvPr id="11" name="Text 9"/>
          <p:cNvSpPr/>
          <p:nvPr/>
        </p:nvSpPr>
        <p:spPr>
          <a:xfrm>
            <a:off x="3739896"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Not sprints and handoffs</a:t>
            </a:r>
            <a:endParaRPr lang="en-US" sz="1000" dirty="0"/>
          </a:p>
        </p:txBody>
      </p:sp>
      <p:sp>
        <p:nvSpPr>
          <p:cNvPr id="12" name="Shape 10"/>
          <p:cNvSpPr/>
          <p:nvPr/>
        </p:nvSpPr>
        <p:spPr>
          <a:xfrm>
            <a:off x="6455664" y="1554480"/>
            <a:ext cx="2724912" cy="1828800"/>
          </a:xfrm>
          <a:prstGeom prst="roundRect">
            <a:avLst>
              <a:gd name="adj" fmla="val 4000"/>
            </a:avLst>
          </a:prstGeom>
          <a:solidFill>
            <a:srgbClr val="053057"/>
          </a:solidFill>
          <a:ln w="12700">
            <a:solidFill>
              <a:srgbClr val="053057"/>
            </a:solidFill>
            <a:prstDash val="solid"/>
          </a:ln>
        </p:spPr>
      </p:sp>
      <p:sp>
        <p:nvSpPr>
          <p:cNvPr id="13" name="Text 11"/>
          <p:cNvSpPr/>
          <p:nvPr/>
        </p:nvSpPr>
        <p:spPr>
          <a:xfrm>
            <a:off x="6693408"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100%</a:t>
            </a:r>
            <a:endParaRPr lang="en-US" sz="3600" dirty="0"/>
          </a:p>
        </p:txBody>
      </p:sp>
      <p:sp>
        <p:nvSpPr>
          <p:cNvPr id="14" name="Text 12"/>
          <p:cNvSpPr/>
          <p:nvPr/>
        </p:nvSpPr>
        <p:spPr>
          <a:xfrm>
            <a:off x="6693408"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Of measures validated</a:t>
            </a:r>
            <a:endParaRPr lang="en-US" sz="1200" dirty="0"/>
          </a:p>
        </p:txBody>
      </p:sp>
      <p:sp>
        <p:nvSpPr>
          <p:cNvPr id="15" name="Text 13"/>
          <p:cNvSpPr/>
          <p:nvPr/>
        </p:nvSpPr>
        <p:spPr>
          <a:xfrm>
            <a:off x="6693408"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With downloadable evidence</a:t>
            </a:r>
            <a:endParaRPr lang="en-US" sz="1000" dirty="0"/>
          </a:p>
        </p:txBody>
      </p:sp>
      <p:sp>
        <p:nvSpPr>
          <p:cNvPr id="16" name="Shape 14"/>
          <p:cNvSpPr/>
          <p:nvPr/>
        </p:nvSpPr>
        <p:spPr>
          <a:xfrm>
            <a:off x="9409176" y="1554480"/>
            <a:ext cx="2724912" cy="1828800"/>
          </a:xfrm>
          <a:prstGeom prst="roundRect">
            <a:avLst>
              <a:gd name="adj" fmla="val 4000"/>
            </a:avLst>
          </a:prstGeom>
          <a:solidFill>
            <a:srgbClr val="053057"/>
          </a:solidFill>
          <a:ln w="12700">
            <a:solidFill>
              <a:srgbClr val="053057"/>
            </a:solidFill>
            <a:prstDash val="solid"/>
          </a:ln>
        </p:spPr>
      </p:sp>
      <p:sp>
        <p:nvSpPr>
          <p:cNvPr id="17" name="Text 15"/>
          <p:cNvSpPr/>
          <p:nvPr/>
        </p:nvSpPr>
        <p:spPr>
          <a:xfrm>
            <a:off x="9646920"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Day 0</a:t>
            </a:r>
            <a:endParaRPr lang="en-US" sz="3600" dirty="0"/>
          </a:p>
        </p:txBody>
      </p:sp>
      <p:sp>
        <p:nvSpPr>
          <p:cNvPr id="18" name="Text 16"/>
          <p:cNvSpPr/>
          <p:nvPr/>
        </p:nvSpPr>
        <p:spPr>
          <a:xfrm>
            <a:off x="9646920"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Assessment first</a:t>
            </a:r>
            <a:endParaRPr lang="en-US" sz="1200" dirty="0"/>
          </a:p>
        </p:txBody>
      </p:sp>
      <p:sp>
        <p:nvSpPr>
          <p:cNvPr id="19" name="Text 17"/>
          <p:cNvSpPr/>
          <p:nvPr/>
        </p:nvSpPr>
        <p:spPr>
          <a:xfrm>
            <a:off x="9646920"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Know what converts before committing</a:t>
            </a:r>
            <a:endParaRPr lang="en-US" sz="1000" dirty="0"/>
          </a:p>
        </p:txBody>
      </p:sp>
      <p:sp>
        <p:nvSpPr>
          <p:cNvPr id="20" name="Shape 18"/>
          <p:cNvSpPr/>
          <p:nvPr/>
        </p:nvSpPr>
        <p:spPr>
          <a:xfrm>
            <a:off x="548640" y="3749040"/>
            <a:ext cx="5431536" cy="1737360"/>
          </a:xfrm>
          <a:prstGeom prst="roundRect">
            <a:avLst>
              <a:gd name="adj" fmla="val 4211"/>
            </a:avLst>
          </a:prstGeom>
          <a:solidFill>
            <a:srgbClr val="FFFFFF"/>
          </a:solidFill>
          <a:ln w="12700">
            <a:solidFill>
              <a:srgbClr val="DFE3E6"/>
            </a:solidFill>
            <a:prstDash val="solid"/>
          </a:ln>
        </p:spPr>
      </p:sp>
      <p:sp>
        <p:nvSpPr>
          <p:cNvPr id="21" name="Text 19"/>
          <p:cNvSpPr/>
          <p:nvPr/>
        </p:nvSpPr>
        <p:spPr>
          <a:xfrm>
            <a:off x="841248" y="3913632"/>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4352544"/>
            <a:ext cx="128016" cy="128016"/>
          </a:xfrm>
          <a:prstGeom prst="ellipse">
            <a:avLst/>
          </a:prstGeom>
          <a:solidFill>
            <a:srgbClr val="C3CBD1"/>
          </a:solidFill>
          <a:ln/>
        </p:spPr>
      </p:sp>
      <p:sp>
        <p:nvSpPr>
          <p:cNvPr id="23" name="Text 21"/>
          <p:cNvSpPr/>
          <p:nvPr/>
        </p:nvSpPr>
        <p:spPr>
          <a:xfrm>
            <a:off x="1170432" y="4279392"/>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Dashboards live in days, not development cycles</a:t>
            </a:r>
            <a:endParaRPr lang="en-US" sz="1050" dirty="0"/>
          </a:p>
        </p:txBody>
      </p:sp>
      <p:sp>
        <p:nvSpPr>
          <p:cNvPr id="24" name="Shape 22"/>
          <p:cNvSpPr/>
          <p:nvPr/>
        </p:nvSpPr>
        <p:spPr>
          <a:xfrm>
            <a:off x="896112" y="4736592"/>
            <a:ext cx="128016" cy="128016"/>
          </a:xfrm>
          <a:prstGeom prst="ellipse">
            <a:avLst/>
          </a:prstGeom>
          <a:solidFill>
            <a:srgbClr val="C3CBD1"/>
          </a:solidFill>
          <a:ln/>
        </p:spPr>
      </p:sp>
      <p:sp>
        <p:nvSpPr>
          <p:cNvPr id="25" name="Text 23"/>
          <p:cNvSpPr/>
          <p:nvPr/>
        </p:nvSpPr>
        <p:spPr>
          <a:xfrm>
            <a:off x="1170432" y="4663440"/>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Owned by the data team — no specialist queue, no second platform</a:t>
            </a:r>
            <a:endParaRPr lang="en-US" sz="1050" dirty="0"/>
          </a:p>
        </p:txBody>
      </p:sp>
      <p:sp>
        <p:nvSpPr>
          <p:cNvPr id="26" name="Shape 24"/>
          <p:cNvSpPr/>
          <p:nvPr/>
        </p:nvSpPr>
        <p:spPr>
          <a:xfrm>
            <a:off x="896112" y="5120640"/>
            <a:ext cx="128016" cy="128016"/>
          </a:xfrm>
          <a:prstGeom prst="ellipse">
            <a:avLst/>
          </a:prstGeom>
          <a:solidFill>
            <a:srgbClr val="C3CBD1"/>
          </a:solidFill>
          <a:ln/>
        </p:spPr>
      </p:sp>
      <p:sp>
        <p:nvSpPr>
          <p:cNvPr id="27" name="Text 25"/>
          <p:cNvSpPr/>
          <p:nvPr/>
        </p:nvSpPr>
        <p:spPr>
          <a:xfrm>
            <a:off x="1170432" y="5047488"/>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Gaps surfaced up front, never discovered late</a:t>
            </a:r>
            <a:endParaRPr lang="en-US" sz="1050" dirty="0"/>
          </a:p>
        </p:txBody>
      </p:sp>
      <p:sp>
        <p:nvSpPr>
          <p:cNvPr id="28" name="Shape 26"/>
          <p:cNvSpPr/>
          <p:nvPr/>
        </p:nvSpPr>
        <p:spPr>
          <a:xfrm>
            <a:off x="6208776" y="3749040"/>
            <a:ext cx="5431536" cy="1737360"/>
          </a:xfrm>
          <a:prstGeom prst="roundRect">
            <a:avLst>
              <a:gd name="adj" fmla="val 4211"/>
            </a:avLst>
          </a:prstGeom>
          <a:solidFill>
            <a:srgbClr val="053057"/>
          </a:solidFill>
          <a:ln w="15875">
            <a:solidFill>
              <a:srgbClr val="00EDED"/>
            </a:solidFill>
            <a:prstDash val="solid"/>
          </a:ln>
        </p:spPr>
      </p:sp>
      <p:sp>
        <p:nvSpPr>
          <p:cNvPr id="29" name="Text 27"/>
          <p:cNvSpPr/>
          <p:nvPr/>
        </p:nvSpPr>
        <p:spPr>
          <a:xfrm>
            <a:off x="6501384" y="3913632"/>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0" name="Shape 28"/>
          <p:cNvSpPr/>
          <p:nvPr/>
        </p:nvSpPr>
        <p:spPr>
          <a:xfrm>
            <a:off x="6556248" y="4352544"/>
            <a:ext cx="128016" cy="128016"/>
          </a:xfrm>
          <a:prstGeom prst="ellipse">
            <a:avLst/>
          </a:prstGeom>
          <a:solidFill>
            <a:srgbClr val="00EDED"/>
          </a:solidFill>
          <a:ln/>
        </p:spPr>
      </p:sp>
      <p:sp>
        <p:nvSpPr>
          <p:cNvPr id="31" name="Text 29"/>
          <p:cNvSpPr/>
          <p:nvPr/>
        </p:nvSpPr>
        <p:spPr>
          <a:xfrm>
            <a:off x="6830568" y="4279392"/>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Warehouse compute on every view — extracts sent none</a:t>
            </a:r>
            <a:endParaRPr lang="en-US" sz="1050" dirty="0"/>
          </a:p>
        </p:txBody>
      </p:sp>
      <p:sp>
        <p:nvSpPr>
          <p:cNvPr id="32" name="Shape 30"/>
          <p:cNvSpPr/>
          <p:nvPr/>
        </p:nvSpPr>
        <p:spPr>
          <a:xfrm>
            <a:off x="6556248" y="4736592"/>
            <a:ext cx="128016" cy="128016"/>
          </a:xfrm>
          <a:prstGeom prst="ellipse">
            <a:avLst/>
          </a:prstGeom>
          <a:solidFill>
            <a:srgbClr val="00EDED"/>
          </a:solidFill>
          <a:ln/>
        </p:spPr>
      </p:sp>
      <p:sp>
        <p:nvSpPr>
          <p:cNvPr id="33" name="Text 31"/>
          <p:cNvSpPr/>
          <p:nvPr/>
        </p:nvSpPr>
        <p:spPr>
          <a:xfrm>
            <a:off x="6830568" y="4663440"/>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Cortex consumption on every workbook migrated</a:t>
            </a:r>
            <a:endParaRPr lang="en-US" sz="1050" dirty="0"/>
          </a:p>
        </p:txBody>
      </p:sp>
      <p:sp>
        <p:nvSpPr>
          <p:cNvPr id="34" name="Shape 32"/>
          <p:cNvSpPr/>
          <p:nvPr/>
        </p:nvSpPr>
        <p:spPr>
          <a:xfrm>
            <a:off x="6556248" y="5120640"/>
            <a:ext cx="128016" cy="128016"/>
          </a:xfrm>
          <a:prstGeom prst="ellipse">
            <a:avLst/>
          </a:prstGeom>
          <a:solidFill>
            <a:srgbClr val="00EDED"/>
          </a:solidFill>
          <a:ln/>
        </p:spPr>
      </p:sp>
      <p:sp>
        <p:nvSpPr>
          <p:cNvPr id="35" name="Text 33"/>
          <p:cNvSpPr/>
          <p:nvPr/>
        </p:nvSpPr>
        <p:spPr>
          <a:xfrm>
            <a:off x="6830568" y="5047488"/>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BI workload consolidated onto the platform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Built Natively on Snowflake</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The pipeline runs inside the customer's account, powered by Snowflake Cortex AI</a:t>
            </a:r>
            <a:endParaRPr lang="en-US" sz="1400" dirty="0"/>
          </a:p>
        </p:txBody>
      </p:sp>
      <p:sp>
        <p:nvSpPr>
          <p:cNvPr id="4" name="Shape 2"/>
          <p:cNvSpPr/>
          <p:nvPr/>
        </p:nvSpPr>
        <p:spPr>
          <a:xfrm>
            <a:off x="548640" y="1481328"/>
            <a:ext cx="3538728" cy="1773936"/>
          </a:xfrm>
          <a:prstGeom prst="roundRect">
            <a:avLst>
              <a:gd name="adj" fmla="val 4124"/>
            </a:avLst>
          </a:prstGeom>
          <a:solidFill>
            <a:srgbClr val="FFFFFF"/>
          </a:solidFill>
          <a:ln w="12700">
            <a:solidFill>
              <a:srgbClr val="DFE3E6"/>
            </a:solidFill>
            <a:prstDash val="solid"/>
          </a:ln>
        </p:spPr>
      </p:sp>
      <p:sp>
        <p:nvSpPr>
          <p:cNvPr id="5" name="Shape 3"/>
          <p:cNvSpPr/>
          <p:nvPr/>
        </p:nvSpPr>
        <p:spPr>
          <a:xfrm>
            <a:off x="786384" y="1700784"/>
            <a:ext cx="365760" cy="365760"/>
          </a:xfrm>
          <a:prstGeom prst="ellipse">
            <a:avLst/>
          </a:prstGeom>
          <a:solidFill>
            <a:srgbClr val="00EDED"/>
          </a:solidFill>
          <a:ln/>
        </p:spPr>
      </p:sp>
      <p:sp>
        <p:nvSpPr>
          <p:cNvPr id="6" name="Text 4"/>
          <p:cNvSpPr/>
          <p:nvPr/>
        </p:nvSpPr>
        <p:spPr>
          <a:xfrm>
            <a:off x="786384"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786384"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Runs entirely in the account</a:t>
            </a:r>
            <a:endParaRPr lang="en-US" sz="1300" dirty="0"/>
          </a:p>
        </p:txBody>
      </p:sp>
      <p:sp>
        <p:nvSpPr>
          <p:cNvPr id="8" name="Text 6"/>
          <p:cNvSpPr/>
          <p:nvPr/>
        </p:nvSpPr>
        <p:spPr>
          <a:xfrm>
            <a:off x="786384"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Every stage executes on Snowflake compute; no data leaves the environment.</a:t>
            </a:r>
            <a:endParaRPr lang="en-US" sz="1000" dirty="0"/>
          </a:p>
        </p:txBody>
      </p:sp>
      <p:sp>
        <p:nvSpPr>
          <p:cNvPr id="9" name="Shape 7"/>
          <p:cNvSpPr/>
          <p:nvPr/>
        </p:nvSpPr>
        <p:spPr>
          <a:xfrm>
            <a:off x="4325112" y="1481328"/>
            <a:ext cx="3538728" cy="1773936"/>
          </a:xfrm>
          <a:prstGeom prst="roundRect">
            <a:avLst>
              <a:gd name="adj" fmla="val 4124"/>
            </a:avLst>
          </a:prstGeom>
          <a:solidFill>
            <a:srgbClr val="FFFFFF"/>
          </a:solidFill>
          <a:ln w="12700">
            <a:solidFill>
              <a:srgbClr val="DFE3E6"/>
            </a:solidFill>
            <a:prstDash val="solid"/>
          </a:ln>
        </p:spPr>
      </p:sp>
      <p:sp>
        <p:nvSpPr>
          <p:cNvPr id="10" name="Shape 8"/>
          <p:cNvSpPr/>
          <p:nvPr/>
        </p:nvSpPr>
        <p:spPr>
          <a:xfrm>
            <a:off x="4562856" y="1700784"/>
            <a:ext cx="365760" cy="365760"/>
          </a:xfrm>
          <a:prstGeom prst="ellipse">
            <a:avLst/>
          </a:prstGeom>
          <a:solidFill>
            <a:srgbClr val="00EDED"/>
          </a:solidFill>
          <a:ln/>
        </p:spPr>
      </p:sp>
      <p:sp>
        <p:nvSpPr>
          <p:cNvPr id="11" name="Text 9"/>
          <p:cNvSpPr/>
          <p:nvPr/>
        </p:nvSpPr>
        <p:spPr>
          <a:xfrm>
            <a:off x="4562856"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2</a:t>
            </a:r>
            <a:endParaRPr lang="en-US" sz="1200" dirty="0"/>
          </a:p>
        </p:txBody>
      </p:sp>
      <p:sp>
        <p:nvSpPr>
          <p:cNvPr id="12" name="Text 10"/>
          <p:cNvSpPr/>
          <p:nvPr/>
        </p:nvSpPr>
        <p:spPr>
          <a:xfrm>
            <a:off x="4562856"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Powered by Cortex AI</a:t>
            </a:r>
            <a:endParaRPr lang="en-US" sz="1300" dirty="0"/>
          </a:p>
        </p:txBody>
      </p:sp>
      <p:sp>
        <p:nvSpPr>
          <p:cNvPr id="13" name="Text 11"/>
          <p:cNvSpPr/>
          <p:nvPr/>
        </p:nvSpPr>
        <p:spPr>
          <a:xfrm>
            <a:off x="4562856"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In-account Claude models translate the hard calculations and validate the result.</a:t>
            </a:r>
            <a:endParaRPr lang="en-US" sz="1000" dirty="0"/>
          </a:p>
        </p:txBody>
      </p:sp>
      <p:sp>
        <p:nvSpPr>
          <p:cNvPr id="14" name="Shape 12"/>
          <p:cNvSpPr/>
          <p:nvPr/>
        </p:nvSpPr>
        <p:spPr>
          <a:xfrm>
            <a:off x="8101584" y="1481328"/>
            <a:ext cx="3538728" cy="1773936"/>
          </a:xfrm>
          <a:prstGeom prst="roundRect">
            <a:avLst>
              <a:gd name="adj" fmla="val 4124"/>
            </a:avLst>
          </a:prstGeom>
          <a:solidFill>
            <a:srgbClr val="FFFFFF"/>
          </a:solidFill>
          <a:ln w="12700">
            <a:solidFill>
              <a:srgbClr val="DFE3E6"/>
            </a:solidFill>
            <a:prstDash val="solid"/>
          </a:ln>
        </p:spPr>
      </p:sp>
      <p:sp>
        <p:nvSpPr>
          <p:cNvPr id="15" name="Shape 13"/>
          <p:cNvSpPr/>
          <p:nvPr/>
        </p:nvSpPr>
        <p:spPr>
          <a:xfrm>
            <a:off x="8339328" y="1700784"/>
            <a:ext cx="365760" cy="365760"/>
          </a:xfrm>
          <a:prstGeom prst="ellipse">
            <a:avLst/>
          </a:prstGeom>
          <a:solidFill>
            <a:srgbClr val="00EDED"/>
          </a:solidFill>
          <a:ln/>
        </p:spPr>
      </p:sp>
      <p:sp>
        <p:nvSpPr>
          <p:cNvPr id="16" name="Text 14"/>
          <p:cNvSpPr/>
          <p:nvPr/>
        </p:nvSpPr>
        <p:spPr>
          <a:xfrm>
            <a:off x="8339328"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3</a:t>
            </a:r>
            <a:endParaRPr lang="en-US" sz="1200" dirty="0"/>
          </a:p>
        </p:txBody>
      </p:sp>
      <p:sp>
        <p:nvSpPr>
          <p:cNvPr id="17" name="Text 15"/>
          <p:cNvSpPr/>
          <p:nvPr/>
        </p:nvSpPr>
        <p:spPr>
          <a:xfrm>
            <a:off x="8339328"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A semantic model falls out</a:t>
            </a:r>
            <a:endParaRPr lang="en-US" sz="1300" dirty="0"/>
          </a:p>
        </p:txBody>
      </p:sp>
      <p:sp>
        <p:nvSpPr>
          <p:cNvPr id="18" name="Text 16"/>
          <p:cNvSpPr/>
          <p:nvPr/>
        </p:nvSpPr>
        <p:spPr>
          <a:xfrm>
            <a:off x="8339328"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Each workbook's verified measures become a native semantic view, ready for Cortex Analyst.</a:t>
            </a:r>
            <a:endParaRPr lang="en-US" sz="1000" dirty="0"/>
          </a:p>
        </p:txBody>
      </p:sp>
      <p:sp>
        <p:nvSpPr>
          <p:cNvPr id="19" name="Shape 17"/>
          <p:cNvSpPr/>
          <p:nvPr/>
        </p:nvSpPr>
        <p:spPr>
          <a:xfrm>
            <a:off x="548640" y="3438144"/>
            <a:ext cx="3538728" cy="1773936"/>
          </a:xfrm>
          <a:prstGeom prst="roundRect">
            <a:avLst>
              <a:gd name="adj" fmla="val 4124"/>
            </a:avLst>
          </a:prstGeom>
          <a:solidFill>
            <a:srgbClr val="FFFFFF"/>
          </a:solidFill>
          <a:ln w="12700">
            <a:solidFill>
              <a:srgbClr val="DFE3E6"/>
            </a:solidFill>
            <a:prstDash val="solid"/>
          </a:ln>
        </p:spPr>
      </p:sp>
      <p:sp>
        <p:nvSpPr>
          <p:cNvPr id="20" name="Shape 18"/>
          <p:cNvSpPr/>
          <p:nvPr/>
        </p:nvSpPr>
        <p:spPr>
          <a:xfrm>
            <a:off x="786384" y="3657600"/>
            <a:ext cx="365760" cy="365760"/>
          </a:xfrm>
          <a:prstGeom prst="ellipse">
            <a:avLst/>
          </a:prstGeom>
          <a:solidFill>
            <a:srgbClr val="00EDED"/>
          </a:solidFill>
          <a:ln/>
        </p:spPr>
      </p:sp>
      <p:sp>
        <p:nvSpPr>
          <p:cNvPr id="21" name="Text 19"/>
          <p:cNvSpPr/>
          <p:nvPr/>
        </p:nvSpPr>
        <p:spPr>
          <a:xfrm>
            <a:off x="786384"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4</a:t>
            </a:r>
            <a:endParaRPr lang="en-US" sz="1200" dirty="0"/>
          </a:p>
        </p:txBody>
      </p:sp>
      <p:sp>
        <p:nvSpPr>
          <p:cNvPr id="22" name="Text 20"/>
          <p:cNvSpPr/>
          <p:nvPr/>
        </p:nvSpPr>
        <p:spPr>
          <a:xfrm>
            <a:off x="786384"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Governance stays in force</a:t>
            </a:r>
            <a:endParaRPr lang="en-US" sz="1300" dirty="0"/>
          </a:p>
        </p:txBody>
      </p:sp>
      <p:sp>
        <p:nvSpPr>
          <p:cNvPr id="23" name="Text 21"/>
          <p:cNvSpPr/>
          <p:nvPr/>
        </p:nvSpPr>
        <p:spPr>
          <a:xfrm>
            <a:off x="786384"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The app runs as a Snowflake role — existing policies and security apply unchanged.</a:t>
            </a:r>
            <a:endParaRPr lang="en-US" sz="1000" dirty="0"/>
          </a:p>
        </p:txBody>
      </p:sp>
      <p:sp>
        <p:nvSpPr>
          <p:cNvPr id="24" name="Shape 22"/>
          <p:cNvSpPr/>
          <p:nvPr/>
        </p:nvSpPr>
        <p:spPr>
          <a:xfrm>
            <a:off x="4325112" y="3438144"/>
            <a:ext cx="3538728" cy="1773936"/>
          </a:xfrm>
          <a:prstGeom prst="roundRect">
            <a:avLst>
              <a:gd name="adj" fmla="val 4124"/>
            </a:avLst>
          </a:prstGeom>
          <a:solidFill>
            <a:srgbClr val="FFFFFF"/>
          </a:solidFill>
          <a:ln w="12700">
            <a:solidFill>
              <a:srgbClr val="DFE3E6"/>
            </a:solidFill>
            <a:prstDash val="solid"/>
          </a:ln>
        </p:spPr>
      </p:sp>
      <p:sp>
        <p:nvSpPr>
          <p:cNvPr id="25" name="Shape 23"/>
          <p:cNvSpPr/>
          <p:nvPr/>
        </p:nvSpPr>
        <p:spPr>
          <a:xfrm>
            <a:off x="4562856" y="3657600"/>
            <a:ext cx="365760" cy="365760"/>
          </a:xfrm>
          <a:prstGeom prst="ellipse">
            <a:avLst/>
          </a:prstGeom>
          <a:solidFill>
            <a:srgbClr val="00EDED"/>
          </a:solidFill>
          <a:ln/>
        </p:spPr>
      </p:sp>
      <p:sp>
        <p:nvSpPr>
          <p:cNvPr id="26" name="Text 24"/>
          <p:cNvSpPr/>
          <p:nvPr/>
        </p:nvSpPr>
        <p:spPr>
          <a:xfrm>
            <a:off x="4562856"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5</a:t>
            </a:r>
            <a:endParaRPr lang="en-US" sz="1200" dirty="0"/>
          </a:p>
        </p:txBody>
      </p:sp>
      <p:sp>
        <p:nvSpPr>
          <p:cNvPr id="27" name="Text 25"/>
          <p:cNvSpPr/>
          <p:nvPr/>
        </p:nvSpPr>
        <p:spPr>
          <a:xfrm>
            <a:off x="4562856"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No data movement</a:t>
            </a:r>
            <a:endParaRPr lang="en-US" sz="1300" dirty="0"/>
          </a:p>
        </p:txBody>
      </p:sp>
      <p:sp>
        <p:nvSpPr>
          <p:cNvPr id="28" name="Text 26"/>
          <p:cNvSpPr/>
          <p:nvPr/>
        </p:nvSpPr>
        <p:spPr>
          <a:xfrm>
            <a:off x="4562856"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Dashboards read Snowflake tables directly — no extract, no copy, no staleness.</a:t>
            </a:r>
            <a:endParaRPr lang="en-US" sz="1000" dirty="0"/>
          </a:p>
        </p:txBody>
      </p:sp>
      <p:sp>
        <p:nvSpPr>
          <p:cNvPr id="29" name="Shape 27"/>
          <p:cNvSpPr/>
          <p:nvPr/>
        </p:nvSpPr>
        <p:spPr>
          <a:xfrm>
            <a:off x="8101584" y="3438144"/>
            <a:ext cx="3538728" cy="1773936"/>
          </a:xfrm>
          <a:prstGeom prst="roundRect">
            <a:avLst>
              <a:gd name="adj" fmla="val 4124"/>
            </a:avLst>
          </a:prstGeom>
          <a:solidFill>
            <a:srgbClr val="FFFFFF"/>
          </a:solidFill>
          <a:ln w="12700">
            <a:solidFill>
              <a:srgbClr val="DFE3E6"/>
            </a:solidFill>
            <a:prstDash val="solid"/>
          </a:ln>
        </p:spPr>
      </p:sp>
      <p:sp>
        <p:nvSpPr>
          <p:cNvPr id="30" name="Shape 28"/>
          <p:cNvSpPr/>
          <p:nvPr/>
        </p:nvSpPr>
        <p:spPr>
          <a:xfrm>
            <a:off x="8339328" y="3657600"/>
            <a:ext cx="365760" cy="365760"/>
          </a:xfrm>
          <a:prstGeom prst="ellipse">
            <a:avLst/>
          </a:prstGeom>
          <a:solidFill>
            <a:srgbClr val="00EDED"/>
          </a:solidFill>
          <a:ln/>
        </p:spPr>
      </p:sp>
      <p:sp>
        <p:nvSpPr>
          <p:cNvPr id="31" name="Text 29"/>
          <p:cNvSpPr/>
          <p:nvPr/>
        </p:nvSpPr>
        <p:spPr>
          <a:xfrm>
            <a:off x="8339328"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6</a:t>
            </a:r>
            <a:endParaRPr lang="en-US" sz="1200" dirty="0"/>
          </a:p>
        </p:txBody>
      </p:sp>
      <p:sp>
        <p:nvSpPr>
          <p:cNvPr id="32" name="Text 30"/>
          <p:cNvSpPr/>
          <p:nvPr/>
        </p:nvSpPr>
        <p:spPr>
          <a:xfrm>
            <a:off x="8339328"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You own the result</a:t>
            </a:r>
            <a:endParaRPr lang="en-US" sz="1300" dirty="0"/>
          </a:p>
        </p:txBody>
      </p:sp>
      <p:sp>
        <p:nvSpPr>
          <p:cNvPr id="33" name="Text 31"/>
          <p:cNvSpPr/>
          <p:nvPr/>
        </p:nvSpPr>
        <p:spPr>
          <a:xfrm>
            <a:off x="8339328"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Generated apps, views and evidence live in the customer's account, maintainable by their team.</a:t>
            </a:r>
            <a:endParaRPr lang="en-US" sz="1000" dirty="0"/>
          </a:p>
        </p:txBody>
      </p:sp>
      <p:sp>
        <p:nvSpPr>
          <p:cNvPr id="34" name="Text 32"/>
          <p:cNvSpPr/>
          <p:nvPr/>
        </p:nvSpPr>
        <p:spPr>
          <a:xfrm>
            <a:off x="548640" y="5486400"/>
            <a:ext cx="11091672" cy="365760"/>
          </a:xfrm>
          <a:prstGeom prst="rect">
            <a:avLst/>
          </a:prstGeom>
          <a:noFill/>
          <a:ln/>
        </p:spPr>
        <p:txBody>
          <a:bodyPr wrap="square" lIns="0" tIns="0" rIns="0" bIns="0" rtlCol="0" anchor="ctr"/>
          <a:lstStyle/>
          <a:p>
            <a:pPr indent="0" marL="0">
              <a:buNone/>
            </a:pPr>
            <a:r>
              <a:rPr lang="en-US" sz="1050" i="1" dirty="0">
                <a:solidFill>
                  <a:srgbClr val="6B7C88"/>
                </a:solidFill>
                <a:latin typeface="Montserrat" pitchFamily="34" charset="0"/>
                <a:ea typeface="Montserrat" pitchFamily="34" charset="-122"/>
                <a:cs typeface="Montserrat" pitchFamily="34" charset="-120"/>
              </a:rPr>
              <a:t>Every migrated dashboard converts a Tableau extract into live Snowflake consumption — warehouse compute on every view, Cortex on every migration.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Running in Snowsight Today</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One workbook migrated end to end — and the same dashboard, side by side</a:t>
            </a:r>
            <a:endParaRPr lang="en-US" sz="1400" dirty="0"/>
          </a:p>
        </p:txBody>
      </p:sp>
      <p:sp>
        <p:nvSpPr>
          <p:cNvPr id="4" name="Text 2"/>
          <p:cNvSpPr/>
          <p:nvPr/>
        </p:nvSpPr>
        <p:spPr>
          <a:xfrm>
            <a:off x="548640"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THE PIPELINE</a:t>
            </a:r>
            <a:endParaRPr lang="en-US" sz="1100" dirty="0"/>
          </a:p>
        </p:txBody>
      </p:sp>
      <p:pic>
        <p:nvPicPr>
          <p:cNvPr id="5" name="Image 0" descr="run_stages.png">    </p:cNvPr>
          <p:cNvPicPr>
            <a:picLocks noChangeAspect="1"/>
          </p:cNvPicPr>
          <p:nvPr/>
        </p:nvPicPr>
        <p:blipFill>
          <a:blip r:embed="rId1"/>
          <a:stretch>
            <a:fillRect/>
          </a:stretch>
        </p:blipFill>
        <p:spPr>
          <a:xfrm>
            <a:off x="548640" y="1810512"/>
            <a:ext cx="3657600" cy="2091252"/>
          </a:xfrm>
          <a:prstGeom prst="rect">
            <a:avLst/>
          </a:prstGeom>
        </p:spPr>
      </p:pic>
      <p:sp>
        <p:nvSpPr>
          <p:cNvPr id="6" name="Text 3"/>
          <p:cNvSpPr/>
          <p:nvPr/>
        </p:nvSpPr>
        <p:spPr>
          <a:xfrm>
            <a:off x="548640"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5 stages · 3 datasources · 20 sheets · 13/13 measures pass</a:t>
            </a:r>
            <a:endParaRPr lang="en-US" sz="950" dirty="0"/>
          </a:p>
        </p:txBody>
      </p:sp>
      <p:sp>
        <p:nvSpPr>
          <p:cNvPr id="7" name="Text 4"/>
          <p:cNvSpPr/>
          <p:nvPr/>
        </p:nvSpPr>
        <p:spPr>
          <a:xfrm>
            <a:off x="4448556"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TABLEAU</a:t>
            </a:r>
            <a:endParaRPr lang="en-US" sz="1100" dirty="0"/>
          </a:p>
        </p:txBody>
      </p:sp>
      <p:pic>
        <p:nvPicPr>
          <p:cNvPr id="8" name="Image 1" descr="tableau_customer.png">    </p:cNvPr>
          <p:cNvPicPr>
            <a:picLocks noChangeAspect="1"/>
          </p:cNvPicPr>
          <p:nvPr/>
        </p:nvPicPr>
        <p:blipFill>
          <a:blip r:embed="rId2"/>
          <a:stretch>
            <a:fillRect/>
          </a:stretch>
        </p:blipFill>
        <p:spPr>
          <a:xfrm>
            <a:off x="4448556" y="1810512"/>
            <a:ext cx="3657600" cy="2143962"/>
          </a:xfrm>
          <a:prstGeom prst="rect">
            <a:avLst/>
          </a:prstGeom>
        </p:spPr>
      </p:pic>
      <p:sp>
        <p:nvSpPr>
          <p:cNvPr id="9" name="Text 5"/>
          <p:cNvSpPr/>
          <p:nvPr/>
        </p:nvSpPr>
        <p:spPr>
          <a:xfrm>
            <a:off x="4448556"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The original dashboard</a:t>
            </a:r>
            <a:endParaRPr lang="en-US" sz="950" dirty="0"/>
          </a:p>
        </p:txBody>
      </p:sp>
      <p:sp>
        <p:nvSpPr>
          <p:cNvPr id="10" name="Text 6"/>
          <p:cNvSpPr/>
          <p:nvPr/>
        </p:nvSpPr>
        <p:spPr>
          <a:xfrm>
            <a:off x="8348472"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STREAMLIT IN SNOWFLAKE</a:t>
            </a:r>
            <a:endParaRPr lang="en-US" sz="1100" dirty="0"/>
          </a:p>
        </p:txBody>
      </p:sp>
      <p:pic>
        <p:nvPicPr>
          <p:cNvPr id="11" name="Image 2" descr="run_dashboard.png">    </p:cNvPr>
          <p:cNvPicPr>
            <a:picLocks noChangeAspect="1"/>
          </p:cNvPicPr>
          <p:nvPr/>
        </p:nvPicPr>
        <p:blipFill>
          <a:blip r:embed="rId3"/>
          <a:stretch>
            <a:fillRect/>
          </a:stretch>
        </p:blipFill>
        <p:spPr>
          <a:xfrm>
            <a:off x="8348472" y="1810512"/>
            <a:ext cx="3657600" cy="2256385"/>
          </a:xfrm>
          <a:prstGeom prst="rect">
            <a:avLst/>
          </a:prstGeom>
        </p:spPr>
      </p:pic>
      <p:sp>
        <p:nvSpPr>
          <p:cNvPr id="12" name="Text 7"/>
          <p:cNvSpPr/>
          <p:nvPr/>
        </p:nvSpPr>
        <p:spPr>
          <a:xfrm>
            <a:off x="8348472"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The converted app — same numbers</a:t>
            </a:r>
            <a:endParaRPr lang="en-US" sz="950" dirty="0"/>
          </a:p>
        </p:txBody>
      </p:sp>
      <p:sp>
        <p:nvSpPr>
          <p:cNvPr id="13" name="Text 8"/>
          <p:cNvSpPr/>
          <p:nvPr/>
        </p:nvSpPr>
        <p:spPr>
          <a:xfrm>
            <a:off x="548640" y="4846320"/>
            <a:ext cx="11091672" cy="384048"/>
          </a:xfrm>
          <a:prstGeom prst="rect">
            <a:avLst/>
          </a:prstGeom>
          <a:noFill/>
          <a:ln/>
        </p:spPr>
        <p:txBody>
          <a:bodyPr wrap="square" lIns="0" tIns="0" rIns="0" bIns="0" rtlCol="0" anchor="ctr"/>
          <a:lstStyle/>
          <a:p>
            <a:pPr indent="0" marL="0">
              <a:buNone/>
            </a:pPr>
            <a:r>
              <a:rPr lang="en-US" sz="1100" i="1" dirty="0">
                <a:solidFill>
                  <a:srgbClr val="A2F3F3"/>
                </a:solidFill>
                <a:latin typeface="Montserrat" pitchFamily="34" charset="0"/>
                <a:ea typeface="Montserrat" pitchFamily="34" charset="-122"/>
                <a:cs typeface="Montserrat" pitchFamily="34" charset="-120"/>
              </a:rPr>
              <a:t>Same filters, same KPIs, same numbers — validated measure by measure at migration time. Every statement visible in Snowsight Query History with live timestamps.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Snowflake — Analytics Modernization Accelerator</dc:title>
  <dc:subject>PptxGenJS Presentation</dc:subject>
  <dc:creator>Sharath Kumar</dc:creator>
  <cp:lastModifiedBy>Sharath Kumar</cp:lastModifiedBy>
  <cp:revision>1</cp:revision>
  <dcterms:created xsi:type="dcterms:W3CDTF">2026-07-23T13:17:46Z</dcterms:created>
  <dcterms:modified xsi:type="dcterms:W3CDTF">2026-07-23T13:17:46Z</dcterms:modified>
</cp:coreProperties>
</file>